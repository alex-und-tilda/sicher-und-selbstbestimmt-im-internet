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 id="283" r:id="rIdS28"/>
    <p:sldId id="284" r:id="rIdS29"/>
    <p:sldId id="285" r:id="rIdS30"/>
    <p:sldId id="286" r:id="rIdS31"/>
    <p:sldId id="287" r:id="rIdS32"/>
    <p:sldId id="288" r:id="rIdS33"/>
    <p:sldId id="289" r:id="rIdS34"/>
    <p:sldId id="290" r:id="rIdS35"/>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 Id="rIdS28" Type="http://schemas.openxmlformats.org/officeDocument/2006/relationships/slide" Target="slides/slide28.xml"/><Relationship Id="rIdS29" Type="http://schemas.openxmlformats.org/officeDocument/2006/relationships/slide" Target="slides/slide29.xml"/><Relationship Id="rIdS30" Type="http://schemas.openxmlformats.org/officeDocument/2006/relationships/slide" Target="slides/slide30.xml"/><Relationship Id="rIdS31" Type="http://schemas.openxmlformats.org/officeDocument/2006/relationships/slide" Target="slides/slide31.xml"/><Relationship Id="rIdS32" Type="http://schemas.openxmlformats.org/officeDocument/2006/relationships/slide" Target="slides/slide32.xml"/><Relationship Id="rIdS33" Type="http://schemas.openxmlformats.org/officeDocument/2006/relationships/slide" Target="slides/slide33.xml"/><Relationship Id="rIdS34" Type="http://schemas.openxmlformats.org/officeDocument/2006/relationships/slide" Target="slides/slide34.xml"/><Relationship Id="rIdS35"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Ankommen; Thema und Ziel des Tages kennen.</a:t>
            </a:r>
          </a:p>
          <a:p>
            <a:r>
              <a:rPr lang="de-DE" b="1" sz="1100"/>
              <a:t>Methode: </a:t>
            </a:r>
            <a:r>
              <a:rPr lang="de-DE" sz="1100"/>
              <a:t>Begrüßung, kurze Vorstellungsrunde mit Name oder Wunschname.</a:t>
            </a:r>
          </a:p>
          <a:p>
            <a:r>
              <a:rPr lang="de-DE" b="1" sz="1100"/>
              <a:t>Sozialform: </a:t>
            </a:r>
            <a:r>
              <a:rPr lang="de-DE" sz="1100"/>
              <a:t>Sitzkreis, Plenum</a:t>
            </a:r>
          </a:p>
          <a:p>
            <a:r>
              <a:rPr lang="de-DE" b="1" sz="1100"/>
              <a:t>Zeit: </a:t>
            </a:r>
            <a:r>
              <a:rPr lang="de-DE" sz="1100"/>
              <a:t>ca. 2 Min</a:t>
            </a:r>
          </a:p>
          <a:p>
            <a:r>
              <a:rPr lang="de-DE" b="1" sz="1100"/>
              <a:t>Material: </a:t>
            </a:r>
            <a:r>
              <a:rPr lang="de-DE" sz="1100"/>
              <a:t>Beamer, Namensschilder</a:t>
            </a:r>
          </a:p>
          <a:p>
            <a:r>
              <a:rPr lang="de-DE" b="1" sz="1100"/>
              <a:t>Hinweis: </a:t>
            </a:r>
            <a:r>
              <a:rPr lang="de-DE" sz="1100"/>
              <a:t>Ruhig starten. Ziel in einem Satz: Heute stellen wir ein, wer unsere Beiträge sieht, und wir üben einen Plan für schwierige Momente. Niemand muss etwas Eigenes zeigen oder erzählen.</a:t>
            </a:r>
          </a:p>
          <a:p>
            <a:r>
              <a:rPr lang="de-DE" b="1" sz="1100"/>
              <a:t>Bildvorschlag: </a:t>
            </a:r>
            <a:r>
              <a:rPr lang="de-DE" sz="1100"/>
              <a:t>Alex und Tilda als eigene Figuren der Lernplattform (Wiedererkennung Workshop – Lernplattform). Keine fremden Piktogramme.</a:t>
            </a:r>
          </a:p>
          <a:p>
            <a:r>
              <a:rPr lang="de-DE" b="1" sz="1100"/>
              <a:t>Über diesen Leitfaden: </a:t>
            </a:r>
            <a:r>
              <a:rPr lang="de-DE" sz="1100"/>
              <a:t>Modul Facebook nach REFERENZMODUL.md · Stand 18.09.2026 · Fassung 2 mit dem gemeinsamen Standard aus gemeinsam/BEGRIFFE.md und gemeinsam/MATERIAL.md, gebaut nach dem Muster des Instagram-Pilotpakets · 90 Minuten = 86 Minuten Programm + 4 Minuten Puffer. Dieser Leitfaden wird nur hier in den Sprechernotizen gepflegt; die PDF ist ein Export.</a:t>
            </a:r>
          </a:p>
          <a:p>
            <a:r>
              <a:rPr lang="de-DE" b="1" sz="1100"/>
              <a:t>Lernziele des Moduls: </a:t>
            </a:r>
            <a:r>
              <a:rPr lang="de-DE" sz="1100"/>
              <a:t>(1) Die Person sagt, wer einen Beitrag mit der Einstellung Freunde sehen kann, und nennt den Unterschied zu öffentlich. (2) Sie nennt vor dem Posten zwei Prüfpunkte – private Daten und andere Personen – und fragt abgebildete Personen. (3) Sie erkennt Warnzeichen (Geld, Code, Link, Zeitdruck, Anfrage von Unbekannten) und nennt ihren Plan: Stopp machen. Zeigen. (4) Sie nennt Schritte bei verletzenden Kommentaren und sagt: Das ist nicht meine Schuld.</a:t>
            </a:r>
          </a:p>
          <a:p>
            <a:r>
              <a:rPr lang="de-DE" b="1" sz="1100"/>
              <a:t>Ablauf: </a:t>
            </a:r>
            <a:r>
              <a:rPr lang="de-DE" sz="1100"/>
              <a:t>0–7 Ankommen · 7–13 Aktivierung · 13–22 Thema 1 Mein Profil · 22–31 Thema 2 Was ich teile · 31–40 Thema 3 Fremde wollen etwas · 40–49 Thema 4 Wenn etwas verletzt · 49–59 Pause · 59–74 Praxis · 74–81 Quiz-Gespräch · 81–84 Lernplattform · 84–86 Eine Sache für heute · 86–90 Puffer.</a:t>
            </a:r>
          </a:p>
          <a:p>
            <a:r>
              <a:rPr lang="de-DE" b="1" sz="1100"/>
              <a:t>Material gesamt: </a:t>
            </a:r>
            <a:r>
              <a:rPr lang="de-DE" sz="1100"/>
              <a:t>Beamer, Antwortkarten A/B/C, Namensschilder, Plakat mit Ablauf und Regeln, Karten mit erfundenen Profil-Angaben für die Aktivierung, Hilfe-Karte für jede Person (gemeinsam/HILFE-KARTE.md), Stifte, gedruckte Merk-Karte Facebook der Lernplattform (#thema-facebook:merk), WLAN-Zugang, Ladekabel, Ersatzgerät.</a:t>
            </a:r>
          </a:p>
          <a:p>
            <a:r>
              <a:rPr lang="de-DE" b="1" sz="1100"/>
              <a:t>Vorbereitung am Vortag: </a:t>
            </a:r>
            <a:r>
              <a:rPr lang="de-DE" sz="1100"/>
              <a:t>Praxis-Seite praxis/facebook.html an einem aktuellen Handy durchgehen (Stand der Seite: Juni 2026). Beide QR-Codes testen. Karten für die Aktivierung ausdrucken. Vorderseite der Hilfe-Karte mit den Ansprechpersonen vor Ort ausfüllen, Hilfe-Nummern prüfen und die Karten drucken. Rollen verteilen: Leitung, Begleitung in der Praxis, Ansprechperson für Einzelgespräche. Vor dem Praxistest sind drei Bilder verpflichtend: Folie 8 (zwei Bilder Freunde und öffentlich) und Folie 21 (Hilfe-Karte mit ausgefüllter Vorderseite).</a:t>
            </a:r>
          </a:p>
          <a:p>
            <a:r>
              <a:rPr lang="de-DE" b="1" sz="1100"/>
              <a:t>Live oder Lernplattform: </a:t>
            </a:r>
            <a:r>
              <a:rPr lang="de-DE" sz="1100"/>
              <a:t>Live: einstellen wer Beiträge sieht, Gespräch über Anfragen von Unbekannten, Warnzeichen und Plan, Gefühle bei verletzenden Kommentaren. Lernplattform (Thema Facebook): Profil (L1), Beitrag schreiben (L2), wer darf etwas sehen (L3), Freundschafts-Anfragen (L4), Kommentare (L5), Beleidigungen (L6), Fotos mit anderen Personen (L7), Plan (L8), Quiz, Merk-Karte, Kurz-Modus – im eigenen Tempo, in drei Sprach-Ebenen, mit Vorlesen. Standardweg ohne Handy oder ohne Konto: Übungs-Handy „Wer sieht deinen Beitrag?“ (#thema-facebook:uebung); es enthält keine Inhalte zu privaten Bildern. Falsche Nachrichten und Betrug haben eigene Themen: #thema-fakes und #thema-betrug.</a:t>
            </a:r>
          </a:p>
          <a:p>
            <a:r>
              <a:rPr lang="de-DE" b="1" sz="1100"/>
              <a:t>Sensible Themen: </a:t>
            </a:r>
            <a:r>
              <a:rPr lang="de-DE" sz="1100"/>
              <a:t>Thema 3 und 4 liegen vor der Pause. Betrug über angebliche Freunde und Liebes-Betrug können Scham und Geldverlust berühren: ruhig bleiben, klar sagen, dass das nicht die Schuld der betroffenen Person ist. In Gruppen zu Krankheit oder Behinderung werden oft sehr private Dinge geschrieben – das behutsam ansprechen. Keine echten Fälle oder Namen aus der Gruppe. Keine politischen Beispiele bei falschen Nachrichten. Auf Anzeichen von Belästigung oder Erpressung achten; bei Verdacht Schutzauftrag der Einrichtung. In der Pause und nach dem Workshop für Einzelgespräche erreichbar sein.</a:t>
            </a:r>
          </a:p>
          <a:p>
            <a:r>
              <a:rPr lang="de-DE" b="1" sz="1100"/>
              <a:t>Quiz und Datenschutz: </a:t>
            </a:r>
            <a:r>
              <a:rPr lang="de-DE" sz="1100"/>
              <a:t>Standard ist das Kartenquiz auf den Folien 26–31 (kein externer Dienst). Die Kahoot-Datei ist nur eine Vorlage im Kahoot-Format und wird nur nach Klärung mit Träger und Datenschutz genutzt. Vorher im eigenen Zugang prüfen, was dort möglich ist: Import der Datei, Teams, langes Zeitlimit, Rangliste ausblenden. Nichts zusagen, was nicht geprüft ist. Grundsatz: möglichst druckarm einstellen, viel Zeit pro Frage, Punkte und Rangliste nicht thematisieren, Teamnamen statt echter Namen, keine Ergebnisse speichern oder exportieren.</a:t>
            </a:r>
          </a:p>
          <a:p>
            <a:r>
              <a:rPr lang="de-DE" b="1" sz="1100"/>
              <a:t>Quiz: Kernfragen und Reservefragen: </a:t>
            </a:r>
            <a:r>
              <a:rPr lang="de-DE" sz="1100"/>
              <a:t>Kernfragen sind die Fragen 1, 3 und 5 (Folien 26, 28 und 30). Sie decken die drei Merksätze ab: Beiträge auf Freunde, Erst prüfen. Dann teilen., Stopp machen. Zeigen. Diese drei werden immer gestellt. Reservefragen sind 2, 4 und 6 (Folien 27, 29 und 31). Sie kommen dazu, wenn Zeit und Aufmerksamkeit reichen. Zuerst die Frage 6 nehmen, wenn verletzende Kommentare in der Gruppe Thema waren.</a:t>
            </a:r>
          </a:p>
          <a:p>
            <a:r>
              <a:rPr lang="de-DE" b="1" sz="1100"/>
              <a:t>Optionale sensible Gesprächsfrage: </a:t>
            </a:r>
            <a:r>
              <a:rPr lang="de-DE" sz="1100"/>
              <a:t>Nicht im Standard-Quiz und nicht im Kahoot. Nur nutzen, wenn die Gruppe stabil ist und die Begleitung vorbereitet ist. Frage: Eine neue Bekanntschaft schreibt dir seit Wochen jeden Tag liebe Nachrichten. Jetzt braucht sie Geld für eine Reise zu dir. Was machst du? Antworten: A) Ich schicke das Geld. Sie mag mich doch. B) Ich frage: Wie viel brauchst du? C) Ich schicke kein Geld. Ich mache Stopp und zeige es einer vertrauten Person. Passend: C. Gesprächsimpuls: Geld von einer Bekanntschaft aus dem Internet ist ein Warnzeichen – auch nach Wochen. Wenn es dir passiert: Das ist nicht deine Schuld. Du kannst Hilfe holen. Bei Hinweisen auf eigene Betroffenheit: nicht in der Gruppe vertiefen, Einzelgespräch, Schutzauftrag. Lernplattform: Facebook L8, Thema Online-Betrug.</a:t>
            </a:r>
          </a:p>
          <a:p>
            <a:r>
              <a:rPr lang="de-DE" b="1" sz="1100"/>
              <a:t>Bilder: </a:t>
            </a:r>
            <a:r>
              <a:rPr lang="de-DE" sz="1100"/>
              <a:t>Diese Fassung enthält keine Piktogramme und keine fertigen Bilder. Die grau gestrichelten Rahmen sind Platzhalter für eigene oder eigens erstellte Bilder. Jeder Platzhalter ist im Feld Bildvorschlag beschrieben. Verpflichtend vor dem Praxistest: Folie 8 (beide Bilder) und Folie 21 (Hilfe-Karte). Die übrigen Platzhalter dürfen im Praxistest noch als Beschreibung vorgelesen werden.</a:t>
            </a:r>
          </a:p>
          <a:p>
            <a:r>
              <a:rPr lang="de-DE" b="1" sz="1100"/>
              <a:t>Bekannte Widersprüche zur Lernplattform: </a:t>
            </a:r>
            <a:r>
              <a:rPr lang="de-DE" sz="1100"/>
              <a:t>Bekannt und in dieser Fassung bewusst nicht geändert; sie werden später an beiden Stellen geklärt. Die vollständige Liste für alle Module steht in gemeinsam/BEGRIFFE.md, Abschnitt 3. 1. Die Lernplattform schreibt „Freundschafts-Anfrage“ mit Bindestrich, die Praxis-Seite schreibt „Freundschaftsanfragen“. Im Workshop steht die Schreibweise mit Bindestrich. 2. Die Lernplattform nennt Thema 4 „Beleidigungen“ (L6); der Workshop sagt „verletzende Kommentare“ nach REFERENZMODUL §15. 3. Quizfrage 10 der Lernplattform sagt „Erst prüfen. Dann posten.“; der Workshop sagt „Erst prüfen. Dann teilen.“ 4. Quizfrage 2 der Lernplattform empfiehlt bei einem Profil ohne Foto nur, das Profil genau anzuschauen; Lektion L4 und der Workshop sagen deutlicher: nur annehmen, wen du kennst. 5. Die Lernplattform sagt in den Stichpunkten „Unterstützung holen“, der Workshop sagt „Hilfe holen“. 6. Die Merk-Karte der Lernplattform ist nicht wortgleich mit Folie 32.</a:t>
            </a:r>
          </a:p>
        </p:txBody>
      </p:sp>
      <p:sp>
        <p:nvSpPr>
          <p:cNvPr id="4" name="Slide Number Placeholder 3"/>
          <p:cNvSpPr>
            <a:spLocks noGrp="1"/>
          </p:cNvSpPr>
          <p:nvPr>
            <p:ph type="sldNum" sz="quarter" idx="10"/>
          </p:nvPr>
        </p:nvSpPr>
        <p:spPr/>
        <p:txBody>
          <a:bodyPr/>
          <a:lstStyle/>
          <a:p>
            <a:fld id="{F7021451-1387-4CA6-816F-3879F97B5CBC}" type="slidenum">
              <a:rPr lang="de-DE"/>
              <a:t>1</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Überblick über den Ablauf; Vorhersehbarkeit.</a:t>
            </a:r>
          </a:p>
          <a:p>
            <a:r>
              <a:rPr lang="de-DE" b="1" sz="1100"/>
              <a:t>Methode: </a:t>
            </a:r>
            <a:r>
              <a:rPr lang="de-DE" sz="1100"/>
              <a:t>Ablauf vorlesen, auf Pause und Praxis hinweisen.</a:t>
            </a:r>
          </a:p>
          <a:p>
            <a:r>
              <a:rPr lang="de-DE" b="1" sz="1100"/>
              <a:t>Sozialform: </a:t>
            </a:r>
            <a:r>
              <a:rPr lang="de-DE" sz="1100"/>
              <a:t>Plenum</a:t>
            </a:r>
          </a:p>
          <a:p>
            <a:r>
              <a:rPr lang="de-DE" b="1" sz="1100"/>
              <a:t>Zeit: </a:t>
            </a:r>
            <a:r>
              <a:rPr lang="de-DE" sz="1100"/>
              <a:t>ca. 2 Min</a:t>
            </a:r>
          </a:p>
          <a:p>
            <a:r>
              <a:rPr lang="de-DE" b="1" sz="1100"/>
              <a:t>Material: </a:t>
            </a:r>
            <a:r>
              <a:rPr lang="de-DE" sz="1100"/>
              <a:t>Beamer, Ablauf als Plakat</a:t>
            </a:r>
          </a:p>
          <a:p>
            <a:r>
              <a:rPr lang="de-DE" b="1" sz="1100"/>
              <a:t>Hinweis: </a:t>
            </a:r>
            <a:r>
              <a:rPr lang="de-DE" sz="1100"/>
              <a:t>Die Nummern 1 bis 4 sind die vier Themen. Sie stehen genauso auf den Trennfolien. Sagen: Nach der Pause stellen wir Facebook zusammen am eigenen Handy ein.</a:t>
            </a:r>
          </a:p>
        </p:txBody>
      </p:sp>
      <p:sp>
        <p:nvSpPr>
          <p:cNvPr id="4" name="Slide Number Placeholder 3"/>
          <p:cNvSpPr>
            <a:spLocks noGrp="1"/>
          </p:cNvSpPr>
          <p:nvPr>
            <p:ph type="sldNum" sz="quarter" idx="10"/>
          </p:nvPr>
        </p:nvSpPr>
        <p:spPr/>
        <p:txBody>
          <a:bodyPr/>
          <a:lstStyle/>
          <a:p>
            <a:fld id="{F7021451-1387-4CA6-816F-3879F97B5CBC}" type="slidenum">
              <a:rPr lang="de-DE"/>
              <a:t>2</a:t>
            </a:fld>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Sichere Lernatmosphäre; Selbstbestimmung erleben.</a:t>
            </a:r>
          </a:p>
          <a:p>
            <a:r>
              <a:rPr lang="de-DE" b="1" sz="1100"/>
              <a:t>Methode: </a:t>
            </a:r>
            <a:r>
              <a:rPr lang="de-DE" sz="1100"/>
              <a:t>Regeln vorlesen, gemeinsam zustimmen.</a:t>
            </a:r>
          </a:p>
          <a:p>
            <a:r>
              <a:rPr lang="de-DE" b="1" sz="1100"/>
              <a:t>Sozialform: </a:t>
            </a:r>
            <a:r>
              <a:rPr lang="de-DE" sz="1100"/>
              <a:t>Plenum</a:t>
            </a:r>
          </a:p>
          <a:p>
            <a:r>
              <a:rPr lang="de-DE" b="1" sz="1100"/>
              <a:t>Zeit: </a:t>
            </a:r>
            <a:r>
              <a:rPr lang="de-DE" sz="1100"/>
              <a:t>ca. 3 Min</a:t>
            </a:r>
          </a:p>
          <a:p>
            <a:r>
              <a:rPr lang="de-DE" b="1" sz="1100"/>
              <a:t>Material: </a:t>
            </a:r>
            <a:r>
              <a:rPr lang="de-DE" sz="1100"/>
              <a:t>Plakat mit Regeln</a:t>
            </a:r>
          </a:p>
          <a:p>
            <a:r>
              <a:rPr lang="de-DE" b="1" sz="1100"/>
              <a:t>Hinweis: </a:t>
            </a:r>
            <a:r>
              <a:rPr lang="de-DE" sz="1100"/>
              <a:t>Kernbotschaft: Fehler sind erlaubt. Niemand muss etwas zeigen, posten oder erzählen. Die Regel „Du musst nicht mitmachen“ ausdrücklich sagen.</a:t>
            </a:r>
          </a:p>
        </p:txBody>
      </p:sp>
      <p:sp>
        <p:nvSpPr>
          <p:cNvPr id="4" name="Slide Number Placeholder 3"/>
          <p:cNvSpPr>
            <a:spLocks noGrp="1"/>
          </p:cNvSpPr>
          <p:nvPr>
            <p:ph type="sldNum" sz="quarter" idx="10"/>
          </p:nvPr>
        </p:nvSpPr>
        <p:spPr/>
        <p:txBody>
          <a:bodyPr/>
          <a:lstStyle/>
          <a:p>
            <a:fld id="{F7021451-1387-4CA6-816F-3879F97B5CBC}" type="slidenum">
              <a:rPr lang="de-DE"/>
              <a:t>3</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Eigene Sicherheit einschätzen; das Thema persönlich öffnen.</a:t>
            </a:r>
          </a:p>
          <a:p>
            <a:r>
              <a:rPr lang="de-DE" b="1" sz="1100"/>
              <a:t>Methode: </a:t>
            </a:r>
            <a:r>
              <a:rPr lang="de-DE" sz="1100"/>
              <a:t>Einstiegsfrage mit Handzeichen oder Antwortkarten A/B/C.</a:t>
            </a:r>
          </a:p>
          <a:p>
            <a:r>
              <a:rPr lang="de-DE" b="1" sz="1100"/>
              <a:t>Sozialform: </a:t>
            </a:r>
            <a:r>
              <a:rPr lang="de-DE" sz="1100"/>
              <a:t>Plenum</a:t>
            </a:r>
          </a:p>
          <a:p>
            <a:r>
              <a:rPr lang="de-DE" b="1" sz="1100"/>
              <a:t>Zeit: </a:t>
            </a:r>
            <a:r>
              <a:rPr lang="de-DE" sz="1100"/>
              <a:t>ca. 2 Min</a:t>
            </a:r>
          </a:p>
          <a:p>
            <a:r>
              <a:rPr lang="de-DE" b="1" sz="1100"/>
              <a:t>Material: </a:t>
            </a:r>
            <a:r>
              <a:rPr lang="de-DE" sz="1100"/>
              <a:t>Antwortkarten A/B/C</a:t>
            </a:r>
          </a:p>
          <a:p>
            <a:r>
              <a:rPr lang="de-DE" b="1" sz="1100"/>
              <a:t>Hinweis: </a:t>
            </a:r>
            <a:r>
              <a:rPr lang="de-DE" sz="1100"/>
              <a:t>Nicht nachfragen, nicht bewerten. Die Frage ist wortgleich mit der Einstiegsfrage im Thema Facebook auf der Lernplattform. Am Ende kann sie noch einmal gestellt werden.</a:t>
            </a:r>
          </a:p>
          <a:p>
            <a:r>
              <a:rPr lang="de-DE" b="1" sz="1100"/>
              <a:t>Lernplattform: </a:t>
            </a:r>
            <a:r>
              <a:rPr lang="de-DE" sz="1100"/>
              <a:t>Einstiegsfrage Thema Facebook.</a:t>
            </a:r>
          </a:p>
        </p:txBody>
      </p:sp>
      <p:sp>
        <p:nvSpPr>
          <p:cNvPr id="4" name="Slide Number Placeholder 3"/>
          <p:cNvSpPr>
            <a:spLocks noGrp="1"/>
          </p:cNvSpPr>
          <p:nvPr>
            <p:ph type="sldNum" sz="quarter" idx="10"/>
          </p:nvPr>
        </p:nvSpPr>
        <p:spPr/>
        <p:txBody>
          <a:bodyPr/>
          <a:lstStyle/>
          <a:p>
            <a:fld id="{F7021451-1387-4CA6-816F-3879F97B5CBC}" type="slidenum">
              <a:rPr lang="de-DE"/>
              <a:t>4</a:t>
            </a:fld>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Merken: Ich entscheide, welche Angaben wer sieht.</a:t>
            </a:r>
          </a:p>
          <a:p>
            <a:r>
              <a:rPr lang="de-DE" b="1" sz="1100"/>
              <a:t>Methode: </a:t>
            </a:r>
            <a:r>
              <a:rPr lang="de-DE" sz="1100"/>
              <a:t>Sortier-Übung mit Karten auf drei Stapel; Gespräch über die Grenzfälle.</a:t>
            </a:r>
          </a:p>
          <a:p>
            <a:r>
              <a:rPr lang="de-DE" b="1" sz="1100"/>
              <a:t>Sozialform: </a:t>
            </a:r>
            <a:r>
              <a:rPr lang="de-DE" sz="1100"/>
              <a:t>Plenum oder Paare</a:t>
            </a:r>
          </a:p>
          <a:p>
            <a:r>
              <a:rPr lang="de-DE" b="1" sz="1100"/>
              <a:t>Zeit: </a:t>
            </a:r>
            <a:r>
              <a:rPr lang="de-DE" sz="1100"/>
              <a:t>ca. 4 Min</a:t>
            </a:r>
          </a:p>
          <a:p>
            <a:r>
              <a:rPr lang="de-DE" b="1" sz="1100"/>
              <a:t>Material: </a:t>
            </a:r>
            <a:r>
              <a:rPr lang="de-DE" sz="1100"/>
              <a:t>6 gedruckte Karten mit erfundenen Angaben</a:t>
            </a:r>
          </a:p>
          <a:p>
            <a:r>
              <a:rPr lang="de-DE" b="1" sz="1100"/>
              <a:t>Hinweis: </a:t>
            </a:r>
            <a:r>
              <a:rPr lang="de-DE" sz="1100"/>
              <a:t>Nur erfundene Angaben verwenden, nie Angaben aus der Gruppe. Es gibt keine falschen Stapel: Bei Geburtstag und Arbeitsstelle darf man verschiedener Meinung sein. Wichtig ist der Satz: Du entscheidest. Die Idee stammt aus der Begleit-Ebene der Lernplattform.</a:t>
            </a:r>
          </a:p>
          <a:p>
            <a:r>
              <a:rPr lang="de-DE" b="1" sz="1100"/>
              <a:t>Bildvorschlag: </a:t>
            </a:r>
            <a:r>
              <a:rPr lang="de-DE" sz="1100"/>
              <a:t>Kein Bild, sondern gedruckte Karten. Später möglich: ein erfundenes Profil als eigene Zeichnung, aus dem die Angaben stammen. Keine nachgebaute Facebook-Oberfläche.</a:t>
            </a:r>
          </a:p>
          <a:p>
            <a:r>
              <a:rPr lang="de-DE" b="1" sz="1100"/>
              <a:t>Lernplattform: </a:t>
            </a:r>
            <a:r>
              <a:rPr lang="de-DE" sz="1100"/>
              <a:t>Begleit-Ebene Facebook, Methodik: öffentlich oder privat – Angaben einsortieren; Lektion L1.</a:t>
            </a:r>
          </a:p>
        </p:txBody>
      </p:sp>
      <p:sp>
        <p:nvSpPr>
          <p:cNvPr id="4" name="Slide Number Placeholder 3"/>
          <p:cNvSpPr>
            <a:spLocks noGrp="1"/>
          </p:cNvSpPr>
          <p:nvPr>
            <p:ph type="sldNum" sz="quarter" idx="10"/>
          </p:nvPr>
        </p:nvSpPr>
        <p:spPr/>
        <p:txBody>
          <a:bodyPr/>
          <a:lstStyle/>
          <a:p>
            <a:fld id="{F7021451-1387-4CA6-816F-3879F97B5CBC}" type="slidenum">
              <a:rPr lang="de-DE"/>
              <a:t>5</a:t>
            </a:fld>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1: Mein Profil.</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Frage an die Gruppe: Wer kann eigentlich deine Beiträge sehen?</a:t>
            </a:r>
          </a:p>
        </p:txBody>
      </p:sp>
      <p:sp>
        <p:nvSpPr>
          <p:cNvPr id="4" name="Slide Number Placeholder 3"/>
          <p:cNvSpPr>
            <a:spLocks noGrp="1"/>
          </p:cNvSpPr>
          <p:nvPr>
            <p:ph type="sldNum" sz="quarter" idx="10"/>
          </p:nvPr>
        </p:nvSpPr>
        <p:spPr/>
        <p:txBody>
          <a:bodyPr/>
          <a:lstStyle/>
          <a:p>
            <a:fld id="{F7021451-1387-4CA6-816F-3879F97B5CBC}" type="slidenum">
              <a:rPr lang="de-DE"/>
              <a:t>6</a:t>
            </a:fld>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Wichtige Begriffe kennen: Profil, Beitrag, Freunde, Gruppe, private Nachricht.</a:t>
            </a:r>
          </a:p>
          <a:p>
            <a:r>
              <a:rPr lang="de-DE" b="1" sz="1100"/>
              <a:t>Methode: </a:t>
            </a:r>
            <a:r>
              <a:rPr lang="de-DE" sz="1100"/>
              <a:t>Vorwissen abfragen, Begriffe klären.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Erwachsene kennen Facebook oft gut. Erst fragen: Wer nutzt Facebook? Wer schaut nur? Nicht bewerten. Ergänzen: In einer Gruppe lesen alle mit, die in der Gruppe sind – auch bei privaten Themen. Eine private Nachricht kann auch an mehrere Personen gehen.</a:t>
            </a:r>
          </a:p>
          <a:p>
            <a:r>
              <a:rPr lang="de-DE" b="1" sz="1100"/>
              <a:t>Lernplattform: </a:t>
            </a:r>
            <a:r>
              <a:rPr lang="de-DE" sz="1100"/>
              <a:t>Wörter-Hilfe der Lernplattform; Thema Facebook L1 und L2.</a:t>
            </a:r>
          </a:p>
        </p:txBody>
      </p:sp>
      <p:sp>
        <p:nvSpPr>
          <p:cNvPr id="4" name="Slide Number Placeholder 3"/>
          <p:cNvSpPr>
            <a:spLocks noGrp="1"/>
          </p:cNvSpPr>
          <p:nvPr>
            <p:ph type="sldNum" sz="quarter" idx="10"/>
          </p:nvPr>
        </p:nvSpPr>
        <p:spPr/>
        <p:txBody>
          <a:bodyPr/>
          <a:lstStyle/>
          <a:p>
            <a:fld id="{F7021451-1387-4CA6-816F-3879F97B5CBC}" type="slidenum">
              <a:rPr lang="de-DE"/>
              <a:t>7</a:t>
            </a:fld>
            <a:endParaRPr lang="de-D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Unterschied zwischen Freunde und öffentlich erklären können.</a:t>
            </a:r>
          </a:p>
          <a:p>
            <a:r>
              <a:rPr lang="de-DE" b="1" sz="1100"/>
              <a:t>Methode: </a:t>
            </a:r>
            <a:r>
              <a:rPr lang="de-DE" sz="1100"/>
              <a:t>Vergleich, Lehrgespräch.</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Botschaft: Freunde ist sicherer. Unterschied nicht nur über Farbe erklären, sondern über die Wörter. Keine Menüwege zeigen – das Einstellen kommt in der Praxis nach der Pause. Im Leitfaden für die Praxis: Beim Posten steht die Einstellung direkt am Beitrag; wie sie dort aussieht, kann die App ändern.</a:t>
            </a:r>
          </a:p>
          <a:p>
            <a:r>
              <a:rPr lang="de-DE" b="1" sz="1100"/>
              <a:t>Bildvorschlag: </a:t>
            </a:r>
            <a:r>
              <a:rPr lang="de-DE" sz="1100"/>
              <a:t>PFLICHT VOR DEM PRAXISTEST. Zwei eigene Bilder: (1) Ein Beitrag, wenige bekannte Menschen schauen zu. (2) Derselbe Beitrag, viele unbekannte Menschen schauen zu. Funktion: Unterschied ohne Lesen erkennbar. Keine nachgebauten App-Oberflächen.</a:t>
            </a:r>
          </a:p>
          <a:p>
            <a:r>
              <a:rPr lang="de-DE" b="1" sz="1100"/>
              <a:t>Lernplattform: </a:t>
            </a:r>
            <a:r>
              <a:rPr lang="de-DE" sz="1100"/>
              <a:t>Facebook L3 (Wer darf etwas sehen?), Kurz-Modus „Dein Facebook-Profil“, Übungs-Handy „Wer sieht deinen Beitrag?“</a:t>
            </a:r>
          </a:p>
        </p:txBody>
      </p:sp>
      <p:sp>
        <p:nvSpPr>
          <p:cNvPr id="4" name="Slide Number Placeholder 3"/>
          <p:cNvSpPr>
            <a:spLocks noGrp="1"/>
          </p:cNvSpPr>
          <p:nvPr>
            <p:ph type="sldNum" sz="quarter" idx="10"/>
          </p:nvPr>
        </p:nvSpPr>
        <p:spPr/>
        <p:txBody>
          <a:bodyPr/>
          <a:lstStyle/>
          <a:p>
            <a:fld id="{F7021451-1387-4CA6-816F-3879F97B5CBC}" type="slidenum">
              <a:rPr lang="de-DE"/>
              <a:t>8</a:t>
            </a:fld>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Alte Beiträge sind weiter sichtbar und lassen sich nachträglich schützen.</a:t>
            </a:r>
          </a:p>
          <a:p>
            <a:r>
              <a:rPr lang="de-DE" b="1" sz="1100"/>
              <a:t>Methode: </a:t>
            </a:r>
            <a:r>
              <a:rPr lang="de-DE" sz="1100"/>
              <a:t>Lehrgespräch mit Beispiel.</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Ruhig, ohne Angst. Botschaft: Du kannst das jederzeit ändern – das ist eine freiwillige Aufgabe in der Praxis. Keine echten Profile am Beamer zeigen.</a:t>
            </a:r>
          </a:p>
          <a:p>
            <a:r>
              <a:rPr lang="de-DE" b="1" sz="1100"/>
              <a:t>Bildvorschlag: </a:t>
            </a:r>
            <a:r>
              <a:rPr lang="de-DE" sz="1100"/>
              <a:t>Eigenes Bild: Zeitleiste mit mehreren Beiträgen; einer ist mit einem offenen Symbol als öffentlich markiert. Funktion: zeigen, dass Altes bleibt.</a:t>
            </a:r>
          </a:p>
          <a:p>
            <a:r>
              <a:rPr lang="de-DE" b="1" sz="1100"/>
              <a:t>Lernplattform: </a:t>
            </a:r>
            <a:r>
              <a:rPr lang="de-DE" sz="1100"/>
              <a:t>Facebook Quiz Frage 8 (Alte Beiträge können später noch gesehen werden); Praxis-Seite: Alte Beiträge schützen.</a:t>
            </a:r>
          </a:p>
        </p:txBody>
      </p:sp>
      <p:sp>
        <p:nvSpPr>
          <p:cNvPr id="4" name="Slide Number Placeholder 3"/>
          <p:cNvSpPr>
            <a:spLocks noGrp="1"/>
          </p:cNvSpPr>
          <p:nvPr>
            <p:ph type="sldNum" sz="quarter" idx="10"/>
          </p:nvPr>
        </p:nvSpPr>
        <p:spPr/>
        <p:txBody>
          <a:bodyPr/>
          <a:lstStyle/>
          <a:p>
            <a:fld id="{F7021451-1387-4CA6-816F-3879F97B5CBC}" type="slidenum">
              <a:rPr lang="de-DE"/>
              <a:t>9</a:t>
            </a:fld>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2: Was ich teile.</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Frage an die Gruppe: Worauf achtest du, bevor du etwas postest?</a:t>
            </a:r>
          </a:p>
        </p:txBody>
      </p:sp>
      <p:sp>
        <p:nvSpPr>
          <p:cNvPr id="4" name="Slide Number Placeholder 3"/>
          <p:cNvSpPr>
            <a:spLocks noGrp="1"/>
          </p:cNvSpPr>
          <p:nvPr>
            <p:ph type="sldNum" sz="quarter" idx="10"/>
          </p:nvPr>
        </p:nvSpPr>
        <p:spPr/>
        <p:txBody>
          <a:bodyPr/>
          <a:lstStyle/>
          <a:p>
            <a:fld id="{F7021451-1387-4CA6-816F-3879F97B5CBC}" type="slidenum">
              <a:rPr lang="de-DE"/>
              <a:t>10</a:t>
            </a:fld>
            <a:endParaRPr 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Verstehen: Beiträge können gespeichert und weitergeteilt werden.</a:t>
            </a:r>
          </a:p>
          <a:p>
            <a:r>
              <a:rPr lang="de-DE" b="1" sz="1100"/>
              <a:t>Methode: </a:t>
            </a:r>
            <a:r>
              <a:rPr lang="de-DE" sz="1100"/>
              <a:t>Lehrgespräch.</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Ruhig, ohne Angst. Begriff „Bild vom Bildschirm“ verwenden, wie auf der Lernplattform. Auch ein gelöschter Beitrag kann bei anderen schon gespeichert sein.</a:t>
            </a:r>
          </a:p>
          <a:p>
            <a:r>
              <a:rPr lang="de-DE" b="1" sz="1100"/>
              <a:t>Bildvorschlag: </a:t>
            </a:r>
            <a:r>
              <a:rPr lang="de-DE" sz="1100"/>
              <a:t>Eigenes Bild: Ein Beitrag wird auf mehreren Handys gespeichert und weitergeteilt (Pfeile). Funktion: Weiterverbreitung sichtbar machen.</a:t>
            </a:r>
          </a:p>
          <a:p>
            <a:r>
              <a:rPr lang="de-DE" b="1" sz="1100"/>
              <a:t>Lernplattform: </a:t>
            </a:r>
            <a:r>
              <a:rPr lang="de-DE" sz="1100"/>
              <a:t>Facebook L2 (Beitrag schreiben), Quiz Frage 8; Thema Hilfe L3 (Bild vom Bildschirm).</a:t>
            </a:r>
          </a:p>
        </p:txBody>
      </p:sp>
      <p:sp>
        <p:nvSpPr>
          <p:cNvPr id="4" name="Slide Number Placeholder 3"/>
          <p:cNvSpPr>
            <a:spLocks noGrp="1"/>
          </p:cNvSpPr>
          <p:nvPr>
            <p:ph type="sldNum" sz="quarter" idx="10"/>
          </p:nvPr>
        </p:nvSpPr>
        <p:spPr/>
        <p:txBody>
          <a:bodyPr/>
          <a:lstStyle/>
          <a:p>
            <a:fld id="{F7021451-1387-4CA6-816F-3879F97B5CBC}" type="slidenum">
              <a:rPr lang="de-DE"/>
              <a:t>11</a:t>
            </a:fld>
            <a:endParaRPr lang="de-D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Vor dem Posten private Daten, Ort, andere Personen und die Gruppe prüfen.</a:t>
            </a:r>
          </a:p>
          <a:p>
            <a:r>
              <a:rPr lang="de-DE" b="1" sz="1100"/>
              <a:t>Methode: </a:t>
            </a:r>
            <a:r>
              <a:rPr lang="de-DE" sz="1100"/>
              <a:t>Prüffragen durchgehen; Paar-Gespräch: Was würdest du ändern?</a:t>
            </a:r>
          </a:p>
          <a:p>
            <a:r>
              <a:rPr lang="de-DE" b="1" sz="1100"/>
              <a:t>Sozialform: </a:t>
            </a:r>
            <a:r>
              <a:rPr lang="de-DE" sz="1100"/>
              <a:t>Paare, Plenum</a:t>
            </a:r>
          </a:p>
          <a:p>
            <a:r>
              <a:rPr lang="de-DE" b="1" sz="1100"/>
              <a:t>Zeit: </a:t>
            </a:r>
            <a:r>
              <a:rPr lang="de-DE" sz="1100"/>
              <a:t>ca. 4 Min</a:t>
            </a:r>
          </a:p>
          <a:p>
            <a:r>
              <a:rPr lang="de-DE" b="1" sz="1100"/>
              <a:t>Material: </a:t>
            </a:r>
            <a:r>
              <a:rPr lang="de-DE" sz="1100"/>
              <a:t>Beamer</a:t>
            </a:r>
          </a:p>
          <a:p>
            <a:r>
              <a:rPr lang="de-DE" b="1" sz="1100"/>
              <a:t>Hinweis: </a:t>
            </a:r>
            <a:r>
              <a:rPr lang="de-DE" sz="1100"/>
              <a:t>Andere Personen auf Fotos vorher fragen (Recht am eigenen Bild). Bei Gruppen ergänzen: In einer Gruppe lesen viele mit; was dort steht, kann weitergetragen werden – gerade bei Gesundheit oder Behinderung. Der Ort ist oft schon am Hintergrund zu erkennen, zum Beispiel am Straßen-Schild.</a:t>
            </a:r>
          </a:p>
          <a:p>
            <a:r>
              <a:rPr lang="de-DE" b="1" sz="1100"/>
              <a:t>Bildvorschlag: </a:t>
            </a:r>
            <a:r>
              <a:rPr lang="de-DE" sz="1100"/>
              <a:t>Eigenes Bild: Person prüft einen Beitrag; Adresse und eine zweite Person auf dem Foto sind farbig markiert. Funktion: Prüfen als Handlung zeigen.</a:t>
            </a:r>
          </a:p>
          <a:p>
            <a:r>
              <a:rPr lang="de-DE" b="1" sz="1100"/>
              <a:t>Lernplattform: </a:t>
            </a:r>
            <a:r>
              <a:rPr lang="de-DE" sz="1100"/>
              <a:t>Facebook L7 (Fotos mit anderen Personen), Quiz Fragen 1, 4 und 7; Thema Datenschutz.</a:t>
            </a:r>
          </a:p>
        </p:txBody>
      </p:sp>
      <p:sp>
        <p:nvSpPr>
          <p:cNvPr id="4" name="Slide Number Placeholder 3"/>
          <p:cNvSpPr>
            <a:spLocks noGrp="1"/>
          </p:cNvSpPr>
          <p:nvPr>
            <p:ph type="sldNum" sz="quarter" idx="10"/>
          </p:nvPr>
        </p:nvSpPr>
        <p:spPr/>
        <p:txBody>
          <a:bodyPr/>
          <a:lstStyle/>
          <a:p>
            <a:fld id="{F7021451-1387-4CA6-816F-3879F97B5CBC}" type="slidenum">
              <a:rPr lang="de-DE"/>
              <a:t>12</a:t>
            </a:fld>
            <a:endParaRPr lang="de-D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Merksatz „Erst prüfen. Dann teilen.“ nennen und anwenden.</a:t>
            </a:r>
          </a:p>
          <a:p>
            <a:r>
              <a:rPr lang="de-DE" b="1" sz="1100"/>
              <a:t>Methode: </a:t>
            </a:r>
            <a:r>
              <a:rPr lang="de-DE" sz="1100"/>
              <a:t>Merksatz gemeinsam sprechen.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Merksatz zwei- bis dreimal gemeinsam wiederholen. Hilfsfrage: Ist das okay – für mich und für die anderen im Beitrag? Auf der Lernplattform heißt es in Quizfrage 10 noch „Erst prüfen. Dann posten.“ – inhaltlich dasselbe.</a:t>
            </a:r>
          </a:p>
          <a:p>
            <a:r>
              <a:rPr lang="de-DE" b="1" sz="1100"/>
              <a:t>Bildvorschlag: </a:t>
            </a:r>
            <a:r>
              <a:rPr lang="de-DE" sz="1100"/>
              <a:t>Eigenes Bild: Person schaut noch einmal auf ihren Beitrag und teilt ihn erst dann. Funktion: die Handlung „erst prüfen“ zeigen.</a:t>
            </a:r>
          </a:p>
          <a:p>
            <a:r>
              <a:rPr lang="de-DE" b="1" sz="1100"/>
              <a:t>Lernplattform: </a:t>
            </a:r>
            <a:r>
              <a:rPr lang="de-DE" sz="1100"/>
              <a:t>Facebook Quiz Frage 10; Merk-Karte.</a:t>
            </a:r>
          </a:p>
        </p:txBody>
      </p:sp>
      <p:sp>
        <p:nvSpPr>
          <p:cNvPr id="4" name="Slide Number Placeholder 3"/>
          <p:cNvSpPr>
            <a:spLocks noGrp="1"/>
          </p:cNvSpPr>
          <p:nvPr>
            <p:ph type="sldNum" sz="quarter" idx="10"/>
          </p:nvPr>
        </p:nvSpPr>
        <p:spPr/>
        <p:txBody>
          <a:bodyPr/>
          <a:lstStyle/>
          <a:p>
            <a:fld id="{F7021451-1387-4CA6-816F-3879F97B5CBC}" type="slidenum">
              <a:rPr lang="de-DE"/>
              <a:t>13</a:t>
            </a:fld>
            <a:endParaRPr lang="de-D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3: Fremde wollen etwas.</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Behutsam überleiten: Manchmal schreiben uns fremde Menschen. Manche wollen etwas von uns.</a:t>
            </a:r>
          </a:p>
        </p:txBody>
      </p:sp>
      <p:sp>
        <p:nvSpPr>
          <p:cNvPr id="4" name="Slide Number Placeholder 3"/>
          <p:cNvSpPr>
            <a:spLocks noGrp="1"/>
          </p:cNvSpPr>
          <p:nvPr>
            <p:ph type="sldNum" sz="quarter" idx="10"/>
          </p:nvPr>
        </p:nvSpPr>
        <p:spPr/>
        <p:txBody>
          <a:bodyPr/>
          <a:lstStyle/>
          <a:p>
            <a:fld id="{F7021451-1387-4CA6-816F-3879F97B5CBC}" type="slidenum">
              <a:rPr lang="de-DE"/>
              <a:t>14</a:t>
            </a:fld>
            <a:endParaRPr lang="de-D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Eine Anfrage von einer unbekannten Person ablehnen können.</a:t>
            </a:r>
          </a:p>
          <a:p>
            <a:r>
              <a:rPr lang="de-DE" b="1" sz="1100"/>
              <a:t>Methode: </a:t>
            </a:r>
            <a:r>
              <a:rPr lang="de-DE" sz="1100"/>
              <a:t>Lehrgespräch mit Beispiel; Entscheidung an zwei Karten.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„Nein sagen ist erlaubt.“ Eine Anfrage muss niemand annehmen. Viele gemeinsame Freunde sind kein Beweis – ein falsches Profil kann Freunde kopieren. Ein schönes Profil-Bild ist auch kein Beweis. Bei Unsicherheit eine vertraute Person fragen.</a:t>
            </a:r>
          </a:p>
          <a:p>
            <a:r>
              <a:rPr lang="de-DE" b="1" sz="1100"/>
              <a:t>Lernplattform: </a:t>
            </a:r>
            <a:r>
              <a:rPr lang="de-DE" sz="1100"/>
              <a:t>Facebook L4 (Freundschafts-Anfragen), Quiz Frage 2; Kurz-Modus „Unbekannte Personen“.</a:t>
            </a:r>
          </a:p>
        </p:txBody>
      </p:sp>
      <p:sp>
        <p:nvSpPr>
          <p:cNvPr id="4" name="Slide Number Placeholder 3"/>
          <p:cNvSpPr>
            <a:spLocks noGrp="1"/>
          </p:cNvSpPr>
          <p:nvPr>
            <p:ph type="sldNum" sz="quarter" idx="10"/>
          </p:nvPr>
        </p:nvSpPr>
        <p:spPr/>
        <p:txBody>
          <a:bodyPr/>
          <a:lstStyle/>
          <a:p>
            <a:fld id="{F7021451-1387-4CA6-816F-3879F97B5CBC}" type="slidenum">
              <a:rPr lang="de-DE"/>
              <a:t>15</a:t>
            </a:fld>
            <a:endParaRPr lang="de-D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Warnzeichen erkennen: Geld, Code oder Passwort, Link, Zeitdruck, verändertes Verhalten von Freunden.</a:t>
            </a:r>
          </a:p>
          <a:p>
            <a:r>
              <a:rPr lang="de-DE" b="1" sz="1100"/>
              <a:t>Methode: </a:t>
            </a:r>
            <a:r>
              <a:rPr lang="de-DE" sz="1100"/>
              <a:t>Lehrgespräch mit erfundenem Fallbeispiel.</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Facebook-Besonderheit: Betrug kommt oft über angebliche Freunde. Ein Konto kann geknackt sein, oder jemand baut ein zweites Profil mit demselben Namen und Bild. Deshalb der letzte Punkt: Ein Freund schreibt plötzlich anders, fragt nach Geld oder nach einem Code. Dann gilt: auf einem anderen Weg nachfragen, zum Beispiel anrufen. Beispiele erfunden halten. Bei Hinweisen auf eigene Betroffenheit nicht in der Gruppe vertiefen, sondern Einzelgespräch in der Pause anbieten.</a:t>
            </a:r>
          </a:p>
          <a:p>
            <a:r>
              <a:rPr lang="de-DE" b="1" sz="1100"/>
              <a:t>Lernplattform: </a:t>
            </a:r>
            <a:r>
              <a:rPr lang="de-DE" sz="1100"/>
              <a:t>Facebook L8 (Warnhinweis: Wer sich als Freund ausgibt und schnell Geld oder Daten will, ist oft kein Freund); Themen Online-Betrug und Datenschutz.</a:t>
            </a:r>
          </a:p>
        </p:txBody>
      </p:sp>
      <p:sp>
        <p:nvSpPr>
          <p:cNvPr id="4" name="Slide Number Placeholder 3"/>
          <p:cNvSpPr>
            <a:spLocks noGrp="1"/>
          </p:cNvSpPr>
          <p:nvPr>
            <p:ph type="sldNum" sz="quarter" idx="10"/>
          </p:nvPr>
        </p:nvSpPr>
        <p:spPr/>
        <p:txBody>
          <a:bodyPr/>
          <a:lstStyle/>
          <a:p>
            <a:fld id="{F7021451-1387-4CA6-816F-3879F97B5CBC}" type="slidenum">
              <a:rPr lang="de-DE"/>
              <a:t>16</a:t>
            </a:fld>
            <a:endParaRPr lang="de-D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eigenen Plan nennen: Stopp machen. Nicht sofort antworten. Zeigen.</a:t>
            </a:r>
          </a:p>
          <a:p>
            <a:r>
              <a:rPr lang="de-DE" b="1" sz="1100"/>
              <a:t>Methode: </a:t>
            </a:r>
            <a:r>
              <a:rPr lang="de-DE" sz="1100"/>
              <a:t>Merksatz gemeinsam sprechen, kurz vormachen.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Auf der Lernplattform steht derselbe Plan als Merksatz: Gemeinheit ist nicht meine Schuld. Ich hole Hilfe. Der Plan gilt für Nachrichten, Anfragen und Links. Zeigen ist kein Petzen, sondern Schutz. Bei Geld-Anfragen ergänzen: kein Geld schicken, den Freund anrufen.</a:t>
            </a:r>
          </a:p>
          <a:p>
            <a:r>
              <a:rPr lang="de-DE" b="1" sz="1100"/>
              <a:t>Bildvorschlag: </a:t>
            </a:r>
            <a:r>
              <a:rPr lang="de-DE" sz="1100"/>
              <a:t>Eigenes Bild: Person zeigt ihr Handy einer vertrauten Person, beide ruhig. Funktion: „Zeigen“ als normale, starke Handlung darstellen.</a:t>
            </a:r>
          </a:p>
          <a:p>
            <a:r>
              <a:rPr lang="de-DE" b="1" sz="1100"/>
              <a:t>Lernplattform: </a:t>
            </a:r>
            <a:r>
              <a:rPr lang="de-DE" sz="1100"/>
              <a:t>Facebook L8 (Was kann ich tun?); Thema Hilfe bei Problemen: Stopp-Regel.</a:t>
            </a:r>
          </a:p>
        </p:txBody>
      </p:sp>
      <p:sp>
        <p:nvSpPr>
          <p:cNvPr id="4" name="Slide Number Placeholder 3"/>
          <p:cNvSpPr>
            <a:spLocks noGrp="1"/>
          </p:cNvSpPr>
          <p:nvPr>
            <p:ph type="sldNum" sz="quarter" idx="10"/>
          </p:nvPr>
        </p:nvSpPr>
        <p:spPr/>
        <p:txBody>
          <a:bodyPr/>
          <a:lstStyle/>
          <a:p>
            <a:fld id="{F7021451-1387-4CA6-816F-3879F97B5CBC}" type="slidenum">
              <a:rPr lang="de-DE"/>
              <a:t>17</a:t>
            </a:fld>
            <a:endParaRPr lang="de-D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4: Wenn etwas verletzt.</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Behutsam überleiten: Manchmal tut etwas weh, das andere schreiben.</a:t>
            </a:r>
          </a:p>
        </p:txBody>
      </p:sp>
      <p:sp>
        <p:nvSpPr>
          <p:cNvPr id="4" name="Slide Number Placeholder 3"/>
          <p:cNvSpPr>
            <a:spLocks noGrp="1"/>
          </p:cNvSpPr>
          <p:nvPr>
            <p:ph type="sldNum" sz="quarter" idx="10"/>
          </p:nvPr>
        </p:nvSpPr>
        <p:spPr/>
        <p:txBody>
          <a:bodyPr/>
          <a:lstStyle/>
          <a:p>
            <a:fld id="{F7021451-1387-4CA6-816F-3879F97B5CBC}" type="slidenum">
              <a:rPr lang="de-DE"/>
              <a:t>18</a:t>
            </a:fld>
            <a:endParaRPr lang="de-D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Verletzende Kommentare sind nicht meine Schuld; ich muss nicht antworten.</a:t>
            </a:r>
          </a:p>
          <a:p>
            <a:r>
              <a:rPr lang="de-DE" b="1" sz="1100"/>
              <a:t>Methode: </a:t>
            </a:r>
            <a:r>
              <a:rPr lang="de-DE" sz="1100"/>
              <a:t>Lehrgespräch, Gefühle anerkennen.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Wichtigste Botschaft: Das ist nicht deine Schuld. Gefühle ernst nehmen, nicht bewerten. Niemand muss eigene Erfahrungen erzählen. Begriff „verletzende Kommentare“ statt „Mobbing“ – Mobbing heißt: immer wieder und gezielt. Die Lernplattform nennt die Lektion „Beleidigungen“; im Gespräch kann man ergänzen, dass eine Beleidigung auch strafbar sein kann.</a:t>
            </a:r>
          </a:p>
          <a:p>
            <a:r>
              <a:rPr lang="de-DE" b="1" sz="1100"/>
              <a:t>Bildvorschlag: </a:t>
            </a:r>
            <a:r>
              <a:rPr lang="de-DE" sz="1100"/>
              <a:t>Eigenes Bild: Person liest einen Kommentar, legt das Handy weg und atmet durch. Funktion: ruhige, selbstbestimmte Reaktion zeigen. Keine drastische Darstellung.</a:t>
            </a:r>
          </a:p>
          <a:p>
            <a:r>
              <a:rPr lang="de-DE" b="1" sz="1100"/>
              <a:t>Lernplattform: </a:t>
            </a:r>
            <a:r>
              <a:rPr lang="de-DE" sz="1100"/>
              <a:t>Facebook L5 (Kommentare schreiben), L6 (Beleidigungen), Quiz Fragen 3 und 5.</a:t>
            </a:r>
          </a:p>
        </p:txBody>
      </p:sp>
      <p:sp>
        <p:nvSpPr>
          <p:cNvPr id="4" name="Slide Number Placeholder 3"/>
          <p:cNvSpPr>
            <a:spLocks noGrp="1"/>
          </p:cNvSpPr>
          <p:nvPr>
            <p:ph type="sldNum" sz="quarter" idx="10"/>
          </p:nvPr>
        </p:nvSpPr>
        <p:spPr/>
        <p:txBody>
          <a:bodyPr/>
          <a:lstStyle/>
          <a:p>
            <a:fld id="{F7021451-1387-4CA6-816F-3879F97B5CBC}" type="slidenum">
              <a:rPr lang="de-DE"/>
              <a:t>19</a:t>
            </a:fld>
            <a:endParaRPr lang="de-D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Vier Schritte kennen: zeigen, blockieren, melden, Hilfe holen.</a:t>
            </a:r>
          </a:p>
          <a:p>
            <a:r>
              <a:rPr lang="de-DE" b="1" sz="1100"/>
              <a:t>Methode: </a:t>
            </a:r>
            <a:r>
              <a:rPr lang="de-DE" sz="1100"/>
              <a:t>Lehrgespräch; Blockieren und Melden in der Praxis nur zeigen.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Zeigen heißt auch: den Kommentar nicht sofort löschen – er kann ein Beweis sein. Blockieren wirkt nur für dieses Profil; öffentliche Beiträge kann die Person weiter sehen. Das ehrlich sagen. Blockieren und Melden werden nach der Pause auf der Praxis-Seite gezeigt, nicht an echten Kontakten ausprobiert.</a:t>
            </a:r>
          </a:p>
          <a:p>
            <a:r>
              <a:rPr lang="de-DE" b="1" sz="1100"/>
              <a:t>Lernplattform: </a:t>
            </a:r>
            <a:r>
              <a:rPr lang="de-DE" sz="1100"/>
              <a:t>Facebook L6 und L8 (Stichpunkte); Thema Hilfe bei Problemen: Nicht sofort löschen; Praxis-Seite: Blockieren, Melden.</a:t>
            </a:r>
          </a:p>
        </p:txBody>
      </p:sp>
      <p:sp>
        <p:nvSpPr>
          <p:cNvPr id="4" name="Slide Number Placeholder 3"/>
          <p:cNvSpPr>
            <a:spLocks noGrp="1"/>
          </p:cNvSpPr>
          <p:nvPr>
            <p:ph type="sldNum" sz="quarter" idx="10"/>
          </p:nvPr>
        </p:nvSpPr>
        <p:spPr/>
        <p:txBody>
          <a:bodyPr/>
          <a:lstStyle/>
          <a:p>
            <a:fld id="{F7021451-1387-4CA6-816F-3879F97B5CBC}" type="slidenum">
              <a:rPr lang="de-DE"/>
              <a:t>20</a:t>
            </a:fld>
            <a:endParaRPr lang="de-D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Eigene vertraute Personen und Ansprechpersonen vor Ort benennen können.</a:t>
            </a:r>
          </a:p>
          <a:p>
            <a:r>
              <a:rPr lang="de-DE" b="1" sz="1100"/>
              <a:t>Methode: </a:t>
            </a:r>
            <a:r>
              <a:rPr lang="de-DE" sz="1100"/>
              <a:t>Sammeln im Plenum; Karte zeigen.</a:t>
            </a:r>
          </a:p>
          <a:p>
            <a:r>
              <a:rPr lang="de-DE" b="1" sz="1100"/>
              <a:t>Sozialform: </a:t>
            </a:r>
            <a:r>
              <a:rPr lang="de-DE" sz="1100"/>
              <a:t>Plenum</a:t>
            </a:r>
          </a:p>
          <a:p>
            <a:r>
              <a:rPr lang="de-DE" b="1" sz="1100"/>
              <a:t>Zeit: </a:t>
            </a:r>
            <a:r>
              <a:rPr lang="de-DE" sz="1100"/>
              <a:t>ca. 2 Min</a:t>
            </a:r>
          </a:p>
          <a:p>
            <a:r>
              <a:rPr lang="de-DE" b="1" sz="1100"/>
              <a:t>Material: </a:t>
            </a:r>
            <a:r>
              <a:rPr lang="de-DE" sz="1100"/>
              <a:t>Hilfe-Karte für jede Person, Stifte</a:t>
            </a:r>
          </a:p>
          <a:p>
            <a:r>
              <a:rPr lang="de-DE" b="1" sz="1100"/>
              <a:t>Hinweis: </a:t>
            </a:r>
            <a:r>
              <a:rPr lang="de-DE" sz="1100"/>
              <a:t>Hilfe holen ist stark, nicht peinlich. Die Hilfe-Karte austeilen: Die Vorderseite mit den Ansprechpersonen vor Ort ist vorher ausgefüllt. Die Rückseite füllt jede Person freiwillig selbst aus – auch später zu Hause. Die Karte bleibt bei der Person. Die Beispiele sind anpassbar; der Hauptbegriff bleibt vertraute Person.</a:t>
            </a:r>
          </a:p>
          <a:p>
            <a:r>
              <a:rPr lang="de-DE" b="1" sz="1100"/>
              <a:t>Bildvorschlag: </a:t>
            </a:r>
            <a:r>
              <a:rPr lang="de-DE" sz="1100"/>
              <a:t>PFLICHT VOR DEM PRAXISTEST. Kein Bild, sondern die gemeinsame Hilfe-Karte (gemeinsam/HILFE-KARTE.md) mit ausgefüllter Vorderseite.</a:t>
            </a:r>
          </a:p>
          <a:p>
            <a:r>
              <a:rPr lang="de-DE" b="1" sz="1100"/>
              <a:t>Lernplattform: </a:t>
            </a:r>
            <a:r>
              <a:rPr lang="de-DE" sz="1100"/>
              <a:t>Thema Hilfe bei Problemen: Vertraute Personen (L6), Externe Hilfe (L7).</a:t>
            </a:r>
          </a:p>
        </p:txBody>
      </p:sp>
      <p:sp>
        <p:nvSpPr>
          <p:cNvPr id="4" name="Slide Number Placeholder 3"/>
          <p:cNvSpPr>
            <a:spLocks noGrp="1"/>
          </p:cNvSpPr>
          <p:nvPr>
            <p:ph type="sldNum" sz="quarter" idx="10"/>
          </p:nvPr>
        </p:nvSpPr>
        <p:spPr/>
        <p:txBody>
          <a:bodyPr/>
          <a:lstStyle/>
          <a:p>
            <a:fld id="{F7021451-1387-4CA6-816F-3879F97B5CBC}" type="slidenum">
              <a:rPr lang="de-DE"/>
              <a:t>21</a:t>
            </a:fld>
            <a:endParaRPr lang="de-D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Erholung; Zeit für Einzelgespräche.</a:t>
            </a:r>
          </a:p>
          <a:p>
            <a:r>
              <a:rPr lang="de-DE" b="1" sz="1100"/>
              <a:t>Methode: </a:t>
            </a:r>
            <a:r>
              <a:rPr lang="de-DE" sz="1100"/>
              <a:t>Pause.</a:t>
            </a:r>
          </a:p>
          <a:p>
            <a:r>
              <a:rPr lang="de-DE" b="1" sz="1100"/>
              <a:t>Sozialform: </a:t>
            </a:r>
            <a:r>
              <a:rPr lang="de-DE" sz="1100"/>
              <a:t>–</a:t>
            </a:r>
          </a:p>
          <a:p>
            <a:r>
              <a:rPr lang="de-DE" b="1" sz="1100"/>
              <a:t>Zeit: </a:t>
            </a:r>
            <a:r>
              <a:rPr lang="de-DE" sz="1100"/>
              <a:t>ca. 10 Min</a:t>
            </a:r>
          </a:p>
          <a:p>
            <a:r>
              <a:rPr lang="de-DE" b="1" sz="1100"/>
              <a:t>Material: </a:t>
            </a:r>
            <a:r>
              <a:rPr lang="de-DE" sz="1100"/>
              <a:t>Getränke</a:t>
            </a:r>
          </a:p>
          <a:p>
            <a:r>
              <a:rPr lang="de-DE" b="1" sz="1100"/>
              <a:t>Hinweis: </a:t>
            </a:r>
            <a:r>
              <a:rPr lang="de-DE" sz="1100"/>
              <a:t>Uhrzeit nennen, wann es weitergeht. Für Einzelgespräche erreichbar sein. In der Pause Geräte laden, WLAN klären, Praxis-Seite am Beamer öffnen.</a:t>
            </a:r>
          </a:p>
        </p:txBody>
      </p:sp>
      <p:sp>
        <p:nvSpPr>
          <p:cNvPr id="4" name="Slide Number Placeholder 3"/>
          <p:cNvSpPr>
            <a:spLocks noGrp="1"/>
          </p:cNvSpPr>
          <p:nvPr>
            <p:ph type="sldNum" sz="quarter" idx="10"/>
          </p:nvPr>
        </p:nvSpPr>
        <p:spPr/>
        <p:txBody>
          <a:bodyPr/>
          <a:lstStyle/>
          <a:p>
            <a:fld id="{F7021451-1387-4CA6-816F-3879F97B5CBC}" type="slidenum">
              <a:rPr lang="de-DE"/>
              <a:t>22</a:t>
            </a:fld>
            <a:endParaRPr lang="de-D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in den Praxis-Teil: vom Wissen zum eigenen Tun.</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Ankündigen: Jetzt stellen wir Facebook zusammen am eigenen Handy ein. Fehler sind erlaubt. Einstellungen lassen sich zurückstellen.</a:t>
            </a:r>
          </a:p>
        </p:txBody>
      </p:sp>
      <p:sp>
        <p:nvSpPr>
          <p:cNvPr id="4" name="Slide Number Placeholder 3"/>
          <p:cNvSpPr>
            <a:spLocks noGrp="1"/>
          </p:cNvSpPr>
          <p:nvPr>
            <p:ph type="sldNum" sz="quarter" idx="10"/>
          </p:nvPr>
        </p:nvSpPr>
        <p:spPr/>
        <p:txBody>
          <a:bodyPr/>
          <a:lstStyle/>
          <a:p>
            <a:fld id="{F7021451-1387-4CA6-816F-3879F97B5CBC}" type="slidenum">
              <a:rPr lang="de-DE"/>
              <a:t>23</a:t>
            </a:fld>
            <a:endParaRPr lang="de-D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Die Praxis-Seite am eigenen Handy öffnen.</a:t>
            </a:r>
          </a:p>
          <a:p>
            <a:r>
              <a:rPr lang="de-DE" b="1" sz="1100"/>
              <a:t>Methode: </a:t>
            </a:r>
            <a:r>
              <a:rPr lang="de-DE" sz="1100"/>
              <a:t>Anleitung, QR-Code scannen.</a:t>
            </a:r>
          </a:p>
          <a:p>
            <a:r>
              <a:rPr lang="de-DE" b="1" sz="1100"/>
              <a:t>Sozialform: </a:t>
            </a:r>
            <a:r>
              <a:rPr lang="de-DE" sz="1100"/>
              <a:t>Einzeln mit Begleitung</a:t>
            </a:r>
          </a:p>
          <a:p>
            <a:r>
              <a:rPr lang="de-DE" b="1" sz="1100"/>
              <a:t>Zeit: </a:t>
            </a:r>
            <a:r>
              <a:rPr lang="de-DE" sz="1100"/>
              <a:t>ca. 2 Min</a:t>
            </a:r>
          </a:p>
          <a:p>
            <a:r>
              <a:rPr lang="de-DE" b="1" sz="1100"/>
              <a:t>Material: </a:t>
            </a:r>
            <a:r>
              <a:rPr lang="de-DE" sz="1100"/>
              <a:t>eigenes Handy, WLAN, QR-Code</a:t>
            </a:r>
          </a:p>
          <a:p>
            <a:r>
              <a:rPr lang="de-DE" b="1" sz="1100"/>
              <a:t>Hinweis: </a:t>
            </a:r>
            <a:r>
              <a:rPr lang="de-DE" sz="1100"/>
              <a:t>Der QR-Code ist der Hauptweg. Er wird vor dem Workshop getestet. Klappt das Scannen nicht: Die Begleitung öffnet die Seite auf dem Handy der Person oder zeigt sie am Beamer. Die volle Adresse steht unten im Feld Lernplattform und im Ausdruck dieses Leitfadens; sie wird nicht zum Abtippen an die Wand geworfen. Kein externer Kurz-Link-Dienst. Ohne Handy oder ohne Konto ist der Standardweg das Übungs-Handy „Wer sieht deinen Beitrag?“ (#thema-facebook:uebung) – erfundene Personen, kein Konto nötig. Im Workshop kein Konto anlegen.</a:t>
            </a:r>
          </a:p>
          <a:p>
            <a:r>
              <a:rPr lang="de-DE" b="1" sz="1100"/>
              <a:t>Lernplattform: </a:t>
            </a:r>
            <a:r>
              <a:rPr lang="de-DE" sz="1100"/>
              <a:t>Praxis-Seite alex-und-tilda.github.io/sicher-und-selbstbestimmt-im-internet/praxis/facebook.html (Stand der Seite: Juni 2026 – vor dem Einsatz prüfen).</a:t>
            </a:r>
          </a:p>
        </p:txBody>
      </p:sp>
      <p:sp>
        <p:nvSpPr>
          <p:cNvPr id="4" name="Slide Number Placeholder 3"/>
          <p:cNvSpPr>
            <a:spLocks noGrp="1"/>
          </p:cNvSpPr>
          <p:nvPr>
            <p:ph type="sldNum" sz="quarter" idx="10"/>
          </p:nvPr>
        </p:nvSpPr>
        <p:spPr/>
        <p:txBody>
          <a:bodyPr/>
          <a:lstStyle/>
          <a:p>
            <a:fld id="{F7021451-1387-4CA6-816F-3879F97B5CBC}" type="slidenum">
              <a:rPr lang="de-DE"/>
              <a:t>24</a:t>
            </a:fld>
            <a:endParaRPr lang="de-D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Mindestens eine Einstellung selbst vornehmen: künftige Beiträge auf Freunde stellen.</a:t>
            </a:r>
          </a:p>
          <a:p>
            <a:r>
              <a:rPr lang="de-DE" b="1" sz="1100"/>
              <a:t>Methode: </a:t>
            </a:r>
            <a:r>
              <a:rPr lang="de-DE" sz="1100"/>
              <a:t>Angeleitete Übung am Gerät; Tandem.</a:t>
            </a:r>
          </a:p>
          <a:p>
            <a:r>
              <a:rPr lang="de-DE" b="1" sz="1100"/>
              <a:t>Sozialform: </a:t>
            </a:r>
            <a:r>
              <a:rPr lang="de-DE" sz="1100"/>
              <a:t>Tandem, einzeln mit Begleitung</a:t>
            </a:r>
          </a:p>
          <a:p>
            <a:r>
              <a:rPr lang="de-DE" b="1" sz="1100"/>
              <a:t>Zeit: </a:t>
            </a:r>
            <a:r>
              <a:rPr lang="de-DE" sz="1100"/>
              <a:t>ca. 12 Min</a:t>
            </a:r>
          </a:p>
          <a:p>
            <a:r>
              <a:rPr lang="de-DE" b="1" sz="1100"/>
              <a:t>Material: </a:t>
            </a:r>
            <a:r>
              <a:rPr lang="de-DE" sz="1100"/>
              <a:t>eigenes Handy, Praxis-Seite, Beamer</a:t>
            </a:r>
          </a:p>
          <a:p>
            <a:r>
              <a:rPr lang="de-DE" b="1" sz="1100"/>
              <a:t>Hinweis: </a:t>
            </a:r>
            <a:r>
              <a:rPr lang="de-DE" sz="1100"/>
              <a:t>Mindestziel ist eine Einstellung: Wer kann deine künftigen Beiträge sehen – Freunde. Wer das geschafft hat, ist fertig; das ausdrücklich sagen. Bis zu zwei weitere Einstellungen sind freiwillig: Alte Beiträge schützen und Wer darf dir Freundschafts-Anfragen senden. Die Praxis dauert trotzdem 15 Minuten; die Zeit geht in Ruhe, Wiederholung und Einzelhilfe. Pro Einstellung erst am Beamer auf der Praxis-Seite zeigen, dann machen alle mit. Die Begleitung zeigt, die Person tippt. Keine Passwörter eingeben oder vorlesen. Menüwege stehen nur auf der Praxis-Seite; weicht die App ab: oben in den Einstellungen suchen. Blockieren und Melden nur zeigen, nicht an echten Kontakten ausprobieren. Erfolge abhaken. Die Praxis-Seite hat außerdem den Privatsphäre-Check und „Nicht über Google gefunden werden“; beides ist nicht Teil dieses Workshops. Für die Profil-Angaben aus der Aktivierung gibt es keinen eigenen Schritt auf der Praxis-Seite – sie stecken im Privatsphäre-Check.</a:t>
            </a:r>
          </a:p>
          <a:p>
            <a:r>
              <a:rPr lang="de-DE" b="1" sz="1100"/>
              <a:t>Lernplattform: </a:t>
            </a:r>
            <a:r>
              <a:rPr lang="de-DE" sz="1100"/>
              <a:t>Praxis-Seite Facebook (Beiträge auf Freunde, Alte Beiträge schützen, Freundschaftsanfragen, Blockieren, Melden). Ohne Handy oder Konto: Übungs-Handy „Wer sieht deinen Beitrag?“ (#thema-facebook:uebung).</a:t>
            </a:r>
          </a:p>
        </p:txBody>
      </p:sp>
      <p:sp>
        <p:nvSpPr>
          <p:cNvPr id="4" name="Slide Number Placeholder 3"/>
          <p:cNvSpPr>
            <a:spLocks noGrp="1"/>
          </p:cNvSpPr>
          <p:nvPr>
            <p:ph type="sldNum" sz="quarter" idx="10"/>
          </p:nvPr>
        </p:nvSpPr>
        <p:spPr/>
        <p:txBody>
          <a:bodyPr/>
          <a:lstStyle/>
          <a:p>
            <a:fld id="{F7021451-1387-4CA6-816F-3879F97B5CBC}" type="slidenum">
              <a:rPr lang="de-DE"/>
              <a:t>25</a:t>
            </a:fld>
            <a:endParaRPr lang="de-D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1, öffentlich oder Freunde.</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KERNFRAGE – wird immer gestellt. Passende Antwort: B. Erst fragen: Warum? Dann auflösen. Keine Noten, kein Zeitdruck. Zu Beginn sagen: Es gibt keine Noten. Jede Antwort hilft beim Gespräch. Gesprächsimpuls: Was ändert sich mit der Einstellung Freunde?</a:t>
            </a:r>
          </a:p>
          <a:p>
            <a:r>
              <a:rPr lang="de-DE" b="1" sz="1100"/>
              <a:t>Lernplattform: </a:t>
            </a:r>
            <a:r>
              <a:rPr lang="de-DE" sz="1100"/>
              <a:t>Facebook L3, Quiz Frage 6; Kurz-Modus „Dein Facebook-Profil“.</a:t>
            </a:r>
          </a:p>
        </p:txBody>
      </p:sp>
      <p:sp>
        <p:nvSpPr>
          <p:cNvPr id="4" name="Slide Number Placeholder 3"/>
          <p:cNvSpPr>
            <a:spLocks noGrp="1"/>
          </p:cNvSpPr>
          <p:nvPr>
            <p:ph type="sldNum" sz="quarter" idx="10"/>
          </p:nvPr>
        </p:nvSpPr>
        <p:spPr/>
        <p:txBody>
          <a:bodyPr/>
          <a:lstStyle/>
          <a:p>
            <a:fld id="{F7021451-1387-4CA6-816F-3879F97B5CBC}" type="slidenum">
              <a:rPr lang="de-DE"/>
              <a:t>26</a:t>
            </a:fld>
            <a:endParaRPr lang="de-D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3, Anfragen von Unbekannten.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C. Erst fragen: Warum? Dann auflösen. Keine Noten, kein Zeitdruck. Gesprächsimpuls: Gemeinsame Freunde sind kein Beweis. Ein falsches Profil kann Freunde kopieren. Zu Antwort B: Entfernen ist möglich, aber die Person hat deine Beiträge dann schon gesehen.</a:t>
            </a:r>
          </a:p>
          <a:p>
            <a:r>
              <a:rPr lang="de-DE" b="1" sz="1100"/>
              <a:t>Lernplattform: </a:t>
            </a:r>
            <a:r>
              <a:rPr lang="de-DE" sz="1100"/>
              <a:t>Facebook L4, Quiz Frage 2; Kurz-Modus „Unbekannte Personen“.</a:t>
            </a:r>
          </a:p>
        </p:txBody>
      </p:sp>
      <p:sp>
        <p:nvSpPr>
          <p:cNvPr id="4" name="Slide Number Placeholder 3"/>
          <p:cNvSpPr>
            <a:spLocks noGrp="1"/>
          </p:cNvSpPr>
          <p:nvPr>
            <p:ph type="sldNum" sz="quarter" idx="10"/>
          </p:nvPr>
        </p:nvSpPr>
        <p:spPr/>
        <p:txBody>
          <a:bodyPr/>
          <a:lstStyle/>
          <a:p>
            <a:fld id="{F7021451-1387-4CA6-816F-3879F97B5CBC}" type="slidenum">
              <a:rPr lang="de-DE"/>
              <a:t>27</a:t>
            </a:fld>
            <a:endParaRPr lang="de-D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2, andere Personen fragen.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KERNFRAGE – wird immer gestellt. Passende Antwort: A. Erst fragen: Warum? Dann auflösen. Keine Noten, kein Zeitdruck. Antwort B und C klingen rücksichtsvoll, ersetzen aber das Fragen nicht. Gesprächsimpuls: Wie fragst du jemanden?</a:t>
            </a:r>
          </a:p>
          <a:p>
            <a:r>
              <a:rPr lang="de-DE" b="1" sz="1100"/>
              <a:t>Lernplattform: </a:t>
            </a:r>
            <a:r>
              <a:rPr lang="de-DE" sz="1100"/>
              <a:t>Facebook L7, Quiz Frage 7.</a:t>
            </a:r>
          </a:p>
        </p:txBody>
      </p:sp>
      <p:sp>
        <p:nvSpPr>
          <p:cNvPr id="4" name="Slide Number Placeholder 3"/>
          <p:cNvSpPr>
            <a:spLocks noGrp="1"/>
          </p:cNvSpPr>
          <p:nvPr>
            <p:ph type="sldNum" sz="quarter" idx="10"/>
          </p:nvPr>
        </p:nvSpPr>
        <p:spPr/>
        <p:txBody>
          <a:bodyPr/>
          <a:lstStyle/>
          <a:p>
            <a:fld id="{F7021451-1387-4CA6-816F-3879F97B5CBC}" type="slidenum">
              <a:rPr lang="de-DE"/>
              <a:t>28</a:t>
            </a:fld>
            <a:endParaRPr lang="de-D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1, alte Beiträge.</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B. Erst fragen: Warum? Dann auflösen. Keine Noten, kein Zeitdruck. Tatsachen-Frage. Ergänzen: Alte Beiträge lassen sich nachträglich auf Freunde stellen – das ist eine freiwillige Aufgabe in der Praxis.</a:t>
            </a:r>
          </a:p>
          <a:p>
            <a:r>
              <a:rPr lang="de-DE" b="1" sz="1100"/>
              <a:t>Lernplattform: </a:t>
            </a:r>
            <a:r>
              <a:rPr lang="de-DE" sz="1100"/>
              <a:t>Facebook Quiz Frage 8; Praxis-Seite: Alte Beiträge schützen.</a:t>
            </a:r>
          </a:p>
        </p:txBody>
      </p:sp>
      <p:sp>
        <p:nvSpPr>
          <p:cNvPr id="4" name="Slide Number Placeholder 3"/>
          <p:cNvSpPr>
            <a:spLocks noGrp="1"/>
          </p:cNvSpPr>
          <p:nvPr>
            <p:ph type="sldNum" sz="quarter" idx="10"/>
          </p:nvPr>
        </p:nvSpPr>
        <p:spPr/>
        <p:txBody>
          <a:bodyPr/>
          <a:lstStyle/>
          <a:p>
            <a:fld id="{F7021451-1387-4CA6-816F-3879F97B5CBC}" type="slidenum">
              <a:rPr lang="de-DE"/>
              <a:t>29</a:t>
            </a:fld>
            <a:endParaRPr lang="de-D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3, Warnzeichen und Plan.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2 Min</a:t>
            </a:r>
          </a:p>
          <a:p>
            <a:r>
              <a:rPr lang="de-DE" b="1" sz="1100"/>
              <a:t>Material: </a:t>
            </a:r>
            <a:r>
              <a:rPr lang="de-DE" sz="1100"/>
              <a:t>Antwortkarten A/B/C</a:t>
            </a:r>
          </a:p>
          <a:p>
            <a:r>
              <a:rPr lang="de-DE" b="1" sz="1100"/>
              <a:t>Hinweis: </a:t>
            </a:r>
            <a:r>
              <a:rPr lang="de-DE" sz="1100"/>
              <a:t>KERNFRAGE – wird immer gestellt. Passende Antwort: A. Erst fragen: Warum? Dann auflösen. Keine Noten, kein Zeitdruck. Warnzeichen benennen lassen: Geld, Zeitdruck, Geheimhaltung. Das Konto des Freundes kann geknackt sein, oder jemand hat ein zweites Profil gebaut. Deshalb auf einem anderen Weg nachfragen, zum Beispiel anrufen. Antwort C bleibt im Chat – dort antwortet weiter die fremde Person.</a:t>
            </a:r>
          </a:p>
          <a:p>
            <a:r>
              <a:rPr lang="de-DE" b="1" sz="1100"/>
              <a:t>Lernplattform: </a:t>
            </a:r>
            <a:r>
              <a:rPr lang="de-DE" sz="1100"/>
              <a:t>Facebook L8, Kurz-Modus „Komische Nachrichten“; Thema Online-Betrug.</a:t>
            </a:r>
          </a:p>
        </p:txBody>
      </p:sp>
      <p:sp>
        <p:nvSpPr>
          <p:cNvPr id="4" name="Slide Number Placeholder 3"/>
          <p:cNvSpPr>
            <a:spLocks noGrp="1"/>
          </p:cNvSpPr>
          <p:nvPr>
            <p:ph type="sldNum" sz="quarter" idx="10"/>
          </p:nvPr>
        </p:nvSpPr>
        <p:spPr/>
        <p:txBody>
          <a:bodyPr/>
          <a:lstStyle/>
          <a:p>
            <a:fld id="{F7021451-1387-4CA6-816F-3879F97B5CBC}" type="slidenum">
              <a:rPr lang="de-DE"/>
              <a:t>30</a:t>
            </a:fld>
            <a:endParaRPr lang="de-D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4, verletzende Kommentare.</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C. Erst fragen: Warum? Dann auflösen. Keine Noten, kein Zeitdruck. Gesprächsimpuls: Das ist nicht deine Schuld. Zeigen heißt auch: nicht sofort löschen. Diese Reservefrage zuerst nehmen, wenn verletzende Kommentare in der Gruppe Thema waren.</a:t>
            </a:r>
          </a:p>
          <a:p>
            <a:r>
              <a:rPr lang="de-DE" b="1" sz="1100"/>
              <a:t>Lernplattform: </a:t>
            </a:r>
            <a:r>
              <a:rPr lang="de-DE" sz="1100"/>
              <a:t>Facebook L6, Quiz Frage 5.</a:t>
            </a:r>
          </a:p>
        </p:txBody>
      </p:sp>
      <p:sp>
        <p:nvSpPr>
          <p:cNvPr id="4" name="Slide Number Placeholder 3"/>
          <p:cNvSpPr>
            <a:spLocks noGrp="1"/>
          </p:cNvSpPr>
          <p:nvPr>
            <p:ph type="sldNum" sz="quarter" idx="10"/>
          </p:nvPr>
        </p:nvSpPr>
        <p:spPr/>
        <p:txBody>
          <a:bodyPr/>
          <a:lstStyle/>
          <a:p>
            <a:fld id="{F7021451-1387-4CA6-816F-3879F97B5CBC}" type="slidenum">
              <a:rPr lang="de-DE"/>
              <a:t>31</a:t>
            </a:fld>
            <a:endParaRPr lang="de-D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Fünf Merksätze wiederholen.</a:t>
            </a:r>
          </a:p>
          <a:p>
            <a:r>
              <a:rPr lang="de-DE" b="1" sz="1100"/>
              <a:t>Methode: </a:t>
            </a:r>
            <a:r>
              <a:rPr lang="de-DE" sz="1100"/>
              <a:t>Reihum vorlesen.</a:t>
            </a:r>
          </a:p>
          <a:p>
            <a:r>
              <a:rPr lang="de-DE" b="1" sz="1100"/>
              <a:t>Sozialform: </a:t>
            </a:r>
            <a:r>
              <a:rPr lang="de-DE" sz="1100"/>
              <a:t>Plenum</a:t>
            </a:r>
          </a:p>
          <a:p>
            <a:r>
              <a:rPr lang="de-DE" b="1" sz="1100"/>
              <a:t>Zeit: </a:t>
            </a:r>
            <a:r>
              <a:rPr lang="de-DE" sz="1100"/>
              <a:t>ca. 1 Min</a:t>
            </a:r>
          </a:p>
          <a:p>
            <a:r>
              <a:rPr lang="de-DE" b="1" sz="1100"/>
              <a:t>Material: </a:t>
            </a:r>
            <a:r>
              <a:rPr lang="de-DE" sz="1100"/>
              <a:t>gedruckte Merk-Karte Facebook der Lernplattform</a:t>
            </a:r>
          </a:p>
          <a:p>
            <a:r>
              <a:rPr lang="de-DE" b="1" sz="1100"/>
              <a:t>Hinweis: </a:t>
            </a:r>
            <a:r>
              <a:rPr lang="de-DE" sz="1100"/>
              <a:t>Merk-Karte austeilen. Die Merksätze passen inhaltlich zur Lernplattform (Facebook: Das merke ich mir), sind aber nicht wortgleich. Beim Austeilen sagen: Auf der Karte stehen die gleichen Regeln in anderen Worten.</a:t>
            </a:r>
          </a:p>
          <a:p>
            <a:r>
              <a:rPr lang="de-DE" b="1" sz="1100"/>
              <a:t>Lernplattform: </a:t>
            </a:r>
            <a:r>
              <a:rPr lang="de-DE" sz="1100"/>
              <a:t>Merk-Karte #thema-facebook:merk; Facebook L9.</a:t>
            </a:r>
          </a:p>
        </p:txBody>
      </p:sp>
      <p:sp>
        <p:nvSpPr>
          <p:cNvPr id="4" name="Slide Number Placeholder 3"/>
          <p:cNvSpPr>
            <a:spLocks noGrp="1"/>
          </p:cNvSpPr>
          <p:nvPr>
            <p:ph type="sldNum" sz="quarter" idx="10"/>
          </p:nvPr>
        </p:nvSpPr>
        <p:spPr/>
        <p:txBody>
          <a:bodyPr/>
          <a:lstStyle/>
          <a:p>
            <a:fld id="{F7021451-1387-4CA6-816F-3879F97B5CBC}" type="slidenum">
              <a:rPr lang="de-DE"/>
              <a:t>32</a:t>
            </a:fld>
            <a:endParaRPr lang="de-D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wo das Thema zum Weiterüben liegt; die Seite öffnen können.</a:t>
            </a:r>
          </a:p>
          <a:p>
            <a:r>
              <a:rPr lang="de-DE" b="1" sz="1100"/>
              <a:t>Methode: </a:t>
            </a:r>
            <a:r>
              <a:rPr lang="de-DE" sz="1100"/>
              <a:t>QR-Code scannen, kurz zeigen.</a:t>
            </a:r>
          </a:p>
          <a:p>
            <a:r>
              <a:rPr lang="de-DE" b="1" sz="1100"/>
              <a:t>Sozialform: </a:t>
            </a:r>
            <a:r>
              <a:rPr lang="de-DE" sz="1100"/>
              <a:t>Plenum, einzeln</a:t>
            </a:r>
          </a:p>
          <a:p>
            <a:r>
              <a:rPr lang="de-DE" b="1" sz="1100"/>
              <a:t>Zeit: </a:t>
            </a:r>
            <a:r>
              <a:rPr lang="de-DE" sz="1100"/>
              <a:t>ca. 2 Min</a:t>
            </a:r>
          </a:p>
          <a:p>
            <a:r>
              <a:rPr lang="de-DE" b="1" sz="1100"/>
              <a:t>Material: </a:t>
            </a:r>
            <a:r>
              <a:rPr lang="de-DE" sz="1100"/>
              <a:t>eigenes Handy, QR-Code</a:t>
            </a:r>
          </a:p>
          <a:p>
            <a:r>
              <a:rPr lang="de-DE" b="1" sz="1100"/>
              <a:t>Hinweis: </a:t>
            </a:r>
            <a:r>
              <a:rPr lang="de-DE" sz="1100"/>
              <a:t>Der QR-Code ist der Hauptweg; die volle Adresse steht im Feld Lernplattform und im Ausdruck dieses Leitfadens, nicht klein auf der Folie. Zeigen: Sprache umstellen, Vorlesen, Kurz-Modus, Quiz, Merk-Karte und das Übungs-Handy. Vertiefung: Kommentare (L5), Beleidigungen (L6), Fotos mit anderen Personen (L7). Falsche Nachrichten und Betrug haben eigene Themen: #thema-fakes und #thema-betrug. Die Sprache lässt sich jederzeit umstellen. Vor dem Workshop an einem Gerät ohne gespeicherte Einstellungen testen, was der QR-Code zuerst zeigt. Zum Datenschutz nur das sagen, was auf der Datenschutz-Seite der Lernplattform steht (Stand Juni 2026): Die Seite fragt nicht nach dem Namen, es gibt kein Konto und keine Werbung; der Lernstand bleibt nur nach Zustimmung auf dem Gerät; beim Aufruf verarbeitet der Hoster GitHub Pages technisch nötige Daten wie die IP-Adresse.</a:t>
            </a:r>
          </a:p>
          <a:p>
            <a:r>
              <a:rPr lang="de-DE" b="1" sz="1100"/>
              <a:t>Lernplattform: </a:t>
            </a:r>
            <a:r>
              <a:rPr lang="de-DE" sz="1100"/>
              <a:t>alex-und-tilda.github.io/sicher-und-selbstbestimmt-im-internet/#thema-facebook; weitere Einstiege: #thema-facebook:kurz, #thema-facebook:quiz, #thema-facebook:merk, #thema-facebook:uebung.</a:t>
            </a:r>
          </a:p>
        </p:txBody>
      </p:sp>
      <p:sp>
        <p:nvSpPr>
          <p:cNvPr id="4" name="Slide Number Placeholder 3"/>
          <p:cNvSpPr>
            <a:spLocks noGrp="1"/>
          </p:cNvSpPr>
          <p:nvPr>
            <p:ph type="sldNum" sz="quarter" idx="10"/>
          </p:nvPr>
        </p:nvSpPr>
        <p:spPr/>
        <p:txBody>
          <a:bodyPr/>
          <a:lstStyle/>
          <a:p>
            <a:fld id="{F7021451-1387-4CA6-816F-3879F97B5CBC}" type="slidenum">
              <a:rPr lang="de-DE"/>
              <a:t>33</a:t>
            </a:fld>
            <a:endParaRPr lang="de-D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Einen konkreten Schritt für den Alltag benennen.</a:t>
            </a:r>
          </a:p>
          <a:p>
            <a:r>
              <a:rPr lang="de-DE" b="1" sz="1100"/>
              <a:t>Methode: </a:t>
            </a:r>
            <a:r>
              <a:rPr lang="de-DE" sz="1100"/>
              <a:t>Satz gemeinsam sprechen; freiwillig sagen, wann der nächste Beitrag kommt.</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Nur dieser eine Schritt. Er ist fast wortgleich mit dem Transfer-Satz der Lernplattform: Prüfe heute bei einem Beitrag: Wer kann ihn sehen? Wer im Workshop nichts einstellen konnte: zusätzlich zu Hause mit einer vertrauten Person die Einstellung für künftige Beiträge prüfen.</a:t>
            </a:r>
          </a:p>
          <a:p>
            <a:r>
              <a:rPr lang="de-DE" b="1" sz="1100"/>
              <a:t>Bildvorschlag: </a:t>
            </a:r>
            <a:r>
              <a:rPr lang="de-DE" sz="1100"/>
              <a:t>Eigenes Bild: Person prüft vor dem Posten, wer den Beitrag sehen kann. Funktion: Erinnerungsbild, auch für einen Handzettel.</a:t>
            </a:r>
          </a:p>
          <a:p>
            <a:r>
              <a:rPr lang="de-DE" b="1" sz="1100"/>
              <a:t>Lernplattform: </a:t>
            </a:r>
            <a:r>
              <a:rPr lang="de-DE" sz="1100"/>
              <a:t>Transfer Thema Facebook: Prüfe heute bei einem Beitrag: Wer kann ihn sehen?</a:t>
            </a:r>
          </a:p>
        </p:txBody>
      </p:sp>
      <p:sp>
        <p:nvSpPr>
          <p:cNvPr id="4" name="Slide Number Placeholder 3"/>
          <p:cNvSpPr>
            <a:spLocks noGrp="1"/>
          </p:cNvSpPr>
          <p:nvPr>
            <p:ph type="sldNum" sz="quarter" idx="10"/>
          </p:nvPr>
        </p:nvSpPr>
        <p:spPr/>
        <p:txBody>
          <a:bodyPr/>
          <a:lstStyle/>
          <a:p>
            <a:fld id="{F7021451-1387-4CA6-816F-3879F97B5CBC}" type="slidenum">
              <a:rPr lang="de-DE"/>
              <a:t>34</a:t>
            </a:fld>
            <a:endParaRPr lang="de-D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Ermutigender Abschluss.</a:t>
            </a:r>
          </a:p>
          <a:p>
            <a:r>
              <a:rPr lang="de-DE" b="1" sz="1100"/>
              <a:t>Methode: </a:t>
            </a:r>
            <a:r>
              <a:rPr lang="de-DE" sz="1100"/>
              <a:t>Fragerunde.</a:t>
            </a:r>
          </a:p>
          <a:p>
            <a:r>
              <a:rPr lang="de-DE" b="1" sz="1100"/>
              <a:t>Sozialform: </a:t>
            </a:r>
            <a:r>
              <a:rPr lang="de-DE" sz="1100"/>
              <a:t>Plenum</a:t>
            </a:r>
          </a:p>
          <a:p>
            <a:r>
              <a:rPr lang="de-DE" b="1" sz="1100"/>
              <a:t>Zeit: </a:t>
            </a:r>
            <a:r>
              <a:rPr lang="de-DE" sz="1100"/>
              <a:t>ca. 1 Min</a:t>
            </a:r>
          </a:p>
          <a:p>
            <a:r>
              <a:rPr lang="de-DE" b="1" sz="1100"/>
              <a:t>Material: </a:t>
            </a:r>
            <a:r>
              <a:rPr lang="de-DE" sz="1100"/>
              <a:t>–</a:t>
            </a:r>
          </a:p>
          <a:p>
            <a:r>
              <a:rPr lang="de-DE" b="1" sz="1100"/>
              <a:t>Hinweis: </a:t>
            </a:r>
            <a:r>
              <a:rPr lang="de-DE" sz="1100"/>
              <a:t>Sachlich-ermutigend abschließen. Auf Einzelgespräche nach dem Workshop hinweisen. Optional: Einstiegsfrage von Folie 4 noch einmal stellen. Danach Beobachtungen datensparsam festhalten (Checkliste nach dem Workshop in REFERENZMODUL.md).</a:t>
            </a:r>
          </a:p>
        </p:txBody>
      </p:sp>
      <p:sp>
        <p:nvSpPr>
          <p:cNvPr id="4" name="Slide Number Placeholder 3"/>
          <p:cNvSpPr>
            <a:spLocks noGrp="1"/>
          </p:cNvSpPr>
          <p:nvPr>
            <p:ph type="sldNum" sz="quarter" idx="10"/>
          </p:nvPr>
        </p:nvSpPr>
        <p:spPr/>
        <p:txBody>
          <a:bodyPr/>
          <a:lstStyle/>
          <a:p>
            <a:fld id="{F7021451-1387-4CA6-816F-3879F97B5CBC}" type="slidenum">
              <a:rPr lang="de-DE"/>
              <a:t>35</a:t>
            </a:fld>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qr-praxis-facebook.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qr-lernplattform-facebook.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Facebook sicher und selbstbestimmt nutzen">
    <p:bg>
      <p:bgPr>
        <a:solidFill>
          <a:srgbClr val="00285A"/>
        </a:solidFill>
        <a:effectLst/>
      </p:bgPr>
    </p:bg>
    <p:spTree>
      <p:nvGrpSpPr>
        <p:cNvPr id="1" name=""/>
        <p:cNvGrpSpPr/>
        <p:nvPr/>
      </p:nvGrpSpPr>
      <p:grpSpPr>
        <a:xfrm>
          <a:off x="0" y="0"/>
          <a:ext cx="0" cy="0"/>
          <a:chOff x="0" y="0"/>
          <a:chExt cx="0" cy="0"/>
        </a:xfrm>
      </p:grpSpPr>
      <p:sp>
        <p:nvSpPr>
          <p:cNvPr id="2" name="Bild-Platzhalter 2"/>
          <p:cNvSpPr/>
          <p:nvPr/>
        </p:nvSpPr>
        <p:spPr>
          <a:xfrm>
            <a:off x="640080" y="540000"/>
            <a:ext cx="3200000" cy="1700000"/>
          </a:xfrm>
          <a:prstGeom prst="roundRect">
            <a:avLst>
              <a:gd name="adj" fmla="val 4000"/>
            </a:avLst>
          </a:prstGeom>
          <a:solidFill>
            <a:srgbClr val="0B3A6E"/>
          </a:solidFill>
          <a:ln w="19050">
            <a:solidFill>
              <a:srgbClr val="AAD1E3"/>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500" b="0" i="1" dirty="0">
                <a:solidFill>
                  <a:srgbClr val="AAD1E3"/>
                </a:solidFill>
                <a:latin typeface="Arial" pitchFamily="34" charset="0"/>
                <a:ea typeface="Arial" pitchFamily="34" charset="-122"/>
                <a:cs typeface="Arial" pitchFamily="34" charset="-120"/>
              </a:rPr>
              <a:t>[BILD: Alex und Tilda begrüßen die Gruppe – eigene Figuren der Lernplattform]</a:t>
            </a:r>
          </a:p>
        </p:txBody>
      </p:sp>
      <p:sp>
        <p:nvSpPr>
          <p:cNvPr id="3" name="Text 3"/>
          <p:cNvSpPr/>
          <p:nvPr/>
        </p:nvSpPr>
        <p:spPr>
          <a:xfrm>
            <a:off x="640080" y="2423160"/>
            <a:ext cx="10972800" cy="1900000"/>
          </a:xfrm>
          <a:prstGeom prst="rect">
            <a:avLst/>
          </a:prstGeom>
          <a:noFill/>
          <a:ln>
            <a:noFill/>
          </a:ln>
        </p:spPr>
        <p:txBody>
          <a:bodyPr wrap="square" lIns="0" tIns="0" rIns="0" bIns="0" rtlCol="0" anchor="b">
            <a:noAutofit/>
          </a:bodyPr>
          <a:lstStyle/>
          <a:p>
            <a:pPr algn="l" indent="0" marL="0">
              <a:lnSpc>
                <a:spcPct val="95000"/>
              </a:lnSpc>
              <a:spcAft>
                <a:spcPts val="0"/>
              </a:spcAft>
              <a:buNone/>
            </a:pPr>
            <a:r>
              <a:rPr lang="de-DE" sz="4400" b="1" i="0" dirty="0">
                <a:solidFill>
                  <a:srgbClr val="FFFFFF"/>
                </a:solidFill>
                <a:latin typeface="Arial" pitchFamily="34" charset="0"/>
                <a:ea typeface="Arial" pitchFamily="34" charset="-122"/>
                <a:cs typeface="Arial" pitchFamily="34" charset="-120"/>
              </a:rPr>
              <a:t>Facebook sicher und selbstbestimmt nutzen</a:t>
            </a:r>
          </a:p>
        </p:txBody>
      </p:sp>
      <p:sp>
        <p:nvSpPr>
          <p:cNvPr id="4" name="Text 4"/>
          <p:cNvSpPr/>
          <p:nvPr/>
        </p:nvSpPr>
        <p:spPr>
          <a:xfrm>
            <a:off x="640080" y="4450000"/>
            <a:ext cx="10972800" cy="7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2800" b="0" i="0" dirty="0">
                <a:solidFill>
                  <a:srgbClr val="AAD1E3"/>
                </a:solidFill>
                <a:latin typeface="Arial" pitchFamily="34" charset="0"/>
                <a:ea typeface="Arial" pitchFamily="34" charset="-122"/>
                <a:cs typeface="Arial" pitchFamily="34" charset="-120"/>
              </a:rPr>
              <a:t>Mein Profil. Meine Beiträge. Mein Plan.</a:t>
            </a:r>
          </a:p>
        </p:txBody>
      </p:sp>
      <p:sp>
        <p:nvSpPr>
          <p:cNvPr id="5" name="Text 5"/>
          <p:cNvSpPr/>
          <p:nvPr/>
        </p:nvSpPr>
        <p:spPr>
          <a:xfrm>
            <a:off x="640080" y="5349240"/>
            <a:ext cx="10972800" cy="82296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1900" b="1" i="0" dirty="0">
                <a:solidFill>
                  <a:srgbClr val="FFFFFF"/>
                </a:solidFill>
                <a:latin typeface="Arial" pitchFamily="34" charset="0"/>
                <a:ea typeface="Arial" pitchFamily="34" charset="-122"/>
                <a:cs typeface="Arial" pitchFamily="34" charset="-120"/>
              </a:rPr>
              <a:t>Alex und Tilda</a:t>
            </a:r>
          </a:p>
          <a:p>
            <a:pPr algn="l" indent="0" marL="0">
              <a:lnSpc>
                <a:spcPct val="100000"/>
              </a:lnSpc>
              <a:spcAft>
                <a:spcPts val="0"/>
              </a:spcAft>
              <a:buNone/>
            </a:pPr>
            <a:r>
              <a:rPr lang="de-DE" sz="1800" b="0" i="0" dirty="0">
                <a:solidFill>
                  <a:srgbClr val="AAD1E3"/>
                </a:solidFill>
                <a:latin typeface="Arial" pitchFamily="34" charset="0"/>
                <a:ea typeface="Arial" pitchFamily="34" charset="-122"/>
                <a:cs typeface="Arial" pitchFamily="34" charset="-120"/>
              </a:rPr>
              <a:t>Sicher und selbstbestimmt im Internet</a:t>
            </a:r>
          </a:p>
        </p:txBody>
      </p:sp>
      <p:sp>
        <p:nvSpPr>
          <p:cNvPr id="6" name="Text 6"/>
          <p:cNvSpPr/>
          <p:nvPr/>
        </p:nvSpPr>
        <p:spPr>
          <a:xfrm>
            <a:off x="640080" y="6309360"/>
            <a:ext cx="10972800" cy="36576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1300" b="0" i="0" dirty="0">
                <a:solidFill>
                  <a:srgbClr val="AAD1E3"/>
                </a:solidFill>
                <a:latin typeface="Arial" pitchFamily="34" charset="0"/>
                <a:ea typeface="Arial" pitchFamily="34" charset="-122"/>
                <a:cs typeface="Arial" pitchFamily="34" charset="-120"/>
              </a:rPr>
              <a:t>Alexianer Stift Tilbeck GmbH   ·   Gefördert durch die Sozialstiftung NRW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as machen wir heut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machen wir heute</a:t>
            </a:r>
          </a:p>
        </p:txBody>
      </p:sp>
      <p:sp>
        <p:nvSpPr>
          <p:cNvPr id="3" name="Zeile 3"/>
          <p:cNvSpPr/>
          <p:nvPr/>
        </p:nvSpPr>
        <p:spPr>
          <a:xfrm>
            <a:off x="640080" y="1600000"/>
            <a:ext cx="5300000" cy="82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72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1</a:t>
            </a:r>
          </a:p>
        </p:txBody>
      </p:sp>
      <p:sp>
        <p:nvSpPr>
          <p:cNvPr id="5" name="Text 5"/>
          <p:cNvSpPr/>
          <p:nvPr/>
        </p:nvSpPr>
        <p:spPr>
          <a:xfrm>
            <a:off x="1524080" y="160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Mein Profil</a:t>
            </a:r>
          </a:p>
        </p:txBody>
      </p:sp>
      <p:sp>
        <p:nvSpPr>
          <p:cNvPr id="6" name="Zeile 6"/>
          <p:cNvSpPr/>
          <p:nvPr/>
        </p:nvSpPr>
        <p:spPr>
          <a:xfrm>
            <a:off x="640080" y="2570000"/>
            <a:ext cx="5300000" cy="82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69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2</a:t>
            </a:r>
          </a:p>
        </p:txBody>
      </p:sp>
      <p:sp>
        <p:nvSpPr>
          <p:cNvPr id="8" name="Text 8"/>
          <p:cNvSpPr/>
          <p:nvPr/>
        </p:nvSpPr>
        <p:spPr>
          <a:xfrm>
            <a:off x="1524080" y="257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Was ich teile</a:t>
            </a:r>
          </a:p>
        </p:txBody>
      </p:sp>
      <p:sp>
        <p:nvSpPr>
          <p:cNvPr id="9" name="Zeile 9"/>
          <p:cNvSpPr/>
          <p:nvPr/>
        </p:nvSpPr>
        <p:spPr>
          <a:xfrm>
            <a:off x="640080" y="3540000"/>
            <a:ext cx="5300000" cy="82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66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3</a:t>
            </a:r>
          </a:p>
        </p:txBody>
      </p:sp>
      <p:sp>
        <p:nvSpPr>
          <p:cNvPr id="11" name="Text 11"/>
          <p:cNvSpPr/>
          <p:nvPr/>
        </p:nvSpPr>
        <p:spPr>
          <a:xfrm>
            <a:off x="1524080" y="354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Fremde wollen etwas</a:t>
            </a:r>
          </a:p>
        </p:txBody>
      </p:sp>
      <p:sp>
        <p:nvSpPr>
          <p:cNvPr id="12" name="Zeile 12"/>
          <p:cNvSpPr/>
          <p:nvPr/>
        </p:nvSpPr>
        <p:spPr>
          <a:xfrm>
            <a:off x="640080" y="4510000"/>
            <a:ext cx="5300000" cy="82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63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4</a:t>
            </a:r>
          </a:p>
        </p:txBody>
      </p:sp>
      <p:sp>
        <p:nvSpPr>
          <p:cNvPr id="14" name="Text 14"/>
          <p:cNvSpPr/>
          <p:nvPr/>
        </p:nvSpPr>
        <p:spPr>
          <a:xfrm>
            <a:off x="1524080" y="451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Wenn etwas verletzt</a:t>
            </a:r>
          </a:p>
        </p:txBody>
      </p:sp>
      <p:sp>
        <p:nvSpPr>
          <p:cNvPr id="15" name="Text 15"/>
          <p:cNvSpPr/>
          <p:nvPr/>
        </p:nvSpPr>
        <p:spPr>
          <a:xfrm>
            <a:off x="6250000" y="1600000"/>
            <a:ext cx="5300000" cy="820000"/>
          </a:xfrm>
          <a:prstGeom prst="roundRect">
            <a:avLst>
              <a:gd name="adj" fmla="val 12000"/>
            </a:avLst>
          </a:prstGeom>
          <a:solidFill>
            <a:srgbClr val="FFFFFF"/>
          </a:solidFill>
          <a:ln w="19050">
            <a:solidFill>
              <a:srgbClr val="AAD1E3"/>
            </a:solidFill>
            <a:prstDash val="solid"/>
          </a:ln>
        </p:spPr>
      </p:sp>
      <p:sp>
        <p:nvSpPr>
          <p:cNvPr id="16" name="Text 16"/>
          <p:cNvSpPr/>
          <p:nvPr/>
        </p:nvSpPr>
        <p:spPr>
          <a:xfrm>
            <a:off x="6450000" y="160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Pause</a:t>
            </a:r>
          </a:p>
        </p:txBody>
      </p:sp>
      <p:sp>
        <p:nvSpPr>
          <p:cNvPr id="17" name="Text 17"/>
          <p:cNvSpPr/>
          <p:nvPr/>
        </p:nvSpPr>
        <p:spPr>
          <a:xfrm>
            <a:off x="6250000" y="2570000"/>
            <a:ext cx="5300000" cy="820000"/>
          </a:xfrm>
          <a:prstGeom prst="roundRect">
            <a:avLst>
              <a:gd name="adj" fmla="val 12000"/>
            </a:avLst>
          </a:prstGeom>
          <a:solidFill>
            <a:srgbClr val="FFFFFF"/>
          </a:solidFill>
          <a:ln w="19050">
            <a:solidFill>
              <a:srgbClr val="AAD1E3"/>
            </a:solidFill>
            <a:prstDash val="solid"/>
          </a:ln>
        </p:spPr>
      </p:sp>
      <p:sp>
        <p:nvSpPr>
          <p:cNvPr id="18" name="Text 18"/>
          <p:cNvSpPr/>
          <p:nvPr/>
        </p:nvSpPr>
        <p:spPr>
          <a:xfrm>
            <a:off x="6450000" y="257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Praxis: Wir stellen ein</a:t>
            </a:r>
          </a:p>
        </p:txBody>
      </p:sp>
      <p:sp>
        <p:nvSpPr>
          <p:cNvPr id="19" name="Text 19"/>
          <p:cNvSpPr/>
          <p:nvPr/>
        </p:nvSpPr>
        <p:spPr>
          <a:xfrm>
            <a:off x="6250000" y="3540000"/>
            <a:ext cx="5300000" cy="820000"/>
          </a:xfrm>
          <a:prstGeom prst="roundRect">
            <a:avLst>
              <a:gd name="adj" fmla="val 12000"/>
            </a:avLst>
          </a:prstGeom>
          <a:solidFill>
            <a:srgbClr val="FFFFFF"/>
          </a:solidFill>
          <a:ln w="19050">
            <a:solidFill>
              <a:srgbClr val="AAD1E3"/>
            </a:solidFill>
            <a:prstDash val="solid"/>
          </a:ln>
        </p:spPr>
      </p:sp>
      <p:sp>
        <p:nvSpPr>
          <p:cNvPr id="20" name="Text 20"/>
          <p:cNvSpPr/>
          <p:nvPr/>
        </p:nvSpPr>
        <p:spPr>
          <a:xfrm>
            <a:off x="6450000" y="354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Quiz: Wir sprechen darüber</a:t>
            </a:r>
          </a:p>
        </p:txBody>
      </p:sp>
      <p:sp>
        <p:nvSpPr>
          <p:cNvPr id="21" name="Text 21"/>
          <p:cNvSpPr/>
          <p:nvPr/>
        </p:nvSpPr>
        <p:spPr>
          <a:xfrm>
            <a:off x="6250000" y="4510000"/>
            <a:ext cx="5300000" cy="820000"/>
          </a:xfrm>
          <a:prstGeom prst="roundRect">
            <a:avLst>
              <a:gd name="adj" fmla="val 12000"/>
            </a:avLst>
          </a:prstGeom>
          <a:solidFill>
            <a:srgbClr val="FFFFFF"/>
          </a:solidFill>
          <a:ln w="19050">
            <a:solidFill>
              <a:srgbClr val="AAD1E3"/>
            </a:solidFill>
            <a:prstDash val="solid"/>
          </a:ln>
        </p:spPr>
      </p:sp>
      <p:sp>
        <p:nvSpPr>
          <p:cNvPr id="22" name="Text 22"/>
          <p:cNvSpPr/>
          <p:nvPr/>
        </p:nvSpPr>
        <p:spPr>
          <a:xfrm>
            <a:off x="6450000" y="451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Lernplattform und eine Sache für heute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nsere Regel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Unsere Regeln</a:t>
            </a:r>
          </a:p>
        </p:txBody>
      </p:sp>
      <p:sp>
        <p:nvSpPr>
          <p:cNvPr id="3" name="Text 3"/>
          <p:cNvSpPr/>
          <p:nvPr/>
        </p:nvSpPr>
        <p:spPr>
          <a:xfrm>
            <a:off x="640080" y="160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Jede Frage ist gut.</a:t>
            </a:r>
          </a:p>
        </p:txBody>
      </p:sp>
      <p:sp>
        <p:nvSpPr>
          <p:cNvPr id="4" name="Text 4"/>
          <p:cNvSpPr/>
          <p:nvPr/>
        </p:nvSpPr>
        <p:spPr>
          <a:xfrm>
            <a:off x="6190080" y="160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Fehler sind erlaubt.</a:t>
            </a:r>
          </a:p>
        </p:txBody>
      </p:sp>
      <p:sp>
        <p:nvSpPr>
          <p:cNvPr id="5" name="Text 5"/>
          <p:cNvSpPr/>
          <p:nvPr/>
        </p:nvSpPr>
        <p:spPr>
          <a:xfrm>
            <a:off x="640080" y="395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Wir hören einander zu.</a:t>
            </a:r>
          </a:p>
        </p:txBody>
      </p:sp>
      <p:sp>
        <p:nvSpPr>
          <p:cNvPr id="6" name="Text 6"/>
          <p:cNvSpPr/>
          <p:nvPr/>
        </p:nvSpPr>
        <p:spPr>
          <a:xfrm>
            <a:off x="6190080" y="395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Du musst nicht mitmachen.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Wie sicher fühlst du dich auf Facebook?">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Wie sicher fühlst du dich auf Facebook?</a:t>
            </a:r>
          </a:p>
        </p:txBody>
      </p:sp>
      <p:sp>
        <p:nvSpPr>
          <p:cNvPr id="3" name="Text 3"/>
          <p:cNvSpPr/>
          <p:nvPr/>
        </p:nvSpPr>
        <p:spPr>
          <a:xfrm>
            <a:off x="6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4" name="Kreis 4"/>
          <p:cNvSpPr/>
          <p:nvPr/>
        </p:nvSpPr>
        <p:spPr>
          <a:xfrm>
            <a:off x="19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A</a:t>
            </a:r>
          </a:p>
        </p:txBody>
      </p:sp>
      <p:sp>
        <p:nvSpPr>
          <p:cNvPr id="5" name="Text 5"/>
          <p:cNvSpPr/>
          <p:nvPr/>
        </p:nvSpPr>
        <p:spPr>
          <a:xfrm>
            <a:off x="7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Noch nicht so sicher</a:t>
            </a:r>
          </a:p>
        </p:txBody>
      </p:sp>
      <p:sp>
        <p:nvSpPr>
          <p:cNvPr id="6" name="Text 6"/>
          <p:cNvSpPr/>
          <p:nvPr/>
        </p:nvSpPr>
        <p:spPr>
          <a:xfrm>
            <a:off x="43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7" name="Kreis 7"/>
          <p:cNvSpPr/>
          <p:nvPr/>
        </p:nvSpPr>
        <p:spPr>
          <a:xfrm>
            <a:off x="56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B</a:t>
            </a:r>
          </a:p>
        </p:txBody>
      </p:sp>
      <p:sp>
        <p:nvSpPr>
          <p:cNvPr id="8" name="Text 8"/>
          <p:cNvSpPr/>
          <p:nvPr/>
        </p:nvSpPr>
        <p:spPr>
          <a:xfrm>
            <a:off x="44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Ein bisschen sicher</a:t>
            </a:r>
          </a:p>
        </p:txBody>
      </p:sp>
      <p:sp>
        <p:nvSpPr>
          <p:cNvPr id="9" name="Text 9"/>
          <p:cNvSpPr/>
          <p:nvPr/>
        </p:nvSpPr>
        <p:spPr>
          <a:xfrm>
            <a:off x="80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0" name="Kreis 10"/>
          <p:cNvSpPr/>
          <p:nvPr/>
        </p:nvSpPr>
        <p:spPr>
          <a:xfrm>
            <a:off x="93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C</a:t>
            </a:r>
          </a:p>
        </p:txBody>
      </p:sp>
      <p:sp>
        <p:nvSpPr>
          <p:cNvPr id="11" name="Text 11"/>
          <p:cNvSpPr/>
          <p:nvPr/>
        </p:nvSpPr>
        <p:spPr>
          <a:xfrm>
            <a:off x="81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Schon ziemlich sicher</a:t>
            </a:r>
          </a:p>
        </p:txBody>
      </p:sp>
      <p:sp>
        <p:nvSpPr>
          <p:cNvPr id="12" name="Text 12"/>
          <p:cNvSpPr/>
          <p:nvPr/>
        </p:nvSpPr>
        <p:spPr>
          <a:xfrm>
            <a:off x="640080" y="5000000"/>
            <a:ext cx="10911840" cy="1200000"/>
          </a:xfrm>
          <a:prstGeom prst="rect">
            <a:avLst/>
          </a:prstGeom>
          <a:noFill/>
          <a:ln>
            <a:noFill/>
          </a:ln>
        </p:spPr>
        <p:txBody>
          <a:bodyPr wrap="square" lIns="0" tIns="0" rIns="0" bIns="0" rtlCol="0" anchor="ctr">
            <a:noAutofit/>
          </a:bodyPr>
          <a:lstStyle/>
          <a:p>
            <a:pPr algn="ctr" indent="0" marL="0">
              <a:lnSpc>
                <a:spcPct val="100000"/>
              </a:lnSpc>
              <a:spcAft>
                <a:spcPts val="300"/>
              </a:spcAft>
              <a:buNone/>
            </a:pPr>
            <a:r>
              <a:rPr lang="de-DE" sz="2400" b="0" i="0" dirty="0">
                <a:solidFill>
                  <a:srgbClr val="48586A"/>
                </a:solidFill>
                <a:latin typeface="Arial" pitchFamily="34" charset="0"/>
                <a:ea typeface="Arial" pitchFamily="34" charset="-122"/>
                <a:cs typeface="Arial" pitchFamily="34" charset="-120"/>
              </a:rPr>
              <a:t>Zeig es mit der Hand oder mit einer Karte.</a:t>
            </a:r>
          </a:p>
          <a:p>
            <a:pPr algn="ctr" indent="0" marL="0">
              <a:lnSpc>
                <a:spcPct val="100000"/>
              </a:lnSpc>
              <a:spcAft>
                <a:spcPts val="300"/>
              </a:spcAft>
              <a:buNone/>
            </a:pPr>
            <a:r>
              <a:rPr lang="de-DE" sz="2400" b="0" i="0" dirty="0">
                <a:solidFill>
                  <a:srgbClr val="48586A"/>
                </a:solidFill>
                <a:latin typeface="Arial" pitchFamily="34" charset="0"/>
                <a:ea typeface="Arial" pitchFamily="34" charset="-122"/>
                <a:cs typeface="Arial" pitchFamily="34" charset="-120"/>
              </a:rPr>
              <a:t>Es gibt keine falsche Antwort.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Wer darf das seh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Wer darf das sehen?</a:t>
            </a:r>
          </a:p>
        </p:txBody>
      </p:sp>
      <p:sp>
        <p:nvSpPr>
          <p:cNvPr id="3" name="Bild-Platzhalter 3"/>
          <p:cNvSpPr/>
          <p:nvPr/>
        </p:nvSpPr>
        <p:spPr>
          <a:xfrm>
            <a:off x="640080" y="1600000"/>
            <a:ext cx="46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[KARTE: 6 Karten mit erfundenen Profil-Angaben. Zum Beispiel: Lieblings-Musik, Foto vom Ausflug, Geburtstag, Wohnort mit Straße, Telefon-Nummer, Arbeitsstelle.]</a:t>
            </a:r>
          </a:p>
        </p:txBody>
      </p:sp>
      <p:sp>
        <p:nvSpPr>
          <p:cNvPr id="4" name="Text 4"/>
          <p:cNvSpPr/>
          <p:nvPr/>
        </p:nvSpPr>
        <p:spPr>
          <a:xfrm>
            <a:off x="5550000" y="1700000"/>
            <a:ext cx="6000000" cy="1000000"/>
          </a:xfrm>
          <a:prstGeom prst="roundRect">
            <a:avLst>
              <a:gd name="adj" fmla="val 8000"/>
            </a:avLst>
          </a:prstGeom>
          <a:solidFill>
            <a:srgbClr val="D8EAF2"/>
          </a:solidFill>
          <a:ln w="12700">
            <a:solidFill>
              <a:srgbClr val="AAD1E3"/>
            </a:solidFill>
            <a:prstDash val="solid"/>
          </a:ln>
        </p:spPr>
        <p:txBody>
          <a:bodyPr wrap="square" lIns="250000" tIns="250000" rIns="250000" bIns="250000" rtlCol="0" anchor="ctr">
            <a:noAutofit/>
          </a:bodyPr>
          <a:lstStyle/>
          <a:p>
            <a:pPr algn="l"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Das dürfen alle sehen.</a:t>
            </a:r>
          </a:p>
        </p:txBody>
      </p:sp>
      <p:sp>
        <p:nvSpPr>
          <p:cNvPr id="5" name="Text 5"/>
          <p:cNvSpPr/>
          <p:nvPr/>
        </p:nvSpPr>
        <p:spPr>
          <a:xfrm>
            <a:off x="5550000" y="2850000"/>
            <a:ext cx="6000000" cy="1000000"/>
          </a:xfrm>
          <a:prstGeom prst="roundRect">
            <a:avLst>
              <a:gd name="adj" fmla="val 8000"/>
            </a:avLst>
          </a:prstGeom>
          <a:solidFill>
            <a:srgbClr val="D8EAF2"/>
          </a:solidFill>
          <a:ln w="12700">
            <a:solidFill>
              <a:srgbClr val="AAD1E3"/>
            </a:solidFill>
            <a:prstDash val="solid"/>
          </a:ln>
        </p:spPr>
        <p:txBody>
          <a:bodyPr wrap="square" lIns="250000" tIns="250000" rIns="250000" bIns="250000" rtlCol="0" anchor="ctr">
            <a:noAutofit/>
          </a:bodyPr>
          <a:lstStyle/>
          <a:p>
            <a:pPr algn="l"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Das sehen nur Freunde.</a:t>
            </a:r>
          </a:p>
        </p:txBody>
      </p:sp>
      <p:sp>
        <p:nvSpPr>
          <p:cNvPr id="6" name="Text 6"/>
          <p:cNvSpPr/>
          <p:nvPr/>
        </p:nvSpPr>
        <p:spPr>
          <a:xfrm>
            <a:off x="5550000" y="4000000"/>
            <a:ext cx="6000000" cy="1000000"/>
          </a:xfrm>
          <a:prstGeom prst="roundRect">
            <a:avLst>
              <a:gd name="adj" fmla="val 8000"/>
            </a:avLst>
          </a:prstGeom>
          <a:solidFill>
            <a:srgbClr val="D8EAF2"/>
          </a:solidFill>
          <a:ln w="12700">
            <a:solidFill>
              <a:srgbClr val="AAD1E3"/>
            </a:solidFill>
            <a:prstDash val="solid"/>
          </a:ln>
        </p:spPr>
        <p:txBody>
          <a:bodyPr wrap="square" lIns="250000" tIns="250000" rIns="250000" bIns="250000" rtlCol="0" anchor="ctr">
            <a:noAutofit/>
          </a:bodyPr>
          <a:lstStyle/>
          <a:p>
            <a:pPr algn="l"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Das steht besser nicht im Profil.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hema 1: Mein Profil">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1</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1</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Mein Profil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iese Wörter brauchen wir">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Diese Wörter brauchen wir</a:t>
            </a:r>
          </a:p>
        </p:txBody>
      </p:sp>
      <p:sp>
        <p:nvSpPr>
          <p:cNvPr id="3" name="Zeile 3"/>
          <p:cNvSpPr/>
          <p:nvPr/>
        </p:nvSpPr>
        <p:spPr>
          <a:xfrm>
            <a:off x="640080" y="1550000"/>
            <a:ext cx="10911840" cy="780000"/>
          </a:xfrm>
          <a:prstGeom prst="roundRect">
            <a:avLst>
              <a:gd name="adj" fmla="val 12000"/>
            </a:avLst>
          </a:prstGeom>
          <a:solidFill>
            <a:srgbClr val="D8EAF2"/>
          </a:solidFill>
          <a:ln w="12700">
            <a:solidFill>
              <a:srgbClr val="AAD1E3"/>
            </a:solidFill>
            <a:prstDash val="solid"/>
          </a:ln>
        </p:spPr>
      </p:sp>
      <p:sp>
        <p:nvSpPr>
          <p:cNvPr id="4" name="Text 4"/>
          <p:cNvSpPr/>
          <p:nvPr/>
        </p:nvSpPr>
        <p:spPr>
          <a:xfrm>
            <a:off x="840080" y="155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Profil: </a:t>
            </a:r>
            <a:r>
              <a:rPr lang="de-DE" sz="2400" b="0" i="0" dirty="0">
                <a:solidFill>
                  <a:srgbClr val="1A1A1A"/>
                </a:solidFill>
                <a:latin typeface="Arial" pitchFamily="34" charset="0"/>
                <a:ea typeface="Arial" pitchFamily="34" charset="-122"/>
                <a:cs typeface="Arial" pitchFamily="34" charset="-120"/>
              </a:rPr>
              <a:t>Deine Seite bei Facebook.</a:t>
            </a:r>
          </a:p>
        </p:txBody>
      </p:sp>
      <p:sp>
        <p:nvSpPr>
          <p:cNvPr id="5" name="Zeile 5"/>
          <p:cNvSpPr/>
          <p:nvPr/>
        </p:nvSpPr>
        <p:spPr>
          <a:xfrm>
            <a:off x="640080" y="2440000"/>
            <a:ext cx="10911840" cy="780000"/>
          </a:xfrm>
          <a:prstGeom prst="roundRect">
            <a:avLst>
              <a:gd name="adj" fmla="val 12000"/>
            </a:avLst>
          </a:prstGeom>
          <a:solidFill>
            <a:srgbClr val="D8EAF2"/>
          </a:solidFill>
          <a:ln w="12700">
            <a:solidFill>
              <a:srgbClr val="AAD1E3"/>
            </a:solidFill>
            <a:prstDash val="solid"/>
          </a:ln>
        </p:spPr>
      </p:sp>
      <p:sp>
        <p:nvSpPr>
          <p:cNvPr id="6" name="Text 6"/>
          <p:cNvSpPr/>
          <p:nvPr/>
        </p:nvSpPr>
        <p:spPr>
          <a:xfrm>
            <a:off x="840080" y="244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Beitrag: </a:t>
            </a:r>
            <a:r>
              <a:rPr lang="de-DE" sz="2400" b="0" i="0" dirty="0">
                <a:solidFill>
                  <a:srgbClr val="1A1A1A"/>
                </a:solidFill>
                <a:latin typeface="Arial" pitchFamily="34" charset="0"/>
                <a:ea typeface="Arial" pitchFamily="34" charset="-122"/>
                <a:cs typeface="Arial" pitchFamily="34" charset="-120"/>
              </a:rPr>
              <a:t>Du teilst einen Text oder ein Foto.</a:t>
            </a:r>
          </a:p>
        </p:txBody>
      </p:sp>
      <p:sp>
        <p:nvSpPr>
          <p:cNvPr id="7" name="Zeile 7"/>
          <p:cNvSpPr/>
          <p:nvPr/>
        </p:nvSpPr>
        <p:spPr>
          <a:xfrm>
            <a:off x="640080" y="3330000"/>
            <a:ext cx="10911840" cy="780000"/>
          </a:xfrm>
          <a:prstGeom prst="roundRect">
            <a:avLst>
              <a:gd name="adj" fmla="val 12000"/>
            </a:avLst>
          </a:prstGeom>
          <a:solidFill>
            <a:srgbClr val="D8EAF2"/>
          </a:solidFill>
          <a:ln w="12700">
            <a:solidFill>
              <a:srgbClr val="AAD1E3"/>
            </a:solidFill>
            <a:prstDash val="solid"/>
          </a:ln>
        </p:spPr>
      </p:sp>
      <p:sp>
        <p:nvSpPr>
          <p:cNvPr id="8" name="Text 8"/>
          <p:cNvSpPr/>
          <p:nvPr/>
        </p:nvSpPr>
        <p:spPr>
          <a:xfrm>
            <a:off x="840080" y="333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Freunde: </a:t>
            </a:r>
            <a:r>
              <a:rPr lang="de-DE" sz="2400" b="0" i="0" dirty="0">
                <a:solidFill>
                  <a:srgbClr val="1A1A1A"/>
                </a:solidFill>
                <a:latin typeface="Arial" pitchFamily="34" charset="0"/>
                <a:ea typeface="Arial" pitchFamily="34" charset="-122"/>
                <a:cs typeface="Arial" pitchFamily="34" charset="-120"/>
              </a:rPr>
              <a:t>Sie sind mit dir verbunden. Sie sehen deine Beiträge.</a:t>
            </a:r>
          </a:p>
        </p:txBody>
      </p:sp>
      <p:sp>
        <p:nvSpPr>
          <p:cNvPr id="9" name="Zeile 9"/>
          <p:cNvSpPr/>
          <p:nvPr/>
        </p:nvSpPr>
        <p:spPr>
          <a:xfrm>
            <a:off x="640080" y="4220000"/>
            <a:ext cx="10911840" cy="780000"/>
          </a:xfrm>
          <a:prstGeom prst="roundRect">
            <a:avLst>
              <a:gd name="adj" fmla="val 12000"/>
            </a:avLst>
          </a:prstGeom>
          <a:solidFill>
            <a:srgbClr val="D8EAF2"/>
          </a:solidFill>
          <a:ln w="12700">
            <a:solidFill>
              <a:srgbClr val="AAD1E3"/>
            </a:solidFill>
            <a:prstDash val="solid"/>
          </a:ln>
        </p:spPr>
      </p:sp>
      <p:sp>
        <p:nvSpPr>
          <p:cNvPr id="10" name="Text 10"/>
          <p:cNvSpPr/>
          <p:nvPr/>
        </p:nvSpPr>
        <p:spPr>
          <a:xfrm>
            <a:off x="840080" y="422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Gruppe: </a:t>
            </a:r>
            <a:r>
              <a:rPr lang="de-DE" sz="2400" b="0" i="0" dirty="0">
                <a:solidFill>
                  <a:srgbClr val="1A1A1A"/>
                </a:solidFill>
                <a:latin typeface="Arial" pitchFamily="34" charset="0"/>
                <a:ea typeface="Arial" pitchFamily="34" charset="-122"/>
                <a:cs typeface="Arial" pitchFamily="34" charset="-120"/>
              </a:rPr>
              <a:t>Mehrere Menschen schreiben zu einem Thema.</a:t>
            </a:r>
          </a:p>
        </p:txBody>
      </p:sp>
      <p:sp>
        <p:nvSpPr>
          <p:cNvPr id="11" name="Zeile 11"/>
          <p:cNvSpPr/>
          <p:nvPr/>
        </p:nvSpPr>
        <p:spPr>
          <a:xfrm>
            <a:off x="640080" y="5110000"/>
            <a:ext cx="10911840" cy="780000"/>
          </a:xfrm>
          <a:prstGeom prst="roundRect">
            <a:avLst>
              <a:gd name="adj" fmla="val 12000"/>
            </a:avLst>
          </a:prstGeom>
          <a:solidFill>
            <a:srgbClr val="D8EAF2"/>
          </a:solidFill>
          <a:ln w="12700">
            <a:solidFill>
              <a:srgbClr val="AAD1E3"/>
            </a:solidFill>
            <a:prstDash val="solid"/>
          </a:ln>
        </p:spPr>
      </p:sp>
      <p:sp>
        <p:nvSpPr>
          <p:cNvPr id="12" name="Text 12"/>
          <p:cNvSpPr/>
          <p:nvPr/>
        </p:nvSpPr>
        <p:spPr>
          <a:xfrm>
            <a:off x="840080" y="511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Private Nachricht: </a:t>
            </a:r>
            <a:r>
              <a:rPr lang="de-DE" sz="2400" b="0" i="0" dirty="0">
                <a:solidFill>
                  <a:srgbClr val="1A1A1A"/>
                </a:solidFill>
                <a:latin typeface="Arial" pitchFamily="34" charset="0"/>
                <a:ea typeface="Arial" pitchFamily="34" charset="-122"/>
                <a:cs typeface="Arial" pitchFamily="34" charset="-120"/>
              </a:rPr>
              <a:t>Sie geht nur an dich. Oder an eine kleine Gruppe.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Wer darf meine Beiträge seh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Wer darf meine Beiträge sehen?</a:t>
            </a:r>
          </a:p>
        </p:txBody>
      </p:sp>
      <p:sp>
        <p:nvSpPr>
          <p:cNvPr id="3" name="Text 3"/>
          <p:cNvSpPr/>
          <p:nvPr/>
        </p:nvSpPr>
        <p:spPr>
          <a:xfrm>
            <a:off x="640080" y="1600000"/>
            <a:ext cx="5240000" cy="4300000"/>
          </a:xfrm>
          <a:prstGeom prst="roundRect">
            <a:avLst>
              <a:gd name="adj" fmla="val 4000"/>
            </a:avLst>
          </a:prstGeom>
          <a:solidFill>
            <a:srgbClr val="E7F3EC"/>
          </a:solidFill>
          <a:ln w="19050">
            <a:solidFill>
              <a:srgbClr val="2E7D4F"/>
            </a:solidFill>
            <a:prstDash val="solid"/>
          </a:ln>
          <a:effectLst>
            <a:outerShdw sx="100000" sy="100000" kx="0" ky="0" algn="bl" rotWithShape="0" blurRad="88900" dist="25400" dir="5400000">
              <a:srgbClr val="000000">
                <a:alpha val="14000"/>
              </a:srgbClr>
            </a:outerShdw>
          </a:effectLst>
        </p:spPr>
      </p:sp>
      <p:sp>
        <p:nvSpPr>
          <p:cNvPr id="4" name="Bild-Platzhalter 4"/>
          <p:cNvSpPr/>
          <p:nvPr/>
        </p:nvSpPr>
        <p:spPr>
          <a:xfrm>
            <a:off x="940080" y="1800000"/>
            <a:ext cx="4640000" cy="15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500" b="0" i="1" dirty="0">
                <a:solidFill>
                  <a:srgbClr val="48586A"/>
                </a:solidFill>
                <a:latin typeface="Arial" pitchFamily="34" charset="0"/>
                <a:ea typeface="Arial" pitchFamily="34" charset="-122"/>
                <a:cs typeface="Arial" pitchFamily="34" charset="-120"/>
              </a:rPr>
              <a:t>[BILD: Ein Beitrag. Nur wenige bekannte Menschen schauen zu.]</a:t>
            </a:r>
          </a:p>
        </p:txBody>
      </p:sp>
      <p:sp>
        <p:nvSpPr>
          <p:cNvPr id="5" name="Text 5"/>
          <p:cNvSpPr/>
          <p:nvPr/>
        </p:nvSpPr>
        <p:spPr>
          <a:xfrm>
            <a:off x="890080" y="3450000"/>
            <a:ext cx="4740000" cy="6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800" b="1" i="0" dirty="0">
                <a:solidFill>
                  <a:srgbClr val="00285A"/>
                </a:solidFill>
                <a:latin typeface="Arial" pitchFamily="34" charset="0"/>
                <a:ea typeface="Arial" pitchFamily="34" charset="-122"/>
                <a:cs typeface="Arial" pitchFamily="34" charset="-120"/>
              </a:rPr>
              <a:t>Freunde</a:t>
            </a:r>
          </a:p>
        </p:txBody>
      </p:sp>
      <p:sp>
        <p:nvSpPr>
          <p:cNvPr id="6" name="Text 6"/>
          <p:cNvSpPr/>
          <p:nvPr/>
        </p:nvSpPr>
        <p:spPr>
          <a:xfrm>
            <a:off x="890080" y="4100000"/>
            <a:ext cx="4740000" cy="1700000"/>
          </a:xfrm>
          <a:prstGeom prst="rect">
            <a:avLst/>
          </a:prstGeom>
          <a:noFill/>
          <a:ln>
            <a:noFill/>
          </a:ln>
        </p:spPr>
        <p:txBody>
          <a:bodyPr wrap="square" lIns="0" tIns="0" rIns="0" bIns="0" rtlCol="0" anchor="t">
            <a:noAutofit/>
          </a:bodyPr>
          <a:lstStyle/>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Nur deine Freunde sehen den Beitrag.</a:t>
            </a:r>
          </a:p>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Du entscheidest: Wer ist dein Freund?</a:t>
            </a:r>
          </a:p>
        </p:txBody>
      </p:sp>
      <p:sp>
        <p:nvSpPr>
          <p:cNvPr id="7" name="Text 7"/>
          <p:cNvSpPr/>
          <p:nvPr/>
        </p:nvSpPr>
        <p:spPr>
          <a:xfrm>
            <a:off x="6310080" y="1600000"/>
            <a:ext cx="5240000" cy="4300000"/>
          </a:xfrm>
          <a:prstGeom prst="roundRect">
            <a:avLst>
              <a:gd name="adj" fmla="val 4000"/>
            </a:avLst>
          </a:prstGeom>
          <a:solidFill>
            <a:srgbClr val="FBE9EC"/>
          </a:solidFill>
          <a:ln w="19050">
            <a:solidFill>
              <a:srgbClr val="B5152B"/>
            </a:solidFill>
            <a:prstDash val="solid"/>
          </a:ln>
          <a:effectLst>
            <a:outerShdw sx="100000" sy="100000" kx="0" ky="0" algn="bl" rotWithShape="0" blurRad="88900" dist="25400" dir="5400000">
              <a:srgbClr val="000000">
                <a:alpha val="14000"/>
              </a:srgbClr>
            </a:outerShdw>
          </a:effectLst>
        </p:spPr>
      </p:sp>
      <p:sp>
        <p:nvSpPr>
          <p:cNvPr id="8" name="Bild-Platzhalter 8"/>
          <p:cNvSpPr/>
          <p:nvPr/>
        </p:nvSpPr>
        <p:spPr>
          <a:xfrm>
            <a:off x="6610080" y="1800000"/>
            <a:ext cx="4640000" cy="15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500" b="0" i="1" dirty="0">
                <a:solidFill>
                  <a:srgbClr val="48586A"/>
                </a:solidFill>
                <a:latin typeface="Arial" pitchFamily="34" charset="0"/>
                <a:ea typeface="Arial" pitchFamily="34" charset="-122"/>
                <a:cs typeface="Arial" pitchFamily="34" charset="-120"/>
              </a:rPr>
              <a:t>[BILD: Ein offener Beitrag. Viele fremde Menschen schauen zu.]</a:t>
            </a:r>
          </a:p>
        </p:txBody>
      </p:sp>
      <p:sp>
        <p:nvSpPr>
          <p:cNvPr id="9" name="Text 9"/>
          <p:cNvSpPr/>
          <p:nvPr/>
        </p:nvSpPr>
        <p:spPr>
          <a:xfrm>
            <a:off x="6560080" y="3450000"/>
            <a:ext cx="4740000" cy="6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800" b="1" i="0" dirty="0">
                <a:solidFill>
                  <a:srgbClr val="00285A"/>
                </a:solidFill>
                <a:latin typeface="Arial" pitchFamily="34" charset="0"/>
                <a:ea typeface="Arial" pitchFamily="34" charset="-122"/>
                <a:cs typeface="Arial" pitchFamily="34" charset="-120"/>
              </a:rPr>
              <a:t>Öffentlich</a:t>
            </a:r>
          </a:p>
        </p:txBody>
      </p:sp>
      <p:sp>
        <p:nvSpPr>
          <p:cNvPr id="10" name="Text 10"/>
          <p:cNvSpPr/>
          <p:nvPr/>
        </p:nvSpPr>
        <p:spPr>
          <a:xfrm>
            <a:off x="6560080" y="4100000"/>
            <a:ext cx="4740000" cy="1700000"/>
          </a:xfrm>
          <a:prstGeom prst="rect">
            <a:avLst/>
          </a:prstGeom>
          <a:noFill/>
          <a:ln>
            <a:noFill/>
          </a:ln>
        </p:spPr>
        <p:txBody>
          <a:bodyPr wrap="square" lIns="0" tIns="0" rIns="0" bIns="0" rtlCol="0" anchor="t">
            <a:noAutofit/>
          </a:bodyPr>
          <a:lstStyle/>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Alle Menschen im Internet sehen den Beitrag.</a:t>
            </a:r>
          </a:p>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Auch fremde Menschen.</a:t>
            </a:r>
          </a:p>
        </p:txBody>
      </p:sp>
      <p:sp>
        <p:nvSpPr>
          <p:cNvPr id="11" name="Text 11"/>
          <p:cNvSpPr/>
          <p:nvPr/>
        </p:nvSpPr>
        <p:spPr>
          <a:xfrm>
            <a:off x="640080" y="6050000"/>
            <a:ext cx="1091184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1" i="0" dirty="0">
                <a:solidFill>
                  <a:srgbClr val="00285A"/>
                </a:solidFill>
                <a:latin typeface="Arial" pitchFamily="34" charset="0"/>
                <a:ea typeface="Arial" pitchFamily="34" charset="-122"/>
                <a:cs typeface="Arial" pitchFamily="34" charset="-120"/>
              </a:rPr>
              <a:t>Freunde ist sicherer. Das stellen wir nach der Pause zusammen ein.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Alte Beiträge bleiben sichtbar">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Alte Beiträge bleiben sichtbar</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postest etwas. Das bleibt lange stehen.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Auch alte Beiträge kann man noch sehen.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Vielleicht waren sie früher öffentlich.</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Du kannst alte Beiträge auf Freunde stellen.</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Zeitleiste mit Beiträgen. Ein Beitrag von früher ist noch offen sichtbar.]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hema 2: Was ich teile">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2</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2</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Was ich teile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Ein Beitrag bleibt oft lang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Ein Beitrag bleibt oft lange</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Ein Beitrag kann lange im Internet bleiben.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Andere können ein Bild vom Bildschirm machen.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Andere können den Beitrag weiter-teilen.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kannst ihn dann nicht mehr zurückholen.</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 Beitrag wird auf mehreren Handys gespeichert und weiter-geteilt.]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as prüfst du vor dem Post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prüfst du vor dem Posten</a:t>
            </a:r>
          </a:p>
        </p:txBody>
      </p:sp>
      <p:sp>
        <p:nvSpPr>
          <p:cNvPr id="3" name="Zeile 3"/>
          <p:cNvSpPr/>
          <p:nvPr/>
        </p:nvSpPr>
        <p:spPr>
          <a:xfrm>
            <a:off x="640080" y="1600000"/>
            <a:ext cx="6600000" cy="90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73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5" name="Text 5"/>
          <p:cNvSpPr/>
          <p:nvPr/>
        </p:nvSpPr>
        <p:spPr>
          <a:xfrm>
            <a:off x="1580080" y="160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Private Daten: </a:t>
            </a:r>
            <a:r>
              <a:rPr lang="de-DE" sz="2300" b="0" i="0" dirty="0">
                <a:solidFill>
                  <a:srgbClr val="1A1A1A"/>
                </a:solidFill>
                <a:latin typeface="Arial" pitchFamily="34" charset="0"/>
                <a:ea typeface="Arial" pitchFamily="34" charset="-122"/>
                <a:cs typeface="Arial" pitchFamily="34" charset="-120"/>
              </a:rPr>
              <a:t>Sieht man Adresse oder Telefon-Nummer?</a:t>
            </a:r>
          </a:p>
        </p:txBody>
      </p:sp>
      <p:sp>
        <p:nvSpPr>
          <p:cNvPr id="6" name="Zeile 6"/>
          <p:cNvSpPr/>
          <p:nvPr/>
        </p:nvSpPr>
        <p:spPr>
          <a:xfrm>
            <a:off x="640080" y="2680000"/>
            <a:ext cx="6600000" cy="90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81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8" name="Text 8"/>
          <p:cNvSpPr/>
          <p:nvPr/>
        </p:nvSpPr>
        <p:spPr>
          <a:xfrm>
            <a:off x="1580080" y="268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Ort: </a:t>
            </a:r>
            <a:r>
              <a:rPr lang="de-DE" sz="2300" b="0" i="0" dirty="0">
                <a:solidFill>
                  <a:srgbClr val="1A1A1A"/>
                </a:solidFill>
                <a:latin typeface="Arial" pitchFamily="34" charset="0"/>
                <a:ea typeface="Arial" pitchFamily="34" charset="-122"/>
                <a:cs typeface="Arial" pitchFamily="34" charset="-120"/>
              </a:rPr>
              <a:t>Sieht man, wo du gerade bist?</a:t>
            </a:r>
          </a:p>
        </p:txBody>
      </p:sp>
      <p:sp>
        <p:nvSpPr>
          <p:cNvPr id="9" name="Zeile 9"/>
          <p:cNvSpPr/>
          <p:nvPr/>
        </p:nvSpPr>
        <p:spPr>
          <a:xfrm>
            <a:off x="640080" y="3760000"/>
            <a:ext cx="6600000" cy="90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89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1" name="Text 11"/>
          <p:cNvSpPr/>
          <p:nvPr/>
        </p:nvSpPr>
        <p:spPr>
          <a:xfrm>
            <a:off x="1580080" y="376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Andere Personen: </a:t>
            </a:r>
            <a:r>
              <a:rPr lang="de-DE" sz="2300" b="0" i="0" dirty="0">
                <a:solidFill>
                  <a:srgbClr val="1A1A1A"/>
                </a:solidFill>
                <a:latin typeface="Arial" pitchFamily="34" charset="0"/>
                <a:ea typeface="Arial" pitchFamily="34" charset="-122"/>
                <a:cs typeface="Arial" pitchFamily="34" charset="-120"/>
              </a:rPr>
              <a:t>Hast du sie vorher gefragt?</a:t>
            </a:r>
          </a:p>
        </p:txBody>
      </p:sp>
      <p:sp>
        <p:nvSpPr>
          <p:cNvPr id="12" name="Zeile 12"/>
          <p:cNvSpPr/>
          <p:nvPr/>
        </p:nvSpPr>
        <p:spPr>
          <a:xfrm>
            <a:off x="640080" y="4840000"/>
            <a:ext cx="6600000" cy="90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97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4" name="Text 14"/>
          <p:cNvSpPr/>
          <p:nvPr/>
        </p:nvSpPr>
        <p:spPr>
          <a:xfrm>
            <a:off x="1580080" y="484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Gruppe: </a:t>
            </a:r>
            <a:r>
              <a:rPr lang="de-DE" sz="2300" b="0" i="0" dirty="0">
                <a:solidFill>
                  <a:srgbClr val="1A1A1A"/>
                </a:solidFill>
                <a:latin typeface="Arial" pitchFamily="34" charset="0"/>
                <a:ea typeface="Arial" pitchFamily="34" charset="-122"/>
                <a:cs typeface="Arial" pitchFamily="34" charset="-120"/>
              </a:rPr>
              <a:t>Ist das für alle in der Gruppe okay?</a:t>
            </a:r>
          </a:p>
        </p:txBody>
      </p:sp>
      <p:sp>
        <p:nvSpPr>
          <p:cNvPr id="15" name="Bild-Platzhalter 15"/>
          <p:cNvSpPr/>
          <p:nvPr/>
        </p:nvSpPr>
        <p:spPr>
          <a:xfrm>
            <a:off x="7550000" y="1600000"/>
            <a:ext cx="4000000" cy="414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prüft einen Beitrag. Adresse und eine zweite Person sind markiert.]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Merksatz: Erst prüfen.">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Merksatz</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300"/>
              </a:spcAft>
              <a:buNone/>
            </a:pPr>
            <a:r>
              <a:rPr lang="de-DE" sz="4400" b="1" i="0" dirty="0">
                <a:solidFill>
                  <a:srgbClr val="00285A"/>
                </a:solidFill>
                <a:latin typeface="Arial" pitchFamily="34" charset="0"/>
                <a:ea typeface="Arial" pitchFamily="34" charset="-122"/>
                <a:cs typeface="Arial" pitchFamily="34" charset="-120"/>
              </a:rPr>
              <a:t>Erst prüfen.</a:t>
            </a:r>
          </a:p>
          <a:p>
            <a:pPr algn="l" indent="0" marL="0">
              <a:lnSpc>
                <a:spcPct val="100000"/>
              </a:lnSpc>
              <a:spcAft>
                <a:spcPts val="1800"/>
              </a:spcAft>
              <a:buNone/>
            </a:pPr>
            <a:r>
              <a:rPr lang="de-DE" sz="4400" b="1" i="0" dirty="0">
                <a:solidFill>
                  <a:srgbClr val="00285A"/>
                </a:solidFill>
                <a:latin typeface="Arial" pitchFamily="34" charset="0"/>
                <a:ea typeface="Arial" pitchFamily="34" charset="-122"/>
                <a:cs typeface="Arial" pitchFamily="34" charset="-120"/>
              </a:rPr>
              <a:t>Dann teilen.</a:t>
            </a:r>
          </a:p>
          <a:p>
            <a:pPr algn="l" indent="0" marL="0">
              <a:lnSpc>
                <a:spcPct val="100000"/>
              </a:lnSpc>
              <a:spcAft>
                <a:spcPts val="600"/>
              </a:spcAft>
              <a:buNone/>
            </a:pPr>
            <a:r>
              <a:rPr lang="de-DE" sz="2400" b="0" i="0" dirty="0">
                <a:solidFill>
                  <a:srgbClr val="1A1A1A"/>
                </a:solidFill>
                <a:latin typeface="Arial" pitchFamily="34" charset="0"/>
                <a:ea typeface="Arial" pitchFamily="34" charset="-122"/>
                <a:cs typeface="Arial" pitchFamily="34" charset="-120"/>
              </a:rPr>
              <a:t>Frag dich:</a:t>
            </a:r>
          </a:p>
          <a:p>
            <a:pPr algn="l" indent="0" marL="0">
              <a:lnSpc>
                <a:spcPct val="100000"/>
              </a:lnSpc>
              <a:spcAft>
                <a:spcPts val="0"/>
              </a:spcAft>
              <a:buNone/>
            </a:pPr>
            <a:r>
              <a:rPr lang="de-DE" sz="2400" b="1" i="0" dirty="0">
                <a:solidFill>
                  <a:srgbClr val="1A1A1A"/>
                </a:solidFill>
                <a:latin typeface="Arial" pitchFamily="34" charset="0"/>
                <a:ea typeface="Arial" pitchFamily="34" charset="-122"/>
                <a:cs typeface="Arial" pitchFamily="34" charset="-120"/>
              </a:rPr>
              <a:t>Ist das okay – für mich und für die anderen?</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schaut noch einmal auf ihren Beitrag. Erst dann teilt sie ihn.]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hema 3: Fremde wollen etwas">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3</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3</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Fremde wollen etwas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Eine Freundschafts-Anfrage komm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Eine Freundschafts-Anfrage kommt</a:t>
            </a:r>
          </a:p>
        </p:txBody>
      </p:sp>
      <p:sp>
        <p:nvSpPr>
          <p:cNvPr id="3" name="Text 3"/>
          <p:cNvSpPr/>
          <p:nvPr/>
        </p:nvSpPr>
        <p:spPr>
          <a:xfrm>
            <a:off x="640080" y="2400000"/>
            <a:ext cx="5240000" cy="2600000"/>
          </a:xfrm>
          <a:prstGeom prst="roundRect">
            <a:avLst>
              <a:gd name="adj" fmla="val 5000"/>
            </a:avLst>
          </a:prstGeom>
          <a:solidFill>
            <a:srgbClr val="E7F3EC"/>
          </a:solidFill>
          <a:ln w="19050">
            <a:solidFill>
              <a:srgbClr val="2E7D4F"/>
            </a:solidFill>
            <a:prstDash val="solid"/>
          </a:ln>
          <a:effectLst>
            <a:outerShdw sx="100000" sy="100000" kx="0" ky="0" algn="bl" rotWithShape="0" blurRad="88900" dist="25400" dir="5400000">
              <a:srgbClr val="000000">
                <a:alpha val="14000"/>
              </a:srgbClr>
            </a:outerShdw>
          </a:effectLst>
        </p:spPr>
        <p:txBody>
          <a:bodyPr wrap="square" lIns="180000" tIns="180000" rIns="180000" bIns="180000" rtlCol="0" anchor="ctr">
            <a:noAutofit/>
          </a:bodyPr>
          <a:lstStyle/>
          <a:p>
            <a:pPr algn="ctr" indent="0" marL="0">
              <a:lnSpc>
                <a:spcPct val="100000"/>
              </a:lnSpc>
              <a:spcAft>
                <a:spcPts val="1200"/>
              </a:spcAft>
              <a:buNone/>
            </a:pPr>
            <a:r>
              <a:rPr lang="de-DE" sz="2600" b="1" i="0" dirty="0">
                <a:solidFill>
                  <a:srgbClr val="00285A"/>
                </a:solidFill>
                <a:latin typeface="Arial" pitchFamily="34" charset="0"/>
                <a:ea typeface="Arial" pitchFamily="34" charset="-122"/>
                <a:cs typeface="Arial" pitchFamily="34" charset="-120"/>
              </a:rPr>
              <a:t>Ja, ich kenne die Person.</a:t>
            </a:r>
          </a:p>
          <a:p>
            <a:pPr algn="ctr" indent="0" marL="0">
              <a:lnSpc>
                <a:spcPct val="100000"/>
              </a:lnSpc>
              <a:spcAft>
                <a:spcPts val="400"/>
              </a:spcAft>
              <a:buNone/>
            </a:pPr>
            <a:r>
              <a:rPr lang="de-DE" sz="2400" b="0" i="0" dirty="0">
                <a:solidFill>
                  <a:srgbClr val="1A1A1A"/>
                </a:solidFill>
                <a:latin typeface="Arial" pitchFamily="34" charset="0"/>
                <a:ea typeface="Arial" pitchFamily="34" charset="-122"/>
                <a:cs typeface="Arial" pitchFamily="34" charset="-120"/>
              </a:rPr>
              <a:t>Du kannst die Anfrage annehmen.</a:t>
            </a:r>
          </a:p>
        </p:txBody>
      </p:sp>
      <p:sp>
        <p:nvSpPr>
          <p:cNvPr id="4" name="Text 4"/>
          <p:cNvSpPr/>
          <p:nvPr/>
        </p:nvSpPr>
        <p:spPr>
          <a:xfrm>
            <a:off x="6310080" y="2400000"/>
            <a:ext cx="5240000" cy="2600000"/>
          </a:xfrm>
          <a:prstGeom prst="roundRect">
            <a:avLst>
              <a:gd name="adj" fmla="val 5000"/>
            </a:avLst>
          </a:prstGeom>
          <a:solidFill>
            <a:srgbClr val="D8EAF2"/>
          </a:solidFill>
          <a:ln w="19050">
            <a:solidFill>
              <a:srgbClr val="3E96BE"/>
            </a:solidFill>
            <a:prstDash val="solid"/>
          </a:ln>
          <a:effectLst>
            <a:outerShdw sx="100000" sy="100000" kx="0" ky="0" algn="bl" rotWithShape="0" blurRad="88900" dist="25400" dir="5400000">
              <a:srgbClr val="000000">
                <a:alpha val="14000"/>
              </a:srgbClr>
            </a:outerShdw>
          </a:effectLst>
        </p:spPr>
        <p:txBody>
          <a:bodyPr wrap="square" lIns="180000" tIns="180000" rIns="180000" bIns="180000" rtlCol="0" anchor="ctr">
            <a:noAutofit/>
          </a:bodyPr>
          <a:lstStyle/>
          <a:p>
            <a:pPr algn="ctr" indent="0" marL="0">
              <a:lnSpc>
                <a:spcPct val="100000"/>
              </a:lnSpc>
              <a:spcAft>
                <a:spcPts val="1200"/>
              </a:spcAft>
              <a:buNone/>
            </a:pPr>
            <a:r>
              <a:rPr lang="de-DE" sz="2600" b="1" i="0" dirty="0">
                <a:solidFill>
                  <a:srgbClr val="00285A"/>
                </a:solidFill>
                <a:latin typeface="Arial" pitchFamily="34" charset="0"/>
                <a:ea typeface="Arial" pitchFamily="34" charset="-122"/>
                <a:cs typeface="Arial" pitchFamily="34" charset="-120"/>
              </a:rPr>
              <a:t>Nein, ich kenne sie nicht.</a:t>
            </a:r>
          </a:p>
          <a:p>
            <a:pPr algn="ctr" indent="0" marL="0">
              <a:lnSpc>
                <a:spcPct val="100000"/>
              </a:lnSpc>
              <a:spcAft>
                <a:spcPts val="400"/>
              </a:spcAft>
              <a:buNone/>
            </a:pPr>
            <a:r>
              <a:rPr lang="de-DE" sz="2400" b="0" i="0" dirty="0">
                <a:solidFill>
                  <a:srgbClr val="1A1A1A"/>
                </a:solidFill>
                <a:latin typeface="Arial" pitchFamily="34" charset="0"/>
                <a:ea typeface="Arial" pitchFamily="34" charset="-122"/>
                <a:cs typeface="Arial" pitchFamily="34" charset="-120"/>
              </a:rPr>
              <a:t>Du darfst Nein sagen.</a:t>
            </a:r>
          </a:p>
        </p:txBody>
      </p:sp>
      <p:sp>
        <p:nvSpPr>
          <p:cNvPr id="5" name="Text 5"/>
          <p:cNvSpPr/>
          <p:nvPr/>
        </p:nvSpPr>
        <p:spPr>
          <a:xfrm>
            <a:off x="640080" y="5300000"/>
            <a:ext cx="10911840" cy="6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Du bist unsicher? Frag eine vertraute Person.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Warnzeich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Warnzeichen</a:t>
            </a:r>
          </a:p>
        </p:txBody>
      </p:sp>
      <p:sp>
        <p:nvSpPr>
          <p:cNvPr id="3" name="Text 3"/>
          <p:cNvSpPr/>
          <p:nvPr/>
        </p:nvSpPr>
        <p:spPr>
          <a:xfrm>
            <a:off x="640080" y="145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Eine fremde Person schreibt dir. Pass auf bei diesen Zeichen:</a:t>
            </a:r>
          </a:p>
        </p:txBody>
      </p:sp>
      <p:sp>
        <p:nvSpPr>
          <p:cNvPr id="4" name="Zeile 4"/>
          <p:cNvSpPr/>
          <p:nvPr/>
        </p:nvSpPr>
        <p:spPr>
          <a:xfrm>
            <a:off x="640080" y="2250000"/>
            <a:ext cx="10911840" cy="720000"/>
          </a:xfrm>
          <a:prstGeom prst="roundRect">
            <a:avLst>
              <a:gd name="adj" fmla="val 12000"/>
            </a:avLst>
          </a:prstGeom>
          <a:solidFill>
            <a:srgbClr val="D8EAF2"/>
          </a:solidFill>
          <a:ln w="12700">
            <a:solidFill>
              <a:srgbClr val="AAD1E3"/>
            </a:solidFill>
            <a:prstDash val="solid"/>
          </a:ln>
        </p:spPr>
      </p:sp>
      <p:sp>
        <p:nvSpPr>
          <p:cNvPr id="5" name="Kreis 5"/>
          <p:cNvSpPr/>
          <p:nvPr/>
        </p:nvSpPr>
        <p:spPr>
          <a:xfrm>
            <a:off x="770080" y="235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6" name="Text 6"/>
          <p:cNvSpPr/>
          <p:nvPr/>
        </p:nvSpPr>
        <p:spPr>
          <a:xfrm>
            <a:off x="1454079" y="225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will Geld.</a:t>
            </a:r>
          </a:p>
        </p:txBody>
      </p:sp>
      <p:sp>
        <p:nvSpPr>
          <p:cNvPr id="7" name="Zeile 7"/>
          <p:cNvSpPr/>
          <p:nvPr/>
        </p:nvSpPr>
        <p:spPr>
          <a:xfrm>
            <a:off x="640080" y="3070000"/>
            <a:ext cx="10911840" cy="720000"/>
          </a:xfrm>
          <a:prstGeom prst="roundRect">
            <a:avLst>
              <a:gd name="adj" fmla="val 12000"/>
            </a:avLst>
          </a:prstGeom>
          <a:solidFill>
            <a:srgbClr val="D8EAF2"/>
          </a:solidFill>
          <a:ln w="12700">
            <a:solidFill>
              <a:srgbClr val="AAD1E3"/>
            </a:solidFill>
            <a:prstDash val="solid"/>
          </a:ln>
        </p:spPr>
      </p:sp>
      <p:sp>
        <p:nvSpPr>
          <p:cNvPr id="8" name="Kreis 8"/>
          <p:cNvSpPr/>
          <p:nvPr/>
        </p:nvSpPr>
        <p:spPr>
          <a:xfrm>
            <a:off x="770080" y="317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9" name="Text 9"/>
          <p:cNvSpPr/>
          <p:nvPr/>
        </p:nvSpPr>
        <p:spPr>
          <a:xfrm>
            <a:off x="1454079" y="307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will einen Code oder dein Passwort.</a:t>
            </a:r>
          </a:p>
        </p:txBody>
      </p:sp>
      <p:sp>
        <p:nvSpPr>
          <p:cNvPr id="10" name="Zeile 10"/>
          <p:cNvSpPr/>
          <p:nvPr/>
        </p:nvSpPr>
        <p:spPr>
          <a:xfrm>
            <a:off x="640080" y="3890000"/>
            <a:ext cx="10911840" cy="720000"/>
          </a:xfrm>
          <a:prstGeom prst="roundRect">
            <a:avLst>
              <a:gd name="adj" fmla="val 12000"/>
            </a:avLst>
          </a:prstGeom>
          <a:solidFill>
            <a:srgbClr val="D8EAF2"/>
          </a:solidFill>
          <a:ln w="12700">
            <a:solidFill>
              <a:srgbClr val="AAD1E3"/>
            </a:solidFill>
            <a:prstDash val="solid"/>
          </a:ln>
        </p:spPr>
      </p:sp>
      <p:sp>
        <p:nvSpPr>
          <p:cNvPr id="11" name="Kreis 11"/>
          <p:cNvSpPr/>
          <p:nvPr/>
        </p:nvSpPr>
        <p:spPr>
          <a:xfrm>
            <a:off x="770080" y="399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2" name="Text 12"/>
          <p:cNvSpPr/>
          <p:nvPr/>
        </p:nvSpPr>
        <p:spPr>
          <a:xfrm>
            <a:off x="1454079" y="389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schickt dir einen Link.</a:t>
            </a:r>
          </a:p>
        </p:txBody>
      </p:sp>
      <p:sp>
        <p:nvSpPr>
          <p:cNvPr id="13" name="Zeile 13"/>
          <p:cNvSpPr/>
          <p:nvPr/>
        </p:nvSpPr>
        <p:spPr>
          <a:xfrm>
            <a:off x="640080" y="4710000"/>
            <a:ext cx="10911840" cy="720000"/>
          </a:xfrm>
          <a:prstGeom prst="roundRect">
            <a:avLst>
              <a:gd name="adj" fmla="val 12000"/>
            </a:avLst>
          </a:prstGeom>
          <a:solidFill>
            <a:srgbClr val="D8EAF2"/>
          </a:solidFill>
          <a:ln w="12700">
            <a:solidFill>
              <a:srgbClr val="AAD1E3"/>
            </a:solidFill>
            <a:prstDash val="solid"/>
          </a:ln>
        </p:spPr>
      </p:sp>
      <p:sp>
        <p:nvSpPr>
          <p:cNvPr id="14" name="Kreis 14"/>
          <p:cNvSpPr/>
          <p:nvPr/>
        </p:nvSpPr>
        <p:spPr>
          <a:xfrm>
            <a:off x="770080" y="481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5" name="Text 15"/>
          <p:cNvSpPr/>
          <p:nvPr/>
        </p:nvSpPr>
        <p:spPr>
          <a:xfrm>
            <a:off x="1454079" y="471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macht Druck: Schnell!</a:t>
            </a:r>
          </a:p>
        </p:txBody>
      </p:sp>
      <p:sp>
        <p:nvSpPr>
          <p:cNvPr id="16" name="Zeile 16"/>
          <p:cNvSpPr/>
          <p:nvPr/>
        </p:nvSpPr>
        <p:spPr>
          <a:xfrm>
            <a:off x="640080" y="5530000"/>
            <a:ext cx="10911840" cy="720000"/>
          </a:xfrm>
          <a:prstGeom prst="roundRect">
            <a:avLst>
              <a:gd name="adj" fmla="val 12000"/>
            </a:avLst>
          </a:prstGeom>
          <a:solidFill>
            <a:srgbClr val="D8EAF2"/>
          </a:solidFill>
          <a:ln w="12700">
            <a:solidFill>
              <a:srgbClr val="AAD1E3"/>
            </a:solidFill>
            <a:prstDash val="solid"/>
          </a:ln>
        </p:spPr>
      </p:sp>
      <p:sp>
        <p:nvSpPr>
          <p:cNvPr id="17" name="Kreis 17"/>
          <p:cNvSpPr/>
          <p:nvPr/>
        </p:nvSpPr>
        <p:spPr>
          <a:xfrm>
            <a:off x="770080" y="563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8" name="Text 18"/>
          <p:cNvSpPr/>
          <p:nvPr/>
        </p:nvSpPr>
        <p:spPr>
          <a:xfrm>
            <a:off x="1454079" y="553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Ein Freund schreibt plötzlich anders.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Dein Plan: Stopp machen.">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Dein Plan</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300"/>
              </a:spcAft>
              <a:buNone/>
            </a:pPr>
            <a:r>
              <a:rPr lang="de-DE" sz="4400" b="1" i="0" dirty="0">
                <a:solidFill>
                  <a:srgbClr val="00285A"/>
                </a:solidFill>
                <a:latin typeface="Arial" pitchFamily="34" charset="0"/>
                <a:ea typeface="Arial" pitchFamily="34" charset="-122"/>
                <a:cs typeface="Arial" pitchFamily="34" charset="-120"/>
              </a:rPr>
              <a:t>Stopp machen.</a:t>
            </a:r>
          </a:p>
          <a:p>
            <a:pPr algn="l" indent="0" marL="0">
              <a:lnSpc>
                <a:spcPct val="100000"/>
              </a:lnSpc>
              <a:spcAft>
                <a:spcPts val="1800"/>
              </a:spcAft>
              <a:buNone/>
            </a:pPr>
            <a:r>
              <a:rPr lang="de-DE" sz="4400" b="1" i="0" dirty="0">
                <a:solidFill>
                  <a:srgbClr val="00285A"/>
                </a:solidFill>
                <a:latin typeface="Arial" pitchFamily="34" charset="0"/>
                <a:ea typeface="Arial" pitchFamily="34" charset="-122"/>
                <a:cs typeface="Arial" pitchFamily="34" charset="-120"/>
              </a:rPr>
              <a:t>Zeigen.</a:t>
            </a:r>
          </a:p>
          <a:p>
            <a:pPr algn="l" indent="0" marL="0">
              <a:lnSpc>
                <a:spcPct val="100000"/>
              </a:lnSpc>
              <a:spcAft>
                <a:spcPts val="600"/>
              </a:spcAft>
              <a:buNone/>
            </a:pPr>
            <a:r>
              <a:rPr lang="de-DE" sz="2400" b="0" i="0" dirty="0">
                <a:solidFill>
                  <a:srgbClr val="1A1A1A"/>
                </a:solidFill>
                <a:latin typeface="Arial" pitchFamily="34" charset="0"/>
                <a:ea typeface="Arial" pitchFamily="34" charset="-122"/>
                <a:cs typeface="Arial" pitchFamily="34" charset="-120"/>
              </a:rPr>
              <a:t>1  Stopp machen.</a:t>
            </a:r>
          </a:p>
          <a:p>
            <a:pPr algn="l" indent="0" marL="0">
              <a:lnSpc>
                <a:spcPct val="100000"/>
              </a:lnSpc>
              <a:spcAft>
                <a:spcPts val="600"/>
              </a:spcAft>
              <a:buNone/>
            </a:pPr>
            <a:r>
              <a:rPr lang="de-DE" sz="2400" b="0" i="0" dirty="0">
                <a:solidFill>
                  <a:srgbClr val="1A1A1A"/>
                </a:solidFill>
                <a:latin typeface="Arial" pitchFamily="34" charset="0"/>
                <a:ea typeface="Arial" pitchFamily="34" charset="-122"/>
                <a:cs typeface="Arial" pitchFamily="34" charset="-120"/>
              </a:rPr>
              <a:t>2  Nicht sofort antworten.</a:t>
            </a:r>
          </a:p>
          <a:p>
            <a:pPr algn="l" indent="0" marL="0">
              <a:lnSpc>
                <a:spcPct val="100000"/>
              </a:lnSpc>
              <a:spcAft>
                <a:spcPts val="0"/>
              </a:spcAft>
              <a:buNone/>
            </a:pPr>
            <a:r>
              <a:rPr lang="de-DE" sz="2400" b="1" i="0" dirty="0">
                <a:solidFill>
                  <a:srgbClr val="1A1A1A"/>
                </a:solidFill>
                <a:latin typeface="Arial" pitchFamily="34" charset="0"/>
                <a:ea typeface="Arial" pitchFamily="34" charset="-122"/>
                <a:cs typeface="Arial" pitchFamily="34" charset="-120"/>
              </a:rPr>
              <a:t>3  Einer vertrauten Person zeigen.</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zeigt ihr Handy einer vertrauten Person. Beide sind ruhig.]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Thema 4: Wenn etwas verletzt">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4</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4</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Wenn etwas verletzt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Verletzende Kommentar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Verletzende Kommentare</a:t>
            </a:r>
          </a:p>
        </p:txBody>
      </p:sp>
      <p:sp>
        <p:nvSpPr>
          <p:cNvPr id="3" name="Text 3"/>
          <p:cNvSpPr/>
          <p:nvPr/>
        </p:nvSpPr>
        <p:spPr>
          <a:xfrm>
            <a:off x="640080" y="1700000"/>
            <a:ext cx="5961840" cy="1300000"/>
          </a:xfrm>
          <a:prstGeom prst="rect">
            <a:avLst/>
          </a:prstGeom>
          <a:noFill/>
          <a:ln>
            <a:noFill/>
          </a:ln>
        </p:spPr>
        <p:txBody>
          <a:bodyPr wrap="square" lIns="0" tIns="0" rIns="0" bIns="0" rtlCol="0" anchor="t">
            <a:noAutofit/>
          </a:bodyPr>
          <a:lstStyle/>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Manche Kommentare sind gemein.</a:t>
            </a:r>
          </a:p>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Sie verletzen.</a:t>
            </a:r>
          </a:p>
        </p:txBody>
      </p:sp>
      <p:sp>
        <p:nvSpPr>
          <p:cNvPr id="4" name="Text 4"/>
          <p:cNvSpPr/>
          <p:nvPr/>
        </p:nvSpPr>
        <p:spPr>
          <a:xfrm>
            <a:off x="640080" y="3200000"/>
            <a:ext cx="5961840" cy="1300000"/>
          </a:xfrm>
          <a:prstGeom prst="roundRect">
            <a:avLst>
              <a:gd name="adj" fmla="val 10000"/>
            </a:avLst>
          </a:prstGeom>
          <a:solidFill>
            <a:srgbClr val="D8EAF2"/>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Das ist nicht deine Schuld.</a:t>
            </a:r>
          </a:p>
        </p:txBody>
      </p:sp>
      <p:sp>
        <p:nvSpPr>
          <p:cNvPr id="5" name="Text 5"/>
          <p:cNvSpPr/>
          <p:nvPr/>
        </p:nvSpPr>
        <p:spPr>
          <a:xfrm>
            <a:off x="640080" y="4750000"/>
            <a:ext cx="596184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1" i="0" dirty="0">
                <a:solidFill>
                  <a:srgbClr val="1A1A1A"/>
                </a:solidFill>
                <a:latin typeface="Arial" pitchFamily="34" charset="0"/>
                <a:ea typeface="Arial" pitchFamily="34" charset="-122"/>
                <a:cs typeface="Arial" pitchFamily="34" charset="-120"/>
              </a:rPr>
              <a:t>Du musst nicht antworten.</a:t>
            </a:r>
          </a:p>
        </p:txBody>
      </p:sp>
      <p:sp>
        <p:nvSpPr>
          <p:cNvPr id="6" name="Bild-Platzhalter 6"/>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liest einen Kommentar. Sie legt das Handy weg und atmet durch.]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as kannst du tu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kannst du tun</a:t>
            </a:r>
          </a:p>
        </p:txBody>
      </p:sp>
      <p:sp>
        <p:nvSpPr>
          <p:cNvPr id="3" name="Text 3"/>
          <p:cNvSpPr/>
          <p:nvPr/>
        </p:nvSpPr>
        <p:spPr>
          <a:xfrm>
            <a:off x="64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Zeigen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Zeig es einer vertrauten Person. Lösch es nicht sofort.</a:t>
            </a:r>
          </a:p>
        </p:txBody>
      </p:sp>
      <p:sp>
        <p:nvSpPr>
          <p:cNvPr id="4" name="Text 4"/>
          <p:cNvSpPr/>
          <p:nvPr/>
        </p:nvSpPr>
        <p:spPr>
          <a:xfrm>
            <a:off x="619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Blockieren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Die Person kann dir nicht mehr schreiben. Mit einem neuen Profil kann sie es wieder versuchen.</a:t>
            </a:r>
          </a:p>
        </p:txBody>
      </p:sp>
      <p:sp>
        <p:nvSpPr>
          <p:cNvPr id="5" name="Text 5"/>
          <p:cNvSpPr/>
          <p:nvPr/>
        </p:nvSpPr>
        <p:spPr>
          <a:xfrm>
            <a:off x="64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Melden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Du sagst Facebook Bescheid.</a:t>
            </a:r>
          </a:p>
        </p:txBody>
      </p:sp>
      <p:sp>
        <p:nvSpPr>
          <p:cNvPr id="6" name="Text 6"/>
          <p:cNvSpPr/>
          <p:nvPr/>
        </p:nvSpPr>
        <p:spPr>
          <a:xfrm>
            <a:off x="619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Hilfe holen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Du musst das nicht allein schaffen.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Hol dir Hilf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Hol dir Hilfe</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bist nicht allein.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Sprich mit einer vertrauten Person.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Zum Beispiel: Familie, Freundin oder Freund.</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Oder Unterstützerin oder Unterstützer.</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[KARTE: Hilfe-Karte. Vorderseite: Ansprechpersonen vor Ort und Hilfe am Telefon. Rückseite: zum Ausfüllen.]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use">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2400000"/>
            <a:ext cx="12192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6000" b="1" i="0" dirty="0">
                <a:solidFill>
                  <a:srgbClr val="FFFFFF"/>
                </a:solidFill>
                <a:latin typeface="Arial" pitchFamily="34" charset="0"/>
                <a:ea typeface="Arial" pitchFamily="34" charset="-122"/>
                <a:cs typeface="Arial" pitchFamily="34" charset="-120"/>
              </a:rPr>
              <a:t>Pause</a:t>
            </a:r>
          </a:p>
        </p:txBody>
      </p:sp>
      <p:sp>
        <p:nvSpPr>
          <p:cNvPr id="3" name="Text 3"/>
          <p:cNvSpPr/>
          <p:nvPr/>
        </p:nvSpPr>
        <p:spPr>
          <a:xfrm>
            <a:off x="0" y="3750000"/>
            <a:ext cx="12192000" cy="9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10 Minuten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raxis">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2400000"/>
            <a:ext cx="12192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6000" b="1" i="0" dirty="0">
                <a:solidFill>
                  <a:srgbClr val="FFFFFF"/>
                </a:solidFill>
                <a:latin typeface="Arial" pitchFamily="34" charset="0"/>
                <a:ea typeface="Arial" pitchFamily="34" charset="-122"/>
                <a:cs typeface="Arial" pitchFamily="34" charset="-120"/>
              </a:rPr>
              <a:t>Praxis</a:t>
            </a:r>
          </a:p>
        </p:txBody>
      </p:sp>
      <p:sp>
        <p:nvSpPr>
          <p:cNvPr id="3" name="Text 3"/>
          <p:cNvSpPr/>
          <p:nvPr/>
        </p:nvSpPr>
        <p:spPr>
          <a:xfrm>
            <a:off x="0" y="3750000"/>
            <a:ext cx="12192000" cy="9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Wir stellen Facebook zusammen ein.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canne den Code und mach mi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Scanne den Code und mach mit</a:t>
            </a:r>
          </a:p>
        </p:txBody>
      </p:sp>
      <p:sp>
        <p:nvSpPr>
          <p:cNvPr id="3" name="Text 3"/>
          <p:cNvSpPr/>
          <p:nvPr/>
        </p:nvSpPr>
        <p:spPr>
          <a:xfrm>
            <a:off x="640080" y="1500000"/>
            <a:ext cx="3700000" cy="3700000"/>
          </a:xfrm>
          <a:prstGeom prst="roundRect">
            <a:avLst>
              <a:gd name="adj" fmla="val 4000"/>
            </a:avLst>
          </a:prstGeom>
          <a:solidFill>
            <a:srgbClr val="FFFFFF"/>
          </a:solidFill>
          <a:ln w="19050">
            <a:solidFill>
              <a:srgbClr val="AAD1E3"/>
            </a:solidFill>
            <a:prstDash val="solid"/>
          </a:ln>
          <a:effectLst>
            <a:outerShdw sx="100000" sy="100000" kx="0" ky="0" algn="bl" rotWithShape="0" blurRad="88900" dist="25400" dir="5400000">
              <a:srgbClr val="000000">
                <a:alpha val="14000"/>
              </a:srgbClr>
            </a:outerShdw>
          </a:effectLst>
        </p:spPr>
      </p:sp>
      <p:pic>
        <p:nvPicPr>
          <p:cNvPr id="4" name="QR-Code 4" descr="QR-Code zur Praxis-Seite Facebook"/>
          <p:cNvPicPr>
            <a:picLocks noChangeAspect="1"/>
          </p:cNvPicPr>
          <p:nvPr/>
        </p:nvPicPr>
        <p:blipFill>
          <a:blip r:embed="rId3"/>
          <a:stretch>
            <a:fillRect/>
          </a:stretch>
        </p:blipFill>
        <p:spPr>
          <a:xfrm>
            <a:off x="890080" y="1750000"/>
            <a:ext cx="3200000" cy="3200000"/>
          </a:xfrm>
          <a:prstGeom prst="rect">
            <a:avLst/>
          </a:prstGeom>
        </p:spPr>
      </p:pic>
      <p:sp>
        <p:nvSpPr>
          <p:cNvPr id="5" name="Text 5"/>
          <p:cNvSpPr/>
          <p:nvPr/>
        </p:nvSpPr>
        <p:spPr>
          <a:xfrm>
            <a:off x="640080" y="5250000"/>
            <a:ext cx="3700000" cy="7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2000" b="1" i="0" dirty="0">
                <a:solidFill>
                  <a:srgbClr val="00285A"/>
                </a:solidFill>
                <a:latin typeface="Arial" pitchFamily="34" charset="0"/>
                <a:ea typeface="Arial" pitchFamily="34" charset="-122"/>
                <a:cs typeface="Arial" pitchFamily="34" charset="-120"/>
              </a:rPr>
              <a:t>Zur Praxis-Seite</a:t>
            </a:r>
          </a:p>
        </p:txBody>
      </p:sp>
      <p:sp>
        <p:nvSpPr>
          <p:cNvPr id="6" name="Zeile 6"/>
          <p:cNvSpPr/>
          <p:nvPr/>
        </p:nvSpPr>
        <p:spPr>
          <a:xfrm>
            <a:off x="4700000" y="1500000"/>
            <a:ext cx="6850000" cy="70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4830000" y="160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1</a:t>
            </a:r>
          </a:p>
        </p:txBody>
      </p:sp>
      <p:sp>
        <p:nvSpPr>
          <p:cNvPr id="8" name="Text 8"/>
          <p:cNvSpPr/>
          <p:nvPr/>
        </p:nvSpPr>
        <p:spPr>
          <a:xfrm>
            <a:off x="5499999" y="150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Öffne die Kamera am Handy.</a:t>
            </a:r>
          </a:p>
        </p:txBody>
      </p:sp>
      <p:sp>
        <p:nvSpPr>
          <p:cNvPr id="9" name="Zeile 9"/>
          <p:cNvSpPr/>
          <p:nvPr/>
        </p:nvSpPr>
        <p:spPr>
          <a:xfrm>
            <a:off x="4700000" y="2320000"/>
            <a:ext cx="6850000" cy="70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4830000" y="242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2</a:t>
            </a:r>
          </a:p>
        </p:txBody>
      </p:sp>
      <p:sp>
        <p:nvSpPr>
          <p:cNvPr id="11" name="Text 11"/>
          <p:cNvSpPr/>
          <p:nvPr/>
        </p:nvSpPr>
        <p:spPr>
          <a:xfrm>
            <a:off x="5499999" y="232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Halte sie auf den Code.</a:t>
            </a:r>
          </a:p>
        </p:txBody>
      </p:sp>
      <p:sp>
        <p:nvSpPr>
          <p:cNvPr id="12" name="Zeile 12"/>
          <p:cNvSpPr/>
          <p:nvPr/>
        </p:nvSpPr>
        <p:spPr>
          <a:xfrm>
            <a:off x="4700000" y="3140000"/>
            <a:ext cx="6850000" cy="70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4830000" y="324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3</a:t>
            </a:r>
          </a:p>
        </p:txBody>
      </p:sp>
      <p:sp>
        <p:nvSpPr>
          <p:cNvPr id="14" name="Text 14"/>
          <p:cNvSpPr/>
          <p:nvPr/>
        </p:nvSpPr>
        <p:spPr>
          <a:xfrm>
            <a:off x="5499999" y="314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Tippe auf den Link.</a:t>
            </a:r>
          </a:p>
        </p:txBody>
      </p:sp>
      <p:sp>
        <p:nvSpPr>
          <p:cNvPr id="15" name="Zeile 15"/>
          <p:cNvSpPr/>
          <p:nvPr/>
        </p:nvSpPr>
        <p:spPr>
          <a:xfrm>
            <a:off x="4700000" y="3960000"/>
            <a:ext cx="6850000" cy="700000"/>
          </a:xfrm>
          <a:prstGeom prst="roundRect">
            <a:avLst>
              <a:gd name="adj" fmla="val 12000"/>
            </a:avLst>
          </a:prstGeom>
          <a:solidFill>
            <a:srgbClr val="D8EAF2"/>
          </a:solidFill>
          <a:ln w="12700">
            <a:solidFill>
              <a:srgbClr val="AAD1E3"/>
            </a:solidFill>
            <a:prstDash val="solid"/>
          </a:ln>
        </p:spPr>
      </p:sp>
      <p:sp>
        <p:nvSpPr>
          <p:cNvPr id="16" name="Kreis 16"/>
          <p:cNvSpPr/>
          <p:nvPr/>
        </p:nvSpPr>
        <p:spPr>
          <a:xfrm>
            <a:off x="4830000" y="406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4</a:t>
            </a:r>
          </a:p>
        </p:txBody>
      </p:sp>
      <p:sp>
        <p:nvSpPr>
          <p:cNvPr id="17" name="Text 17"/>
          <p:cNvSpPr/>
          <p:nvPr/>
        </p:nvSpPr>
        <p:spPr>
          <a:xfrm>
            <a:off x="5499999" y="396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Wir machen es zusammen.</a:t>
            </a:r>
          </a:p>
        </p:txBody>
      </p:sp>
      <p:sp>
        <p:nvSpPr>
          <p:cNvPr id="18" name="Text 18"/>
          <p:cNvSpPr/>
          <p:nvPr/>
        </p:nvSpPr>
        <p:spPr>
          <a:xfrm>
            <a:off x="4700000" y="4900000"/>
            <a:ext cx="6850000" cy="1150000"/>
          </a:xfrm>
          <a:prstGeom prst="roundRect">
            <a:avLst>
              <a:gd name="adj" fmla="val 8000"/>
            </a:avLst>
          </a:prstGeom>
          <a:solidFill>
            <a:srgbClr val="D8EAF2"/>
          </a:solidFill>
          <a:ln>
            <a:noFill/>
          </a:ln>
        </p:spPr>
        <p:txBody>
          <a:bodyPr wrap="square" lIns="200000" tIns="200000" rIns="200000" bIns="200000" rtlCol="0" anchor="ctr">
            <a:noAutofit/>
          </a:bodyPr>
          <a:lstStyle/>
          <a:p>
            <a:pPr algn="l" indent="0" marL="0">
              <a:lnSpc>
                <a:spcPct val="100000"/>
              </a:lnSpc>
              <a:spcAft>
                <a:spcPts val="0"/>
              </a:spcAft>
              <a:buNone/>
            </a:pPr>
            <a:r>
              <a:rPr lang="de-DE" sz="2000" b="0" i="0" dirty="0">
                <a:solidFill>
                  <a:srgbClr val="00285A"/>
                </a:solidFill>
                <a:latin typeface="Arial" pitchFamily="34" charset="0"/>
                <a:ea typeface="Arial" pitchFamily="34" charset="-122"/>
                <a:cs typeface="Arial" pitchFamily="34" charset="-120"/>
              </a:rPr>
              <a:t>Kein Handy oder kein Konto? Schau bei jemandem mit. Oder übe im Übungs-Handy der Lernplattform.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as stellen wir zusammen ei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stellen wir zusammen ein</a:t>
            </a:r>
          </a:p>
        </p:txBody>
      </p:sp>
      <p:sp>
        <p:nvSpPr>
          <p:cNvPr id="3" name="Text 3"/>
          <p:cNvSpPr/>
          <p:nvPr/>
        </p:nvSpPr>
        <p:spPr>
          <a:xfrm>
            <a:off x="640080" y="1450000"/>
            <a:ext cx="650000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Das machen wir zuerst:</a:t>
            </a:r>
          </a:p>
        </p:txBody>
      </p:sp>
      <p:sp>
        <p:nvSpPr>
          <p:cNvPr id="4" name="Zeile 4"/>
          <p:cNvSpPr/>
          <p:nvPr/>
        </p:nvSpPr>
        <p:spPr>
          <a:xfrm>
            <a:off x="640080" y="2100000"/>
            <a:ext cx="6500000" cy="900000"/>
          </a:xfrm>
          <a:prstGeom prst="roundRect">
            <a:avLst>
              <a:gd name="adj" fmla="val 12000"/>
            </a:avLst>
          </a:prstGeom>
          <a:solidFill>
            <a:srgbClr val="D8EAF2"/>
          </a:solidFill>
          <a:ln w="12700">
            <a:solidFill>
              <a:srgbClr val="AAD1E3"/>
            </a:solidFill>
            <a:prstDash val="solid"/>
          </a:ln>
        </p:spPr>
      </p:sp>
      <p:sp>
        <p:nvSpPr>
          <p:cNvPr id="5" name="Kreis 5"/>
          <p:cNvSpPr/>
          <p:nvPr/>
        </p:nvSpPr>
        <p:spPr>
          <a:xfrm>
            <a:off x="770080" y="223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1</a:t>
            </a:r>
          </a:p>
        </p:txBody>
      </p:sp>
      <p:sp>
        <p:nvSpPr>
          <p:cNvPr id="6" name="Text 6"/>
          <p:cNvSpPr/>
          <p:nvPr/>
        </p:nvSpPr>
        <p:spPr>
          <a:xfrm>
            <a:off x="1580080" y="2100000"/>
            <a:ext cx="49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Beiträge auf Freunde stellen</a:t>
            </a:r>
          </a:p>
        </p:txBody>
      </p:sp>
      <p:sp>
        <p:nvSpPr>
          <p:cNvPr id="7" name="Abhaken 7"/>
          <p:cNvSpPr/>
          <p:nvPr/>
        </p:nvSpPr>
        <p:spPr>
          <a:xfrm>
            <a:off x="6620080" y="2345000"/>
            <a:ext cx="410000" cy="410000"/>
          </a:xfrm>
          <a:prstGeom prst="roundRect">
            <a:avLst>
              <a:gd name="adj" fmla="val 12000"/>
            </a:avLst>
          </a:prstGeom>
          <a:solidFill>
            <a:srgbClr val="FFFFFF"/>
          </a:solidFill>
          <a:ln w="25400">
            <a:solidFill>
              <a:srgbClr val="C6C7C8"/>
            </a:solidFill>
            <a:prstDash val="solid"/>
          </a:ln>
        </p:spPr>
      </p:sp>
      <p:sp>
        <p:nvSpPr>
          <p:cNvPr id="8" name="Text 8"/>
          <p:cNvSpPr/>
          <p:nvPr/>
        </p:nvSpPr>
        <p:spPr>
          <a:xfrm>
            <a:off x="640080" y="3250000"/>
            <a:ext cx="6500000" cy="1100000"/>
          </a:xfrm>
          <a:prstGeom prst="roundRect">
            <a:avLst>
              <a:gd name="adj" fmla="val 8000"/>
            </a:avLst>
          </a:prstGeom>
          <a:solidFill>
            <a:srgbClr val="D8EAF2"/>
          </a:solidFill>
          <a:ln>
            <a:noFill/>
          </a:ln>
        </p:spPr>
        <p:txBody>
          <a:bodyPr wrap="square" lIns="250000" tIns="250000" rIns="250000" bIns="250000" rtlCol="0" anchor="ctr">
            <a:noAutofit/>
          </a:bodyPr>
          <a:lstStyle/>
          <a:p>
            <a:pPr algn="l" indent="0" marL="0">
              <a:lnSpc>
                <a:spcPct val="100000"/>
              </a:lnSpc>
              <a:spcAft>
                <a:spcPts val="300"/>
              </a:spcAft>
              <a:buNone/>
            </a:pPr>
            <a:r>
              <a:rPr lang="de-DE" sz="2400" b="1" i="0" dirty="0">
                <a:solidFill>
                  <a:srgbClr val="00285A"/>
                </a:solidFill>
                <a:latin typeface="Arial" pitchFamily="34" charset="0"/>
                <a:ea typeface="Arial" pitchFamily="34" charset="-122"/>
                <a:cs typeface="Arial" pitchFamily="34" charset="-120"/>
              </a:rPr>
              <a:t>Eine Einstellung ist genug.</a:t>
            </a:r>
          </a:p>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Du hast dann schon viel geschafft.</a:t>
            </a:r>
          </a:p>
        </p:txBody>
      </p:sp>
      <p:sp>
        <p:nvSpPr>
          <p:cNvPr id="9" name="Text 9"/>
          <p:cNvSpPr/>
          <p:nvPr/>
        </p:nvSpPr>
        <p:spPr>
          <a:xfrm>
            <a:off x="7400000" y="1450000"/>
            <a:ext cx="415000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Das ist freiwillig:</a:t>
            </a:r>
          </a:p>
        </p:txBody>
      </p:sp>
      <p:sp>
        <p:nvSpPr>
          <p:cNvPr id="10" name="Text 10"/>
          <p:cNvSpPr/>
          <p:nvPr/>
        </p:nvSpPr>
        <p:spPr>
          <a:xfrm>
            <a:off x="7400000" y="2100000"/>
            <a:ext cx="4150000" cy="900000"/>
          </a:xfrm>
          <a:prstGeom prst="roundRect">
            <a:avLst>
              <a:gd name="adj" fmla="val 12000"/>
            </a:avLst>
          </a:prstGeom>
          <a:solidFill>
            <a:srgbClr val="FFFFFF"/>
          </a:solidFill>
          <a:ln w="19050">
            <a:solidFill>
              <a:srgbClr val="AAD1E3"/>
            </a:solidFill>
            <a:prstDash val="solid"/>
          </a:ln>
        </p:spPr>
      </p:sp>
      <p:sp>
        <p:nvSpPr>
          <p:cNvPr id="11" name="Text 11"/>
          <p:cNvSpPr/>
          <p:nvPr/>
        </p:nvSpPr>
        <p:spPr>
          <a:xfrm>
            <a:off x="7600000" y="2100000"/>
            <a:ext cx="325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0" dirty="0">
                <a:solidFill>
                  <a:srgbClr val="1A1A1A"/>
                </a:solidFill>
                <a:latin typeface="Arial" pitchFamily="34" charset="0"/>
                <a:ea typeface="Arial" pitchFamily="34" charset="-122"/>
                <a:cs typeface="Arial" pitchFamily="34" charset="-120"/>
              </a:rPr>
              <a:t>Alte Beiträge schützen</a:t>
            </a:r>
          </a:p>
        </p:txBody>
      </p:sp>
      <p:sp>
        <p:nvSpPr>
          <p:cNvPr id="12" name="Text 12"/>
          <p:cNvSpPr/>
          <p:nvPr/>
        </p:nvSpPr>
        <p:spPr>
          <a:xfrm>
            <a:off x="11030000" y="2345000"/>
            <a:ext cx="410000" cy="410000"/>
          </a:xfrm>
          <a:prstGeom prst="roundRect">
            <a:avLst>
              <a:gd name="adj" fmla="val 12000"/>
            </a:avLst>
          </a:prstGeom>
          <a:solidFill>
            <a:srgbClr val="FFFFFF"/>
          </a:solidFill>
          <a:ln w="25400">
            <a:solidFill>
              <a:srgbClr val="C6C7C8"/>
            </a:solidFill>
            <a:prstDash val="solid"/>
          </a:ln>
        </p:spPr>
      </p:sp>
      <p:sp>
        <p:nvSpPr>
          <p:cNvPr id="13" name="Text 13"/>
          <p:cNvSpPr/>
          <p:nvPr/>
        </p:nvSpPr>
        <p:spPr>
          <a:xfrm>
            <a:off x="7400000" y="3130000"/>
            <a:ext cx="4150000" cy="900000"/>
          </a:xfrm>
          <a:prstGeom prst="roundRect">
            <a:avLst>
              <a:gd name="adj" fmla="val 12000"/>
            </a:avLst>
          </a:prstGeom>
          <a:solidFill>
            <a:srgbClr val="FFFFFF"/>
          </a:solidFill>
          <a:ln w="19050">
            <a:solidFill>
              <a:srgbClr val="AAD1E3"/>
            </a:solidFill>
            <a:prstDash val="solid"/>
          </a:ln>
        </p:spPr>
      </p:sp>
      <p:sp>
        <p:nvSpPr>
          <p:cNvPr id="14" name="Text 14"/>
          <p:cNvSpPr/>
          <p:nvPr/>
        </p:nvSpPr>
        <p:spPr>
          <a:xfrm>
            <a:off x="7600000" y="3130000"/>
            <a:ext cx="325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0" dirty="0">
                <a:solidFill>
                  <a:srgbClr val="1A1A1A"/>
                </a:solidFill>
                <a:latin typeface="Arial" pitchFamily="34" charset="0"/>
                <a:ea typeface="Arial" pitchFamily="34" charset="-122"/>
                <a:cs typeface="Arial" pitchFamily="34" charset="-120"/>
              </a:rPr>
              <a:t>Wer darf dir Anfragen senden?</a:t>
            </a:r>
          </a:p>
        </p:txBody>
      </p:sp>
      <p:sp>
        <p:nvSpPr>
          <p:cNvPr id="15" name="Text 15"/>
          <p:cNvSpPr/>
          <p:nvPr/>
        </p:nvSpPr>
        <p:spPr>
          <a:xfrm>
            <a:off x="11030000" y="3375000"/>
            <a:ext cx="410000" cy="410000"/>
          </a:xfrm>
          <a:prstGeom prst="roundRect">
            <a:avLst>
              <a:gd name="adj" fmla="val 12000"/>
            </a:avLst>
          </a:prstGeom>
          <a:solidFill>
            <a:srgbClr val="FFFFFF"/>
          </a:solidFill>
          <a:ln w="25400">
            <a:solidFill>
              <a:srgbClr val="C6C7C8"/>
            </a:solidFill>
            <a:prstDash val="solid"/>
          </a:ln>
        </p:spPr>
      </p:sp>
      <p:sp>
        <p:nvSpPr>
          <p:cNvPr id="16" name="Text 16"/>
          <p:cNvSpPr/>
          <p:nvPr/>
        </p:nvSpPr>
        <p:spPr>
          <a:xfrm>
            <a:off x="7400000" y="4160000"/>
            <a:ext cx="4150000" cy="900000"/>
          </a:xfrm>
          <a:prstGeom prst="roundRect">
            <a:avLst>
              <a:gd name="adj" fmla="val 12000"/>
            </a:avLst>
          </a:prstGeom>
          <a:solidFill>
            <a:srgbClr val="D8EAF2"/>
          </a:solidFill>
          <a:ln>
            <a:noFill/>
          </a:ln>
        </p:spPr>
        <p:txBody>
          <a:bodyPr wrap="square" lIns="200000" tIns="200000" rIns="200000" bIns="200000" rtlCol="0" anchor="ctr">
            <a:noAutofit/>
          </a:bodyPr>
          <a:lstStyle/>
          <a:p>
            <a:pPr algn="l" indent="0" marL="0">
              <a:lnSpc>
                <a:spcPct val="100000"/>
              </a:lnSpc>
              <a:spcAft>
                <a:spcPts val="0"/>
              </a:spcAft>
              <a:buNone/>
            </a:pPr>
            <a:r>
              <a:rPr lang="de-DE" sz="2000" b="1" i="0" dirty="0">
                <a:solidFill>
                  <a:srgbClr val="00285A"/>
                </a:solidFill>
                <a:latin typeface="Arial" pitchFamily="34" charset="0"/>
                <a:ea typeface="Arial" pitchFamily="34" charset="-122"/>
                <a:cs typeface="Arial" pitchFamily="34" charset="-120"/>
              </a:rPr>
              <a:t>Nur zeigen: Blockieren und Melden</a:t>
            </a:r>
          </a:p>
        </p:txBody>
      </p:sp>
      <p:sp>
        <p:nvSpPr>
          <p:cNvPr id="17" name="Text 17"/>
          <p:cNvSpPr/>
          <p:nvPr/>
        </p:nvSpPr>
        <p:spPr>
          <a:xfrm>
            <a:off x="640080" y="5350000"/>
            <a:ext cx="10911840" cy="1100000"/>
          </a:xfrm>
          <a:prstGeom prst="rect">
            <a:avLst/>
          </a:prstGeom>
          <a:noFill/>
          <a:ln>
            <a:noFill/>
          </a:ln>
        </p:spPr>
        <p:txBody>
          <a:bodyPr wrap="square" lIns="0" tIns="0" rIns="0" bIns="0" rtlCol="0" anchor="ctr">
            <a:noAutofit/>
          </a:bodyPr>
          <a:lstStyle/>
          <a:p>
            <a:pPr algn="l" indent="0" marL="0">
              <a:lnSpc>
                <a:spcPct val="100000"/>
              </a:lnSpc>
              <a:spcAft>
                <a:spcPts val="400"/>
              </a:spcAft>
              <a:buNone/>
            </a:pPr>
            <a:r>
              <a:rPr lang="de-DE" sz="2200" b="1" i="0" dirty="0">
                <a:solidFill>
                  <a:srgbClr val="00285A"/>
                </a:solidFill>
                <a:latin typeface="Arial" pitchFamily="34" charset="0"/>
                <a:ea typeface="Arial" pitchFamily="34" charset="-122"/>
                <a:cs typeface="Arial" pitchFamily="34" charset="-120"/>
              </a:rPr>
              <a:t>Tipp: Öffne die Einstellungen. Oben kannst du suchen.</a:t>
            </a:r>
          </a:p>
          <a:p>
            <a:pPr algn="l" indent="0" marL="0">
              <a:lnSpc>
                <a:spcPct val="100000"/>
              </a:lnSpc>
              <a:spcAft>
                <a:spcPts val="0"/>
              </a:spcAft>
              <a:buNone/>
            </a:pPr>
            <a:r>
              <a:rPr lang="de-DE" sz="2000" b="0" i="0" dirty="0">
                <a:solidFill>
                  <a:srgbClr val="48586A"/>
                </a:solidFill>
                <a:latin typeface="Arial" pitchFamily="34" charset="0"/>
                <a:ea typeface="Arial" pitchFamily="34" charset="-122"/>
                <a:cs typeface="Arial" pitchFamily="34" charset="-120"/>
              </a:rPr>
              <a:t>Die App ändert ihre Menüs oft. Das ist nicht dein Fehler.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Quiz-Gespräch: Frage 1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1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Du schreibst einen Beitrag. Dabei steht: öffentlich. Wer kann ihn sehen?</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Nur meine Freunde.</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Alle im Internet.</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Nur ich.</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Quiz-Gespräch: Frage 2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2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Eine Freundschafts-Anfrage kommt. Du kennst die Person nicht. Ihr habt viele gemeinsame Freunde. Was machst du?</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nehme an. Wir haben ja gemeinsame Freunde.</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nehme an. Ich kann sie später wieder entfernen.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lehne ab. Oder ich frage eine vertraute Person.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Quiz-Gespräch: Frage 3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3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Du willst ein Foto von deiner Kollegin posten. Was machst du zuerst?</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frage die Kollegin.</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poste es ohne ihren Namen.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poste es nur für Freunde.</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Quiz-Gespräch: Frage 4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4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Du findest einen alten Beitrag von dir. Er ist öffentlich. Was stimmt?</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Alte Beiträge sieht niemand mehr.</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Andere können ihn noch sehen.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Facebook löscht ihn nach einem Jahr.</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Quiz-Gespräch: Frage 5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5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Ein Freund schreibt dir privat: Ich brauche schnell 200 Euro. Sag es niemandem! Was machst du?</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Stopp machen. Den Freund anrufen. Einer vertrauten Person zeigen.</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schicke das Geld. Er ist ja mein Freund.</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frage zurück: Wofür brauchst du das Geld?</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Quiz-Gespräch: Frage 6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6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Jemand beleidigt dich immer wieder unter deinen Beiträgen. Was hilft dir?</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beleidige zurück.</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lösche mein Profil.</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Zeigen. Blockieren oder melden. Hilfe holen.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as haben wir gelern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haben wir gelernt</a:t>
            </a:r>
          </a:p>
        </p:txBody>
      </p:sp>
      <p:sp>
        <p:nvSpPr>
          <p:cNvPr id="3" name="Zeile 3"/>
          <p:cNvSpPr/>
          <p:nvPr/>
        </p:nvSpPr>
        <p:spPr>
          <a:xfrm>
            <a:off x="640080" y="1550000"/>
            <a:ext cx="10911840" cy="78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66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1</a:t>
            </a:r>
          </a:p>
        </p:txBody>
      </p:sp>
      <p:sp>
        <p:nvSpPr>
          <p:cNvPr id="5" name="Text 5"/>
          <p:cNvSpPr/>
          <p:nvPr/>
        </p:nvSpPr>
        <p:spPr>
          <a:xfrm>
            <a:off x="1496080" y="155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Beiträge auf Freunde stellen.</a:t>
            </a:r>
          </a:p>
        </p:txBody>
      </p:sp>
      <p:sp>
        <p:nvSpPr>
          <p:cNvPr id="6" name="Zeile 6"/>
          <p:cNvSpPr/>
          <p:nvPr/>
        </p:nvSpPr>
        <p:spPr>
          <a:xfrm>
            <a:off x="640080" y="2440000"/>
            <a:ext cx="10911840" cy="78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55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2</a:t>
            </a:r>
          </a:p>
        </p:txBody>
      </p:sp>
      <p:sp>
        <p:nvSpPr>
          <p:cNvPr id="8" name="Text 8"/>
          <p:cNvSpPr/>
          <p:nvPr/>
        </p:nvSpPr>
        <p:spPr>
          <a:xfrm>
            <a:off x="1496080" y="244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Erst prüfen. Dann teilen.</a:t>
            </a:r>
          </a:p>
        </p:txBody>
      </p:sp>
      <p:sp>
        <p:nvSpPr>
          <p:cNvPr id="9" name="Zeile 9"/>
          <p:cNvSpPr/>
          <p:nvPr/>
        </p:nvSpPr>
        <p:spPr>
          <a:xfrm>
            <a:off x="640080" y="3330000"/>
            <a:ext cx="10911840" cy="78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44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3</a:t>
            </a:r>
          </a:p>
        </p:txBody>
      </p:sp>
      <p:sp>
        <p:nvSpPr>
          <p:cNvPr id="11" name="Text 11"/>
          <p:cNvSpPr/>
          <p:nvPr/>
        </p:nvSpPr>
        <p:spPr>
          <a:xfrm>
            <a:off x="1496080" y="333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Anfragen prüfen.</a:t>
            </a:r>
          </a:p>
        </p:txBody>
      </p:sp>
      <p:sp>
        <p:nvSpPr>
          <p:cNvPr id="12" name="Zeile 12"/>
          <p:cNvSpPr/>
          <p:nvPr/>
        </p:nvSpPr>
        <p:spPr>
          <a:xfrm>
            <a:off x="640080" y="4220000"/>
            <a:ext cx="10911840" cy="78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33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4</a:t>
            </a:r>
          </a:p>
        </p:txBody>
      </p:sp>
      <p:sp>
        <p:nvSpPr>
          <p:cNvPr id="14" name="Text 14"/>
          <p:cNvSpPr/>
          <p:nvPr/>
        </p:nvSpPr>
        <p:spPr>
          <a:xfrm>
            <a:off x="1496080" y="422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Stopp machen. Zeigen.</a:t>
            </a:r>
          </a:p>
        </p:txBody>
      </p:sp>
      <p:sp>
        <p:nvSpPr>
          <p:cNvPr id="15" name="Zeile 15"/>
          <p:cNvSpPr/>
          <p:nvPr/>
        </p:nvSpPr>
        <p:spPr>
          <a:xfrm>
            <a:off x="640080" y="5110000"/>
            <a:ext cx="10911840" cy="780000"/>
          </a:xfrm>
          <a:prstGeom prst="roundRect">
            <a:avLst>
              <a:gd name="adj" fmla="val 12000"/>
            </a:avLst>
          </a:prstGeom>
          <a:solidFill>
            <a:srgbClr val="D8EAF2"/>
          </a:solidFill>
          <a:ln w="12700">
            <a:solidFill>
              <a:srgbClr val="AAD1E3"/>
            </a:solidFill>
            <a:prstDash val="solid"/>
          </a:ln>
        </p:spPr>
      </p:sp>
      <p:sp>
        <p:nvSpPr>
          <p:cNvPr id="16" name="Kreis 16"/>
          <p:cNvSpPr/>
          <p:nvPr/>
        </p:nvSpPr>
        <p:spPr>
          <a:xfrm>
            <a:off x="770080" y="522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5</a:t>
            </a:r>
          </a:p>
        </p:txBody>
      </p:sp>
      <p:sp>
        <p:nvSpPr>
          <p:cNvPr id="17" name="Text 17"/>
          <p:cNvSpPr/>
          <p:nvPr/>
        </p:nvSpPr>
        <p:spPr>
          <a:xfrm>
            <a:off x="1496080" y="511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Hilfe holen. Das ist stark.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Auf der Lernplattform weiter üb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Auf der Lernplattform weiter üben</a:t>
            </a:r>
          </a:p>
        </p:txBody>
      </p:sp>
      <p:sp>
        <p:nvSpPr>
          <p:cNvPr id="3" name="Text 3"/>
          <p:cNvSpPr/>
          <p:nvPr/>
        </p:nvSpPr>
        <p:spPr>
          <a:xfrm>
            <a:off x="640080" y="1500000"/>
            <a:ext cx="3700000" cy="3700000"/>
          </a:xfrm>
          <a:prstGeom prst="roundRect">
            <a:avLst>
              <a:gd name="adj" fmla="val 4000"/>
            </a:avLst>
          </a:prstGeom>
          <a:solidFill>
            <a:srgbClr val="FFFFFF"/>
          </a:solidFill>
          <a:ln w="19050">
            <a:solidFill>
              <a:srgbClr val="AAD1E3"/>
            </a:solidFill>
            <a:prstDash val="solid"/>
          </a:ln>
          <a:effectLst>
            <a:outerShdw sx="100000" sy="100000" kx="0" ky="0" algn="bl" rotWithShape="0" blurRad="88900" dist="25400" dir="5400000">
              <a:srgbClr val="000000">
                <a:alpha val="14000"/>
              </a:srgbClr>
            </a:outerShdw>
          </a:effectLst>
        </p:spPr>
      </p:sp>
      <p:pic>
        <p:nvPicPr>
          <p:cNvPr id="4" name="QR-Code 4" descr="QR-Code zum Thema Facebook auf der Lernplattform"/>
          <p:cNvPicPr>
            <a:picLocks noChangeAspect="1"/>
          </p:cNvPicPr>
          <p:nvPr/>
        </p:nvPicPr>
        <p:blipFill>
          <a:blip r:embed="rId3"/>
          <a:stretch>
            <a:fillRect/>
          </a:stretch>
        </p:blipFill>
        <p:spPr>
          <a:xfrm>
            <a:off x="890080" y="1750000"/>
            <a:ext cx="3200000" cy="3200000"/>
          </a:xfrm>
          <a:prstGeom prst="rect">
            <a:avLst/>
          </a:prstGeom>
        </p:spPr>
      </p:pic>
      <p:sp>
        <p:nvSpPr>
          <p:cNvPr id="5" name="Text 5"/>
          <p:cNvSpPr/>
          <p:nvPr/>
        </p:nvSpPr>
        <p:spPr>
          <a:xfrm>
            <a:off x="640080" y="5250000"/>
            <a:ext cx="3700000" cy="7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1600" b="1" i="0" dirty="0">
                <a:solidFill>
                  <a:srgbClr val="00285A"/>
                </a:solidFill>
                <a:latin typeface="Arial" pitchFamily="34" charset="0"/>
                <a:ea typeface="Arial" pitchFamily="34" charset="-122"/>
                <a:cs typeface="Arial" pitchFamily="34" charset="-120"/>
              </a:rPr>
              <a:t>Auf der Lernplattform weiterlernen</a:t>
            </a:r>
          </a:p>
        </p:txBody>
      </p:sp>
      <p:sp>
        <p:nvSpPr>
          <p:cNvPr id="6" name="Text 6"/>
          <p:cNvSpPr/>
          <p:nvPr/>
        </p:nvSpPr>
        <p:spPr>
          <a:xfrm>
            <a:off x="4700000" y="1450000"/>
            <a:ext cx="6850000" cy="65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Dort findest du:</a:t>
            </a:r>
          </a:p>
        </p:txBody>
      </p:sp>
      <p:sp>
        <p:nvSpPr>
          <p:cNvPr id="7" name="Zeile 7"/>
          <p:cNvSpPr/>
          <p:nvPr/>
        </p:nvSpPr>
        <p:spPr>
          <a:xfrm>
            <a:off x="4700000" y="2150000"/>
            <a:ext cx="6850000" cy="680000"/>
          </a:xfrm>
          <a:prstGeom prst="roundRect">
            <a:avLst>
              <a:gd name="adj" fmla="val 12000"/>
            </a:avLst>
          </a:prstGeom>
          <a:solidFill>
            <a:srgbClr val="D8EAF2"/>
          </a:solidFill>
          <a:ln w="12700">
            <a:solidFill>
              <a:srgbClr val="AAD1E3"/>
            </a:solidFill>
            <a:prstDash val="solid"/>
          </a:ln>
        </p:spPr>
      </p:sp>
      <p:sp>
        <p:nvSpPr>
          <p:cNvPr id="8" name="Kreis 8"/>
          <p:cNvSpPr/>
          <p:nvPr/>
        </p:nvSpPr>
        <p:spPr>
          <a:xfrm>
            <a:off x="4830000" y="225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9" name="Text 9"/>
          <p:cNvSpPr/>
          <p:nvPr/>
        </p:nvSpPr>
        <p:spPr>
          <a:xfrm>
            <a:off x="5485999" y="215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Das Thema Facebook in deiner Sprache</a:t>
            </a:r>
          </a:p>
        </p:txBody>
      </p:sp>
      <p:sp>
        <p:nvSpPr>
          <p:cNvPr id="10" name="Zeile 10"/>
          <p:cNvSpPr/>
          <p:nvPr/>
        </p:nvSpPr>
        <p:spPr>
          <a:xfrm>
            <a:off x="4700000" y="2940000"/>
            <a:ext cx="6850000" cy="680000"/>
          </a:xfrm>
          <a:prstGeom prst="roundRect">
            <a:avLst>
              <a:gd name="adj" fmla="val 12000"/>
            </a:avLst>
          </a:prstGeom>
          <a:solidFill>
            <a:srgbClr val="D8EAF2"/>
          </a:solidFill>
          <a:ln w="12700">
            <a:solidFill>
              <a:srgbClr val="AAD1E3"/>
            </a:solidFill>
            <a:prstDash val="solid"/>
          </a:ln>
        </p:spPr>
      </p:sp>
      <p:sp>
        <p:nvSpPr>
          <p:cNvPr id="11" name="Kreis 11"/>
          <p:cNvSpPr/>
          <p:nvPr/>
        </p:nvSpPr>
        <p:spPr>
          <a:xfrm>
            <a:off x="4830000" y="304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2" name="Text 12"/>
          <p:cNvSpPr/>
          <p:nvPr/>
        </p:nvSpPr>
        <p:spPr>
          <a:xfrm>
            <a:off x="5485999" y="294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Vorlesen</a:t>
            </a:r>
          </a:p>
        </p:txBody>
      </p:sp>
      <p:sp>
        <p:nvSpPr>
          <p:cNvPr id="13" name="Zeile 13"/>
          <p:cNvSpPr/>
          <p:nvPr/>
        </p:nvSpPr>
        <p:spPr>
          <a:xfrm>
            <a:off x="4700000" y="3730000"/>
            <a:ext cx="6850000" cy="680000"/>
          </a:xfrm>
          <a:prstGeom prst="roundRect">
            <a:avLst>
              <a:gd name="adj" fmla="val 12000"/>
            </a:avLst>
          </a:prstGeom>
          <a:solidFill>
            <a:srgbClr val="D8EAF2"/>
          </a:solidFill>
          <a:ln w="12700">
            <a:solidFill>
              <a:srgbClr val="AAD1E3"/>
            </a:solidFill>
            <a:prstDash val="solid"/>
          </a:ln>
        </p:spPr>
      </p:sp>
      <p:sp>
        <p:nvSpPr>
          <p:cNvPr id="14" name="Kreis 14"/>
          <p:cNvSpPr/>
          <p:nvPr/>
        </p:nvSpPr>
        <p:spPr>
          <a:xfrm>
            <a:off x="4830000" y="383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5" name="Text 15"/>
          <p:cNvSpPr/>
          <p:nvPr/>
        </p:nvSpPr>
        <p:spPr>
          <a:xfrm>
            <a:off x="5485999" y="373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Übungs-Handy: Wer sieht deinen Beitrag?</a:t>
            </a:r>
          </a:p>
        </p:txBody>
      </p:sp>
      <p:sp>
        <p:nvSpPr>
          <p:cNvPr id="16" name="Zeile 16"/>
          <p:cNvSpPr/>
          <p:nvPr/>
        </p:nvSpPr>
        <p:spPr>
          <a:xfrm>
            <a:off x="4700000" y="4520000"/>
            <a:ext cx="6850000" cy="680000"/>
          </a:xfrm>
          <a:prstGeom prst="roundRect">
            <a:avLst>
              <a:gd name="adj" fmla="val 12000"/>
            </a:avLst>
          </a:prstGeom>
          <a:solidFill>
            <a:srgbClr val="D8EAF2"/>
          </a:solidFill>
          <a:ln w="12700">
            <a:solidFill>
              <a:srgbClr val="AAD1E3"/>
            </a:solidFill>
            <a:prstDash val="solid"/>
          </a:ln>
        </p:spPr>
      </p:sp>
      <p:sp>
        <p:nvSpPr>
          <p:cNvPr id="17" name="Kreis 17"/>
          <p:cNvSpPr/>
          <p:nvPr/>
        </p:nvSpPr>
        <p:spPr>
          <a:xfrm>
            <a:off x="4830000" y="462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8" name="Text 18"/>
          <p:cNvSpPr/>
          <p:nvPr/>
        </p:nvSpPr>
        <p:spPr>
          <a:xfrm>
            <a:off x="5485999" y="452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Quiz und Merk-Karte</a:t>
            </a:r>
          </a:p>
        </p:txBody>
      </p:sp>
      <p:sp>
        <p:nvSpPr>
          <p:cNvPr id="19" name="Text 19"/>
          <p:cNvSpPr/>
          <p:nvPr/>
        </p:nvSpPr>
        <p:spPr>
          <a:xfrm>
            <a:off x="4700000" y="5350000"/>
            <a:ext cx="685000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1" i="0" dirty="0">
                <a:solidFill>
                  <a:srgbClr val="00285A"/>
                </a:solidFill>
                <a:latin typeface="Arial" pitchFamily="34" charset="0"/>
                <a:ea typeface="Arial" pitchFamily="34" charset="-122"/>
                <a:cs typeface="Arial" pitchFamily="34" charset="-120"/>
              </a:rPr>
              <a:t>Allein und in deinem Tempo.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Eine Sache für heute">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Eine Sache für heute</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1200"/>
              </a:spcAft>
              <a:buNone/>
            </a:pPr>
            <a:r>
              <a:rPr lang="de-DE" sz="2800" b="0" i="0" dirty="0">
                <a:solidFill>
                  <a:srgbClr val="1A1A1A"/>
                </a:solidFill>
                <a:latin typeface="Arial" pitchFamily="34" charset="0"/>
                <a:ea typeface="Arial" pitchFamily="34" charset="-122"/>
                <a:cs typeface="Arial" pitchFamily="34" charset="-120"/>
              </a:rPr>
              <a:t>Du willst etwas posten?</a:t>
            </a:r>
          </a:p>
          <a:p>
            <a:pPr algn="l" indent="0" marL="0">
              <a:lnSpc>
                <a:spcPct val="100000"/>
              </a:lnSpc>
              <a:spcAft>
                <a:spcPts val="1200"/>
              </a:spcAft>
              <a:buNone/>
            </a:pPr>
            <a:r>
              <a:rPr lang="de-DE" sz="3200" b="1" i="0" dirty="0">
                <a:solidFill>
                  <a:srgbClr val="00285A"/>
                </a:solidFill>
                <a:latin typeface="Arial" pitchFamily="34" charset="0"/>
                <a:ea typeface="Arial" pitchFamily="34" charset="-122"/>
                <a:cs typeface="Arial" pitchFamily="34" charset="-120"/>
              </a:rPr>
              <a:t>Schau vorher nach:</a:t>
            </a:r>
          </a:p>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Wer kann den Beitrag sehen?</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prüft vor dem Posten, wer den Beitrag sehen kann.]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Danke fürs Mitmachen.">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1900000"/>
            <a:ext cx="12192000" cy="12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5400" b="1" i="0" dirty="0">
                <a:solidFill>
                  <a:srgbClr val="FFFFFF"/>
                </a:solidFill>
                <a:latin typeface="Arial" pitchFamily="34" charset="0"/>
                <a:ea typeface="Arial" pitchFamily="34" charset="-122"/>
                <a:cs typeface="Arial" pitchFamily="34" charset="-120"/>
              </a:rPr>
              <a:t>Danke fürs Mitmachen.</a:t>
            </a:r>
          </a:p>
        </p:txBody>
      </p:sp>
      <p:sp>
        <p:nvSpPr>
          <p:cNvPr id="3" name="Text 3"/>
          <p:cNvSpPr/>
          <p:nvPr/>
        </p:nvSpPr>
        <p:spPr>
          <a:xfrm>
            <a:off x="0" y="3150000"/>
            <a:ext cx="12192000" cy="8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Hast du noch Fragen?</a:t>
            </a:r>
          </a:p>
        </p:txBody>
      </p:sp>
      <p:sp>
        <p:nvSpPr>
          <p:cNvPr id="4" name="Text 4"/>
          <p:cNvSpPr/>
          <p:nvPr/>
        </p:nvSpPr>
        <p:spPr>
          <a:xfrm>
            <a:off x="0" y="4100000"/>
            <a:ext cx="12192000" cy="8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FFFFFF"/>
                </a:solidFill>
                <a:latin typeface="Arial" pitchFamily="34" charset="0"/>
                <a:ea typeface="Arial" pitchFamily="34" charset="-122"/>
                <a:cs typeface="Arial" pitchFamily="34" charset="-120"/>
              </a:rPr>
              <a:t>Du brauchst Hilfe? Frag eine vertraute Person.</a:t>
            </a:r>
          </a:p>
        </p:txBody>
      </p:sp>
      <p:sp>
        <p:nvSpPr>
          <p:cNvPr id="5" name="Text 5"/>
          <p:cNvSpPr/>
          <p:nvPr/>
        </p:nvSpPr>
        <p:spPr>
          <a:xfrm>
            <a:off x="640080" y="6309360"/>
            <a:ext cx="10972800" cy="36576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1300" b="0" i="0" dirty="0">
                <a:solidFill>
                  <a:srgbClr val="AAD1E3"/>
                </a:solidFill>
                <a:latin typeface="Arial" pitchFamily="34" charset="0"/>
                <a:ea typeface="Arial" pitchFamily="34" charset="-122"/>
                <a:cs typeface="Arial" pitchFamily="34" charset="-120"/>
              </a:rPr>
              <a:t>Alexianer Stift Tilbeck GmbH   ·   Gefördert durch die Sozialstiftung NRW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Facebook sicher und selbstbestimmt nutzen</dc:title>
  <dc:subject>Modul Facebook nach REFERENZMODUL.md – 90-Minuten-Live-Workshop</dc:subject>
  <dc:creator>Alexianer Stift Tilbeck – Digitale Teilhabe</dc:creator>
  <cp:lastModifiedBy>Alexianer Stift Tilbeck – Digitale Teilhabe</cp:lastModifiedBy>
  <cp:revision>2</cp:revision>
  <dcterms:created xsi:type="dcterms:W3CDTF">2026-06-24T06:27:19Z</dcterms:created>
  <dcterms:modified xsi:type="dcterms:W3CDTF">2026-09-18T09:31:19Z</dcterms:modified>
</cp:coreProperties>
</file>