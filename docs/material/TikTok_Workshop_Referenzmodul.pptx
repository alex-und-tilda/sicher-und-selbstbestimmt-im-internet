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 id="291" r:id="rIdS36"/>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Ankommen; Thema und Ziel des Tages kennen.</a:t>
            </a:r>
          </a:p>
          <a:p>
            <a:r>
              <a:rPr lang="de-DE" b="1" sz="1100"/>
              <a:t>Methode: </a:t>
            </a:r>
            <a:r>
              <a:rPr lang="de-DE" sz="1100"/>
              <a:t>Begrüßung, kurze Vorstellungsrunde mit Name oder Wunschname.</a:t>
            </a:r>
          </a:p>
          <a:p>
            <a:r>
              <a:rPr lang="de-DE" b="1" sz="1100"/>
              <a:t>Sozialform: </a:t>
            </a:r>
            <a:r>
              <a:rPr lang="de-DE" sz="1100"/>
              <a:t>Sitzkreis, Plenum</a:t>
            </a:r>
          </a:p>
          <a:p>
            <a:r>
              <a:rPr lang="de-DE" b="1" sz="1100"/>
              <a:t>Zeit: </a:t>
            </a:r>
            <a:r>
              <a:rPr lang="de-DE" sz="1100"/>
              <a:t>ca. 2 Min</a:t>
            </a:r>
          </a:p>
          <a:p>
            <a:r>
              <a:rPr lang="de-DE" b="1" sz="1100"/>
              <a:t>Material: </a:t>
            </a:r>
            <a:r>
              <a:rPr lang="de-DE" sz="1100"/>
              <a:t>Beamer, Namensschilder</a:t>
            </a:r>
          </a:p>
          <a:p>
            <a:r>
              <a:rPr lang="de-DE" b="1" sz="1100"/>
              <a:t>Hinweis: </a:t>
            </a:r>
            <a:r>
              <a:rPr lang="de-DE" sz="1100"/>
              <a:t>Ruhig starten. Ziel in einem Satz: Heute stellen wir TikTok sicher ein, und wir sprechen über Trends, Druck und die Zeit. Niemand muss etwas Eigenes zeigen oder erzählen.</a:t>
            </a:r>
          </a:p>
          <a:p>
            <a:r>
              <a:rPr lang="de-DE" b="1" sz="1100"/>
              <a:t>Bildvorschlag: </a:t>
            </a:r>
            <a:r>
              <a:rPr lang="de-DE" sz="1100"/>
              <a:t>Alex und Tilda als eigene Figuren der Lernplattform (Wiedererkennung Workshop – Lernplattform). Keine fremden Piktogramme.</a:t>
            </a:r>
          </a:p>
          <a:p>
            <a:r>
              <a:rPr lang="de-DE" b="1" sz="1100"/>
              <a:t>Über diesen Leitfaden: </a:t>
            </a:r>
            <a:r>
              <a:rPr lang="de-DE" sz="1100"/>
              <a:t>Modul TikTok nach REFERENZMODUL.md · Stand 18.09.2026 · Fassung 2 mit dem gemeinsamen Standard aus gemeinsam/BEGRIFFE.md und gemeinsam/MATERIAL.md, gebaut nach dem Muster des Instagram-Pilotpakets · 90 Minuten = 86 Minuten Programm + 4 Minuten Puffer. Dieser Leitfaden wird nur hier in den Sprechernotizen gepflegt; die PDF ist ein Export.</a:t>
            </a:r>
          </a:p>
          <a:p>
            <a:r>
              <a:rPr lang="de-DE" b="1" sz="1100"/>
              <a:t>Lernziele des Moduls: </a:t>
            </a:r>
            <a:r>
              <a:rPr lang="de-DE" sz="1100"/>
              <a:t>(1) Die Person sagt, wer bei einem privaten Konto ihre Videos sieht, und entscheidet über Kommentare und Nachrichten. (2) Sie nennt vor dem Posten zwei Prüfpunkte – Hintergrund und andere Personen. (3) Sie sagt bei einem gefährlichen Trend: Ich muss nicht mitmachen, und nennt Warnzeichen in Nachrichten. (4) Sie sagt: Ich darf TikTok zumachen und Pause machen, und nennt Schritte bei verletzenden Kommentaren.</a:t>
            </a:r>
          </a:p>
          <a:p>
            <a:r>
              <a:rPr lang="de-DE" b="1" sz="1100"/>
              <a:t>Ablauf: </a:t>
            </a:r>
            <a:r>
              <a:rPr lang="de-DE" sz="1100"/>
              <a:t>0–7 Ankommen · 7–13 Aktivierung · 13–22 Thema 1 Mein Konto · 22–31 Thema 2 Was ich im Video zeige · 31–40 Thema 3 Trends und Druck · 40–49 Thema 4 Wenn etwas nicht gut tut · 49–59 Pause · 59–74 Praxis · 74–81 Quiz-Gespräch · 81–84 Lernplattform · 84–86 Eine Sache für heute · 86–90 Puffer.</a:t>
            </a:r>
          </a:p>
          <a:p>
            <a:r>
              <a:rPr lang="de-DE" b="1" sz="1100"/>
              <a:t>Material gesamt: </a:t>
            </a:r>
            <a:r>
              <a:rPr lang="de-DE" sz="1100"/>
              <a:t>Beamer, Antwortkarten A/B/C, Namensschilder, Plakat mit Ablauf und Regeln, 3 Karten für die Trend-Ampel, Hilfe-Karte für jede Person (gemeinsam/HILFE-KARTE.md), Stifte, gedruckte Merk-Karte TikTok der Lernplattform (#thema-tiktok:merk), WLAN-Zugang, Ladekabel, Ersatzgerät.</a:t>
            </a:r>
          </a:p>
          <a:p>
            <a:r>
              <a:rPr lang="de-DE" b="1" sz="1100"/>
              <a:t>Vorbereitung am Vortag: </a:t>
            </a:r>
            <a:r>
              <a:rPr lang="de-DE" sz="1100"/>
              <a:t>Praxis-Seite praxis/tiktok.html an einem aktuellen Handy durchgehen (Stand der Seite: Juni 2026). Beide QR-Codes testen. Karten für die Trend-Ampel ausdrucken. Vorderseite der Hilfe-Karte mit den Ansprechpersonen vor Ort ausfüllen, Hilfe-Nummern prüfen und die Karten drucken. Rollen verteilen: Leitung, Begleitung in der Praxis, Ansprechperson für Einzelgespräche. Vor dem Praxistest sind drei Bilder verpflichtend: Folie 8 (zwei Bilder privat und öffentlich) und Folie 22 (Hilfe-Karte mit ausgefüllter Vorderseite).</a:t>
            </a:r>
          </a:p>
          <a:p>
            <a:r>
              <a:rPr lang="de-DE" b="1" sz="1100"/>
              <a:t>Live oder Lernplattform: </a:t>
            </a:r>
            <a:r>
              <a:rPr lang="de-DE" sz="1100"/>
              <a:t>Live: Konto und Kommentare einstellen, Gespräch über Gruppendruck bei Trends, Warnzeichen und Plan, Gefühle und Pausen. Lernplattform (Thema TikTok): Trends (L1, L2), ähnliche Videos (L3), private Nachrichten (L4), Videos posten (L5), Kommentare (L6), Gefühle und Pausen (L7), gefälschte Videos (L8), Plan (L9), Quiz, Merk-Karte, Kurz-Modus – im eigenen Tempo, in drei Sprach-Ebenen, mit Vorlesen. Standardweg ohne Handy oder ohne Konto: Übungs-Handy „Trends und Zeit“ (#thema-tiktok:uebung); es enthält keine Inhalte zu privaten Bildern. Gefälschte Videos mit KI bleiben ganz auf der Lernplattform: TikTok L8 und Thema Fake News und KI-Fakes (#thema-fakes).</a:t>
            </a:r>
          </a:p>
          <a:p>
            <a:r>
              <a:rPr lang="de-DE" b="1" sz="1100"/>
              <a:t>Sensible Themen: </a:t>
            </a:r>
            <a:r>
              <a:rPr lang="de-DE" sz="1100"/>
              <a:t>Thema 3 und 4 liegen vor der Pause. Gefährliche Trends nur benennen – keine Anleitung, keine Namen von tödlichen Mutproben, keine Videos zeigen. Treffen mit fremden Personen ernst nehmen: Warnzeichen, Schutzauftrag der Einrichtung bei Verdacht auf Grooming. Geschenke im LIVE kosten echtes Geld; daraus können Schulden werden – ruhig und ohne Vorwurf ansprechen. Belastende Videos, zum Beispiel über Selbstverletzung, können hochkommen: Einzelgespräch anbieten. Über Nutzungszeit sachlich sprechen, keine Wörter wie süchtig. Keine echten Fälle oder Namen aus der Gruppe.</a:t>
            </a:r>
          </a:p>
          <a:p>
            <a:r>
              <a:rPr lang="de-DE" b="1" sz="1100"/>
              <a:t>Quiz und Datenschutz: </a:t>
            </a:r>
            <a:r>
              <a:rPr lang="de-DE" sz="1100"/>
              <a:t>Standard ist das Kartenquiz auf den Folien 27–32 (kein externer Dienst). Die Kahoot-Datei ist nur eine Vorlage im Kahoot-Format und wird nur nach Klärung mit Träger und Datenschutz genutzt. Vorher im eigenen Zugang prüfen, was dort möglich ist: Import der Datei, Teams, langes Zeitlimit, Rangliste ausblenden. Nichts zusagen, was nicht geprüft ist. Grundsatz: möglichst druckarm einstellen, viel Zeit pro Frage, Punkte und Rangliste nicht thematisieren, Teamnamen statt echter Namen, keine Ergebnisse speichern oder exportieren.</a:t>
            </a:r>
          </a:p>
          <a:p>
            <a:r>
              <a:rPr lang="de-DE" b="1" sz="1100"/>
              <a:t>Quiz: Kernfragen und Reservefragen: </a:t>
            </a:r>
            <a:r>
              <a:rPr lang="de-DE" sz="1100"/>
              <a:t>Kernfragen sind die Fragen 1, 3 und 5 (Folien 27, 29 und 31). Sie decken die drei Merksätze ab: privates Konto, Ich muss nicht mitmachen, Ich darf Pause machen. Diese drei werden immer gestellt. Reservefragen sind 2, 4 und 6 (Folien 28, 30 und 32). Sie kommen dazu, wenn Zeit und Aufmerksamkeit reichen. Zuerst die Frage 6 nehmen, wenn verletzende Kommentare in der Gruppe Thema waren.</a:t>
            </a:r>
          </a:p>
          <a:p>
            <a:r>
              <a:rPr lang="de-DE" b="1" sz="1100"/>
              <a:t>Optionale sensible Gesprächsfrage: </a:t>
            </a:r>
            <a:r>
              <a:rPr lang="de-DE" sz="1100"/>
              <a:t>Nicht im Standard-Quiz und nicht im Kahoot. Nur nutzen, wenn die Gruppe stabil ist und die Begleitung vorbereitet ist. Frage: Eine Person aus einem LIVE schreibt dir. Sie will sich mit dir treffen. Sie sagt: Erzähl es niemandem. Was machst du? Antworten: A) Ich treffe die Person. Sie ist nett. B) Ich frage, wo wir uns treffen. C) Ich treffe mich nicht. Ich mache Stopp und zeige es einer vertrauten Person. Passend: C. Gesprächsimpuls: Ein Treffen mit Geheimhaltung ist ein Warnzeichen. Niemand muss ein Treffen ausmachen. Bei Hinweisen auf eigene Betroffenheit: nicht in der Gruppe vertiefen, Einzelgespräch, Schutzauftrag der Einrichtung. Lernplattform: TikTok L4 und L9; Thema Hilfe bei Problemen.</a:t>
            </a:r>
          </a:p>
          <a:p>
            <a:r>
              <a:rPr lang="de-DE" b="1" sz="1100"/>
              <a:t>Bilder: </a:t>
            </a:r>
            <a:r>
              <a:rPr lang="de-DE" sz="1100"/>
              <a:t>Diese Fassung enthält keine Piktogramme und keine fertigen Bilder. Die grau gestrichelten Rahmen sind Platzhalter für eigene oder eigens erstellte Bilder. Jeder Platzhalter ist im Feld Bildvorschlag beschrieben. Verpflichtend vor dem Praxistest: Folie 8 (beide Bilder) und Folie 22 (Hilfe-Karte). Die übrigen Platzhalter dürfen im Praxistest noch als Beschreibung vorgelesen werden.</a:t>
            </a:r>
          </a:p>
          <a:p>
            <a:r>
              <a:rPr lang="de-DE" b="1" sz="1100"/>
              <a:t>Bekannte Widersprüche zur Lernplattform: </a:t>
            </a:r>
            <a:r>
              <a:rPr lang="de-DE" sz="1100"/>
              <a:t>Bekannt und in dieser Fassung bewusst nicht geändert; sie werden später an beiden Stellen geklärt. Die vollständige Liste für alle Module steht in gemeinsam/BEGRIFFE.md, Abschnitt 3. 1. Trend oder Challenge: Der Workshop sagt Trend und erklärt das Wort Challenge einmal. Die Lernplattform benutzt in Quizfrage 1 und im Übungs-Handy „Challenge“. 2. Das alte Workshop-Material sagte, bei einem privaten Konto sehen die Freunde die Videos. Richtig sind die Follower; bei Kommentaren und Nachrichten heißt die Einstellung Freunde, also Menschen, denen du folgst und die dir folgen. 3. Die Praxis-Seite schreibt „sehen nur Menschen deine Videos, die du erlaubst“ – ein Relativsatz, der in Leichter Sprache vermieden wird. 4. Zur Bildschirmzeit gibt es keinen Abschnitt auf der Praxis-Seite; der Kurz-Modus nennt einen Timer. Deshalb ist der Timer im Workshop eine freiwillige Aufgabe über die Uhr-App. 5. Quizfrage 10 der Lernplattform sagt „Erst prüfen.“; der Workshop sagt „Erst prüfen. Dann teilen.“ 6. Die Lernplattform sagt „Unterstützung holen“ und „Hilfe-Button“; der Workshop sagt „Hilfe holen“ und „Hilfe-Knopf“. 7. Die Merk-Karte der Lernplattform ist nicht wortgleich mit Folie 33.</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Überblick über den Ablauf; Vorhersehbarkeit.</a:t>
            </a:r>
          </a:p>
          <a:p>
            <a:r>
              <a:rPr lang="de-DE" b="1" sz="1100"/>
              <a:t>Methode: </a:t>
            </a:r>
            <a:r>
              <a:rPr lang="de-DE" sz="1100"/>
              <a:t>Ablauf vorlesen, auf Pause und Praxis hinweisen.</a:t>
            </a:r>
          </a:p>
          <a:p>
            <a:r>
              <a:rPr lang="de-DE" b="1" sz="1100"/>
              <a:t>Sozialform: </a:t>
            </a:r>
            <a:r>
              <a:rPr lang="de-DE" sz="1100"/>
              <a:t>Plenum</a:t>
            </a:r>
          </a:p>
          <a:p>
            <a:r>
              <a:rPr lang="de-DE" b="1" sz="1100"/>
              <a:t>Zeit: </a:t>
            </a:r>
            <a:r>
              <a:rPr lang="de-DE" sz="1100"/>
              <a:t>ca. 2 Min</a:t>
            </a:r>
          </a:p>
          <a:p>
            <a:r>
              <a:rPr lang="de-DE" b="1" sz="1100"/>
              <a:t>Material: </a:t>
            </a:r>
            <a:r>
              <a:rPr lang="de-DE" sz="1100"/>
              <a:t>Beamer, Ablauf als Plakat</a:t>
            </a:r>
          </a:p>
          <a:p>
            <a:r>
              <a:rPr lang="de-DE" b="1" sz="1100"/>
              <a:t>Hinweis: </a:t>
            </a:r>
            <a:r>
              <a:rPr lang="de-DE" sz="1100"/>
              <a:t>Die Nummern 1 bis 4 sind die vier Themen. Sie stehen genauso auf den Trennfolien. Sagen: Nach der Pause stellen wir TikTok zusammen am eigenen Handy ein.</a:t>
            </a:r>
          </a:p>
        </p:txBody>
      </p:sp>
      <p:sp>
        <p:nvSpPr>
          <p:cNvPr id="4" name="Slide Number Placeholder 3"/>
          <p:cNvSpPr>
            <a:spLocks noGrp="1"/>
          </p:cNvSpPr>
          <p:nvPr>
            <p:ph type="sldNum" sz="quarter" idx="10"/>
          </p:nvPr>
        </p:nvSpPr>
        <p:spPr/>
        <p:txBody>
          <a:bodyPr/>
          <a:lstStyle/>
          <a:p>
            <a:fld id="{F7021451-1387-4CA6-816F-3879F97B5CBC}" type="slidenum">
              <a:rPr lang="de-DE"/>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Sichere Lernatmosphäre; Selbstbestimmung erleben.</a:t>
            </a:r>
          </a:p>
          <a:p>
            <a:r>
              <a:rPr lang="de-DE" b="1" sz="1100"/>
              <a:t>Methode: </a:t>
            </a:r>
            <a:r>
              <a:rPr lang="de-DE" sz="1100"/>
              <a:t>Regeln vorlesen, gemeinsam zustimmen.</a:t>
            </a:r>
          </a:p>
          <a:p>
            <a:r>
              <a:rPr lang="de-DE" b="1" sz="1100"/>
              <a:t>Sozialform: </a:t>
            </a:r>
            <a:r>
              <a:rPr lang="de-DE" sz="1100"/>
              <a:t>Plenum</a:t>
            </a:r>
          </a:p>
          <a:p>
            <a:r>
              <a:rPr lang="de-DE" b="1" sz="1100"/>
              <a:t>Zeit: </a:t>
            </a:r>
            <a:r>
              <a:rPr lang="de-DE" sz="1100"/>
              <a:t>ca. 3 Min</a:t>
            </a:r>
          </a:p>
          <a:p>
            <a:r>
              <a:rPr lang="de-DE" b="1" sz="1100"/>
              <a:t>Material: </a:t>
            </a:r>
            <a:r>
              <a:rPr lang="de-DE" sz="1100"/>
              <a:t>Plakat mit Regeln</a:t>
            </a:r>
          </a:p>
          <a:p>
            <a:r>
              <a:rPr lang="de-DE" b="1" sz="1100"/>
              <a:t>Hinweis: </a:t>
            </a:r>
            <a:r>
              <a:rPr lang="de-DE" sz="1100"/>
              <a:t>Kernbotschaft: Fehler sind erlaubt. Die Regel „Du musst nicht mitmachen“ gilt hier doppelt: im Workshop und bei Trends. Das ausdrücklich sagen.</a:t>
            </a:r>
          </a:p>
        </p:txBody>
      </p:sp>
      <p:sp>
        <p:nvSpPr>
          <p:cNvPr id="4" name="Slide Number Placeholder 3"/>
          <p:cNvSpPr>
            <a:spLocks noGrp="1"/>
          </p:cNvSpPr>
          <p:nvPr>
            <p:ph type="sldNum" sz="quarter" idx="10"/>
          </p:nvPr>
        </p:nvSpPr>
        <p:spPr/>
        <p:txBody>
          <a:bodyPr/>
          <a:lstStyle/>
          <a:p>
            <a:fld id="{F7021451-1387-4CA6-816F-3879F97B5CBC}"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Sicherheit einschätzen; das Thema persönlich öffnen.</a:t>
            </a:r>
          </a:p>
          <a:p>
            <a:r>
              <a:rPr lang="de-DE" b="1" sz="1100"/>
              <a:t>Methode: </a:t>
            </a:r>
            <a:r>
              <a:rPr lang="de-DE" sz="1100"/>
              <a:t>Einstiegsfrage mit Handzeichen oder Antwortkarten A/B/C.</a:t>
            </a:r>
          </a:p>
          <a:p>
            <a:r>
              <a:rPr lang="de-DE" b="1" sz="1100"/>
              <a:t>Sozialform: </a:t>
            </a:r>
            <a:r>
              <a:rPr lang="de-DE" sz="1100"/>
              <a:t>Plenum</a:t>
            </a:r>
          </a:p>
          <a:p>
            <a:r>
              <a:rPr lang="de-DE" b="1" sz="1100"/>
              <a:t>Zeit: </a:t>
            </a:r>
            <a:r>
              <a:rPr lang="de-DE" sz="1100"/>
              <a:t>ca. 2 Min</a:t>
            </a:r>
          </a:p>
          <a:p>
            <a:r>
              <a:rPr lang="de-DE" b="1" sz="1100"/>
              <a:t>Material: </a:t>
            </a:r>
            <a:r>
              <a:rPr lang="de-DE" sz="1100"/>
              <a:t>Antwortkarten A/B/C</a:t>
            </a:r>
          </a:p>
          <a:p>
            <a:r>
              <a:rPr lang="de-DE" b="1" sz="1100"/>
              <a:t>Hinweis: </a:t>
            </a:r>
            <a:r>
              <a:rPr lang="de-DE" sz="1100"/>
              <a:t>Nicht nachfragen, nicht bewerten. Die Frage ist wortgleich mit der Einstiegsfrage im Thema TikTok auf der Lernplattform. Am Ende kann sie noch einmal gestellt werden.</a:t>
            </a:r>
          </a:p>
          <a:p>
            <a:r>
              <a:rPr lang="de-DE" b="1" sz="1100"/>
              <a:t>Lernplattform: </a:t>
            </a:r>
            <a:r>
              <a:rPr lang="de-DE" sz="1100"/>
              <a:t>Einstiegsfrage Thema TikTok.</a:t>
            </a:r>
          </a:p>
        </p:txBody>
      </p:sp>
      <p:sp>
        <p:nvSpPr>
          <p:cNvPr id="4" name="Slide Number Placeholder 3"/>
          <p:cNvSpPr>
            <a:spLocks noGrp="1"/>
          </p:cNvSpPr>
          <p:nvPr>
            <p:ph type="sldNum" sz="quarter" idx="10"/>
          </p:nvPr>
        </p:nvSpPr>
        <p:spPr/>
        <p:txBody>
          <a:bodyPr/>
          <a:lstStyle/>
          <a:p>
            <a:fld id="{F7021451-1387-4CA6-816F-3879F97B5CBC}"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Trends einschätzen lernen: Nicht jeder Trend ist harmlos.</a:t>
            </a:r>
          </a:p>
          <a:p>
            <a:r>
              <a:rPr lang="de-DE" b="1" sz="1100"/>
              <a:t>Methode: </a:t>
            </a:r>
            <a:r>
              <a:rPr lang="de-DE" sz="1100"/>
              <a:t>Trend-Ampel: Karten auf drei Stapel legen, dann Gespräch.</a:t>
            </a:r>
          </a:p>
          <a:p>
            <a:r>
              <a:rPr lang="de-DE" b="1" sz="1100"/>
              <a:t>Sozialform: </a:t>
            </a:r>
            <a:r>
              <a:rPr lang="de-DE" sz="1100"/>
              <a:t>Plenum oder Paare</a:t>
            </a:r>
          </a:p>
          <a:p>
            <a:r>
              <a:rPr lang="de-DE" b="1" sz="1100"/>
              <a:t>Zeit: </a:t>
            </a:r>
            <a:r>
              <a:rPr lang="de-DE" sz="1100"/>
              <a:t>ca. 4 Min</a:t>
            </a:r>
          </a:p>
          <a:p>
            <a:r>
              <a:rPr lang="de-DE" b="1" sz="1100"/>
              <a:t>Material: </a:t>
            </a:r>
            <a:r>
              <a:rPr lang="de-DE" sz="1100"/>
              <a:t>3 gedruckte Karten mit erfundenen Trends</a:t>
            </a:r>
          </a:p>
          <a:p>
            <a:r>
              <a:rPr lang="de-DE" b="1" sz="1100"/>
              <a:t>Hinweis: </a:t>
            </a:r>
            <a:r>
              <a:rPr lang="de-DE" sz="1100"/>
              <a:t>Nur erfundene, allgemeine Trends nennen. Keine Anleitung geben, keine Videos zeigen, keine Namen von tödlichen Mutproben. Der Stapel „Da bin ich unsicher“ ist wichtig: Unsicherheit ist ein guter Grund, nicht mitzumachen. Die Idee stammt aus der Begleit-Ebene der Lernplattform.</a:t>
            </a:r>
          </a:p>
          <a:p>
            <a:r>
              <a:rPr lang="de-DE" b="1" sz="1100"/>
              <a:t>Bildvorschlag: </a:t>
            </a:r>
            <a:r>
              <a:rPr lang="de-DE" sz="1100"/>
              <a:t>Kein Bild, sondern gedruckte Karten. Später möglich: drei eigene Zeichnungen der erfundenen Trends – ohne verletzende Darstellung.</a:t>
            </a:r>
          </a:p>
          <a:p>
            <a:r>
              <a:rPr lang="de-DE" b="1" sz="1100"/>
              <a:t>Lernplattform: </a:t>
            </a:r>
            <a:r>
              <a:rPr lang="de-DE" sz="1100"/>
              <a:t>Begleit-Ebene TikTok, Methodik: Trend einschätzen – lustig oder gefährlich; Lektionen L1 und L2.</a:t>
            </a:r>
          </a:p>
        </p:txBody>
      </p:sp>
      <p:sp>
        <p:nvSpPr>
          <p:cNvPr id="4" name="Slide Number Placeholder 3"/>
          <p:cNvSpPr>
            <a:spLocks noGrp="1"/>
          </p:cNvSpPr>
          <p:nvPr>
            <p:ph type="sldNum" sz="quarter" idx="10"/>
          </p:nvPr>
        </p:nvSpPr>
        <p:spPr/>
        <p:txBody>
          <a:bodyPr/>
          <a:lstStyle/>
          <a:p>
            <a:fld id="{F7021451-1387-4CA6-816F-3879F97B5CBC}"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1: Mein Konto.</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Wer kann eigentlich deine Videos sehen?</a:t>
            </a:r>
          </a:p>
        </p:txBody>
      </p:sp>
      <p:sp>
        <p:nvSpPr>
          <p:cNvPr id="4" name="Slide Number Placeholder 3"/>
          <p:cNvSpPr>
            <a:spLocks noGrp="1"/>
          </p:cNvSpPr>
          <p:nvPr>
            <p:ph type="sldNum" sz="quarter" idx="10"/>
          </p:nvPr>
        </p:nvSpPr>
        <p:spPr/>
        <p:txBody>
          <a:bodyPr/>
          <a:lstStyle/>
          <a:p>
            <a:fld id="{F7021451-1387-4CA6-816F-3879F97B5CBC}"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Wichtige Begriffe kennen: Video, Follower, Freunde, Kommentar, private Nachricht.</a:t>
            </a:r>
          </a:p>
          <a:p>
            <a:r>
              <a:rPr lang="de-DE" b="1" sz="1100"/>
              <a:t>Methode: </a:t>
            </a:r>
            <a:r>
              <a:rPr lang="de-DE" sz="1100"/>
              <a:t>Vorwissen abfragen, Begriffe klären.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Erwachsene kennen die App oft. Erst fragen: Wer schaut TikTok? Wer macht selbst Videos? Nicht bewerten. Wichtig ist der Unterschied: Beim Konto geht es um Follower. Bei Kommentaren und Nachrichten heißt die Einstellung Freunde – also Menschen, denen du folgst und die dir folgen.</a:t>
            </a:r>
          </a:p>
          <a:p>
            <a:r>
              <a:rPr lang="de-DE" b="1" sz="1100"/>
              <a:t>Lernplattform: </a:t>
            </a:r>
            <a:r>
              <a:rPr lang="de-DE" sz="1100"/>
              <a:t>Wörter-Hilfe der Lernplattform; Praxis-Seite TikTok.</a:t>
            </a:r>
          </a:p>
        </p:txBody>
      </p:sp>
      <p:sp>
        <p:nvSpPr>
          <p:cNvPr id="4" name="Slide Number Placeholder 3"/>
          <p:cNvSpPr>
            <a:spLocks noGrp="1"/>
          </p:cNvSpPr>
          <p:nvPr>
            <p:ph type="sldNum" sz="quarter" idx="10"/>
          </p:nvPr>
        </p:nvSpPr>
        <p:spPr/>
        <p:txBody>
          <a:bodyPr/>
          <a:lstStyle/>
          <a:p>
            <a:fld id="{F7021451-1387-4CA6-816F-3879F97B5CBC}"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Unterschied zwischen privatem und öffentlichem Konto erklären können.</a:t>
            </a:r>
          </a:p>
          <a:p>
            <a:r>
              <a:rPr lang="de-DE" b="1" sz="1100"/>
              <a:t>Methode: </a:t>
            </a:r>
            <a:r>
              <a:rPr lang="de-DE" sz="1100"/>
              <a:t>Vergleich, Lehrgespräch.</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Botschaft: Privat ist sicherer. Bei einem privaten Konto kommt erst eine Anfrage, und du entscheidest. Wichtig: Es sind die Follower, nicht die Freunde – das alte Material war hier falsch. Keine Menüwege zeigen; das Einstellen kommt in der Praxis. Wer nur Videos schaut und kein Konto hat, ist trotzdem dabei: Für diese Personen ist die Zeit-Aufgabe in der Praxis das Ziel.</a:t>
            </a:r>
          </a:p>
          <a:p>
            <a:r>
              <a:rPr lang="de-DE" b="1" sz="1100"/>
              <a:t>Bildvorschlag: </a:t>
            </a:r>
            <a:r>
              <a:rPr lang="de-DE" sz="1100"/>
              <a:t>PFLICHT VOR DEM PRAXISTEST. Zwei eigene Bilder: (1) Profil mit Schloss, eine Anfrage wartet. (2) Offenes Profil, viele unbekannte Menschen schauen zu. Funktion: Unterschied ohne Lesen erkennbar. Keine nachgebauten App-Oberflächen.</a:t>
            </a:r>
          </a:p>
          <a:p>
            <a:r>
              <a:rPr lang="de-DE" b="1" sz="1100"/>
              <a:t>Lernplattform: </a:t>
            </a:r>
            <a:r>
              <a:rPr lang="de-DE" sz="1100"/>
              <a:t>Praxis-Seite TikTok: Konto auf privat stellen; Übungs-Handy „Trends und Zeit“.</a:t>
            </a:r>
          </a:p>
        </p:txBody>
      </p:sp>
      <p:sp>
        <p:nvSpPr>
          <p:cNvPr id="4" name="Slide Number Placeholder 3"/>
          <p:cNvSpPr>
            <a:spLocks noGrp="1"/>
          </p:cNvSpPr>
          <p:nvPr>
            <p:ph type="sldNum" sz="quarter" idx="10"/>
          </p:nvPr>
        </p:nvSpPr>
        <p:spPr/>
        <p:txBody>
          <a:bodyPr/>
          <a:lstStyle/>
          <a:p>
            <a:fld id="{F7021451-1387-4CA6-816F-3879F97B5CBC}"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Ich entscheide, wer kommentieren und schreiben darf.</a:t>
            </a:r>
          </a:p>
          <a:p>
            <a:r>
              <a:rPr lang="de-DE" b="1" sz="1100"/>
              <a:t>Methode: </a:t>
            </a:r>
            <a:r>
              <a:rPr lang="de-DE" sz="1100"/>
              <a:t>Lehrgespräch mit zwei Prüffragen.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Beide Einstellungen lassen sich auf Freunde oder auf niemand stellen. Das ist keine Strafe für andere, sondern Schutz für dich. Keine Menüwege auf der Folie – das kommt in der Praxis als freiwillige Aufgabe. Ergänzen: Fremde Nachrichten muss niemand beantworten.</a:t>
            </a:r>
          </a:p>
          <a:p>
            <a:r>
              <a:rPr lang="de-DE" b="1" sz="1100"/>
              <a:t>Bildvorschlag: </a:t>
            </a:r>
            <a:r>
              <a:rPr lang="de-DE" sz="1100"/>
              <a:t>Eigenes Bild: Person entscheidet an ihrem Handy, wer schreiben darf. Funktion: Entscheidung als eigene Handlung zeigen.</a:t>
            </a:r>
          </a:p>
          <a:p>
            <a:r>
              <a:rPr lang="de-DE" b="1" sz="1100"/>
              <a:t>Lernplattform: </a:t>
            </a:r>
            <a:r>
              <a:rPr lang="de-DE" sz="1100"/>
              <a:t>TikTok L4 und L6; Praxis-Seite: Wer darf kommentieren, Wer darf dir schreiben.</a:t>
            </a:r>
          </a:p>
        </p:txBody>
      </p:sp>
      <p:sp>
        <p:nvSpPr>
          <p:cNvPr id="4" name="Slide Number Placeholder 3"/>
          <p:cNvSpPr>
            <a:spLocks noGrp="1"/>
          </p:cNvSpPr>
          <p:nvPr>
            <p:ph type="sldNum" sz="quarter" idx="10"/>
          </p:nvPr>
        </p:nvSpPr>
        <p:spPr/>
        <p:txBody>
          <a:bodyPr/>
          <a:lstStyle/>
          <a:p>
            <a:fld id="{F7021451-1387-4CA6-816F-3879F97B5CBC}"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2: Was ich im Video zeige.</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Worauf achtest du, bevor du ein Video postest?</a:t>
            </a:r>
          </a:p>
        </p:txBody>
      </p:sp>
      <p:sp>
        <p:nvSpPr>
          <p:cNvPr id="4" name="Slide Number Placeholder 3"/>
          <p:cNvSpPr>
            <a:spLocks noGrp="1"/>
          </p:cNvSpPr>
          <p:nvPr>
            <p:ph type="sldNum" sz="quarter" idx="10"/>
          </p:nvPr>
        </p:nvSpPr>
        <p:spPr/>
        <p:txBody>
          <a:bodyPr/>
          <a:lstStyle/>
          <a:p>
            <a:fld id="{F7021451-1387-4CA6-816F-3879F97B5CBC}" type="slidenum">
              <a:rPr lang="de-DE"/>
              <a:t>10</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Verstehen: Videos können gespeichert und weitergeschickt werden.</a:t>
            </a:r>
          </a:p>
          <a:p>
            <a:r>
              <a:rPr lang="de-DE" b="1" sz="1100"/>
              <a:t>Methode: </a:t>
            </a:r>
            <a:r>
              <a:rPr lang="de-DE" sz="1100"/>
              <a:t>Lehrgespräch.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Ruhig, ohne Angst. Bei einem privaten Konto ist das Herunterladen schwerer, ganz sicher verhindern kann man es nicht: Ein Bild vom Bildschirm geht immer.</a:t>
            </a:r>
          </a:p>
          <a:p>
            <a:r>
              <a:rPr lang="de-DE" b="1" sz="1100"/>
              <a:t>Bildvorschlag: </a:t>
            </a:r>
            <a:r>
              <a:rPr lang="de-DE" sz="1100"/>
              <a:t>Eigenes Bild: Ein Video wird auf mehreren Handys gespeichert und weitergeschickt (Pfeile). Funktion: Weiterverbreitung sichtbar machen.</a:t>
            </a:r>
          </a:p>
          <a:p>
            <a:r>
              <a:rPr lang="de-DE" b="1" sz="1100"/>
              <a:t>Lernplattform: </a:t>
            </a:r>
            <a:r>
              <a:rPr lang="de-DE" sz="1100"/>
              <a:t>TikTok L5 (Videos posten); Praxis-Seite: Video-Downloads ausschalten.</a:t>
            </a:r>
          </a:p>
        </p:txBody>
      </p:sp>
      <p:sp>
        <p:nvSpPr>
          <p:cNvPr id="4" name="Slide Number Placeholder 3"/>
          <p:cNvSpPr>
            <a:spLocks noGrp="1"/>
          </p:cNvSpPr>
          <p:nvPr>
            <p:ph type="sldNum" sz="quarter" idx="10"/>
          </p:nvPr>
        </p:nvSpPr>
        <p:spPr/>
        <p:txBody>
          <a:bodyPr/>
          <a:lstStyle/>
          <a:p>
            <a:fld id="{F7021451-1387-4CA6-816F-3879F97B5CBC}" type="slidenum">
              <a:rPr lang="de-DE"/>
              <a:t>11</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Vor dem Posten Hintergrund, Ort, andere Personen und private Daten prüfen.</a:t>
            </a:r>
          </a:p>
          <a:p>
            <a:r>
              <a:rPr lang="de-DE" b="1" sz="1100"/>
              <a:t>Methode: </a:t>
            </a:r>
            <a:r>
              <a:rPr lang="de-DE" sz="1100"/>
              <a:t>Prüffragen durchgehen; Paar-Gespräch: Was würdest du ändern?</a:t>
            </a:r>
          </a:p>
          <a:p>
            <a:r>
              <a:rPr lang="de-DE" b="1" sz="1100"/>
              <a:t>Sozialform: </a:t>
            </a:r>
            <a:r>
              <a:rPr lang="de-DE" sz="1100"/>
              <a:t>Paare, Plenum</a:t>
            </a:r>
          </a:p>
          <a:p>
            <a:r>
              <a:rPr lang="de-DE" b="1" sz="1100"/>
              <a:t>Zeit: </a:t>
            </a:r>
            <a:r>
              <a:rPr lang="de-DE" sz="1100"/>
              <a:t>ca. 4 Min</a:t>
            </a:r>
          </a:p>
          <a:p>
            <a:r>
              <a:rPr lang="de-DE" b="1" sz="1100"/>
              <a:t>Material: </a:t>
            </a:r>
            <a:r>
              <a:rPr lang="de-DE" sz="1100"/>
              <a:t>Beamer</a:t>
            </a:r>
          </a:p>
          <a:p>
            <a:r>
              <a:rPr lang="de-DE" b="1" sz="1100"/>
              <a:t>Hinweis: </a:t>
            </a:r>
            <a:r>
              <a:rPr lang="de-DE" sz="1100"/>
              <a:t>Andere Personen im Video vorher fragen (Recht am eigenen Bild). Der Ort ist oft schon am Hintergrund zu erkennen – eine ausgeschaltete Standort-Freigabe allein schützt nicht. Keine Videos von Teilnehmenden aufnehmen oder zeigen.</a:t>
            </a:r>
          </a:p>
          <a:p>
            <a:r>
              <a:rPr lang="de-DE" b="1" sz="1100"/>
              <a:t>Bildvorschlag: </a:t>
            </a:r>
            <a:r>
              <a:rPr lang="de-DE" sz="1100"/>
              <a:t>Eigenes Bild: ein Video-Bild mit markiertem Straßen-Schild und Klingelschild. Funktion: Suchaufgabe zum Hintergrund.</a:t>
            </a:r>
          </a:p>
          <a:p>
            <a:r>
              <a:rPr lang="de-DE" b="1" sz="1100"/>
              <a:t>Lernplattform: </a:t>
            </a:r>
            <a:r>
              <a:rPr lang="de-DE" sz="1100"/>
              <a:t>TikTok L5, Quiz Frage 4; Thema Datenschutz.</a:t>
            </a:r>
          </a:p>
        </p:txBody>
      </p:sp>
      <p:sp>
        <p:nvSpPr>
          <p:cNvPr id="4" name="Slide Number Placeholder 3"/>
          <p:cNvSpPr>
            <a:spLocks noGrp="1"/>
          </p:cNvSpPr>
          <p:nvPr>
            <p:ph type="sldNum" sz="quarter" idx="10"/>
          </p:nvPr>
        </p:nvSpPr>
        <p:spPr/>
        <p:txBody>
          <a:bodyPr/>
          <a:lstStyle/>
          <a:p>
            <a:fld id="{F7021451-1387-4CA6-816F-3879F97B5CBC}" type="slidenum">
              <a:rPr lang="de-DE"/>
              <a:t>12</a:t>
            </a:fld>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Merksatz „Erst prüfen. Dann teilen.“ nennen und anwenden.</a:t>
            </a:r>
          </a:p>
          <a:p>
            <a:r>
              <a:rPr lang="de-DE" b="1" sz="1100"/>
              <a:t>Methode: </a:t>
            </a:r>
            <a:r>
              <a:rPr lang="de-DE" sz="1100"/>
              <a:t>Merksatz gemeinsam sprechen.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Merksatz zwei- bis dreimal gemeinsam wiederholen. Auf der Lernplattform heißt es in Quizfrage 10 nur „Erst prüfen.“ – inhaltlich dasselbe.</a:t>
            </a:r>
          </a:p>
          <a:p>
            <a:r>
              <a:rPr lang="de-DE" b="1" sz="1100"/>
              <a:t>Bildvorschlag: </a:t>
            </a:r>
            <a:r>
              <a:rPr lang="de-DE" sz="1100"/>
              <a:t>Eigenes Bild: Person schaut ihr Video noch einmal an und postet es erst dann. Funktion: die Handlung „erst prüfen“ zeigen.</a:t>
            </a:r>
          </a:p>
          <a:p>
            <a:r>
              <a:rPr lang="de-DE" b="1" sz="1100"/>
              <a:t>Lernplattform: </a:t>
            </a:r>
            <a:r>
              <a:rPr lang="de-DE" sz="1100"/>
              <a:t>TikTok Quiz Frage 10; Merk-Karte.</a:t>
            </a:r>
          </a:p>
        </p:txBody>
      </p:sp>
      <p:sp>
        <p:nvSpPr>
          <p:cNvPr id="4" name="Slide Number Placeholder 3"/>
          <p:cNvSpPr>
            <a:spLocks noGrp="1"/>
          </p:cNvSpPr>
          <p:nvPr>
            <p:ph type="sldNum" sz="quarter" idx="10"/>
          </p:nvPr>
        </p:nvSpPr>
        <p:spPr/>
        <p:txBody>
          <a:bodyPr/>
          <a:lstStyle/>
          <a:p>
            <a:fld id="{F7021451-1387-4CA6-816F-3879F97B5CBC}" type="slidenum">
              <a:rPr lang="de-DE"/>
              <a:t>13</a:t>
            </a:fld>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3: Trends und Druck.</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Bei TikTok machen viele Menschen dasselbe nach. Und manche wollen etwas von dir.</a:t>
            </a:r>
          </a:p>
        </p:txBody>
      </p:sp>
      <p:sp>
        <p:nvSpPr>
          <p:cNvPr id="4" name="Slide Number Placeholder 3"/>
          <p:cNvSpPr>
            <a:spLocks noGrp="1"/>
          </p:cNvSpPr>
          <p:nvPr>
            <p:ph type="sldNum" sz="quarter" idx="10"/>
          </p:nvPr>
        </p:nvSpPr>
        <p:spPr/>
        <p:txBody>
          <a:bodyPr/>
          <a:lstStyle/>
          <a:p>
            <a:fld id="{F7021451-1387-4CA6-816F-3879F97B5CBC}" type="slidenum">
              <a:rPr lang="de-DE"/>
              <a:t>14</a:t>
            </a:fld>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Selbstbestimmt entscheiden: Ich muss bei keinem Trend mitmachen.</a:t>
            </a:r>
          </a:p>
          <a:p>
            <a:r>
              <a:rPr lang="de-DE" b="1" sz="1100"/>
              <a:t>Methode: </a:t>
            </a:r>
            <a:r>
              <a:rPr lang="de-DE" sz="1100"/>
              <a:t>Lehrgespräch mit den zwei Prüffragen; Bezug zur Trend-Ampel von Folie 5.</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Das Wort Challenge einmal erklären: Eine Challenge ist ein Trend zum Mitmachen. Keine Anleitung geben, keine Videos zeigen. Gruppendruck ernst nehmen: Viele machen mit, das macht es nicht sicher. Wichtig ist der Satz: Du entscheidest. Bei Unsicherheit vorher mit einer vertrauten Person sprechen.</a:t>
            </a:r>
          </a:p>
          <a:p>
            <a:r>
              <a:rPr lang="de-DE" b="1" sz="1100"/>
              <a:t>Bildvorschlag: </a:t>
            </a:r>
            <a:r>
              <a:rPr lang="de-DE" sz="1100"/>
              <a:t>Eigenes Bild: Person schaut einen Trend an und macht nicht mit. Funktion: Nicht-Mitmachen als starke Entscheidung zeigen. Keine verletzende Darstellung.</a:t>
            </a:r>
          </a:p>
          <a:p>
            <a:r>
              <a:rPr lang="de-DE" b="1" sz="1100"/>
              <a:t>Lernplattform: </a:t>
            </a:r>
            <a:r>
              <a:rPr lang="de-DE" sz="1100"/>
              <a:t>TikTok L1 und L2, Quiz Frage 1 und 7; Merksatz: Ich muss nicht bei jedem Trend mitmachen.</a:t>
            </a:r>
          </a:p>
        </p:txBody>
      </p:sp>
      <p:sp>
        <p:nvSpPr>
          <p:cNvPr id="4" name="Slide Number Placeholder 3"/>
          <p:cNvSpPr>
            <a:spLocks noGrp="1"/>
          </p:cNvSpPr>
          <p:nvPr>
            <p:ph type="sldNum" sz="quarter" idx="10"/>
          </p:nvPr>
        </p:nvSpPr>
        <p:spPr/>
        <p:txBody>
          <a:bodyPr/>
          <a:lstStyle/>
          <a:p>
            <a:fld id="{F7021451-1387-4CA6-816F-3879F97B5CBC}" type="slidenum">
              <a:rPr lang="de-DE"/>
              <a:t>15</a:t>
            </a:fld>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Warnzeichen in Nachrichten und Videos erkennen.</a:t>
            </a:r>
          </a:p>
          <a:p>
            <a:r>
              <a:rPr lang="de-DE" b="1" sz="1100"/>
              <a:t>Methode: </a:t>
            </a:r>
            <a:r>
              <a:rPr lang="de-DE" sz="1100"/>
              <a:t>Lehrgespräch mit erfundenem Fallbeispiel.</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Erfundene Beispiele nutzen. Beim Punkt Geld ergänzen: Geschenke im LIVE kosten echtes Geld. Beim Punkt Treffen ruhig bleiben und klar sagen: Niemand muss ein Treffen ausmachen; bei Geheimhaltung erst recht nicht. Auf Reaktionen achten; bei Hinweisen auf eigene Betroffenheit Einzelgespräch in der Pause anbieten, Schutzauftrag beachten.</a:t>
            </a:r>
          </a:p>
          <a:p>
            <a:r>
              <a:rPr lang="de-DE" b="1" sz="1100"/>
              <a:t>Lernplattform: </a:t>
            </a:r>
            <a:r>
              <a:rPr lang="de-DE" sz="1100"/>
              <a:t>TikTok L4 (Private Nachrichten), Quiz Frage 3 und 8; Themen Online-Betrug und Hilfe bei Problemen.</a:t>
            </a:r>
          </a:p>
        </p:txBody>
      </p:sp>
      <p:sp>
        <p:nvSpPr>
          <p:cNvPr id="4" name="Slide Number Placeholder 3"/>
          <p:cNvSpPr>
            <a:spLocks noGrp="1"/>
          </p:cNvSpPr>
          <p:nvPr>
            <p:ph type="sldNum" sz="quarter" idx="10"/>
          </p:nvPr>
        </p:nvSpPr>
        <p:spPr/>
        <p:txBody>
          <a:bodyPr/>
          <a:lstStyle/>
          <a:p>
            <a:fld id="{F7021451-1387-4CA6-816F-3879F97B5CBC}" type="slidenum">
              <a:rPr lang="de-DE"/>
              <a:t>16</a:t>
            </a:fld>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eigenen Plan nennen: Stopp machen. Nicht sofort antworten. Zeigen.</a:t>
            </a:r>
          </a:p>
          <a:p>
            <a:r>
              <a:rPr lang="de-DE" b="1" sz="1100"/>
              <a:t>Methode: </a:t>
            </a:r>
            <a:r>
              <a:rPr lang="de-DE" sz="1100"/>
              <a:t>Merksatz gemeinsam sprechen, kurz vormachen.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Der Plan gilt für Nachrichten, Geschenke, Trends und Links. Auf der Lernplattform steht dazu: Ich mache Pause. Ich hole Unterstützung. Zeigen ist kein Petzen, sondern Schutz.</a:t>
            </a:r>
          </a:p>
          <a:p>
            <a:r>
              <a:rPr lang="de-DE" b="1" sz="1100"/>
              <a:t>Bildvorschlag: </a:t>
            </a:r>
            <a:r>
              <a:rPr lang="de-DE" sz="1100"/>
              <a:t>Eigenes Bild: Person zeigt ihr Handy einer vertrauten Person, beide ruhig. Funktion: „Zeigen“ als normale, starke Handlung darstellen.</a:t>
            </a:r>
          </a:p>
          <a:p>
            <a:r>
              <a:rPr lang="de-DE" b="1" sz="1100"/>
              <a:t>Lernplattform: </a:t>
            </a:r>
            <a:r>
              <a:rPr lang="de-DE" sz="1100"/>
              <a:t>TikTok L9 (Was kann ich tun?); Thema Hilfe bei Problemen: Stopp-Regel.</a:t>
            </a:r>
          </a:p>
        </p:txBody>
      </p:sp>
      <p:sp>
        <p:nvSpPr>
          <p:cNvPr id="4" name="Slide Number Placeholder 3"/>
          <p:cNvSpPr>
            <a:spLocks noGrp="1"/>
          </p:cNvSpPr>
          <p:nvPr>
            <p:ph type="sldNum" sz="quarter" idx="10"/>
          </p:nvPr>
        </p:nvSpPr>
        <p:spPr/>
        <p:txBody>
          <a:bodyPr/>
          <a:lstStyle/>
          <a:p>
            <a:fld id="{F7021451-1387-4CA6-816F-3879F97B5CBC}" type="slidenum">
              <a:rPr lang="de-DE"/>
              <a:t>17</a:t>
            </a:fld>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4: Wenn etwas nicht gut tut.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tut etwas weh, das andere schreiben. Und manchmal tut das lange Schauen nicht gut.</a:t>
            </a:r>
          </a:p>
        </p:txBody>
      </p:sp>
      <p:sp>
        <p:nvSpPr>
          <p:cNvPr id="4" name="Slide Number Placeholder 3"/>
          <p:cNvSpPr>
            <a:spLocks noGrp="1"/>
          </p:cNvSpPr>
          <p:nvPr>
            <p:ph type="sldNum" sz="quarter" idx="10"/>
          </p:nvPr>
        </p:nvSpPr>
        <p:spPr/>
        <p:txBody>
          <a:bodyPr/>
          <a:lstStyle/>
          <a:p>
            <a:fld id="{F7021451-1387-4CA6-816F-3879F97B5CBC}" type="slidenum">
              <a:rPr lang="de-DE"/>
              <a:t>18</a:t>
            </a:fld>
            <a:endParaRPr 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Verletzende Kommentare sind nicht meine Schuld; ich muss nicht antworten.</a:t>
            </a:r>
          </a:p>
          <a:p>
            <a:r>
              <a:rPr lang="de-DE" b="1" sz="1100"/>
              <a:t>Methode: </a:t>
            </a:r>
            <a:r>
              <a:rPr lang="de-DE" sz="1100"/>
              <a:t>Lehrgespräch, Gefühle anerkennen.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Wichtigste Botschaft: Das ist nicht deine Schuld. Niemand muss eigene Erfahrungen erzählen. Begriff „verletzende Kommentare“ statt „Mobbing“ – Mobbing heißt: immer wieder und gezielt.</a:t>
            </a:r>
          </a:p>
          <a:p>
            <a:r>
              <a:rPr lang="de-DE" b="1" sz="1100"/>
              <a:t>Bildvorschlag: </a:t>
            </a:r>
            <a:r>
              <a:rPr lang="de-DE" sz="1100"/>
              <a:t>Eigenes Bild: Person liest einen Kommentar, legt das Handy weg und atmet durch. Funktion: ruhige, selbstbestimmte Reaktion zeigen.</a:t>
            </a:r>
          </a:p>
          <a:p>
            <a:r>
              <a:rPr lang="de-DE" b="1" sz="1100"/>
              <a:t>Lernplattform: </a:t>
            </a:r>
            <a:r>
              <a:rPr lang="de-DE" sz="1100"/>
              <a:t>TikTok L6 (Kommentare), Quiz Frage 5.</a:t>
            </a:r>
          </a:p>
        </p:txBody>
      </p:sp>
      <p:sp>
        <p:nvSpPr>
          <p:cNvPr id="4" name="Slide Number Placeholder 3"/>
          <p:cNvSpPr>
            <a:spLocks noGrp="1"/>
          </p:cNvSpPr>
          <p:nvPr>
            <p:ph type="sldNum" sz="quarter" idx="10"/>
          </p:nvPr>
        </p:nvSpPr>
        <p:spPr/>
        <p:txBody>
          <a:bodyPr/>
          <a:lstStyle/>
          <a:p>
            <a:fld id="{F7021451-1387-4CA6-816F-3879F97B5CBC}" type="slidenum">
              <a:rPr lang="de-DE"/>
              <a:t>19</a:t>
            </a:fld>
            <a:endParaRPr lang="de-D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Vier Schritte kennen: zeigen, blockieren, melden, Hilfe holen.</a:t>
            </a:r>
          </a:p>
          <a:p>
            <a:r>
              <a:rPr lang="de-DE" b="1" sz="1100"/>
              <a:t>Methode: </a:t>
            </a:r>
            <a:r>
              <a:rPr lang="de-DE" sz="1100"/>
              <a:t>Lehrgespräch; Blockieren und Melden in der Praxis nur zeigen.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Zeigen heißt auch: den Kommentar nicht sofort löschen – er kann ein Beweis sein. Blockieren wirkt nur für dieses Profil. Das ehrlich sagen. Blockieren und Melden werden nach der Pause auf der Praxis-Seite gezeigt, nicht an echten Kontakten ausprobiert.</a:t>
            </a:r>
          </a:p>
          <a:p>
            <a:r>
              <a:rPr lang="de-DE" b="1" sz="1100"/>
              <a:t>Lernplattform: </a:t>
            </a:r>
            <a:r>
              <a:rPr lang="de-DE" sz="1100"/>
              <a:t>TikTok L9 (Stichpunkte); Thema Hilfe bei Problemen: Nicht sofort löschen; Praxis-Seite: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20</a:t>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Sog der App erkennen und sagen: Ich darf aufhören und Pause machen.</a:t>
            </a:r>
          </a:p>
          <a:p>
            <a:r>
              <a:rPr lang="de-DE" b="1" sz="1100"/>
              <a:t>Methode: </a:t>
            </a:r>
            <a:r>
              <a:rPr lang="de-DE" sz="1100"/>
              <a:t>Lehrgespräch; Timer als Idee vorstellen.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Sachlich bleiben, keine Vorwürfe und keine Wörter wie süchtig. Botschaft: Die App ist dafür gemacht, dass du lange bleibst. Ein Timer in der Uhr-App hilft – das ist in der Praxis eine freiwillige Aufgabe. Wenn Videos traurig oder nervös machen: zumachen und mit jemandem sprechen. Bei belastenden Inhalten Einzelgespräch anbieten.</a:t>
            </a:r>
          </a:p>
          <a:p>
            <a:r>
              <a:rPr lang="de-DE" b="1" sz="1100"/>
              <a:t>Bildvorschlag: </a:t>
            </a:r>
            <a:r>
              <a:rPr lang="de-DE" sz="1100"/>
              <a:t>Eigenes Bild: Person legt das Handy weg, eine Uhr zeigt die vergangene Zeit. Funktion: Zeitgefühl sichtbar machen.</a:t>
            </a:r>
          </a:p>
          <a:p>
            <a:r>
              <a:rPr lang="de-DE" b="1" sz="1100"/>
              <a:t>Lernplattform: </a:t>
            </a:r>
            <a:r>
              <a:rPr lang="de-DE" sz="1100"/>
              <a:t>TikTok L3 (Ähnliche Videos), L7 (Gefühle und Pausen), Quiz Frage 2 und 9; Kurz-Modus „Pause machen“.</a:t>
            </a:r>
          </a:p>
        </p:txBody>
      </p:sp>
      <p:sp>
        <p:nvSpPr>
          <p:cNvPr id="4" name="Slide Number Placeholder 3"/>
          <p:cNvSpPr>
            <a:spLocks noGrp="1"/>
          </p:cNvSpPr>
          <p:nvPr>
            <p:ph type="sldNum" sz="quarter" idx="10"/>
          </p:nvPr>
        </p:nvSpPr>
        <p:spPr/>
        <p:txBody>
          <a:bodyPr/>
          <a:lstStyle/>
          <a:p>
            <a:fld id="{F7021451-1387-4CA6-816F-3879F97B5CBC}" type="slidenum">
              <a:rPr lang="de-DE"/>
              <a:t>21</a:t>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vertraute Personen und Ansprechpersonen vor Ort benennen können.</a:t>
            </a:r>
          </a:p>
          <a:p>
            <a:r>
              <a:rPr lang="de-DE" b="1" sz="1100"/>
              <a:t>Methode: </a:t>
            </a:r>
            <a:r>
              <a:rPr lang="de-DE" sz="1100"/>
              <a:t>Sammeln im Plenum; Karte zeigen.</a:t>
            </a:r>
          </a:p>
          <a:p>
            <a:r>
              <a:rPr lang="de-DE" b="1" sz="1100"/>
              <a:t>Sozialform: </a:t>
            </a:r>
            <a:r>
              <a:rPr lang="de-DE" sz="1100"/>
              <a:t>Plenum</a:t>
            </a:r>
          </a:p>
          <a:p>
            <a:r>
              <a:rPr lang="de-DE" b="1" sz="1100"/>
              <a:t>Zeit: </a:t>
            </a:r>
            <a:r>
              <a:rPr lang="de-DE" sz="1100"/>
              <a:t>ca. 1 Min</a:t>
            </a:r>
          </a:p>
          <a:p>
            <a:r>
              <a:rPr lang="de-DE" b="1" sz="1100"/>
              <a:t>Material: </a:t>
            </a:r>
            <a:r>
              <a:rPr lang="de-DE" sz="1100"/>
              <a:t>Hilfe-Karte für jede Person, Stifte</a:t>
            </a:r>
          </a:p>
          <a:p>
            <a:r>
              <a:rPr lang="de-DE" b="1" sz="1100"/>
              <a:t>Hinweis: </a:t>
            </a:r>
            <a:r>
              <a:rPr lang="de-DE" sz="1100"/>
              <a:t>Hilfe holen ist stark, nicht peinlich. Die Hilfe-Karte austeilen: Die Vorderseite mit den Ansprechpersonen vor Ort ist vorher ausgefüllt. Die Rückseite füllt jede Person freiwillig selbst aus – auch später zu Hause. Die Karte bleibt bei der Person.</a:t>
            </a:r>
          </a:p>
          <a:p>
            <a:r>
              <a:rPr lang="de-DE" b="1" sz="1100"/>
              <a:t>Bildvorschlag: </a:t>
            </a:r>
            <a:r>
              <a:rPr lang="de-DE" sz="1100"/>
              <a:t>PFLICHT VOR DEM PRAXISTEST. Kein Bild, sondern die gemeinsame Hilfe-Karte (gemeinsam/HILFE-KARTE.md) mit ausgefüllter Vorderseite.</a:t>
            </a:r>
          </a:p>
          <a:p>
            <a:r>
              <a:rPr lang="de-DE" b="1" sz="1100"/>
              <a:t>Lernplattform: </a:t>
            </a:r>
            <a:r>
              <a:rPr lang="de-DE" sz="1100"/>
              <a:t>Thema Hilfe bei Problemen: Vertraute Personen (L6), Externe Hilfe (L7).</a:t>
            </a:r>
          </a:p>
        </p:txBody>
      </p:sp>
      <p:sp>
        <p:nvSpPr>
          <p:cNvPr id="4" name="Slide Number Placeholder 3"/>
          <p:cNvSpPr>
            <a:spLocks noGrp="1"/>
          </p:cNvSpPr>
          <p:nvPr>
            <p:ph type="sldNum" sz="quarter" idx="10"/>
          </p:nvPr>
        </p:nvSpPr>
        <p:spPr/>
        <p:txBody>
          <a:bodyPr/>
          <a:lstStyle/>
          <a:p>
            <a:fld id="{F7021451-1387-4CA6-816F-3879F97B5CBC}" type="slidenum">
              <a:rPr lang="de-DE"/>
              <a:t>22</a:t>
            </a:fld>
            <a:endParaRPr lang="de-D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Erholung; Zeit für Einzelgespräche.</a:t>
            </a:r>
          </a:p>
          <a:p>
            <a:r>
              <a:rPr lang="de-DE" b="1" sz="1100"/>
              <a:t>Methode: </a:t>
            </a:r>
            <a:r>
              <a:rPr lang="de-DE" sz="1100"/>
              <a:t>Pause.</a:t>
            </a:r>
          </a:p>
          <a:p>
            <a:r>
              <a:rPr lang="de-DE" b="1" sz="1100"/>
              <a:t>Sozialform: </a:t>
            </a:r>
            <a:r>
              <a:rPr lang="de-DE" sz="1100"/>
              <a:t>–</a:t>
            </a:r>
          </a:p>
          <a:p>
            <a:r>
              <a:rPr lang="de-DE" b="1" sz="1100"/>
              <a:t>Zeit: </a:t>
            </a:r>
            <a:r>
              <a:rPr lang="de-DE" sz="1100"/>
              <a:t>ca. 10 Min</a:t>
            </a:r>
          </a:p>
          <a:p>
            <a:r>
              <a:rPr lang="de-DE" b="1" sz="1100"/>
              <a:t>Material: </a:t>
            </a:r>
            <a:r>
              <a:rPr lang="de-DE" sz="1100"/>
              <a:t>Getränke</a:t>
            </a:r>
          </a:p>
          <a:p>
            <a:r>
              <a:rPr lang="de-DE" b="1" sz="1100"/>
              <a:t>Hinweis: </a:t>
            </a:r>
            <a:r>
              <a:rPr lang="de-DE" sz="1100"/>
              <a:t>Uhrzeit nennen, wann es weitergeht. Für Einzelgespräche erreichbar sein. In der Pause Geräte laden, WLAN klären, Praxis-Seite am Beamer öffnen.</a:t>
            </a:r>
          </a:p>
        </p:txBody>
      </p:sp>
      <p:sp>
        <p:nvSpPr>
          <p:cNvPr id="4" name="Slide Number Placeholder 3"/>
          <p:cNvSpPr>
            <a:spLocks noGrp="1"/>
          </p:cNvSpPr>
          <p:nvPr>
            <p:ph type="sldNum" sz="quarter" idx="10"/>
          </p:nvPr>
        </p:nvSpPr>
        <p:spPr/>
        <p:txBody>
          <a:bodyPr/>
          <a:lstStyle/>
          <a:p>
            <a:fld id="{F7021451-1387-4CA6-816F-3879F97B5CBC}" type="slidenum">
              <a:rPr lang="de-DE"/>
              <a:t>23</a:t>
            </a:fld>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in den Praxis-Teil: vom Wissen zum eigenen Tun.</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Ankündigen: Jetzt stellen wir TikTok zusammen am eigenen Handy ein. Fehler sind erlaubt. Einstellungen lassen sich zurückstellen. Wer kein Konto hat, stellt einen Timer für die Pause – das ist genauso ein Erfolg.</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Praxis-Seite am eigenen Handy öffnen.</a:t>
            </a:r>
          </a:p>
          <a:p>
            <a:r>
              <a:rPr lang="de-DE" b="1" sz="1100"/>
              <a:t>Methode: </a:t>
            </a:r>
            <a:r>
              <a:rPr lang="de-DE" sz="1100"/>
              <a:t>Anleitung, QR-Code scannen.</a:t>
            </a:r>
          </a:p>
          <a:p>
            <a:r>
              <a:rPr lang="de-DE" b="1" sz="1100"/>
              <a:t>Sozialform: </a:t>
            </a:r>
            <a:r>
              <a:rPr lang="de-DE" sz="1100"/>
              <a:t>Einzeln mit Begleitung</a:t>
            </a:r>
          </a:p>
          <a:p>
            <a:r>
              <a:rPr lang="de-DE" b="1" sz="1100"/>
              <a:t>Zeit: </a:t>
            </a:r>
            <a:r>
              <a:rPr lang="de-DE" sz="1100"/>
              <a:t>ca. 2 Min</a:t>
            </a:r>
          </a:p>
          <a:p>
            <a:r>
              <a:rPr lang="de-DE" b="1" sz="1100"/>
              <a:t>Material: </a:t>
            </a:r>
            <a:r>
              <a:rPr lang="de-DE" sz="1100"/>
              <a:t>eigenes Handy, WLAN, QR-Code</a:t>
            </a:r>
          </a:p>
          <a:p>
            <a:r>
              <a:rPr lang="de-DE" b="1" sz="1100"/>
              <a:t>Hinweis: </a:t>
            </a:r>
            <a:r>
              <a:rPr lang="de-DE" sz="1100"/>
              <a:t>Der QR-Code ist der Hauptweg. Er wird vor dem Workshop getestet. Klappt das Scannen nicht: Die Begleitung öffnet die Seite auf dem Handy der Person oder zeigt sie am Beamer. Die volle Adresse steht unten im Feld Lernplattform und im Ausdruck dieses Leitfadens; sie wird nicht zum Abtippen an die Wand geworfen. Kein externer Kurz-Link-Dienst. Ohne Handy oder ohne Konto ist der Standardweg das Übungs-Handy „Trends und Zeit“ (#thema-tiktok:uebung) – erfundene Personen, kein Konto nötig. Im Workshop kein Konto anlegen.</a:t>
            </a:r>
          </a:p>
          <a:p>
            <a:r>
              <a:rPr lang="de-DE" b="1" sz="1100"/>
              <a:t>Lernplattform: </a:t>
            </a:r>
            <a:r>
              <a:rPr lang="de-DE" sz="1100"/>
              <a:t>Praxis-Seite alex-und-tilda.github.io/sicher-und-selbstbestimmt-im-internet/praxis/tiktok.html (Stand der Seite: Juni 2026 – vor dem Einsatz prüfen).</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Mindestens eine Einstellung selbst vornehmen: Konto auf privat stellen.</a:t>
            </a:r>
          </a:p>
          <a:p>
            <a:r>
              <a:rPr lang="de-DE" b="1" sz="1100"/>
              <a:t>Methode: </a:t>
            </a:r>
            <a:r>
              <a:rPr lang="de-DE" sz="1100"/>
              <a:t>Angeleitete Übung am Gerät; Tandem.</a:t>
            </a:r>
          </a:p>
          <a:p>
            <a:r>
              <a:rPr lang="de-DE" b="1" sz="1100"/>
              <a:t>Sozialform: </a:t>
            </a:r>
            <a:r>
              <a:rPr lang="de-DE" sz="1100"/>
              <a:t>Tandem, einzeln mit Begleitung</a:t>
            </a:r>
          </a:p>
          <a:p>
            <a:r>
              <a:rPr lang="de-DE" b="1" sz="1100"/>
              <a:t>Zeit: </a:t>
            </a:r>
            <a:r>
              <a:rPr lang="de-DE" sz="1100"/>
              <a:t>ca. 12 Min</a:t>
            </a:r>
          </a:p>
          <a:p>
            <a:r>
              <a:rPr lang="de-DE" b="1" sz="1100"/>
              <a:t>Material: </a:t>
            </a:r>
            <a:r>
              <a:rPr lang="de-DE" sz="1100"/>
              <a:t>eigenes Handy, Praxis-Seite, Beamer</a:t>
            </a:r>
          </a:p>
          <a:p>
            <a:r>
              <a:rPr lang="de-DE" b="1" sz="1100"/>
              <a:t>Hinweis: </a:t>
            </a:r>
            <a:r>
              <a:rPr lang="de-DE" sz="1100"/>
              <a:t>Mindestziel ist eine Einstellung: Konto auf privat. Wer das geschafft hat, ist fertig; das ausdrücklich sagen. Bis zu zwei weitere Aufgaben sind freiwillig: Wer darf kommentieren, und einen Timer für die Pause stellen. Wichtig für Menschen ohne TikTok-Konto: Für sie ist der Timer in der Uhr-App des Handys die Pflicht-Handlung – auf der Praxis-Seite gibt es dazu keinen Abschnitt, deshalb zeigt die Begleitung das an der Uhr-App. Die Praxis dauert 15 Minuten; die Zeit geht in Ruhe, Wiederholung und Einzelhilfe. Pro Aufgabe erst am Beamer zeigen, dann machen alle mit. Die Begleitung zeigt, die Person tippt. Keine Passwörter eingeben oder vorlesen. Menüwege stehen nur auf der Praxis-Seite; weicht die App ab: oben in den Einstellungen suchen. Blockieren und Melden nur zeigen. Erfolge abhaken. Die Praxis-Seite hat außerdem Wer darf dir schreiben, Duett und Stitch, Video-Downloads, Konto nicht vorschlagen und Aktivitätsstatus; diese Punkte sind nicht Teil dieses Workshops.</a:t>
            </a:r>
          </a:p>
          <a:p>
            <a:r>
              <a:rPr lang="de-DE" b="1" sz="1100"/>
              <a:t>Lernplattform: </a:t>
            </a:r>
            <a:r>
              <a:rPr lang="de-DE" sz="1100"/>
              <a:t>Praxis-Seite TikTok (Konto auf privat, Wer darf kommentieren, Wer darf dir schreiben, Blockieren, Melden). Ohne Handy oder Konto: Übungs-Handy „Trends und Zeit“ (#thema-tiktok:uebung).</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privates Konto.</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Zu Beginn sagen: Es gibt keine Noten. Jede Antwort hilft beim Gespräch. Tatsachen-Frage: Bei einem privaten Konto kommt erst eine Anfrage. Gesprächsimpuls: Wen lässt du folgen?</a:t>
            </a:r>
          </a:p>
          <a:p>
            <a:r>
              <a:rPr lang="de-DE" b="1" sz="1100"/>
              <a:t>Lernplattform: </a:t>
            </a:r>
            <a:r>
              <a:rPr lang="de-DE" sz="1100"/>
              <a:t>Praxis-Seite: Konto auf privat stellen; Übungs-Handy „Trends und Zeit“.</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Hintergrund prüfen.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A. Erst fragen: Warum? Dann auflösen. Keine Noten, kein Zeitdruck. Antwort C klingt nach Schutz, hilft aber nicht: Das Schild bleibt lesbar. Gesprächsimpuls: Was sieht man sonst noch im Hintergrund?</a:t>
            </a:r>
          </a:p>
          <a:p>
            <a:r>
              <a:rPr lang="de-DE" b="1" sz="1100"/>
              <a:t>Lernplattform: </a:t>
            </a:r>
            <a:r>
              <a:rPr lang="de-DE" sz="1100"/>
              <a:t>TikTok L5, Quiz Frage 4.</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gefährliche Trends.</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C. Erst fragen: Warum? Dann auflösen. Keine Noten, kein Zeitdruck. Keine weiteren Einzelheiten zum Trend nennen und keine Videos zeigen. Gesprächsimpuls: Wie fühlt es sich an, wenn alle mitmachen? Du entscheidest selbst.</a:t>
            </a:r>
          </a:p>
          <a:p>
            <a:r>
              <a:rPr lang="de-DE" b="1" sz="1100"/>
              <a:t>Lernplattform: </a:t>
            </a:r>
            <a:r>
              <a:rPr lang="de-DE" sz="1100"/>
              <a:t>TikTok L2, Quiz Frage 1; Übungs-Handy „Trends und Zeit“.</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Warnzeichen.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Warnzeichen benennen lassen: fremde Person, Geschenk, Adresse. Auch die halbe Adresse ist zu viel.</a:t>
            </a:r>
          </a:p>
          <a:p>
            <a:r>
              <a:rPr lang="de-DE" b="1" sz="1100"/>
              <a:t>Lernplattform: </a:t>
            </a:r>
            <a:r>
              <a:rPr lang="de-DE" sz="1100"/>
              <a:t>TikTok L4 (Private Nachrichten), Quiz Frage 3 und 8.</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Zeit und Gefühle.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2 Min</a:t>
            </a:r>
          </a:p>
          <a:p>
            <a:r>
              <a:rPr lang="de-DE" b="1" sz="1100"/>
              <a:t>Material: </a:t>
            </a:r>
            <a:r>
              <a:rPr lang="de-DE" sz="1100"/>
              <a:t>Antwortkarten A/B/C</a:t>
            </a:r>
          </a:p>
          <a:p>
            <a:r>
              <a:rPr lang="de-DE" b="1" sz="1100"/>
              <a:t>Hinweis: </a:t>
            </a:r>
            <a:r>
              <a:rPr lang="de-DE" sz="1100"/>
              <a:t>KERNFRAGE – wird immer gestellt. Passende Antwort: A. Erst fragen: Warum? Dann auflösen. Keine Noten, kein Zeitdruck. Nicht bewerten, wie lange jemand schaut. Sachlich erklären: TikTok zeigt immer mehr von dem, was dir gefällt. Ein Timer hilft. Gesprächsimpuls: Was hilft dir beim Aufhören?</a:t>
            </a:r>
          </a:p>
          <a:p>
            <a:r>
              <a:rPr lang="de-DE" b="1" sz="1100"/>
              <a:t>Lernplattform: </a:t>
            </a:r>
            <a:r>
              <a:rPr lang="de-DE" sz="1100"/>
              <a:t>TikTok L3 und L7, Quiz Frage 2 und 9; Kurz-Modus „Pause machen“.</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verletzende Kommentare.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B. Erst fragen: Warum? Dann auflösen. Keine Noten, kein Zeitdruck. Gesprächsimpuls: Das ist nicht deine Schuld. Zeigen heißt auch: nicht sofort löschen. Diese Reservefrage zuerst nehmen, wenn verletzende Kommentare in der Gruppe Thema waren.</a:t>
            </a:r>
          </a:p>
          <a:p>
            <a:r>
              <a:rPr lang="de-DE" b="1" sz="1100"/>
              <a:t>Lernplattform: </a:t>
            </a:r>
            <a:r>
              <a:rPr lang="de-DE" sz="1100"/>
              <a:t>TikTok L6 und L9, Quiz Frage 5.</a:t>
            </a:r>
          </a:p>
        </p:txBody>
      </p:sp>
      <p:sp>
        <p:nvSpPr>
          <p:cNvPr id="4" name="Slide Number Placeholder 3"/>
          <p:cNvSpPr>
            <a:spLocks noGrp="1"/>
          </p:cNvSpPr>
          <p:nvPr>
            <p:ph type="sldNum" sz="quarter" idx="10"/>
          </p:nvPr>
        </p:nvSpPr>
        <p:spPr/>
        <p:txBody>
          <a:bodyPr/>
          <a:lstStyle/>
          <a:p>
            <a:fld id="{F7021451-1387-4CA6-816F-3879F97B5CBC}" type="slidenum">
              <a:rPr lang="de-DE"/>
              <a:t>32</a:t>
            </a:fld>
            <a:endParaRPr lang="de-D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Fünf Merksätze wiederholen.</a:t>
            </a:r>
          </a:p>
          <a:p>
            <a:r>
              <a:rPr lang="de-DE" b="1" sz="1100"/>
              <a:t>Methode: </a:t>
            </a:r>
            <a:r>
              <a:rPr lang="de-DE" sz="1100"/>
              <a:t>Reihum vorlesen.</a:t>
            </a:r>
          </a:p>
          <a:p>
            <a:r>
              <a:rPr lang="de-DE" b="1" sz="1100"/>
              <a:t>Sozialform: </a:t>
            </a:r>
            <a:r>
              <a:rPr lang="de-DE" sz="1100"/>
              <a:t>Plenum</a:t>
            </a:r>
          </a:p>
          <a:p>
            <a:r>
              <a:rPr lang="de-DE" b="1" sz="1100"/>
              <a:t>Zeit: </a:t>
            </a:r>
            <a:r>
              <a:rPr lang="de-DE" sz="1100"/>
              <a:t>ca. 1 Min</a:t>
            </a:r>
          </a:p>
          <a:p>
            <a:r>
              <a:rPr lang="de-DE" b="1" sz="1100"/>
              <a:t>Material: </a:t>
            </a:r>
            <a:r>
              <a:rPr lang="de-DE" sz="1100"/>
              <a:t>gedruckte Merk-Karte TikTok der Lernplattform</a:t>
            </a:r>
          </a:p>
          <a:p>
            <a:r>
              <a:rPr lang="de-DE" b="1" sz="1100"/>
              <a:t>Hinweis: </a:t>
            </a:r>
            <a:r>
              <a:rPr lang="de-DE" sz="1100"/>
              <a:t>Merk-Karte austeilen. Die Merksätze passen inhaltlich zur Lernplattform (TikTok: Das merke ich mir), sind aber nicht wortgleich. Beim Austeilen sagen: Auf der Karte stehen die gleichen Regeln in anderen Worten.</a:t>
            </a:r>
          </a:p>
          <a:p>
            <a:r>
              <a:rPr lang="de-DE" b="1" sz="1100"/>
              <a:t>Lernplattform: </a:t>
            </a:r>
            <a:r>
              <a:rPr lang="de-DE" sz="1100"/>
              <a:t>Merk-Karte #thema-tiktok:merk; TikTok L10.</a:t>
            </a:r>
          </a:p>
        </p:txBody>
      </p:sp>
      <p:sp>
        <p:nvSpPr>
          <p:cNvPr id="4" name="Slide Number Placeholder 3"/>
          <p:cNvSpPr>
            <a:spLocks noGrp="1"/>
          </p:cNvSpPr>
          <p:nvPr>
            <p:ph type="sldNum" sz="quarter" idx="10"/>
          </p:nvPr>
        </p:nvSpPr>
        <p:spPr/>
        <p:txBody>
          <a:bodyPr/>
          <a:lstStyle/>
          <a:p>
            <a:fld id="{F7021451-1387-4CA6-816F-3879F97B5CBC}" type="slidenum">
              <a:rPr lang="de-DE"/>
              <a:t>33</a:t>
            </a:fld>
            <a:endParaRPr lang="de-D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wo das Thema zum Weiterüben liegt; die Seite öffnen können.</a:t>
            </a:r>
          </a:p>
          <a:p>
            <a:r>
              <a:rPr lang="de-DE" b="1" sz="1100"/>
              <a:t>Methode: </a:t>
            </a:r>
            <a:r>
              <a:rPr lang="de-DE" sz="1100"/>
              <a:t>QR-Code scannen, kurz zeigen.</a:t>
            </a:r>
          </a:p>
          <a:p>
            <a:r>
              <a:rPr lang="de-DE" b="1" sz="1100"/>
              <a:t>Sozialform: </a:t>
            </a:r>
            <a:r>
              <a:rPr lang="de-DE" sz="1100"/>
              <a:t>Plenum, einzeln</a:t>
            </a:r>
          </a:p>
          <a:p>
            <a:r>
              <a:rPr lang="de-DE" b="1" sz="1100"/>
              <a:t>Zeit: </a:t>
            </a:r>
            <a:r>
              <a:rPr lang="de-DE" sz="1100"/>
              <a:t>ca. 2 Min</a:t>
            </a:r>
          </a:p>
          <a:p>
            <a:r>
              <a:rPr lang="de-DE" b="1" sz="1100"/>
              <a:t>Material: </a:t>
            </a:r>
            <a:r>
              <a:rPr lang="de-DE" sz="1100"/>
              <a:t>eigenes Handy, QR-Code</a:t>
            </a:r>
          </a:p>
          <a:p>
            <a:r>
              <a:rPr lang="de-DE" b="1" sz="1100"/>
              <a:t>Hinweis: </a:t>
            </a:r>
            <a:r>
              <a:rPr lang="de-DE" sz="1100"/>
              <a:t>Der QR-Code ist der Hauptweg; die volle Adresse steht im Feld Lernplattform und im Ausdruck dieses Leitfadens, nicht klein auf der Folie. Zeigen: Sprache umstellen, Vorlesen, Kurz-Modus, Quiz, Merk-Karte und das Übungs-Handy. Vertiefung: ähnliche Videos (L3), Gefühle und Pausen (L7), gefälschte Videos mit KI (L8) und das Thema Fake News und KI-Fakes. Die Sprache lässt sich jederzeit umstellen. Vor dem Workshop an einem Gerät ohne gespeicherte Einstellungen testen, was der QR-Code zuerst zeigt. Zum Datenschutz nur das sagen, was auf der Datenschutz-Seite der Lernplattform steht (Stand Juni 2026): Die Seite fragt nicht nach dem Namen, es gibt kein Konto und keine Werbung; der Lernstand bleibt nur nach Zustimmung auf dem Gerät; beim Aufruf verarbeitet der Hoster GitHub Pages technisch nötige Daten wie die IP-Adresse.</a:t>
            </a:r>
          </a:p>
          <a:p>
            <a:r>
              <a:rPr lang="de-DE" b="1" sz="1100"/>
              <a:t>Lernplattform: </a:t>
            </a:r>
            <a:r>
              <a:rPr lang="de-DE" sz="1100"/>
              <a:t>alex-und-tilda.github.io/sicher-und-selbstbestimmt-im-internet/#thema-tiktok; weitere Einstiege: #thema-tiktok:kurz, #thema-tiktok:quiz, #thema-tiktok:merk, #thema-tiktok:uebung.</a:t>
            </a:r>
          </a:p>
        </p:txBody>
      </p:sp>
      <p:sp>
        <p:nvSpPr>
          <p:cNvPr id="4" name="Slide Number Placeholder 3"/>
          <p:cNvSpPr>
            <a:spLocks noGrp="1"/>
          </p:cNvSpPr>
          <p:nvPr>
            <p:ph type="sldNum" sz="quarter" idx="10"/>
          </p:nvPr>
        </p:nvSpPr>
        <p:spPr/>
        <p:txBody>
          <a:bodyPr/>
          <a:lstStyle/>
          <a:p>
            <a:fld id="{F7021451-1387-4CA6-816F-3879F97B5CBC}" type="slidenum">
              <a:rPr lang="de-DE"/>
              <a:t>34</a:t>
            </a:fld>
            <a:endParaRPr lang="de-D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Einen konkreten Schritt für den Alltag benennen.</a:t>
            </a:r>
          </a:p>
          <a:p>
            <a:r>
              <a:rPr lang="de-DE" b="1" sz="1100"/>
              <a:t>Methode: </a:t>
            </a:r>
            <a:r>
              <a:rPr lang="de-DE" sz="1100"/>
              <a:t>Satz gemeinsam sprechen; freiwillig sagen, wie lange die Pause sein soll.</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Nur dieser eine Schritt. Er ist fast wortgleich mit dem Transfer-Satz der Lernplattform: Achte heute auf die Zeit. Wie lange schaust du Videos? Mach dann eine Pause. Der Schritt passt auch für Menschen ohne eigenes Konto.</a:t>
            </a:r>
          </a:p>
          <a:p>
            <a:r>
              <a:rPr lang="de-DE" b="1" sz="1100"/>
              <a:t>Bildvorschlag: </a:t>
            </a:r>
            <a:r>
              <a:rPr lang="de-DE" sz="1100"/>
              <a:t>Eigenes Bild: Timer neben dem Handy, eine Person steht auf. Funktion: Erinnerungsbild, auch für einen Handzettel.</a:t>
            </a:r>
          </a:p>
          <a:p>
            <a:r>
              <a:rPr lang="de-DE" b="1" sz="1100"/>
              <a:t>Lernplattform: </a:t>
            </a:r>
            <a:r>
              <a:rPr lang="de-DE" sz="1100"/>
              <a:t>Transfer Thema TikTok: Achte heute auf die Zeit. Wie lange schaust du Videos? Mach dann eine Pause.</a:t>
            </a:r>
          </a:p>
        </p:txBody>
      </p:sp>
      <p:sp>
        <p:nvSpPr>
          <p:cNvPr id="4" name="Slide Number Placeholder 3"/>
          <p:cNvSpPr>
            <a:spLocks noGrp="1"/>
          </p:cNvSpPr>
          <p:nvPr>
            <p:ph type="sldNum" sz="quarter" idx="10"/>
          </p:nvPr>
        </p:nvSpPr>
        <p:spPr/>
        <p:txBody>
          <a:bodyPr/>
          <a:lstStyle/>
          <a:p>
            <a:fld id="{F7021451-1387-4CA6-816F-3879F97B5CBC}" type="slidenum">
              <a:rPr lang="de-DE"/>
              <a:t>35</a:t>
            </a:fld>
            <a:endParaRPr lang="de-D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Ermutigender Abschluss.</a:t>
            </a:r>
          </a:p>
          <a:p>
            <a:r>
              <a:rPr lang="de-DE" b="1" sz="1100"/>
              <a:t>Methode: </a:t>
            </a:r>
            <a:r>
              <a:rPr lang="de-DE" sz="1100"/>
              <a:t>Fragerunde.</a:t>
            </a:r>
          </a:p>
          <a:p>
            <a:r>
              <a:rPr lang="de-DE" b="1" sz="1100"/>
              <a:t>Sozialform: </a:t>
            </a:r>
            <a:r>
              <a:rPr lang="de-DE" sz="1100"/>
              <a:t>Plenum</a:t>
            </a:r>
          </a:p>
          <a:p>
            <a:r>
              <a:rPr lang="de-DE" b="1" sz="1100"/>
              <a:t>Zeit: </a:t>
            </a:r>
            <a:r>
              <a:rPr lang="de-DE" sz="1100"/>
              <a:t>ca. 1 Min</a:t>
            </a:r>
          </a:p>
          <a:p>
            <a:r>
              <a:rPr lang="de-DE" b="1" sz="1100"/>
              <a:t>Material: </a:t>
            </a:r>
            <a:r>
              <a:rPr lang="de-DE" sz="1100"/>
              <a:t>–</a:t>
            </a:r>
          </a:p>
          <a:p>
            <a:r>
              <a:rPr lang="de-DE" b="1" sz="1100"/>
              <a:t>Hinweis: </a:t>
            </a:r>
            <a:r>
              <a:rPr lang="de-DE" sz="1100"/>
              <a:t>Sachlich-ermutigend abschließen. Auf Einzelgespräche nach dem Workshop hinweisen. Optional: Einstiegsfrage von Folie 4 noch einmal stellen. Danach Beobachtungen datensparsam festhalten (Checkliste nach dem Workshop in REFERENZMODUL.md).</a:t>
            </a:r>
          </a:p>
        </p:txBody>
      </p:sp>
      <p:sp>
        <p:nvSpPr>
          <p:cNvPr id="4" name="Slide Number Placeholder 3"/>
          <p:cNvSpPr>
            <a:spLocks noGrp="1"/>
          </p:cNvSpPr>
          <p:nvPr>
            <p:ph type="sldNum" sz="quarter" idx="10"/>
          </p:nvPr>
        </p:nvSpPr>
        <p:spPr/>
        <p:txBody>
          <a:bodyPr/>
          <a:lstStyle/>
          <a:p>
            <a:fld id="{F7021451-1387-4CA6-816F-3879F97B5CBC}" type="slidenum">
              <a:rPr lang="de-DE"/>
              <a:t>36</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qr-praxis-tiktok.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qr-lernplattform-tiktok.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TikTok sicher und selbstbestimmt nutzen">
    <p:bg>
      <p:bgPr>
        <a:solidFill>
          <a:srgbClr val="00285A"/>
        </a:solidFill>
        <a:effectLst/>
      </p:bgPr>
    </p:bg>
    <p:spTree>
      <p:nvGrpSpPr>
        <p:cNvPr id="1" name=""/>
        <p:cNvGrpSpPr/>
        <p:nvPr/>
      </p:nvGrpSpPr>
      <p:grpSpPr>
        <a:xfrm>
          <a:off x="0" y="0"/>
          <a:ext cx="0" cy="0"/>
          <a:chOff x="0" y="0"/>
          <a:chExt cx="0" cy="0"/>
        </a:xfrm>
      </p:grpSpPr>
      <p:sp>
        <p:nvSpPr>
          <p:cNvPr id="2" name="Bild-Platzhalter 2"/>
          <p:cNvSpPr/>
          <p:nvPr/>
        </p:nvSpPr>
        <p:spPr>
          <a:xfrm>
            <a:off x="640080" y="540000"/>
            <a:ext cx="3200000" cy="1700000"/>
          </a:xfrm>
          <a:prstGeom prst="roundRect">
            <a:avLst>
              <a:gd name="adj" fmla="val 4000"/>
            </a:avLst>
          </a:prstGeom>
          <a:solidFill>
            <a:srgbClr val="0B3A6E"/>
          </a:solidFill>
          <a:ln w="19050">
            <a:solidFill>
              <a:srgbClr val="AAD1E3"/>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AAD1E3"/>
                </a:solidFill>
                <a:latin typeface="Arial" pitchFamily="34" charset="0"/>
                <a:ea typeface="Arial" pitchFamily="34" charset="-122"/>
                <a:cs typeface="Arial" pitchFamily="34" charset="-120"/>
              </a:rPr>
              <a:t>[BILD: Alex und Tilda begrüßen die Gruppe – eigene Figuren der Lernplattform]</a:t>
            </a:r>
          </a:p>
        </p:txBody>
      </p:sp>
      <p:sp>
        <p:nvSpPr>
          <p:cNvPr id="3" name="Text 3"/>
          <p:cNvSpPr/>
          <p:nvPr/>
        </p:nvSpPr>
        <p:spPr>
          <a:xfrm>
            <a:off x="640080" y="2423160"/>
            <a:ext cx="10972800" cy="1900000"/>
          </a:xfrm>
          <a:prstGeom prst="rect">
            <a:avLst/>
          </a:prstGeom>
          <a:noFill/>
          <a:ln>
            <a:noFill/>
          </a:ln>
        </p:spPr>
        <p:txBody>
          <a:bodyPr wrap="square" lIns="0" tIns="0" rIns="0" bIns="0" rtlCol="0" anchor="b">
            <a:noAutofit/>
          </a:bodyPr>
          <a:lstStyle/>
          <a:p>
            <a:pPr algn="l" indent="0" marL="0">
              <a:lnSpc>
                <a:spcPct val="95000"/>
              </a:lnSpc>
              <a:spcAft>
                <a:spcPts val="0"/>
              </a:spcAft>
              <a:buNone/>
            </a:pPr>
            <a:r>
              <a:rPr lang="de-DE" sz="4400" b="1" i="0" dirty="0">
                <a:solidFill>
                  <a:srgbClr val="FFFFFF"/>
                </a:solidFill>
                <a:latin typeface="Arial" pitchFamily="34" charset="0"/>
                <a:ea typeface="Arial" pitchFamily="34" charset="-122"/>
                <a:cs typeface="Arial" pitchFamily="34" charset="-120"/>
              </a:rPr>
              <a:t>TikTok sicher und selbstbestimmt nutzen</a:t>
            </a:r>
          </a:p>
        </p:txBody>
      </p:sp>
      <p:sp>
        <p:nvSpPr>
          <p:cNvPr id="4" name="Text 4"/>
          <p:cNvSpPr/>
          <p:nvPr/>
        </p:nvSpPr>
        <p:spPr>
          <a:xfrm>
            <a:off x="640080" y="4450000"/>
            <a:ext cx="10972800" cy="7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2800" b="0" i="0" dirty="0">
                <a:solidFill>
                  <a:srgbClr val="AAD1E3"/>
                </a:solidFill>
                <a:latin typeface="Arial" pitchFamily="34" charset="0"/>
                <a:ea typeface="Arial" pitchFamily="34" charset="-122"/>
                <a:cs typeface="Arial" pitchFamily="34" charset="-120"/>
              </a:rPr>
              <a:t>Mein Konto. Meine Videos. Meine Zeit.</a:t>
            </a:r>
          </a:p>
        </p:txBody>
      </p:sp>
      <p:sp>
        <p:nvSpPr>
          <p:cNvPr id="5" name="Text 5"/>
          <p:cNvSpPr/>
          <p:nvPr/>
        </p:nvSpPr>
        <p:spPr>
          <a:xfrm>
            <a:off x="640080" y="5349240"/>
            <a:ext cx="10972800" cy="82296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1900" b="1" i="0" dirty="0">
                <a:solidFill>
                  <a:srgbClr val="FFFFFF"/>
                </a:solidFill>
                <a:latin typeface="Arial" pitchFamily="34" charset="0"/>
                <a:ea typeface="Arial" pitchFamily="34" charset="-122"/>
                <a:cs typeface="Arial" pitchFamily="34" charset="-120"/>
              </a:rPr>
              <a:t>Alex und Tilda</a:t>
            </a:r>
          </a:p>
          <a:p>
            <a:pPr algn="l" indent="0" marL="0">
              <a:lnSpc>
                <a:spcPct val="100000"/>
              </a:lnSpc>
              <a:spcAft>
                <a:spcPts val="0"/>
              </a:spcAft>
              <a:buNone/>
            </a:pPr>
            <a:r>
              <a:rPr lang="de-DE" sz="1800" b="0" i="0" dirty="0">
                <a:solidFill>
                  <a:srgbClr val="AAD1E3"/>
                </a:solidFill>
                <a:latin typeface="Arial" pitchFamily="34" charset="0"/>
                <a:ea typeface="Arial" pitchFamily="34" charset="-122"/>
                <a:cs typeface="Arial" pitchFamily="34" charset="-120"/>
              </a:rPr>
              <a:t>Sicher und selbstbestimmt im Internet</a:t>
            </a:r>
          </a:p>
        </p:txBody>
      </p:sp>
      <p:sp>
        <p:nvSpPr>
          <p:cNvPr id="6" name="Text 6"/>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s machen wir heut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heute</a:t>
            </a:r>
          </a:p>
        </p:txBody>
      </p:sp>
      <p:sp>
        <p:nvSpPr>
          <p:cNvPr id="3" name="Zeile 3"/>
          <p:cNvSpPr/>
          <p:nvPr/>
        </p:nvSpPr>
        <p:spPr>
          <a:xfrm>
            <a:off x="640080" y="1600000"/>
            <a:ext cx="5300000" cy="8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2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524080" y="160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Mein Konto</a:t>
            </a:r>
          </a:p>
        </p:txBody>
      </p:sp>
      <p:sp>
        <p:nvSpPr>
          <p:cNvPr id="6" name="Zeile 6"/>
          <p:cNvSpPr/>
          <p:nvPr/>
        </p:nvSpPr>
        <p:spPr>
          <a:xfrm>
            <a:off x="640080" y="2570000"/>
            <a:ext cx="5300000" cy="8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69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524080" y="257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Was ich im Video zeige</a:t>
            </a:r>
          </a:p>
        </p:txBody>
      </p:sp>
      <p:sp>
        <p:nvSpPr>
          <p:cNvPr id="9" name="Zeile 9"/>
          <p:cNvSpPr/>
          <p:nvPr/>
        </p:nvSpPr>
        <p:spPr>
          <a:xfrm>
            <a:off x="640080" y="3540000"/>
            <a:ext cx="5300000" cy="8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66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524080" y="354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Trends und Druck</a:t>
            </a:r>
          </a:p>
        </p:txBody>
      </p:sp>
      <p:sp>
        <p:nvSpPr>
          <p:cNvPr id="12" name="Zeile 12"/>
          <p:cNvSpPr/>
          <p:nvPr/>
        </p:nvSpPr>
        <p:spPr>
          <a:xfrm>
            <a:off x="640080" y="4510000"/>
            <a:ext cx="5300000" cy="8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63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524080" y="451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Wenn etwas nicht gut tut</a:t>
            </a:r>
          </a:p>
        </p:txBody>
      </p:sp>
      <p:sp>
        <p:nvSpPr>
          <p:cNvPr id="15" name="Text 15"/>
          <p:cNvSpPr/>
          <p:nvPr/>
        </p:nvSpPr>
        <p:spPr>
          <a:xfrm>
            <a:off x="6250000" y="1600000"/>
            <a:ext cx="5300000" cy="820000"/>
          </a:xfrm>
          <a:prstGeom prst="roundRect">
            <a:avLst>
              <a:gd name="adj" fmla="val 12000"/>
            </a:avLst>
          </a:prstGeom>
          <a:solidFill>
            <a:srgbClr val="FFFFFF"/>
          </a:solidFill>
          <a:ln w="19050">
            <a:solidFill>
              <a:srgbClr val="AAD1E3"/>
            </a:solidFill>
            <a:prstDash val="solid"/>
          </a:ln>
        </p:spPr>
      </p:sp>
      <p:sp>
        <p:nvSpPr>
          <p:cNvPr id="16" name="Text 16"/>
          <p:cNvSpPr/>
          <p:nvPr/>
        </p:nvSpPr>
        <p:spPr>
          <a:xfrm>
            <a:off x="6450000" y="160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Pause</a:t>
            </a:r>
          </a:p>
        </p:txBody>
      </p:sp>
      <p:sp>
        <p:nvSpPr>
          <p:cNvPr id="17" name="Text 17"/>
          <p:cNvSpPr/>
          <p:nvPr/>
        </p:nvSpPr>
        <p:spPr>
          <a:xfrm>
            <a:off x="6250000" y="2570000"/>
            <a:ext cx="5300000" cy="820000"/>
          </a:xfrm>
          <a:prstGeom prst="roundRect">
            <a:avLst>
              <a:gd name="adj" fmla="val 12000"/>
            </a:avLst>
          </a:prstGeom>
          <a:solidFill>
            <a:srgbClr val="FFFFFF"/>
          </a:solidFill>
          <a:ln w="19050">
            <a:solidFill>
              <a:srgbClr val="AAD1E3"/>
            </a:solidFill>
            <a:prstDash val="solid"/>
          </a:ln>
        </p:spPr>
      </p:sp>
      <p:sp>
        <p:nvSpPr>
          <p:cNvPr id="18" name="Text 18"/>
          <p:cNvSpPr/>
          <p:nvPr/>
        </p:nvSpPr>
        <p:spPr>
          <a:xfrm>
            <a:off x="6450000" y="257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Praxis: Wir stellen ein</a:t>
            </a:r>
          </a:p>
        </p:txBody>
      </p:sp>
      <p:sp>
        <p:nvSpPr>
          <p:cNvPr id="19" name="Text 19"/>
          <p:cNvSpPr/>
          <p:nvPr/>
        </p:nvSpPr>
        <p:spPr>
          <a:xfrm>
            <a:off x="6250000" y="3540000"/>
            <a:ext cx="5300000" cy="820000"/>
          </a:xfrm>
          <a:prstGeom prst="roundRect">
            <a:avLst>
              <a:gd name="adj" fmla="val 12000"/>
            </a:avLst>
          </a:prstGeom>
          <a:solidFill>
            <a:srgbClr val="FFFFFF"/>
          </a:solidFill>
          <a:ln w="19050">
            <a:solidFill>
              <a:srgbClr val="AAD1E3"/>
            </a:solidFill>
            <a:prstDash val="solid"/>
          </a:ln>
        </p:spPr>
      </p:sp>
      <p:sp>
        <p:nvSpPr>
          <p:cNvPr id="20" name="Text 20"/>
          <p:cNvSpPr/>
          <p:nvPr/>
        </p:nvSpPr>
        <p:spPr>
          <a:xfrm>
            <a:off x="6450000" y="354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Quiz: Wir sprechen darüber</a:t>
            </a:r>
          </a:p>
        </p:txBody>
      </p:sp>
      <p:sp>
        <p:nvSpPr>
          <p:cNvPr id="21" name="Text 21"/>
          <p:cNvSpPr/>
          <p:nvPr/>
        </p:nvSpPr>
        <p:spPr>
          <a:xfrm>
            <a:off x="6250000" y="4510000"/>
            <a:ext cx="5300000" cy="820000"/>
          </a:xfrm>
          <a:prstGeom prst="roundRect">
            <a:avLst>
              <a:gd name="adj" fmla="val 12000"/>
            </a:avLst>
          </a:prstGeom>
          <a:solidFill>
            <a:srgbClr val="FFFFFF"/>
          </a:solidFill>
          <a:ln w="19050">
            <a:solidFill>
              <a:srgbClr val="AAD1E3"/>
            </a:solidFill>
            <a:prstDash val="solid"/>
          </a:ln>
        </p:spPr>
      </p:sp>
      <p:sp>
        <p:nvSpPr>
          <p:cNvPr id="22" name="Text 22"/>
          <p:cNvSpPr/>
          <p:nvPr/>
        </p:nvSpPr>
        <p:spPr>
          <a:xfrm>
            <a:off x="6450000" y="451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Lernplattform und eine Sache für heute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nsere Regel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Unsere Regeln</a:t>
            </a:r>
          </a:p>
        </p:txBody>
      </p:sp>
      <p:sp>
        <p:nvSpPr>
          <p:cNvPr id="3" name="Text 3"/>
          <p:cNvSpPr/>
          <p:nvPr/>
        </p:nvSpPr>
        <p:spPr>
          <a:xfrm>
            <a:off x="64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Jede Frage ist gut.</a:t>
            </a:r>
          </a:p>
        </p:txBody>
      </p:sp>
      <p:sp>
        <p:nvSpPr>
          <p:cNvPr id="4" name="Text 4"/>
          <p:cNvSpPr/>
          <p:nvPr/>
        </p:nvSpPr>
        <p:spPr>
          <a:xfrm>
            <a:off x="619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Fehler sind erlaubt.</a:t>
            </a:r>
          </a:p>
        </p:txBody>
      </p:sp>
      <p:sp>
        <p:nvSpPr>
          <p:cNvPr id="5" name="Text 5"/>
          <p:cNvSpPr/>
          <p:nvPr/>
        </p:nvSpPr>
        <p:spPr>
          <a:xfrm>
            <a:off x="64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hören einander zu.</a:t>
            </a:r>
          </a:p>
        </p:txBody>
      </p:sp>
      <p:sp>
        <p:nvSpPr>
          <p:cNvPr id="6" name="Text 6"/>
          <p:cNvSpPr/>
          <p:nvPr/>
        </p:nvSpPr>
        <p:spPr>
          <a:xfrm>
            <a:off x="619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Du musst nicht mitmachen.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ie sicher fühlst du dich bei TikTok?">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Wie sicher fühlst du dich bei TikTok?</a:t>
            </a:r>
          </a:p>
        </p:txBody>
      </p:sp>
      <p:sp>
        <p:nvSpPr>
          <p:cNvPr id="3" name="Text 3"/>
          <p:cNvSpPr/>
          <p:nvPr/>
        </p:nvSpPr>
        <p:spPr>
          <a:xfrm>
            <a:off x="6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4" name="Kreis 4"/>
          <p:cNvSpPr/>
          <p:nvPr/>
        </p:nvSpPr>
        <p:spPr>
          <a:xfrm>
            <a:off x="19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A</a:t>
            </a:r>
          </a:p>
        </p:txBody>
      </p:sp>
      <p:sp>
        <p:nvSpPr>
          <p:cNvPr id="5" name="Text 5"/>
          <p:cNvSpPr/>
          <p:nvPr/>
        </p:nvSpPr>
        <p:spPr>
          <a:xfrm>
            <a:off x="7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Noch nicht so sicher</a:t>
            </a:r>
          </a:p>
        </p:txBody>
      </p:sp>
      <p:sp>
        <p:nvSpPr>
          <p:cNvPr id="6" name="Text 6"/>
          <p:cNvSpPr/>
          <p:nvPr/>
        </p:nvSpPr>
        <p:spPr>
          <a:xfrm>
            <a:off x="43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7" name="Kreis 7"/>
          <p:cNvSpPr/>
          <p:nvPr/>
        </p:nvSpPr>
        <p:spPr>
          <a:xfrm>
            <a:off x="56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B</a:t>
            </a:r>
          </a:p>
        </p:txBody>
      </p:sp>
      <p:sp>
        <p:nvSpPr>
          <p:cNvPr id="8" name="Text 8"/>
          <p:cNvSpPr/>
          <p:nvPr/>
        </p:nvSpPr>
        <p:spPr>
          <a:xfrm>
            <a:off x="44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Ein bisschen sicher</a:t>
            </a:r>
          </a:p>
        </p:txBody>
      </p:sp>
      <p:sp>
        <p:nvSpPr>
          <p:cNvPr id="9" name="Text 9"/>
          <p:cNvSpPr/>
          <p:nvPr/>
        </p:nvSpPr>
        <p:spPr>
          <a:xfrm>
            <a:off x="80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0" name="Kreis 10"/>
          <p:cNvSpPr/>
          <p:nvPr/>
        </p:nvSpPr>
        <p:spPr>
          <a:xfrm>
            <a:off x="93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C</a:t>
            </a:r>
          </a:p>
        </p:txBody>
      </p:sp>
      <p:sp>
        <p:nvSpPr>
          <p:cNvPr id="11" name="Text 11"/>
          <p:cNvSpPr/>
          <p:nvPr/>
        </p:nvSpPr>
        <p:spPr>
          <a:xfrm>
            <a:off x="81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Schon ziemlich sicher</a:t>
            </a:r>
          </a:p>
        </p:txBody>
      </p:sp>
      <p:sp>
        <p:nvSpPr>
          <p:cNvPr id="12" name="Text 12"/>
          <p:cNvSpPr/>
          <p:nvPr/>
        </p:nvSpPr>
        <p:spPr>
          <a:xfrm>
            <a:off x="640080" y="5000000"/>
            <a:ext cx="10911840" cy="1200000"/>
          </a:xfrm>
          <a:prstGeom prst="rect">
            <a:avLst/>
          </a:prstGeom>
          <a:noFill/>
          <a:ln>
            <a:noFill/>
          </a:ln>
        </p:spPr>
        <p:txBody>
          <a:bodyPr wrap="square" lIns="0" tIns="0" rIns="0" bIns="0" rtlCol="0" anchor="ctr">
            <a:noAutofit/>
          </a:bodyPr>
          <a:lstStyle/>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Zeig es mit der Hand oder mit einer Karte.</a:t>
            </a:r>
          </a:p>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Es gibt keine falsche Antwort.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Lustig oder gefährlich?">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Lustig oder gefährlich?</a:t>
            </a:r>
          </a:p>
        </p:txBody>
      </p:sp>
      <p:sp>
        <p:nvSpPr>
          <p:cNvPr id="3" name="Bild-Platzhalter 3"/>
          <p:cNvSpPr/>
          <p:nvPr/>
        </p:nvSpPr>
        <p:spPr>
          <a:xfrm>
            <a:off x="640080" y="1600000"/>
            <a:ext cx="46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3 Karten mit erfundenen Trends. Zum Beispiel: ein Tanz, etwas sehr Scharfes essen, lange die Luft anhalten. Nur der Name, keine Anleitung.]</a:t>
            </a:r>
          </a:p>
        </p:txBody>
      </p:sp>
      <p:sp>
        <p:nvSpPr>
          <p:cNvPr id="4" name="Text 4"/>
          <p:cNvSpPr/>
          <p:nvPr/>
        </p:nvSpPr>
        <p:spPr>
          <a:xfrm>
            <a:off x="5550000" y="17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ist lustig.</a:t>
            </a:r>
          </a:p>
        </p:txBody>
      </p:sp>
      <p:sp>
        <p:nvSpPr>
          <p:cNvPr id="5" name="Text 5"/>
          <p:cNvSpPr/>
          <p:nvPr/>
        </p:nvSpPr>
        <p:spPr>
          <a:xfrm>
            <a:off x="5550000" y="285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ist gefährlich.</a:t>
            </a:r>
          </a:p>
        </p:txBody>
      </p:sp>
      <p:sp>
        <p:nvSpPr>
          <p:cNvPr id="6" name="Text 6"/>
          <p:cNvSpPr/>
          <p:nvPr/>
        </p:nvSpPr>
        <p:spPr>
          <a:xfrm>
            <a:off x="5550000" y="40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 bin ich unsicher.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ma 1: Mein Konto">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1</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1</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Mein Konto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iese Wörter brauchen wir">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Diese Wörter brauchen wir</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Text 4"/>
          <p:cNvSpPr/>
          <p:nvPr/>
        </p:nvSpPr>
        <p:spPr>
          <a:xfrm>
            <a:off x="840080" y="155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Video: </a:t>
            </a:r>
            <a:r>
              <a:rPr lang="de-DE" sz="2400" b="0" i="0" dirty="0">
                <a:solidFill>
                  <a:srgbClr val="1A1A1A"/>
                </a:solidFill>
                <a:latin typeface="Arial" pitchFamily="34" charset="0"/>
                <a:ea typeface="Arial" pitchFamily="34" charset="-122"/>
                <a:cs typeface="Arial" pitchFamily="34" charset="-120"/>
              </a:rPr>
              <a:t>Ein kurzes Video. Du schaust es oder machst selbst eins.</a:t>
            </a:r>
          </a:p>
        </p:txBody>
      </p:sp>
      <p:sp>
        <p:nvSpPr>
          <p:cNvPr id="5" name="Zeile 5"/>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6" name="Text 6"/>
          <p:cNvSpPr/>
          <p:nvPr/>
        </p:nvSpPr>
        <p:spPr>
          <a:xfrm>
            <a:off x="840080" y="244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Follower: </a:t>
            </a:r>
            <a:r>
              <a:rPr lang="de-DE" sz="2400" b="0" i="0" dirty="0">
                <a:solidFill>
                  <a:srgbClr val="1A1A1A"/>
                </a:solidFill>
                <a:latin typeface="Arial" pitchFamily="34" charset="0"/>
                <a:ea typeface="Arial" pitchFamily="34" charset="-122"/>
                <a:cs typeface="Arial" pitchFamily="34" charset="-120"/>
              </a:rPr>
              <a:t>Sie folgen dir. Sie sehen deine Videos.</a:t>
            </a:r>
          </a:p>
        </p:txBody>
      </p:sp>
      <p:sp>
        <p:nvSpPr>
          <p:cNvPr id="7" name="Zeile 7"/>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8" name="Text 8"/>
          <p:cNvSpPr/>
          <p:nvPr/>
        </p:nvSpPr>
        <p:spPr>
          <a:xfrm>
            <a:off x="840080" y="333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Freunde: </a:t>
            </a:r>
            <a:r>
              <a:rPr lang="de-DE" sz="2400" b="0" i="0" dirty="0">
                <a:solidFill>
                  <a:srgbClr val="1A1A1A"/>
                </a:solidFill>
                <a:latin typeface="Arial" pitchFamily="34" charset="0"/>
                <a:ea typeface="Arial" pitchFamily="34" charset="-122"/>
                <a:cs typeface="Arial" pitchFamily="34" charset="-120"/>
              </a:rPr>
              <a:t>Bei TikTok heißt das: Ihr folgt euch gegenseitig.</a:t>
            </a:r>
          </a:p>
        </p:txBody>
      </p:sp>
      <p:sp>
        <p:nvSpPr>
          <p:cNvPr id="9" name="Zeile 9"/>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0" name="Text 10"/>
          <p:cNvSpPr/>
          <p:nvPr/>
        </p:nvSpPr>
        <p:spPr>
          <a:xfrm>
            <a:off x="840080" y="422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Kommentar: </a:t>
            </a:r>
            <a:r>
              <a:rPr lang="de-DE" sz="2400" b="0" i="0" dirty="0">
                <a:solidFill>
                  <a:srgbClr val="1A1A1A"/>
                </a:solidFill>
                <a:latin typeface="Arial" pitchFamily="34" charset="0"/>
                <a:ea typeface="Arial" pitchFamily="34" charset="-122"/>
                <a:cs typeface="Arial" pitchFamily="34" charset="-120"/>
              </a:rPr>
              <a:t>Du schreibst etwas unter ein Video.</a:t>
            </a:r>
          </a:p>
        </p:txBody>
      </p:sp>
      <p:sp>
        <p:nvSpPr>
          <p:cNvPr id="11" name="Zeile 11"/>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2" name="Text 12"/>
          <p:cNvSpPr/>
          <p:nvPr/>
        </p:nvSpPr>
        <p:spPr>
          <a:xfrm>
            <a:off x="840080" y="511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Private Nachricht: </a:t>
            </a:r>
            <a:r>
              <a:rPr lang="de-DE" sz="2400" b="0" i="0" dirty="0">
                <a:solidFill>
                  <a:srgbClr val="1A1A1A"/>
                </a:solidFill>
                <a:latin typeface="Arial" pitchFamily="34" charset="0"/>
                <a:ea typeface="Arial" pitchFamily="34" charset="-122"/>
                <a:cs typeface="Arial" pitchFamily="34" charset="-120"/>
              </a:rPr>
              <a:t>Sie geht nur an dich. Oder an eine kleine Gruppe.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in Konto: privat oder öffentlich?">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Dein Konto: privat oder öffentlich?</a:t>
            </a:r>
          </a:p>
        </p:txBody>
      </p:sp>
      <p:sp>
        <p:nvSpPr>
          <p:cNvPr id="3" name="Text 3"/>
          <p:cNvSpPr/>
          <p:nvPr/>
        </p:nvSpPr>
        <p:spPr>
          <a:xfrm>
            <a:off x="640080" y="1600000"/>
            <a:ext cx="5240000" cy="4300000"/>
          </a:xfrm>
          <a:prstGeom prst="roundRect">
            <a:avLst>
              <a:gd name="adj" fmla="val 4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sp>
      <p:sp>
        <p:nvSpPr>
          <p:cNvPr id="4" name="Bild-Platzhalter 4"/>
          <p:cNvSpPr/>
          <p:nvPr/>
        </p:nvSpPr>
        <p:spPr>
          <a:xfrm>
            <a:off x="94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Profil mit Schloss. Eine Anfrage wartet.]</a:t>
            </a:r>
          </a:p>
        </p:txBody>
      </p:sp>
      <p:sp>
        <p:nvSpPr>
          <p:cNvPr id="5" name="Text 5"/>
          <p:cNvSpPr/>
          <p:nvPr/>
        </p:nvSpPr>
        <p:spPr>
          <a:xfrm>
            <a:off x="89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Privates Konto</a:t>
            </a:r>
          </a:p>
        </p:txBody>
      </p:sp>
      <p:sp>
        <p:nvSpPr>
          <p:cNvPr id="6" name="Text 6"/>
          <p:cNvSpPr/>
          <p:nvPr/>
        </p:nvSpPr>
        <p:spPr>
          <a:xfrm>
            <a:off x="89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Nur deine Follower sehen deine Videos.</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Du entscheidest: Wer darf folgen?</a:t>
            </a:r>
          </a:p>
        </p:txBody>
      </p:sp>
      <p:sp>
        <p:nvSpPr>
          <p:cNvPr id="7" name="Text 7"/>
          <p:cNvSpPr/>
          <p:nvPr/>
        </p:nvSpPr>
        <p:spPr>
          <a:xfrm>
            <a:off x="6310080" y="1600000"/>
            <a:ext cx="5240000" cy="4300000"/>
          </a:xfrm>
          <a:prstGeom prst="roundRect">
            <a:avLst>
              <a:gd name="adj" fmla="val 4000"/>
            </a:avLst>
          </a:prstGeom>
          <a:solidFill>
            <a:srgbClr val="FBE9EC"/>
          </a:solidFill>
          <a:ln w="19050">
            <a:solidFill>
              <a:srgbClr val="B5152B"/>
            </a:solidFill>
            <a:prstDash val="solid"/>
          </a:ln>
          <a:effectLst>
            <a:outerShdw sx="100000" sy="100000" kx="0" ky="0" algn="bl" rotWithShape="0" blurRad="88900" dist="25400" dir="5400000">
              <a:srgbClr val="000000">
                <a:alpha val="14000"/>
              </a:srgbClr>
            </a:outerShdw>
          </a:effectLst>
        </p:spPr>
      </p:sp>
      <p:sp>
        <p:nvSpPr>
          <p:cNvPr id="8" name="Bild-Platzhalter 8"/>
          <p:cNvSpPr/>
          <p:nvPr/>
        </p:nvSpPr>
        <p:spPr>
          <a:xfrm>
            <a:off x="661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Offenes Profil. Viele fremde Menschen schauen zu.]</a:t>
            </a:r>
          </a:p>
        </p:txBody>
      </p:sp>
      <p:sp>
        <p:nvSpPr>
          <p:cNvPr id="9" name="Text 9"/>
          <p:cNvSpPr/>
          <p:nvPr/>
        </p:nvSpPr>
        <p:spPr>
          <a:xfrm>
            <a:off x="656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Öffentliches Konto</a:t>
            </a:r>
          </a:p>
        </p:txBody>
      </p:sp>
      <p:sp>
        <p:nvSpPr>
          <p:cNvPr id="10" name="Text 10"/>
          <p:cNvSpPr/>
          <p:nvPr/>
        </p:nvSpPr>
        <p:spPr>
          <a:xfrm>
            <a:off x="656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Alle Menschen sehen deine Videos.</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Auch fremde Menschen.</a:t>
            </a:r>
          </a:p>
        </p:txBody>
      </p:sp>
      <p:sp>
        <p:nvSpPr>
          <p:cNvPr id="11" name="Text 11"/>
          <p:cNvSpPr/>
          <p:nvPr/>
        </p:nvSpPr>
        <p:spPr>
          <a:xfrm>
            <a:off x="640080" y="6050000"/>
            <a:ext cx="1091184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Privat ist sicherer. Das stellen wir nach der Pause zusammen ein.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Wer darf mit dir red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Wer darf mit dir reden?</a:t>
            </a:r>
          </a:p>
        </p:txBody>
      </p:sp>
      <p:sp>
        <p:nvSpPr>
          <p:cNvPr id="3" name="Zeile 3"/>
          <p:cNvSpPr/>
          <p:nvPr/>
        </p:nvSpPr>
        <p:spPr>
          <a:xfrm>
            <a:off x="640080" y="1600000"/>
            <a:ext cx="6600000" cy="90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580080" y="160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Kommentare: </a:t>
            </a:r>
            <a:r>
              <a:rPr lang="de-DE" sz="2300" b="0" i="0" dirty="0">
                <a:solidFill>
                  <a:srgbClr val="1A1A1A"/>
                </a:solidFill>
                <a:latin typeface="Arial" pitchFamily="34" charset="0"/>
                <a:ea typeface="Arial" pitchFamily="34" charset="-122"/>
                <a:cs typeface="Arial" pitchFamily="34" charset="-120"/>
              </a:rPr>
              <a:t>Wer darf unter deine Videos schreiben?</a:t>
            </a:r>
          </a:p>
        </p:txBody>
      </p:sp>
      <p:sp>
        <p:nvSpPr>
          <p:cNvPr id="6" name="Zeile 6"/>
          <p:cNvSpPr/>
          <p:nvPr/>
        </p:nvSpPr>
        <p:spPr>
          <a:xfrm>
            <a:off x="640080" y="2680000"/>
            <a:ext cx="6600000" cy="9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81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580080" y="268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Private Nachrichten: </a:t>
            </a:r>
            <a:r>
              <a:rPr lang="de-DE" sz="2300" b="0" i="0" dirty="0">
                <a:solidFill>
                  <a:srgbClr val="1A1A1A"/>
                </a:solidFill>
                <a:latin typeface="Arial" pitchFamily="34" charset="0"/>
                <a:ea typeface="Arial" pitchFamily="34" charset="-122"/>
                <a:cs typeface="Arial" pitchFamily="34" charset="-120"/>
              </a:rPr>
              <a:t>Wer darf dir schreiben?</a:t>
            </a:r>
          </a:p>
        </p:txBody>
      </p:sp>
      <p:sp>
        <p:nvSpPr>
          <p:cNvPr id="9" name="Bild-Platzhalter 9"/>
          <p:cNvSpPr/>
          <p:nvPr/>
        </p:nvSpPr>
        <p:spPr>
          <a:xfrm>
            <a:off x="7550000" y="1600000"/>
            <a:ext cx="4000000" cy="414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entscheidet an ihrem Handy, wer schreiben darf.]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ma 2: Was ich im Video zeig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2</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2</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Was ich im Video zeige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Ein Video bleibt oft lang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 Video bleibt oft lange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Ein Video kann lange im Internet bleiben.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dein Video herunterladen.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ein Bild vom Bildschirm machen.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kannst es dann nicht mehr zurückholen.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 Video wird auf mehreren Handys gespeichert und weiter-geschickt.]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as prüfst du vor dem Post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prüfst du vor dem Posten</a:t>
            </a:r>
          </a:p>
        </p:txBody>
      </p:sp>
      <p:sp>
        <p:nvSpPr>
          <p:cNvPr id="3" name="Zeile 3"/>
          <p:cNvSpPr/>
          <p:nvPr/>
        </p:nvSpPr>
        <p:spPr>
          <a:xfrm>
            <a:off x="640080" y="1600000"/>
            <a:ext cx="6600000" cy="90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580080" y="160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Hintergrund: </a:t>
            </a:r>
            <a:r>
              <a:rPr lang="de-DE" sz="2300" b="0" i="0" dirty="0">
                <a:solidFill>
                  <a:srgbClr val="1A1A1A"/>
                </a:solidFill>
                <a:latin typeface="Arial" pitchFamily="34" charset="0"/>
                <a:ea typeface="Arial" pitchFamily="34" charset="-122"/>
                <a:cs typeface="Arial" pitchFamily="34" charset="-120"/>
              </a:rPr>
              <a:t>Sieht man Straßen-Schild oder Haus-Nummer?</a:t>
            </a:r>
          </a:p>
        </p:txBody>
      </p:sp>
      <p:sp>
        <p:nvSpPr>
          <p:cNvPr id="6" name="Zeile 6"/>
          <p:cNvSpPr/>
          <p:nvPr/>
        </p:nvSpPr>
        <p:spPr>
          <a:xfrm>
            <a:off x="640080" y="2680000"/>
            <a:ext cx="6600000" cy="9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81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580080" y="268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Ort: </a:t>
            </a:r>
            <a:r>
              <a:rPr lang="de-DE" sz="2300" b="0" i="0" dirty="0">
                <a:solidFill>
                  <a:srgbClr val="1A1A1A"/>
                </a:solidFill>
                <a:latin typeface="Arial" pitchFamily="34" charset="0"/>
                <a:ea typeface="Arial" pitchFamily="34" charset="-122"/>
                <a:cs typeface="Arial" pitchFamily="34" charset="-120"/>
              </a:rPr>
              <a:t>Markierst du den Ort?</a:t>
            </a:r>
          </a:p>
        </p:txBody>
      </p:sp>
      <p:sp>
        <p:nvSpPr>
          <p:cNvPr id="9" name="Zeile 9"/>
          <p:cNvSpPr/>
          <p:nvPr/>
        </p:nvSpPr>
        <p:spPr>
          <a:xfrm>
            <a:off x="640080" y="3760000"/>
            <a:ext cx="6600000" cy="9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89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1" name="Text 11"/>
          <p:cNvSpPr/>
          <p:nvPr/>
        </p:nvSpPr>
        <p:spPr>
          <a:xfrm>
            <a:off x="1580080" y="376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Andere Personen: </a:t>
            </a:r>
            <a:r>
              <a:rPr lang="de-DE" sz="2300" b="0" i="0" dirty="0">
                <a:solidFill>
                  <a:srgbClr val="1A1A1A"/>
                </a:solidFill>
                <a:latin typeface="Arial" pitchFamily="34" charset="0"/>
                <a:ea typeface="Arial" pitchFamily="34" charset="-122"/>
                <a:cs typeface="Arial" pitchFamily="34" charset="-120"/>
              </a:rPr>
              <a:t>Hast du sie vorher gefragt?</a:t>
            </a:r>
          </a:p>
        </p:txBody>
      </p:sp>
      <p:sp>
        <p:nvSpPr>
          <p:cNvPr id="12" name="Zeile 12"/>
          <p:cNvSpPr/>
          <p:nvPr/>
        </p:nvSpPr>
        <p:spPr>
          <a:xfrm>
            <a:off x="640080" y="4840000"/>
            <a:ext cx="6600000" cy="9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97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4" name="Text 14"/>
          <p:cNvSpPr/>
          <p:nvPr/>
        </p:nvSpPr>
        <p:spPr>
          <a:xfrm>
            <a:off x="1580080" y="484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Private Daten: </a:t>
            </a:r>
            <a:r>
              <a:rPr lang="de-DE" sz="2300" b="0" i="0" dirty="0">
                <a:solidFill>
                  <a:srgbClr val="1A1A1A"/>
                </a:solidFill>
                <a:latin typeface="Arial" pitchFamily="34" charset="0"/>
                <a:ea typeface="Arial" pitchFamily="34" charset="-122"/>
                <a:cs typeface="Arial" pitchFamily="34" charset="-120"/>
              </a:rPr>
              <a:t>Sieht man Briefe oder eine Telefon-Nummer?</a:t>
            </a:r>
          </a:p>
        </p:txBody>
      </p:sp>
      <p:sp>
        <p:nvSpPr>
          <p:cNvPr id="15" name="Bild-Platzhalter 15"/>
          <p:cNvSpPr/>
          <p:nvPr/>
        </p:nvSpPr>
        <p:spPr>
          <a:xfrm>
            <a:off x="7550000" y="1600000"/>
            <a:ext cx="4000000" cy="414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 Video-Bild. Straßen-Schild und Klingelschild sind markiert.]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rksatz: Erst prüf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Merksatz</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Erst prüfen.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Dann teilen.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Frag dich:</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Ist das okay – für mich und für die anderen?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ihr Video noch einmal an. Erst dann postet sie 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ma 3: Trends und Druck">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3</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3</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Trends und Druck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rends: Du entscheides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Trends: Du entscheidest</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Ein Trend ist etwas zum Mitmachen.</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Manche Trends sind gefährlich.</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Frag dich: Ist das sicher? Tut das weh?</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musst nicht mitmachen.</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einen Trend an und macht nicht mit. Sie bleibt ruhig.]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arnzei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Warnzeichen</a:t>
            </a:r>
          </a:p>
        </p:txBody>
      </p:sp>
      <p:sp>
        <p:nvSpPr>
          <p:cNvPr id="3" name="Text 3"/>
          <p:cNvSpPr/>
          <p:nvPr/>
        </p:nvSpPr>
        <p:spPr>
          <a:xfrm>
            <a:off x="640080" y="145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Eine fremde Person schreibt dir. Pass auf bei diesen Zeichen:</a:t>
            </a:r>
          </a:p>
        </p:txBody>
      </p:sp>
      <p:sp>
        <p:nvSpPr>
          <p:cNvPr id="4" name="Zeile 4"/>
          <p:cNvSpPr/>
          <p:nvPr/>
        </p:nvSpPr>
        <p:spPr>
          <a:xfrm>
            <a:off x="640080" y="2250000"/>
            <a:ext cx="10911840" cy="72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35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6" name="Text 6"/>
          <p:cNvSpPr/>
          <p:nvPr/>
        </p:nvSpPr>
        <p:spPr>
          <a:xfrm>
            <a:off x="1454079" y="225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deine Adresse.</a:t>
            </a:r>
          </a:p>
        </p:txBody>
      </p:sp>
      <p:sp>
        <p:nvSpPr>
          <p:cNvPr id="7" name="Zeile 7"/>
          <p:cNvSpPr/>
          <p:nvPr/>
        </p:nvSpPr>
        <p:spPr>
          <a:xfrm>
            <a:off x="640080" y="3070000"/>
            <a:ext cx="10911840" cy="72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770080" y="317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1454079" y="307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verspricht dir ein Geschenk.</a:t>
            </a:r>
          </a:p>
        </p:txBody>
      </p:sp>
      <p:sp>
        <p:nvSpPr>
          <p:cNvPr id="10" name="Zeile 10"/>
          <p:cNvSpPr/>
          <p:nvPr/>
        </p:nvSpPr>
        <p:spPr>
          <a:xfrm>
            <a:off x="640080" y="3890000"/>
            <a:ext cx="10911840" cy="72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770080" y="399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1454079" y="389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Geld.</a:t>
            </a:r>
          </a:p>
        </p:txBody>
      </p:sp>
      <p:sp>
        <p:nvSpPr>
          <p:cNvPr id="13" name="Zeile 13"/>
          <p:cNvSpPr/>
          <p:nvPr/>
        </p:nvSpPr>
        <p:spPr>
          <a:xfrm>
            <a:off x="640080" y="4710000"/>
            <a:ext cx="10911840" cy="72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770080" y="481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1454079" y="471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sich mit dir treffen.</a:t>
            </a:r>
          </a:p>
        </p:txBody>
      </p:sp>
      <p:sp>
        <p:nvSpPr>
          <p:cNvPr id="16" name="Zeile 16"/>
          <p:cNvSpPr/>
          <p:nvPr/>
        </p:nvSpPr>
        <p:spPr>
          <a:xfrm>
            <a:off x="640080" y="5530000"/>
            <a:ext cx="10911840" cy="72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770080" y="563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1454079" y="553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macht Druck: Schnell!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in Plan: Stopp mach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Dein Plan</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Stopp machen.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1  Stopp machen.</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2  Nicht sofort antworten.</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3  Einer vertrauten Person zeigen.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zeigt ihr Handy einer vertrauten Person. Beide sind ruhig.]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ma 4: Wenn etwas nicht gut tu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4</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4</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Wenn etwas nicht gut tut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Verletzende Kommentar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Verletzende Kommentare</a:t>
            </a:r>
          </a:p>
        </p:txBody>
      </p:sp>
      <p:sp>
        <p:nvSpPr>
          <p:cNvPr id="3" name="Text 3"/>
          <p:cNvSpPr/>
          <p:nvPr/>
        </p:nvSpPr>
        <p:spPr>
          <a:xfrm>
            <a:off x="640080" y="1700000"/>
            <a:ext cx="5961840" cy="13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Manche Kommentare sind gemein.</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Sie verletzen.</a:t>
            </a:r>
          </a:p>
        </p:txBody>
      </p:sp>
      <p:sp>
        <p:nvSpPr>
          <p:cNvPr id="4" name="Text 4"/>
          <p:cNvSpPr/>
          <p:nvPr/>
        </p:nvSpPr>
        <p:spPr>
          <a:xfrm>
            <a:off x="640080" y="3200000"/>
            <a:ext cx="596184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Das ist nicht deine Schuld.</a:t>
            </a:r>
          </a:p>
        </p:txBody>
      </p:sp>
      <p:sp>
        <p:nvSpPr>
          <p:cNvPr id="5" name="Text 5"/>
          <p:cNvSpPr/>
          <p:nvPr/>
        </p:nvSpPr>
        <p:spPr>
          <a:xfrm>
            <a:off x="640080" y="4750000"/>
            <a:ext cx="596184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1" i="0" dirty="0">
                <a:solidFill>
                  <a:srgbClr val="1A1A1A"/>
                </a:solidFill>
                <a:latin typeface="Arial" pitchFamily="34" charset="0"/>
                <a:ea typeface="Arial" pitchFamily="34" charset="-122"/>
                <a:cs typeface="Arial" pitchFamily="34" charset="-120"/>
              </a:rPr>
              <a:t>Du musst nicht antworten.</a:t>
            </a:r>
          </a:p>
        </p:txBody>
      </p:sp>
      <p:sp>
        <p:nvSpPr>
          <p:cNvPr id="6" name="Bild-Platzhalter 6"/>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liest einen Kommentar. Sie legt das Handy weg und atmet durch.]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as kannst du tu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kannst du tun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Zeig es einer vertrauten Person. Lösch es nicht sofort.</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Blockieren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Die Person kann dir nicht mehr schreiben. Mit einem neuen Profil kann sie es wieder versuchen.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Melden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sagst TikTok Bescheid.</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Hilfe holen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musst das nicht allein schaffen.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Zeit und Gefühl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Zeit und Gefühle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TikTok merkt, was du gerne schaust.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Dann zeigt TikTok mehr davon.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So schaust du schnell sehr lange.</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Du darfst TikTok zumachen. Du darfst Pause machen.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legt das Handy weg. Die Uhr zeigt: Es ist viel Zeit vergangen.]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Hol dir Hilf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Hol dir Hilfe</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bist nicht allein.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Sprich mit einer vertrauten Person.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Zum Beispiel: Familie, Freundin oder Freund.</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Oder Unterstützerin oder Unterstützer.</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Hilfe-Karte. Vorderseite: Ansprechpersonen vor Ort und Hilfe am Telefon. Rückseite: zum Ausfüllen.]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us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Pause</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10 Minuten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raxi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Praxis</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Wir stellen TikTok zusammen ein.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canne den Code und mach mi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Scanne den Code und mach mit</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r Praxis-Seite TikTok"/>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Zur Praxis-Seite</a:t>
            </a:r>
          </a:p>
        </p:txBody>
      </p:sp>
      <p:sp>
        <p:nvSpPr>
          <p:cNvPr id="6" name="Zeile 6"/>
          <p:cNvSpPr/>
          <p:nvPr/>
        </p:nvSpPr>
        <p:spPr>
          <a:xfrm>
            <a:off x="4700000" y="1500000"/>
            <a:ext cx="6850000" cy="7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4830000" y="160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1</a:t>
            </a:r>
          </a:p>
        </p:txBody>
      </p:sp>
      <p:sp>
        <p:nvSpPr>
          <p:cNvPr id="8" name="Text 8"/>
          <p:cNvSpPr/>
          <p:nvPr/>
        </p:nvSpPr>
        <p:spPr>
          <a:xfrm>
            <a:off x="5499999" y="150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Öffne die Kamera am Handy.</a:t>
            </a:r>
          </a:p>
        </p:txBody>
      </p:sp>
      <p:sp>
        <p:nvSpPr>
          <p:cNvPr id="9" name="Zeile 9"/>
          <p:cNvSpPr/>
          <p:nvPr/>
        </p:nvSpPr>
        <p:spPr>
          <a:xfrm>
            <a:off x="4700000" y="2320000"/>
            <a:ext cx="6850000" cy="7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4830000" y="242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2</a:t>
            </a:r>
          </a:p>
        </p:txBody>
      </p:sp>
      <p:sp>
        <p:nvSpPr>
          <p:cNvPr id="11" name="Text 11"/>
          <p:cNvSpPr/>
          <p:nvPr/>
        </p:nvSpPr>
        <p:spPr>
          <a:xfrm>
            <a:off x="5499999" y="232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Halte sie auf den Code.</a:t>
            </a:r>
          </a:p>
        </p:txBody>
      </p:sp>
      <p:sp>
        <p:nvSpPr>
          <p:cNvPr id="12" name="Zeile 12"/>
          <p:cNvSpPr/>
          <p:nvPr/>
        </p:nvSpPr>
        <p:spPr>
          <a:xfrm>
            <a:off x="4700000" y="3140000"/>
            <a:ext cx="6850000" cy="7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4830000" y="324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3</a:t>
            </a:r>
          </a:p>
        </p:txBody>
      </p:sp>
      <p:sp>
        <p:nvSpPr>
          <p:cNvPr id="14" name="Text 14"/>
          <p:cNvSpPr/>
          <p:nvPr/>
        </p:nvSpPr>
        <p:spPr>
          <a:xfrm>
            <a:off x="5499999" y="314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Tippe auf den Link.</a:t>
            </a:r>
          </a:p>
        </p:txBody>
      </p:sp>
      <p:sp>
        <p:nvSpPr>
          <p:cNvPr id="15" name="Zeile 15"/>
          <p:cNvSpPr/>
          <p:nvPr/>
        </p:nvSpPr>
        <p:spPr>
          <a:xfrm>
            <a:off x="4700000" y="3960000"/>
            <a:ext cx="6850000" cy="70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4830000" y="406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4</a:t>
            </a:r>
          </a:p>
        </p:txBody>
      </p:sp>
      <p:sp>
        <p:nvSpPr>
          <p:cNvPr id="17" name="Text 17"/>
          <p:cNvSpPr/>
          <p:nvPr/>
        </p:nvSpPr>
        <p:spPr>
          <a:xfrm>
            <a:off x="5499999" y="396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Wir machen es zusammen.</a:t>
            </a:r>
          </a:p>
        </p:txBody>
      </p:sp>
      <p:sp>
        <p:nvSpPr>
          <p:cNvPr id="18" name="Text 18"/>
          <p:cNvSpPr/>
          <p:nvPr/>
        </p:nvSpPr>
        <p:spPr>
          <a:xfrm>
            <a:off x="4700000" y="4900000"/>
            <a:ext cx="6850000" cy="1150000"/>
          </a:xfrm>
          <a:prstGeom prst="roundRect">
            <a:avLst>
              <a:gd name="adj" fmla="val 8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0" i="0" dirty="0">
                <a:solidFill>
                  <a:srgbClr val="00285A"/>
                </a:solidFill>
                <a:latin typeface="Arial" pitchFamily="34" charset="0"/>
                <a:ea typeface="Arial" pitchFamily="34" charset="-122"/>
                <a:cs typeface="Arial" pitchFamily="34" charset="-120"/>
              </a:rPr>
              <a:t>Kein Handy oder kein Konto? Schau bei jemandem mit. Oder übe im Übungs-Handy der Lernplattform.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as stellen wir zusammen ei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stellen wir zusammen ein</a:t>
            </a:r>
          </a:p>
        </p:txBody>
      </p:sp>
      <p:sp>
        <p:nvSpPr>
          <p:cNvPr id="3" name="Text 3"/>
          <p:cNvSpPr/>
          <p:nvPr/>
        </p:nvSpPr>
        <p:spPr>
          <a:xfrm>
            <a:off x="640080" y="1450000"/>
            <a:ext cx="650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machen wir zuerst:</a:t>
            </a:r>
          </a:p>
        </p:txBody>
      </p:sp>
      <p:sp>
        <p:nvSpPr>
          <p:cNvPr id="4" name="Zeile 4"/>
          <p:cNvSpPr/>
          <p:nvPr/>
        </p:nvSpPr>
        <p:spPr>
          <a:xfrm>
            <a:off x="640080" y="2100000"/>
            <a:ext cx="6500000" cy="90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2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1</a:t>
            </a:r>
          </a:p>
        </p:txBody>
      </p:sp>
      <p:sp>
        <p:nvSpPr>
          <p:cNvPr id="6" name="Text 6"/>
          <p:cNvSpPr/>
          <p:nvPr/>
        </p:nvSpPr>
        <p:spPr>
          <a:xfrm>
            <a:off x="1580080" y="2100000"/>
            <a:ext cx="49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Konto auf privat stellen</a:t>
            </a:r>
          </a:p>
        </p:txBody>
      </p:sp>
      <p:sp>
        <p:nvSpPr>
          <p:cNvPr id="7" name="Abhaken 7"/>
          <p:cNvSpPr/>
          <p:nvPr/>
        </p:nvSpPr>
        <p:spPr>
          <a:xfrm>
            <a:off x="6620080" y="2345000"/>
            <a:ext cx="410000" cy="410000"/>
          </a:xfrm>
          <a:prstGeom prst="roundRect">
            <a:avLst>
              <a:gd name="adj" fmla="val 12000"/>
            </a:avLst>
          </a:prstGeom>
          <a:solidFill>
            <a:srgbClr val="FFFFFF"/>
          </a:solidFill>
          <a:ln w="25400">
            <a:solidFill>
              <a:srgbClr val="C6C7C8"/>
            </a:solidFill>
            <a:prstDash val="solid"/>
          </a:ln>
        </p:spPr>
      </p:sp>
      <p:sp>
        <p:nvSpPr>
          <p:cNvPr id="8" name="Text 8"/>
          <p:cNvSpPr/>
          <p:nvPr/>
        </p:nvSpPr>
        <p:spPr>
          <a:xfrm>
            <a:off x="640080" y="3250000"/>
            <a:ext cx="6500000" cy="1100000"/>
          </a:xfrm>
          <a:prstGeom prst="roundRect">
            <a:avLst>
              <a:gd name="adj" fmla="val 8000"/>
            </a:avLst>
          </a:prstGeom>
          <a:solidFill>
            <a:srgbClr val="D8EAF2"/>
          </a:solidFill>
          <a:ln>
            <a:noFill/>
          </a:ln>
        </p:spPr>
        <p:txBody>
          <a:bodyPr wrap="square" lIns="250000" tIns="250000" rIns="250000" bIns="250000" rtlCol="0" anchor="ctr">
            <a:noAutofit/>
          </a:bodyPr>
          <a:lstStyle/>
          <a:p>
            <a:pPr algn="l" indent="0" marL="0">
              <a:lnSpc>
                <a:spcPct val="100000"/>
              </a:lnSpc>
              <a:spcAft>
                <a:spcPts val="300"/>
              </a:spcAft>
              <a:buNone/>
            </a:pPr>
            <a:r>
              <a:rPr lang="de-DE" sz="2400" b="1" i="0" dirty="0">
                <a:solidFill>
                  <a:srgbClr val="00285A"/>
                </a:solidFill>
                <a:latin typeface="Arial" pitchFamily="34" charset="0"/>
                <a:ea typeface="Arial" pitchFamily="34" charset="-122"/>
                <a:cs typeface="Arial" pitchFamily="34" charset="-120"/>
              </a:rPr>
              <a:t>Eine Einstellung ist genug.</a:t>
            </a:r>
          </a:p>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Du hast dann schon viel geschafft.</a:t>
            </a:r>
          </a:p>
        </p:txBody>
      </p:sp>
      <p:sp>
        <p:nvSpPr>
          <p:cNvPr id="9" name="Text 9"/>
          <p:cNvSpPr/>
          <p:nvPr/>
        </p:nvSpPr>
        <p:spPr>
          <a:xfrm>
            <a:off x="7400000" y="1450000"/>
            <a:ext cx="415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ist freiwillig:</a:t>
            </a:r>
          </a:p>
        </p:txBody>
      </p:sp>
      <p:sp>
        <p:nvSpPr>
          <p:cNvPr id="10" name="Text 10"/>
          <p:cNvSpPr/>
          <p:nvPr/>
        </p:nvSpPr>
        <p:spPr>
          <a:xfrm>
            <a:off x="7400000" y="2100000"/>
            <a:ext cx="4150000" cy="900000"/>
          </a:xfrm>
          <a:prstGeom prst="roundRect">
            <a:avLst>
              <a:gd name="adj" fmla="val 12000"/>
            </a:avLst>
          </a:prstGeom>
          <a:solidFill>
            <a:srgbClr val="FFFFFF"/>
          </a:solidFill>
          <a:ln w="19050">
            <a:solidFill>
              <a:srgbClr val="AAD1E3"/>
            </a:solidFill>
            <a:prstDash val="solid"/>
          </a:ln>
        </p:spPr>
      </p:sp>
      <p:sp>
        <p:nvSpPr>
          <p:cNvPr id="11" name="Text 11"/>
          <p:cNvSpPr/>
          <p:nvPr/>
        </p:nvSpPr>
        <p:spPr>
          <a:xfrm>
            <a:off x="7600000" y="210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Wer darf kommentieren?</a:t>
            </a:r>
          </a:p>
        </p:txBody>
      </p:sp>
      <p:sp>
        <p:nvSpPr>
          <p:cNvPr id="12" name="Text 12"/>
          <p:cNvSpPr/>
          <p:nvPr/>
        </p:nvSpPr>
        <p:spPr>
          <a:xfrm>
            <a:off x="11030000" y="2345000"/>
            <a:ext cx="410000" cy="410000"/>
          </a:xfrm>
          <a:prstGeom prst="roundRect">
            <a:avLst>
              <a:gd name="adj" fmla="val 12000"/>
            </a:avLst>
          </a:prstGeom>
          <a:solidFill>
            <a:srgbClr val="FFFFFF"/>
          </a:solidFill>
          <a:ln w="25400">
            <a:solidFill>
              <a:srgbClr val="C6C7C8"/>
            </a:solidFill>
            <a:prstDash val="solid"/>
          </a:ln>
        </p:spPr>
      </p:sp>
      <p:sp>
        <p:nvSpPr>
          <p:cNvPr id="13" name="Text 13"/>
          <p:cNvSpPr/>
          <p:nvPr/>
        </p:nvSpPr>
        <p:spPr>
          <a:xfrm>
            <a:off x="7400000" y="3130000"/>
            <a:ext cx="4150000" cy="900000"/>
          </a:xfrm>
          <a:prstGeom prst="roundRect">
            <a:avLst>
              <a:gd name="adj" fmla="val 12000"/>
            </a:avLst>
          </a:prstGeom>
          <a:solidFill>
            <a:srgbClr val="FFFFFF"/>
          </a:solidFill>
          <a:ln w="19050">
            <a:solidFill>
              <a:srgbClr val="AAD1E3"/>
            </a:solidFill>
            <a:prstDash val="solid"/>
          </a:ln>
        </p:spPr>
      </p:sp>
      <p:sp>
        <p:nvSpPr>
          <p:cNvPr id="14" name="Text 14"/>
          <p:cNvSpPr/>
          <p:nvPr/>
        </p:nvSpPr>
        <p:spPr>
          <a:xfrm>
            <a:off x="7600000" y="313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Einen Timer für die Pause stellen</a:t>
            </a:r>
          </a:p>
        </p:txBody>
      </p:sp>
      <p:sp>
        <p:nvSpPr>
          <p:cNvPr id="15" name="Text 15"/>
          <p:cNvSpPr/>
          <p:nvPr/>
        </p:nvSpPr>
        <p:spPr>
          <a:xfrm>
            <a:off x="11030000" y="3375000"/>
            <a:ext cx="410000" cy="410000"/>
          </a:xfrm>
          <a:prstGeom prst="roundRect">
            <a:avLst>
              <a:gd name="adj" fmla="val 12000"/>
            </a:avLst>
          </a:prstGeom>
          <a:solidFill>
            <a:srgbClr val="FFFFFF"/>
          </a:solidFill>
          <a:ln w="25400">
            <a:solidFill>
              <a:srgbClr val="C6C7C8"/>
            </a:solidFill>
            <a:prstDash val="solid"/>
          </a:ln>
        </p:spPr>
      </p:sp>
      <p:sp>
        <p:nvSpPr>
          <p:cNvPr id="16" name="Text 16"/>
          <p:cNvSpPr/>
          <p:nvPr/>
        </p:nvSpPr>
        <p:spPr>
          <a:xfrm>
            <a:off x="7400000" y="4160000"/>
            <a:ext cx="4150000" cy="900000"/>
          </a:xfrm>
          <a:prstGeom prst="roundRect">
            <a:avLst>
              <a:gd name="adj" fmla="val 12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Nur zeigen: Blockieren und Melden</a:t>
            </a:r>
          </a:p>
        </p:txBody>
      </p:sp>
      <p:sp>
        <p:nvSpPr>
          <p:cNvPr id="17" name="Text 17"/>
          <p:cNvSpPr/>
          <p:nvPr/>
        </p:nvSpPr>
        <p:spPr>
          <a:xfrm>
            <a:off x="640080" y="5350000"/>
            <a:ext cx="10911840" cy="1100000"/>
          </a:xfrm>
          <a:prstGeom prst="rect">
            <a:avLst/>
          </a:prstGeom>
          <a:noFill/>
          <a:ln>
            <a:noFill/>
          </a:ln>
        </p:spPr>
        <p:txBody>
          <a:bodyPr wrap="square" lIns="0" tIns="0" rIns="0" bIns="0" rtlCol="0" anchor="ctr">
            <a:noAutofit/>
          </a:bodyPr>
          <a:lstStyle/>
          <a:p>
            <a:pPr algn="l" indent="0" marL="0">
              <a:lnSpc>
                <a:spcPct val="100000"/>
              </a:lnSpc>
              <a:spcAft>
                <a:spcPts val="400"/>
              </a:spcAft>
              <a:buNone/>
            </a:pPr>
            <a:r>
              <a:rPr lang="de-DE" sz="2200" b="1" i="0" dirty="0">
                <a:solidFill>
                  <a:srgbClr val="00285A"/>
                </a:solidFill>
                <a:latin typeface="Arial" pitchFamily="34" charset="0"/>
                <a:ea typeface="Arial" pitchFamily="34" charset="-122"/>
                <a:cs typeface="Arial" pitchFamily="34" charset="-120"/>
              </a:rPr>
              <a:t>Tipp: Öffne die Einstellungen. Oben kannst du suchen.</a:t>
            </a:r>
          </a:p>
          <a:p>
            <a:pPr algn="l" indent="0" marL="0">
              <a:lnSpc>
                <a:spcPct val="100000"/>
              </a:lnSpc>
              <a:spcAft>
                <a:spcPts val="0"/>
              </a:spcAft>
              <a:buNone/>
            </a:pPr>
            <a:r>
              <a:rPr lang="de-DE" sz="2000" b="0" i="0" dirty="0">
                <a:solidFill>
                  <a:srgbClr val="48586A"/>
                </a:solidFill>
                <a:latin typeface="Arial" pitchFamily="34" charset="0"/>
                <a:ea typeface="Arial" pitchFamily="34" charset="-122"/>
                <a:cs typeface="Arial" pitchFamily="34" charset="-120"/>
              </a:rPr>
              <a:t>Die App ändert ihre Menüs oft. Das ist nicht dein Fehler.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Quiz-Gespräch: Frage 1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1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Dein Konto ist privat. Eine fremde Person will dir folgen. Was passiert?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Sie sieht sofort alle deine Videos.</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Du musst es erst erlauben.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TikTok entscheidet für dich.</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Quiz-Gespräch: Frage 2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2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In deinem Video sieht man das Straßen-Schild vor deinem Haus.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nehme das Video neu auf.</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poste es so. Das sieht keiner.</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mache das Video etwas dunkler.</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z-Gespräch: Frage 3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3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Bei einem Trend sollen alle lange die Luft anhalten. Viele machen mit.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mache nur kurz mit.</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filme einen Freund dabei.</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mache nicht mit. Das kann gefährlich sein.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Quiz-Gespräch: Frage 4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4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Person schreibt: Ich schicke dir ein Geschenk. Schreib mir deine Adresse.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nur die Straße.</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die Adresse. Ein Geschenk ist nett.</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keine Adresse. Ich zeige es einer vertrauten Person.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Quiz-Gespräch: Frage 5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5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Es ist spät. Du schaust schon lange Videos. Das nächste Video startet von allein. Was hilft dir?</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Das Handy weglegen. Eine Pause machen.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Noch 3 Videos schauen. Dann Schluss.</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Den Ton ausmachen und weiter-schauen.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Quiz-Gespräch: Frage 6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6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Unter deinem Video machen sich mehrere Personen über dich lustig. Was hilft dir?</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lese die Kommentare immer wieder.</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Zeigen. Blockieren oder melden. Hilfe holen.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etwas Gemeines zurück.</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as haben wir gelern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haben wir gelernt</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66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496080" y="155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Konto auf privat stellen.</a:t>
            </a:r>
          </a:p>
        </p:txBody>
      </p:sp>
      <p:sp>
        <p:nvSpPr>
          <p:cNvPr id="6" name="Zeile 6"/>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5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496080" y="244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Erst prüfen. Dann teilen.</a:t>
            </a:r>
          </a:p>
        </p:txBody>
      </p:sp>
      <p:sp>
        <p:nvSpPr>
          <p:cNvPr id="9" name="Zeile 9"/>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44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496080" y="333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Ich muss nicht mitmachen.</a:t>
            </a:r>
          </a:p>
        </p:txBody>
      </p:sp>
      <p:sp>
        <p:nvSpPr>
          <p:cNvPr id="12" name="Zeile 12"/>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33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496080" y="422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Stopp machen. Zeigen.</a:t>
            </a:r>
          </a:p>
        </p:txBody>
      </p:sp>
      <p:sp>
        <p:nvSpPr>
          <p:cNvPr id="15" name="Zeile 15"/>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522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5</a:t>
            </a:r>
          </a:p>
        </p:txBody>
      </p:sp>
      <p:sp>
        <p:nvSpPr>
          <p:cNvPr id="17" name="Text 17"/>
          <p:cNvSpPr/>
          <p:nvPr/>
        </p:nvSpPr>
        <p:spPr>
          <a:xfrm>
            <a:off x="1496080" y="511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Pause machen. Hilfe holen.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Auf der Lernplattform weiter üb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Auf der Lernplattform weiter üben</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m Thema TikTok auf der Lernplattfor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1600" b="1" i="0" dirty="0">
                <a:solidFill>
                  <a:srgbClr val="00285A"/>
                </a:solidFill>
                <a:latin typeface="Arial" pitchFamily="34" charset="0"/>
                <a:ea typeface="Arial" pitchFamily="34" charset="-122"/>
                <a:cs typeface="Arial" pitchFamily="34" charset="-120"/>
              </a:rPr>
              <a:t>Auf der Lernplattform weiterlernen</a:t>
            </a:r>
          </a:p>
        </p:txBody>
      </p:sp>
      <p:sp>
        <p:nvSpPr>
          <p:cNvPr id="6" name="Text 6"/>
          <p:cNvSpPr/>
          <p:nvPr/>
        </p:nvSpPr>
        <p:spPr>
          <a:xfrm>
            <a:off x="4700000" y="1450000"/>
            <a:ext cx="6850000" cy="6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Dort findest du:</a:t>
            </a:r>
          </a:p>
        </p:txBody>
      </p:sp>
      <p:sp>
        <p:nvSpPr>
          <p:cNvPr id="7" name="Zeile 7"/>
          <p:cNvSpPr/>
          <p:nvPr/>
        </p:nvSpPr>
        <p:spPr>
          <a:xfrm>
            <a:off x="4700000" y="2150000"/>
            <a:ext cx="6850000" cy="68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4830000" y="225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5485999" y="215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Das Thema TikTok in deiner Sprache</a:t>
            </a:r>
          </a:p>
        </p:txBody>
      </p:sp>
      <p:sp>
        <p:nvSpPr>
          <p:cNvPr id="10" name="Zeile 10"/>
          <p:cNvSpPr/>
          <p:nvPr/>
        </p:nvSpPr>
        <p:spPr>
          <a:xfrm>
            <a:off x="4700000" y="2940000"/>
            <a:ext cx="6850000" cy="68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4830000" y="304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5485999" y="294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Vorlesen</a:t>
            </a:r>
          </a:p>
        </p:txBody>
      </p:sp>
      <p:sp>
        <p:nvSpPr>
          <p:cNvPr id="13" name="Zeile 13"/>
          <p:cNvSpPr/>
          <p:nvPr/>
        </p:nvSpPr>
        <p:spPr>
          <a:xfrm>
            <a:off x="4700000" y="3730000"/>
            <a:ext cx="6850000" cy="68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4830000" y="383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5485999" y="373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Übungs-Handy: Trends und Zeit</a:t>
            </a:r>
          </a:p>
        </p:txBody>
      </p:sp>
      <p:sp>
        <p:nvSpPr>
          <p:cNvPr id="16" name="Zeile 16"/>
          <p:cNvSpPr/>
          <p:nvPr/>
        </p:nvSpPr>
        <p:spPr>
          <a:xfrm>
            <a:off x="4700000" y="4520000"/>
            <a:ext cx="6850000" cy="68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4830000" y="462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5485999" y="452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Quiz und Merk-Karte</a:t>
            </a:r>
          </a:p>
        </p:txBody>
      </p:sp>
      <p:sp>
        <p:nvSpPr>
          <p:cNvPr id="19" name="Text 19"/>
          <p:cNvSpPr/>
          <p:nvPr/>
        </p:nvSpPr>
        <p:spPr>
          <a:xfrm>
            <a:off x="4700000" y="5350000"/>
            <a:ext cx="685000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Allein und in deinem Tempo.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Eine Sache für heute">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Eine Sache für heute</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200"/>
              </a:spcAft>
              <a:buNone/>
            </a:pPr>
            <a:r>
              <a:rPr lang="de-DE" sz="2800" b="0" i="0" dirty="0">
                <a:solidFill>
                  <a:srgbClr val="1A1A1A"/>
                </a:solidFill>
                <a:latin typeface="Arial" pitchFamily="34" charset="0"/>
                <a:ea typeface="Arial" pitchFamily="34" charset="-122"/>
                <a:cs typeface="Arial" pitchFamily="34" charset="-120"/>
              </a:rPr>
              <a:t>Du schaust Videos?</a:t>
            </a:r>
          </a:p>
          <a:p>
            <a:pPr algn="l" indent="0" marL="0">
              <a:lnSpc>
                <a:spcPct val="100000"/>
              </a:lnSpc>
              <a:spcAft>
                <a:spcPts val="1200"/>
              </a:spcAft>
              <a:buNone/>
            </a:pPr>
            <a:r>
              <a:rPr lang="de-DE" sz="3200" b="1" i="0" dirty="0">
                <a:solidFill>
                  <a:srgbClr val="00285A"/>
                </a:solidFill>
                <a:latin typeface="Arial" pitchFamily="34" charset="0"/>
                <a:ea typeface="Arial" pitchFamily="34" charset="-122"/>
                <a:cs typeface="Arial" pitchFamily="34" charset="-120"/>
              </a:rPr>
              <a:t>Achte heute auf die Zeit.</a:t>
            </a:r>
          </a:p>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Mach dann eine Pause.</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 Timer liegt neben dem Handy. Eine Person steht auf und macht Pause.]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anke fürs Mitmache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1900000"/>
            <a:ext cx="12192000" cy="12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5400" b="1" i="0" dirty="0">
                <a:solidFill>
                  <a:srgbClr val="FFFFFF"/>
                </a:solidFill>
                <a:latin typeface="Arial" pitchFamily="34" charset="0"/>
                <a:ea typeface="Arial" pitchFamily="34" charset="-122"/>
                <a:cs typeface="Arial" pitchFamily="34" charset="-120"/>
              </a:rPr>
              <a:t>Danke fürs Mitmachen.</a:t>
            </a:r>
          </a:p>
        </p:txBody>
      </p:sp>
      <p:sp>
        <p:nvSpPr>
          <p:cNvPr id="3" name="Text 3"/>
          <p:cNvSpPr/>
          <p:nvPr/>
        </p:nvSpPr>
        <p:spPr>
          <a:xfrm>
            <a:off x="0" y="315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Hast du noch Fragen?</a:t>
            </a:r>
          </a:p>
        </p:txBody>
      </p:sp>
      <p:sp>
        <p:nvSpPr>
          <p:cNvPr id="4" name="Text 4"/>
          <p:cNvSpPr/>
          <p:nvPr/>
        </p:nvSpPr>
        <p:spPr>
          <a:xfrm>
            <a:off x="0" y="410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FFFFFF"/>
                </a:solidFill>
                <a:latin typeface="Arial" pitchFamily="34" charset="0"/>
                <a:ea typeface="Arial" pitchFamily="34" charset="-122"/>
                <a:cs typeface="Arial" pitchFamily="34" charset="-120"/>
              </a:rPr>
              <a:t>Du brauchst Hilfe? Frag eine vertraute Person.</a:t>
            </a:r>
          </a:p>
        </p:txBody>
      </p:sp>
      <p:sp>
        <p:nvSpPr>
          <p:cNvPr id="5" name="Text 5"/>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TikTok sicher und selbstbestimmt nutzen</dc:title>
  <dc:subject>Modul TikTok nach REFERENZMODUL.md – 90-Minuten-Live-Workshop</dc:subject>
  <dc:creator>Alexianer Stift Tilbeck – Digitale Teilhabe</dc:creator>
  <cp:lastModifiedBy>Alexianer Stift Tilbeck – Digitale Teilhabe</cp:lastModifiedBy>
  <cp:revision>2</cp:revision>
  <dcterms:created xsi:type="dcterms:W3CDTF">2026-06-24T06:27:19Z</dcterms:created>
  <dcterms:modified xsi:type="dcterms:W3CDTF">2026-09-18T09:31:19Z</dcterms:modified>
</cp:coreProperties>
</file>