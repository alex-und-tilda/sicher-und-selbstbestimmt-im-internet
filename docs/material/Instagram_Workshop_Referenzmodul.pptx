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S1"/>
    <p:sldId id="257" r:id="rIdS2"/>
    <p:sldId id="258" r:id="rIdS3"/>
    <p:sldId id="259" r:id="rIdS4"/>
    <p:sldId id="260" r:id="rIdS5"/>
    <p:sldId id="261" r:id="rIdS6"/>
    <p:sldId id="262" r:id="rIdS7"/>
    <p:sldId id="263" r:id="rIdS8"/>
    <p:sldId id="264" r:id="rIdS9"/>
    <p:sldId id="265" r:id="rIdS10"/>
    <p:sldId id="266" r:id="rIdS11"/>
    <p:sldId id="267" r:id="rIdS12"/>
    <p:sldId id="268" r:id="rIdS13"/>
    <p:sldId id="269" r:id="rIdS14"/>
    <p:sldId id="270" r:id="rIdS15"/>
    <p:sldId id="271" r:id="rIdS16"/>
    <p:sldId id="272" r:id="rIdS17"/>
    <p:sldId id="273" r:id="rIdS18"/>
    <p:sldId id="274" r:id="rIdS19"/>
    <p:sldId id="275" r:id="rIdS20"/>
    <p:sldId id="276" r:id="rIdS21"/>
    <p:sldId id="277" r:id="rIdS22"/>
    <p:sldId id="278" r:id="rIdS23"/>
    <p:sldId id="279" r:id="rIdS24"/>
    <p:sldId id="280" r:id="rIdS25"/>
    <p:sldId id="281" r:id="rIdS26"/>
    <p:sldId id="282" r:id="rIdS27"/>
    <p:sldId id="283" r:id="rIdS28"/>
    <p:sldId id="284" r:id="rIdS29"/>
    <p:sldId id="285" r:id="rIdS30"/>
    <p:sldId id="286" r:id="rIdS31"/>
    <p:sldId id="287" r:id="rIdS32"/>
    <p:sldId id="288" r:id="rIdS33"/>
    <p:sldId id="289" r:id="rIdS34"/>
    <p:sldId id="290" r:id="rIdS35"/>
    <p:sldId id="291" r:id="rIdS36"/>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 Id="rIdS1" Type="http://schemas.openxmlformats.org/officeDocument/2006/relationships/slide" Target="slides/slide1.xml"/><Relationship Id="rIdS2" Type="http://schemas.openxmlformats.org/officeDocument/2006/relationships/slide" Target="slides/slide2.xml"/><Relationship Id="rIdS3" Type="http://schemas.openxmlformats.org/officeDocument/2006/relationships/slide" Target="slides/slide3.xml"/><Relationship Id="rIdS4" Type="http://schemas.openxmlformats.org/officeDocument/2006/relationships/slide" Target="slides/slide4.xml"/><Relationship Id="rIdS5" Type="http://schemas.openxmlformats.org/officeDocument/2006/relationships/slide" Target="slides/slide5.xml"/><Relationship Id="rIdS6" Type="http://schemas.openxmlformats.org/officeDocument/2006/relationships/slide" Target="slides/slide6.xml"/><Relationship Id="rIdS7" Type="http://schemas.openxmlformats.org/officeDocument/2006/relationships/slide" Target="slides/slide7.xml"/><Relationship Id="rIdS8" Type="http://schemas.openxmlformats.org/officeDocument/2006/relationships/slide" Target="slides/slide8.xml"/><Relationship Id="rIdS9" Type="http://schemas.openxmlformats.org/officeDocument/2006/relationships/slide" Target="slides/slide9.xml"/><Relationship Id="rIdS10" Type="http://schemas.openxmlformats.org/officeDocument/2006/relationships/slide" Target="slides/slide10.xml"/><Relationship Id="rIdS11" Type="http://schemas.openxmlformats.org/officeDocument/2006/relationships/slide" Target="slides/slide11.xml"/><Relationship Id="rIdS12" Type="http://schemas.openxmlformats.org/officeDocument/2006/relationships/slide" Target="slides/slide12.xml"/><Relationship Id="rIdS13" Type="http://schemas.openxmlformats.org/officeDocument/2006/relationships/slide" Target="slides/slide13.xml"/><Relationship Id="rIdS14" Type="http://schemas.openxmlformats.org/officeDocument/2006/relationships/slide" Target="slides/slide14.xml"/><Relationship Id="rIdS15" Type="http://schemas.openxmlformats.org/officeDocument/2006/relationships/slide" Target="slides/slide15.xml"/><Relationship Id="rIdS16" Type="http://schemas.openxmlformats.org/officeDocument/2006/relationships/slide" Target="slides/slide16.xml"/><Relationship Id="rIdS17" Type="http://schemas.openxmlformats.org/officeDocument/2006/relationships/slide" Target="slides/slide17.xml"/><Relationship Id="rIdS18" Type="http://schemas.openxmlformats.org/officeDocument/2006/relationships/slide" Target="slides/slide18.xml"/><Relationship Id="rIdS19" Type="http://schemas.openxmlformats.org/officeDocument/2006/relationships/slide" Target="slides/slide19.xml"/><Relationship Id="rIdS20" Type="http://schemas.openxmlformats.org/officeDocument/2006/relationships/slide" Target="slides/slide20.xml"/><Relationship Id="rIdS21" Type="http://schemas.openxmlformats.org/officeDocument/2006/relationships/slide" Target="slides/slide21.xml"/><Relationship Id="rIdS22" Type="http://schemas.openxmlformats.org/officeDocument/2006/relationships/slide" Target="slides/slide22.xml"/><Relationship Id="rIdS23" Type="http://schemas.openxmlformats.org/officeDocument/2006/relationships/slide" Target="slides/slide23.xml"/><Relationship Id="rIdS24" Type="http://schemas.openxmlformats.org/officeDocument/2006/relationships/slide" Target="slides/slide24.xml"/><Relationship Id="rIdS25" Type="http://schemas.openxmlformats.org/officeDocument/2006/relationships/slide" Target="slides/slide25.xml"/><Relationship Id="rIdS26" Type="http://schemas.openxmlformats.org/officeDocument/2006/relationships/slide" Target="slides/slide26.xml"/><Relationship Id="rIdS27" Type="http://schemas.openxmlformats.org/officeDocument/2006/relationships/slide" Target="slides/slide27.xml"/><Relationship Id="rIdS28" Type="http://schemas.openxmlformats.org/officeDocument/2006/relationships/slide" Target="slides/slide28.xml"/><Relationship Id="rIdS29" Type="http://schemas.openxmlformats.org/officeDocument/2006/relationships/slide" Target="slides/slide29.xml"/><Relationship Id="rIdS30" Type="http://schemas.openxmlformats.org/officeDocument/2006/relationships/slide" Target="slides/slide30.xml"/><Relationship Id="rIdS31" Type="http://schemas.openxmlformats.org/officeDocument/2006/relationships/slide" Target="slides/slide31.xml"/><Relationship Id="rIdS32" Type="http://schemas.openxmlformats.org/officeDocument/2006/relationships/slide" Target="slides/slide32.xml"/><Relationship Id="rIdS33" Type="http://schemas.openxmlformats.org/officeDocument/2006/relationships/slide" Target="slides/slide33.xml"/><Relationship Id="rIdS34" Type="http://schemas.openxmlformats.org/officeDocument/2006/relationships/slide" Target="slides/slide34.xml"/><Relationship Id="rIdS35" Type="http://schemas.openxmlformats.org/officeDocument/2006/relationships/slide" Target="slides/slide35.xml"/><Relationship Id="rIdS36"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Ankommen; Thema und Ziel des Tages kennen.</a:t>
            </a:r>
          </a:p>
          <a:p>
            <a:r>
              <a:rPr lang="de-DE" b="1" sz="1100"/>
              <a:t>Methode: </a:t>
            </a:r>
            <a:r>
              <a:rPr lang="de-DE" sz="1100"/>
              <a:t>Begrüßung, kurze Vorstellungsrunde mit Name oder Wunschname.</a:t>
            </a:r>
          </a:p>
          <a:p>
            <a:r>
              <a:rPr lang="de-DE" b="1" sz="1100"/>
              <a:t>Sozialform: </a:t>
            </a:r>
            <a:r>
              <a:rPr lang="de-DE" sz="1100"/>
              <a:t>Sitzkreis, Plenum</a:t>
            </a:r>
          </a:p>
          <a:p>
            <a:r>
              <a:rPr lang="de-DE" b="1" sz="1100"/>
              <a:t>Zeit: </a:t>
            </a:r>
            <a:r>
              <a:rPr lang="de-DE" sz="1100"/>
              <a:t>ca. 2 Min</a:t>
            </a:r>
          </a:p>
          <a:p>
            <a:r>
              <a:rPr lang="de-DE" b="1" sz="1100"/>
              <a:t>Material: </a:t>
            </a:r>
            <a:r>
              <a:rPr lang="de-DE" sz="1100"/>
              <a:t>Beamer, Namensschilder</a:t>
            </a:r>
          </a:p>
          <a:p>
            <a:r>
              <a:rPr lang="de-DE" b="1" sz="1100"/>
              <a:t>Hinweis: </a:t>
            </a:r>
            <a:r>
              <a:rPr lang="de-DE" sz="1100"/>
              <a:t>Ruhig starten. Ziel in einem Satz: Heute stellen wir Instagram sicher ein und üben einen Plan für schwierige Momente. Niemand muss etwas Eigenes zeigen oder erzählen.</a:t>
            </a:r>
          </a:p>
          <a:p>
            <a:r>
              <a:rPr lang="de-DE" b="1" sz="1100"/>
              <a:t>Bildvorschlag: </a:t>
            </a:r>
            <a:r>
              <a:rPr lang="de-DE" sz="1100"/>
              <a:t>Alex und Tilda als eigene Figuren der Lernplattform (Wiedererkennung Workshop – Lernplattform). Keine fremden Piktogramme.</a:t>
            </a:r>
          </a:p>
          <a:p>
            <a:r>
              <a:rPr lang="de-DE" b="1" sz="1100"/>
              <a:t>Über diesen Leitfaden: </a:t>
            </a:r>
            <a:r>
              <a:rPr lang="de-DE" sz="1100"/>
              <a:t>Pilot Instagram nach REFERENZMODUL.md · Fassung 3 mit den Korrekturen nach dem Codex-Review und dem gemeinsamen Standard aus gemeinsam/BEGRIFFE.md und gemeinsam/MATERIAL.md · Stand 18.09.2026 · 90 Minuten = 86 Minuten Programm + 4 Minuten Puffer. Dieser Leitfaden wird nur hier in den Sprechernotizen gepflegt; die PDF ist ein Export.</a:t>
            </a:r>
          </a:p>
          <a:p>
            <a:r>
              <a:rPr lang="de-DE" b="1" sz="1100"/>
              <a:t>Lernziele des Moduls: </a:t>
            </a:r>
            <a:r>
              <a:rPr lang="de-DE" sz="1100"/>
              <a:t>(1) Die Person sagt, wer bei einem privaten Konto ihre Bilder sieht, und lehnt Anfragen von unbekannten Personen ab. (2) Sie nennt vor dem Posten zwei Prüfpunkte – Hintergrund und Ort – und fragt abgebildete Personen. (3) Sie erkennt Warnzeichen (private Fotos, Geld, Code, Link, Zeitdruck) und nennt ihren Plan: Stopp machen. Zeigen. (4) Sie nennt Schritte bei verletzenden Kommentaren und sagt: Das ist nicht meine Schuld.</a:t>
            </a:r>
          </a:p>
          <a:p>
            <a:r>
              <a:rPr lang="de-DE" b="1" sz="1100"/>
              <a:t>Ablauf: </a:t>
            </a:r>
            <a:r>
              <a:rPr lang="de-DE" sz="1100"/>
              <a:t>0–7 Ankommen · 7–13 Aktivierung · 13–22 Thema 1 Mein Konto · 22–31 Thema 2 Fotos und Ort · 31–40 Thema 3 Fremde wollen etwas · 40–49 Thema 4 Wenn etwas verletzt · 49–59 Pause · 59–74 Praxis · 74–81 Quiz-Gespräch · 81–84 Lernplattform · 84–86 Eine Sache für heute · 86–90 Puffer.</a:t>
            </a:r>
          </a:p>
          <a:p>
            <a:r>
              <a:rPr lang="de-DE" b="1" sz="1100"/>
              <a:t>Material gesamt: </a:t>
            </a:r>
            <a:r>
              <a:rPr lang="de-DE" sz="1100"/>
              <a:t>Beamer, Antwortkarten A/B/C, Namensschilder, Plakat mit Ablauf und Regeln, Hilfe-Karte für jede Person (gemeinsam/HILFE-KARTE.md), Stifte, gedruckte Merk-Karte Instagram der Lernplattform (#thema-instagram:merk), WLAN-Zugang, Ladekabel, Ersatzgerät.</a:t>
            </a:r>
          </a:p>
          <a:p>
            <a:r>
              <a:rPr lang="de-DE" b="1" sz="1100"/>
              <a:t>Vorbereitung am Vortag: </a:t>
            </a:r>
            <a:r>
              <a:rPr lang="de-DE" sz="1100"/>
              <a:t>Praxis-Seite praxis/instagram.html an einem aktuellen Handy durchgehen (Stand der Seite: Juni 2026). Beide QR-Codes und Links testen. Vorderseite der Hilfe-Karte mit den Ansprechpersonen vor Ort ausfüllen, Hilfe-Nummern prüfen und die Karten drucken. Bild-Platzhalter durch eigene Bilder ersetzen oder die Beschreibung mündlich nutzen. Vor dem Praxistest sind vier Bilder verpflichtend: Folie 5 und Folie 12 (dasselbe erfundene Foto, einmal ohne und einmal mit Markierungen), Folie 21 (dasselbe Bild unbearbeitet und bearbeitet) und Folie 22 (Hilfe-Karte mit ausgefüllter Vorderseite). Rollen verteilen: Leitung, Begleitung in der Praxis, Ansprechperson für Einzelgespräche.</a:t>
            </a:r>
          </a:p>
          <a:p>
            <a:r>
              <a:rPr lang="de-DE" b="1" sz="1100"/>
              <a:t>Live oder Lernplattform: </a:t>
            </a:r>
            <a:r>
              <a:rPr lang="de-DE" sz="1100"/>
              <a:t>Live: Konto einstellen, Warnzeichen und Plan, Gefühle bei verletzenden Kommentaren, Selbstwert, Gespräch. Lernplattform (Thema Instagram): Fotos und andere Personen (L1, L2), Stories und Bild vom Bildschirm (L3), Standort (L4), private Nachrichten (L5), verletzende Kommentare (L6), bearbeitete Bilder (L7), Plan (L8), Quiz, Merk-Karte, Alltags-Übung „Ein Konzert-Foto teilen“ – im eigenen Tempo, in drei Sprach-Ebenen, mit Vorlesen. Standardweg ohne Handy oder ohne Konto: die Alltags-Übung „Ein Konzert-Foto teilen“ (#alltag:foto:start). Das Übungs-Handy (#thema-instagram:uebung) nur begleitet und angekündigt, siehe Sensible Themen.</a:t>
            </a:r>
          </a:p>
          <a:p>
            <a:r>
              <a:rPr lang="de-DE" b="1" sz="1100"/>
              <a:t>Sensible Themen: </a:t>
            </a:r>
            <a:r>
              <a:rPr lang="de-DE" sz="1100"/>
              <a:t>Thema 3 und 4 liegen vor der Pause. Auf Anzeichen von Grooming, sexueller Belästigung oder Erpressung achten; bei Verdacht Schutzauftrag der Einrichtung. In der Pause und nach dem Workshop für Einzelgespräche erreichbar sein. Keine privaten Bilder erstellen, zeigen oder teilen lassen. Keine echten Fälle oder Namen aus der Gruppe. Achtung beim Übungs-Handy Instagram: In der dritten Szene fordert eine erfundene Nachricht ein Foto ohne Kleidung. Diese Szene nicht unangekündigt im Standardweg öffnen. Sie ist eine optionale begleitete Vertiefung: vorher ankündigen, danach ein Gespräch anbieten, nur mit stabiler Gruppe und vorbereiteter Begleitung. Das gilt auch für die Lektion L5 und die Quizfrage 3 der Lernplattform.</a:t>
            </a:r>
          </a:p>
          <a:p>
            <a:r>
              <a:rPr lang="de-DE" b="1" sz="1100"/>
              <a:t>Quiz und Datenschutz: </a:t>
            </a:r>
            <a:r>
              <a:rPr lang="de-DE" sz="1100"/>
              <a:t>Standard ist das Kartenquiz auf den Folien 27–32 (kein externer Dienst). Die Kahoot-Datei ist nur eine Vorlage im Kahoot-Format und wird nur nach Klärung mit Träger und Datenschutz genutzt. Welche Funktionen der vorhandene Zugang bietet – Import der Datei, Teams, langes Zeitlimit, Rangliste ausblenden – vorher im eigenen Zugang prüfen. Nichts davon zusagen, was nicht geprüft ist. Grundsatz: möglichst druckarm einstellen, viel Zeit pro Frage, Punkte und Rangliste nicht thematisieren, Teamnamen statt echter Namen, keine Ergebnisse speichern oder exportieren.</a:t>
            </a:r>
          </a:p>
          <a:p>
            <a:r>
              <a:rPr lang="de-DE" b="1" sz="1100"/>
              <a:t>Quiz: Kernfragen und Reservefragen: </a:t>
            </a:r>
            <a:r>
              <a:rPr lang="de-DE" sz="1100"/>
              <a:t>Kernfragen sind die Fragen 1, 3 und 5 (Folien 27, 29 und 31). Sie decken die drei Merksätze ab: privates Konto, Erst prüfen. Dann teilen., Stopp machen. Zeigen. Diese drei werden immer gestellt. Reservefragen sind 2, 4 und 6 (Folien 28, 30 und 32). Sie kommen dazu, wenn Zeit und Aufmerksamkeit reichen. Zuerst die Frage 6 nehmen, wenn verletzende Kommentare in der Gruppe Thema waren. Die Reihenfolge der Folien bleibt 1 bis 6.</a:t>
            </a:r>
          </a:p>
          <a:p>
            <a:r>
              <a:rPr lang="de-DE" b="1" sz="1100"/>
              <a:t>Optionale sensible Gesprächsfrage: </a:t>
            </a:r>
            <a:r>
              <a:rPr lang="de-DE" sz="1100"/>
              <a:t>Nicht im Standard-Quiz. Nur nutzen, wenn die Gruppe stabil ist und die Begleitung vorbereitet ist. Frage: Eine fremde Person bietet dir Geld für ein privates Foto. Was machst du? Antworten: A) Ich schicke das Foto. Das Geld kommt zuerst. B) Ich frage: Wofür brauchst du das Foto? C) Ich schicke nichts. Ich mache Stopp und zeige es einer vertrauten Person. Passend: C. Gesprächsimpuls: Geld für ein privates Foto ist ein Warnzeichen. Du musst nichts schicken. Du kannst Stopp machen und es einer vertrauten Person zeigen. Wenn es dir passiert: Das ist nicht deine Schuld. Du kannst Hilfe holen. Bei Hinweisen auf eigene Betroffenheit: nicht in der Gruppe vertiefen, Einzelgespräch, Schutzauftrag. Lernplattform: Instagram L5, Quiz Frage 3.</a:t>
            </a:r>
          </a:p>
          <a:p>
            <a:r>
              <a:rPr lang="de-DE" b="1" sz="1100"/>
              <a:t>Bilder: </a:t>
            </a:r>
            <a:r>
              <a:rPr lang="de-DE" sz="1100"/>
              <a:t>Diese Fassung enthält keine Piktogramme. Die grau gestrichelten Rahmen sind Platzhalter für eigene oder eigens erstellte Bilder. Jeder Platzhalter ist im Feld Bildvorschlag beschrieben. Verpflichtend vor dem Praxistest: Folie 5 und 12 (dasselbe Foto), Folie 21 (Vergleichsbild unbearbeitet und bearbeitet), Folie 22 (Hilfe-Karte). Die übrigen Platzhalter dürfen im Praxistest noch als Beschreibung vorgelesen werden.</a:t>
            </a:r>
          </a:p>
          <a:p>
            <a:r>
              <a:rPr lang="de-DE" b="1" sz="1100"/>
              <a:t>Bekannte Widersprüche zur Lernplattform: </a:t>
            </a:r>
            <a:r>
              <a:rPr lang="de-DE" sz="1100"/>
              <a:t>Diese Punkte sind bekannt und in dieser Runde bewusst nicht geändert worden. Sie werden später an beiden Stellen geklärt. Die vollständige Liste für alle Module steht in gemeinsam/BEGRIFFE.md, Abschnitt 3. 1. Freunde oder Follower: Der Workshop sagt Follower. Der Kurz-Modus der Lernplattform sagt noch: Dann sehen nur Freunde deine Fotos. Bei Nachfrage kurz erklären. 2. Standort: Der Ort lässt sich auch am Hintergrund erkennen, zum Beispiel am Straßen-Schild oder am Klingelschild. Eine ausgeschaltete Standort-Freigabe allein schützt also nicht. Das gehört zu Folie 12. 3. Merk-Karte: Die fünf Sätze auf Folie 33 sind nicht wortgleich mit der Merk-Karte der Lernplattform. Beides passt inhaltlich zusammen. Beim Austeilen darauf hinweisen.</a:t>
            </a:r>
          </a:p>
        </p:txBody>
      </p:sp>
      <p:sp>
        <p:nvSpPr>
          <p:cNvPr id="4" name="Slide Number Placeholder 3"/>
          <p:cNvSpPr>
            <a:spLocks noGrp="1"/>
          </p:cNvSpPr>
          <p:nvPr>
            <p:ph type="sldNum" sz="quarter" idx="10"/>
          </p:nvPr>
        </p:nvSpPr>
        <p:spPr/>
        <p:txBody>
          <a:bodyPr/>
          <a:lstStyle/>
          <a:p>
            <a:fld id="{F7021451-1387-4CA6-816F-3879F97B5CBC}" type="slidenum">
              <a:rPr lang="de-DE"/>
              <a:t>1</a:t>
            </a:fld>
            <a:endParaRPr lang="de-D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Überblick über den Ablauf; Vorhersehbarkeit.</a:t>
            </a:r>
          </a:p>
          <a:p>
            <a:r>
              <a:rPr lang="de-DE" b="1" sz="1100"/>
              <a:t>Methode: </a:t>
            </a:r>
            <a:r>
              <a:rPr lang="de-DE" sz="1100"/>
              <a:t>Ablauf vorlesen, auf Pause und Praxis hinweisen.</a:t>
            </a:r>
          </a:p>
          <a:p>
            <a:r>
              <a:rPr lang="de-DE" b="1" sz="1100"/>
              <a:t>Sozialform: </a:t>
            </a:r>
            <a:r>
              <a:rPr lang="de-DE" sz="1100"/>
              <a:t>Plenum</a:t>
            </a:r>
          </a:p>
          <a:p>
            <a:r>
              <a:rPr lang="de-DE" b="1" sz="1100"/>
              <a:t>Zeit: </a:t>
            </a:r>
            <a:r>
              <a:rPr lang="de-DE" sz="1100"/>
              <a:t>ca. 2 Min</a:t>
            </a:r>
          </a:p>
          <a:p>
            <a:r>
              <a:rPr lang="de-DE" b="1" sz="1100"/>
              <a:t>Material: </a:t>
            </a:r>
            <a:r>
              <a:rPr lang="de-DE" sz="1100"/>
              <a:t>Beamer, Ablauf als Plakat</a:t>
            </a:r>
          </a:p>
          <a:p>
            <a:r>
              <a:rPr lang="de-DE" b="1" sz="1100"/>
              <a:t>Hinweis: </a:t>
            </a:r>
            <a:r>
              <a:rPr lang="de-DE" sz="1100"/>
              <a:t>Die Nummern 1–4 sind die vier Themen. Sie stehen genauso auf den Trennfolien. Sagen: Nach der Pause stellen wir Instagram zusammen am Handy ein.</a:t>
            </a:r>
          </a:p>
        </p:txBody>
      </p:sp>
      <p:sp>
        <p:nvSpPr>
          <p:cNvPr id="4" name="Slide Number Placeholder 3"/>
          <p:cNvSpPr>
            <a:spLocks noGrp="1"/>
          </p:cNvSpPr>
          <p:nvPr>
            <p:ph type="sldNum" sz="quarter" idx="10"/>
          </p:nvPr>
        </p:nvSpPr>
        <p:spPr/>
        <p:txBody>
          <a:bodyPr/>
          <a:lstStyle/>
          <a:p>
            <a:fld id="{F7021451-1387-4CA6-816F-3879F97B5CBC}" type="slidenum">
              <a:rPr lang="de-DE"/>
              <a:t>2</a:t>
            </a:fld>
            <a:endParaRPr lang="de-D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Sichere Lernatmosphäre; Selbstbestimmung erleben.</a:t>
            </a:r>
          </a:p>
          <a:p>
            <a:r>
              <a:rPr lang="de-DE" b="1" sz="1100"/>
              <a:t>Methode: </a:t>
            </a:r>
            <a:r>
              <a:rPr lang="de-DE" sz="1100"/>
              <a:t>Regeln vorlesen, gemeinsam zustimmen.</a:t>
            </a:r>
          </a:p>
          <a:p>
            <a:r>
              <a:rPr lang="de-DE" b="1" sz="1100"/>
              <a:t>Sozialform: </a:t>
            </a:r>
            <a:r>
              <a:rPr lang="de-DE" sz="1100"/>
              <a:t>Plenum</a:t>
            </a:r>
          </a:p>
          <a:p>
            <a:r>
              <a:rPr lang="de-DE" b="1" sz="1100"/>
              <a:t>Zeit: </a:t>
            </a:r>
            <a:r>
              <a:rPr lang="de-DE" sz="1100"/>
              <a:t>ca. 3 Min</a:t>
            </a:r>
          </a:p>
          <a:p>
            <a:r>
              <a:rPr lang="de-DE" b="1" sz="1100"/>
              <a:t>Material: </a:t>
            </a:r>
            <a:r>
              <a:rPr lang="de-DE" sz="1100"/>
              <a:t>Plakat mit Regeln</a:t>
            </a:r>
          </a:p>
          <a:p>
            <a:r>
              <a:rPr lang="de-DE" b="1" sz="1100"/>
              <a:t>Hinweis: </a:t>
            </a:r>
            <a:r>
              <a:rPr lang="de-DE" sz="1100"/>
              <a:t>Kernbotschaft: Fehler sind erlaubt. Niemand muss etwas zeigen, posten oder erzählen. Die Regel „Du musst nicht mitmachen“ ausdrücklich sagen.</a:t>
            </a:r>
          </a:p>
        </p:txBody>
      </p:sp>
      <p:sp>
        <p:nvSpPr>
          <p:cNvPr id="4" name="Slide Number Placeholder 3"/>
          <p:cNvSpPr>
            <a:spLocks noGrp="1"/>
          </p:cNvSpPr>
          <p:nvPr>
            <p:ph type="sldNum" sz="quarter" idx="10"/>
          </p:nvPr>
        </p:nvSpPr>
        <p:spPr/>
        <p:txBody>
          <a:bodyPr/>
          <a:lstStyle/>
          <a:p>
            <a:fld id="{F7021451-1387-4CA6-816F-3879F97B5CBC}" type="slidenum">
              <a:rPr lang="de-DE"/>
              <a:t>3</a:t>
            </a:fld>
            <a:endParaRPr lang="de-D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Eigene Sicherheit einschätzen; das Thema persönlich öffnen.</a:t>
            </a:r>
          </a:p>
          <a:p>
            <a:r>
              <a:rPr lang="de-DE" b="1" sz="1100"/>
              <a:t>Methode: </a:t>
            </a:r>
            <a:r>
              <a:rPr lang="de-DE" sz="1100"/>
              <a:t>Einstiegsfrage mit Handzeichen oder Antwortkarten A/B/C.</a:t>
            </a:r>
          </a:p>
          <a:p>
            <a:r>
              <a:rPr lang="de-DE" b="1" sz="1100"/>
              <a:t>Sozialform: </a:t>
            </a:r>
            <a:r>
              <a:rPr lang="de-DE" sz="1100"/>
              <a:t>Plenum</a:t>
            </a:r>
          </a:p>
          <a:p>
            <a:r>
              <a:rPr lang="de-DE" b="1" sz="1100"/>
              <a:t>Zeit: </a:t>
            </a:r>
            <a:r>
              <a:rPr lang="de-DE" sz="1100"/>
              <a:t>ca. 2 Min</a:t>
            </a:r>
          </a:p>
          <a:p>
            <a:r>
              <a:rPr lang="de-DE" b="1" sz="1100"/>
              <a:t>Material: </a:t>
            </a:r>
            <a:r>
              <a:rPr lang="de-DE" sz="1100"/>
              <a:t>Antwortkarten A/B/C</a:t>
            </a:r>
          </a:p>
          <a:p>
            <a:r>
              <a:rPr lang="de-DE" b="1" sz="1100"/>
              <a:t>Hinweis: </a:t>
            </a:r>
            <a:r>
              <a:rPr lang="de-DE" sz="1100"/>
              <a:t>Nicht nachfragen, nicht bewerten. Die Frage ist dieselbe wie beim Einstieg ins Thema Instagram auf der Lernplattform. Am Ende kann sie noch einmal gestellt werden.</a:t>
            </a:r>
          </a:p>
          <a:p>
            <a:r>
              <a:rPr lang="de-DE" b="1" sz="1100"/>
              <a:t>Lernplattform: </a:t>
            </a:r>
            <a:r>
              <a:rPr lang="de-DE" sz="1100"/>
              <a:t>Einstiegsfrage Thema Instagram.</a:t>
            </a:r>
          </a:p>
        </p:txBody>
      </p:sp>
      <p:sp>
        <p:nvSpPr>
          <p:cNvPr id="4" name="Slide Number Placeholder 3"/>
          <p:cNvSpPr>
            <a:spLocks noGrp="1"/>
          </p:cNvSpPr>
          <p:nvPr>
            <p:ph type="sldNum" sz="quarter" idx="10"/>
          </p:nvPr>
        </p:nvSpPr>
        <p:spPr/>
        <p:txBody>
          <a:bodyPr/>
          <a:lstStyle/>
          <a:p>
            <a:fld id="{F7021451-1387-4CA6-816F-3879F97B5CBC}" type="slidenum">
              <a:rPr lang="de-DE"/>
              <a:t>4</a:t>
            </a:fld>
            <a:endParaRPr lang="de-D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Aufmerksam werden: Ein Foto zeigt oft mehr als gedacht.</a:t>
            </a:r>
          </a:p>
          <a:p>
            <a:r>
              <a:rPr lang="de-DE" b="1" sz="1100"/>
              <a:t>Methode: </a:t>
            </a:r>
            <a:r>
              <a:rPr lang="de-DE" sz="1100"/>
              <a:t>Bildimpuls, gemeinsam Details suchen.</a:t>
            </a:r>
          </a:p>
          <a:p>
            <a:r>
              <a:rPr lang="de-DE" b="1" sz="1100"/>
              <a:t>Sozialform: </a:t>
            </a:r>
            <a:r>
              <a:rPr lang="de-DE" sz="1100"/>
              <a:t>Plenum oder Paare</a:t>
            </a:r>
          </a:p>
          <a:p>
            <a:r>
              <a:rPr lang="de-DE" b="1" sz="1100"/>
              <a:t>Zeit: </a:t>
            </a:r>
            <a:r>
              <a:rPr lang="de-DE" sz="1100"/>
              <a:t>ca. 4 Min</a:t>
            </a:r>
          </a:p>
          <a:p>
            <a:r>
              <a:rPr lang="de-DE" b="1" sz="1100"/>
              <a:t>Material: </a:t>
            </a:r>
            <a:r>
              <a:rPr lang="de-DE" sz="1100"/>
              <a:t>Beamer, erfundenes Beispielfoto</a:t>
            </a:r>
          </a:p>
          <a:p>
            <a:r>
              <a:rPr lang="de-DE" b="1" sz="1100"/>
              <a:t>Hinweis: </a:t>
            </a:r>
            <a:r>
              <a:rPr lang="de-DE" sz="1100"/>
              <a:t>Nur ein erfundenes oder eigens erstelltes Foto verwenden, nie Fotos von Teilnehmenden. Sammeln, noch nicht bewerten. Die Auflösung kommt in Thema 2 (Folie 12).</a:t>
            </a:r>
          </a:p>
          <a:p>
            <a:r>
              <a:rPr lang="de-DE" b="1" sz="1100"/>
              <a:t>Bildvorschlag: </a:t>
            </a:r>
            <a:r>
              <a:rPr lang="de-DE" sz="1100"/>
              <a:t>PFLICHT VOR DEM PRAXISTEST. Eigens erstelltes Foto: Person macht ein Selfie in der Wohnung; gut erkennbar im Hintergrund ein Brief mit Adresse auf dem Tisch und ein Fenster mit Straßen-Schild. Funktion: Suchaufgabe zur Aktivierung; wird auf Folie 12 mit Markierungen wieder aufgegriffen.</a:t>
            </a:r>
          </a:p>
          <a:p>
            <a:r>
              <a:rPr lang="de-DE" b="1" sz="1100"/>
              <a:t>Lernplattform: </a:t>
            </a:r>
            <a:r>
              <a:rPr lang="de-DE" sz="1100"/>
              <a:t>Begleit-Ebene Instagram, Methodik: Hintergrund-Suche.</a:t>
            </a:r>
          </a:p>
        </p:txBody>
      </p:sp>
      <p:sp>
        <p:nvSpPr>
          <p:cNvPr id="4" name="Slide Number Placeholder 3"/>
          <p:cNvSpPr>
            <a:spLocks noGrp="1"/>
          </p:cNvSpPr>
          <p:nvPr>
            <p:ph type="sldNum" sz="quarter" idx="10"/>
          </p:nvPr>
        </p:nvSpPr>
        <p:spPr/>
        <p:txBody>
          <a:bodyPr/>
          <a:lstStyle/>
          <a:p>
            <a:fld id="{F7021451-1387-4CA6-816F-3879F97B5CBC}" type="slidenum">
              <a:rPr lang="de-DE"/>
              <a:t>5</a:t>
            </a:fld>
            <a:endParaRPr lang="de-D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Übergang zu Thema 1: Mein Konto.</a:t>
            </a:r>
          </a:p>
          <a:p>
            <a:r>
              <a:rPr lang="de-DE" b="1" sz="1100"/>
              <a:t>Methode: </a:t>
            </a:r>
            <a:r>
              <a:rPr lang="de-DE" sz="1100"/>
              <a:t>Kurzer Impuls.</a:t>
            </a:r>
          </a:p>
          <a:p>
            <a:r>
              <a:rPr lang="de-DE" b="1" sz="1100"/>
              <a:t>Sozialform: </a:t>
            </a:r>
            <a:r>
              <a:rPr lang="de-DE" sz="1100"/>
              <a:t>Plenum</a:t>
            </a:r>
          </a:p>
          <a:p>
            <a:r>
              <a:rPr lang="de-DE" b="1" sz="1100"/>
              <a:t>Zeit: </a:t>
            </a:r>
            <a:r>
              <a:rPr lang="de-DE" sz="1100"/>
              <a:t>ca. 1 Min</a:t>
            </a:r>
          </a:p>
          <a:p>
            <a:r>
              <a:rPr lang="de-DE" b="1" sz="1100"/>
              <a:t>Material: </a:t>
            </a:r>
            <a:r>
              <a:rPr lang="de-DE" sz="1100"/>
              <a:t>Beamer</a:t>
            </a:r>
          </a:p>
          <a:p>
            <a:r>
              <a:rPr lang="de-DE" b="1" sz="1100"/>
              <a:t>Hinweis: </a:t>
            </a:r>
            <a:r>
              <a:rPr lang="de-DE" sz="1100"/>
              <a:t>Frage an die Gruppe: Wer kann eigentlich deine Bilder sehen?</a:t>
            </a:r>
          </a:p>
        </p:txBody>
      </p:sp>
      <p:sp>
        <p:nvSpPr>
          <p:cNvPr id="4" name="Slide Number Placeholder 3"/>
          <p:cNvSpPr>
            <a:spLocks noGrp="1"/>
          </p:cNvSpPr>
          <p:nvPr>
            <p:ph type="sldNum" sz="quarter" idx="10"/>
          </p:nvPr>
        </p:nvSpPr>
        <p:spPr/>
        <p:txBody>
          <a:bodyPr/>
          <a:lstStyle/>
          <a:p>
            <a:fld id="{F7021451-1387-4CA6-816F-3879F97B5CBC}" type="slidenum">
              <a:rPr lang="de-DE"/>
              <a:t>6</a:t>
            </a:fld>
            <a:endParaRPr lang="de-D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Wichtige Begriffe kennen: Profil, Beitrag, Story, Follower, private Nachricht.</a:t>
            </a:r>
          </a:p>
          <a:p>
            <a:r>
              <a:rPr lang="de-DE" b="1" sz="1100"/>
              <a:t>Methode: </a:t>
            </a:r>
            <a:r>
              <a:rPr lang="de-DE" sz="1100"/>
              <a:t>Vorwissen abfragen, Begriffe klären.</a:t>
            </a:r>
          </a:p>
          <a:p>
            <a:r>
              <a:rPr lang="de-DE" b="1" sz="1100"/>
              <a:t>Sozialform: </a:t>
            </a:r>
            <a:r>
              <a:rPr lang="de-DE" sz="1100"/>
              <a:t>Plenum</a:t>
            </a:r>
          </a:p>
          <a:p>
            <a:r>
              <a:rPr lang="de-DE" b="1" sz="1100"/>
              <a:t>Zeit: </a:t>
            </a:r>
            <a:r>
              <a:rPr lang="de-DE" sz="1100"/>
              <a:t>ca. 2 Min</a:t>
            </a:r>
          </a:p>
          <a:p>
            <a:r>
              <a:rPr lang="de-DE" b="1" sz="1100"/>
              <a:t>Material: </a:t>
            </a:r>
            <a:r>
              <a:rPr lang="de-DE" sz="1100"/>
              <a:t>Beamer</a:t>
            </a:r>
          </a:p>
          <a:p>
            <a:r>
              <a:rPr lang="de-DE" b="1" sz="1100"/>
              <a:t>Hinweis: </a:t>
            </a:r>
            <a:r>
              <a:rPr lang="de-DE" sz="1100"/>
              <a:t>Erwachsene kennen die App oft. Erst fragen: Wer nutzt Instagram? Wer schaut nur? Begriffe so erklären, wie sie auf der Lernplattform heißen. Nicht bewerten, wer die App nutzt oder nicht. Bei der privaten Nachricht ergänzen: Eine private Nachricht kann auch an mehrere Personen gehen. Dann lesen alle in dieser Gruppe mit.</a:t>
            </a:r>
          </a:p>
          <a:p>
            <a:r>
              <a:rPr lang="de-DE" b="1" sz="1100"/>
              <a:t>Lernplattform: </a:t>
            </a:r>
            <a:r>
              <a:rPr lang="de-DE" sz="1100"/>
              <a:t>Wörter-Hilfe der Lernplattform; Thema Instagram.</a:t>
            </a:r>
          </a:p>
        </p:txBody>
      </p:sp>
      <p:sp>
        <p:nvSpPr>
          <p:cNvPr id="4" name="Slide Number Placeholder 3"/>
          <p:cNvSpPr>
            <a:spLocks noGrp="1"/>
          </p:cNvSpPr>
          <p:nvPr>
            <p:ph type="sldNum" sz="quarter" idx="10"/>
          </p:nvPr>
        </p:nvSpPr>
        <p:spPr/>
        <p:txBody>
          <a:bodyPr/>
          <a:lstStyle/>
          <a:p>
            <a:fld id="{F7021451-1387-4CA6-816F-3879F97B5CBC}" type="slidenum">
              <a:rPr lang="de-DE"/>
              <a:t>7</a:t>
            </a:fld>
            <a:endParaRPr lang="de-D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Den Unterschied zwischen privatem und öffentlichem Konto erklären können.</a:t>
            </a:r>
          </a:p>
          <a:p>
            <a:r>
              <a:rPr lang="de-DE" b="1" sz="1100"/>
              <a:t>Methode: </a:t>
            </a:r>
            <a:r>
              <a:rPr lang="de-DE" sz="1100"/>
              <a:t>Vergleich, Lehrgespräch.</a:t>
            </a:r>
          </a:p>
          <a:p>
            <a:r>
              <a:rPr lang="de-DE" b="1" sz="1100"/>
              <a:t>Sozialform: </a:t>
            </a:r>
            <a:r>
              <a:rPr lang="de-DE" sz="1100"/>
              <a:t>Plenum</a:t>
            </a:r>
          </a:p>
          <a:p>
            <a:r>
              <a:rPr lang="de-DE" b="1" sz="1100"/>
              <a:t>Zeit: </a:t>
            </a:r>
            <a:r>
              <a:rPr lang="de-DE" sz="1100"/>
              <a:t>ca. 3 Min</a:t>
            </a:r>
          </a:p>
          <a:p>
            <a:r>
              <a:rPr lang="de-DE" b="1" sz="1100"/>
              <a:t>Material: </a:t>
            </a:r>
            <a:r>
              <a:rPr lang="de-DE" sz="1100"/>
              <a:t>Beamer</a:t>
            </a:r>
          </a:p>
          <a:p>
            <a:r>
              <a:rPr lang="de-DE" b="1" sz="1100"/>
              <a:t>Hinweis: </a:t>
            </a:r>
            <a:r>
              <a:rPr lang="de-DE" sz="1100"/>
              <a:t>Botschaft: Privat ist sicherer. Bei einem privaten Konto sehen nur bestätigte Follower die Bilder. Unterschied nicht nur über Farbe erklären, sondern über die Wörter. Keine Menüwege zeigen – das Einstellen kommt in der Praxis nach der Pause.</a:t>
            </a:r>
          </a:p>
          <a:p>
            <a:r>
              <a:rPr lang="de-DE" b="1" sz="1100"/>
              <a:t>Bildvorschlag: </a:t>
            </a:r>
            <a:r>
              <a:rPr lang="de-DE" sz="1100"/>
              <a:t>Zwei eigene Bilder: (1) Profil mit Schloss, wenige bekannte Menschen schauen zu. (2) Offenes Profil, viele unbekannte Menschen schauen zu. Funktion: Unterschied ohne Lesen erkennbar. Keine nachgebauten App-Oberflächen.</a:t>
            </a:r>
          </a:p>
          <a:p>
            <a:r>
              <a:rPr lang="de-DE" b="1" sz="1100"/>
              <a:t>Lernplattform: </a:t>
            </a:r>
            <a:r>
              <a:rPr lang="de-DE" sz="1100"/>
              <a:t>Übungs-Handy Instagram (#thema-instagram:uebung), Kurz-Modus.</a:t>
            </a:r>
          </a:p>
        </p:txBody>
      </p:sp>
      <p:sp>
        <p:nvSpPr>
          <p:cNvPr id="4" name="Slide Number Placeholder 3"/>
          <p:cNvSpPr>
            <a:spLocks noGrp="1"/>
          </p:cNvSpPr>
          <p:nvPr>
            <p:ph type="sldNum" sz="quarter" idx="10"/>
          </p:nvPr>
        </p:nvSpPr>
        <p:spPr/>
        <p:txBody>
          <a:bodyPr/>
          <a:lstStyle/>
          <a:p>
            <a:fld id="{F7021451-1387-4CA6-816F-3879F97B5CBC}" type="slidenum">
              <a:rPr lang="de-DE"/>
              <a:t>8</a:t>
            </a:fld>
            <a:endParaRPr lang="de-D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Eine Anfrage von einer unbekannten Person ablehnen können.</a:t>
            </a:r>
          </a:p>
          <a:p>
            <a:r>
              <a:rPr lang="de-DE" b="1" sz="1100"/>
              <a:t>Methode: </a:t>
            </a:r>
            <a:r>
              <a:rPr lang="de-DE" sz="1100"/>
              <a:t>Lehrgespräch mit Beispiel.</a:t>
            </a:r>
          </a:p>
          <a:p>
            <a:r>
              <a:rPr lang="de-DE" b="1" sz="1100"/>
              <a:t>Sozialform: </a:t>
            </a:r>
            <a:r>
              <a:rPr lang="de-DE" sz="1100"/>
              <a:t>Plenum</a:t>
            </a:r>
          </a:p>
          <a:p>
            <a:r>
              <a:rPr lang="de-DE" b="1" sz="1100"/>
              <a:t>Zeit: </a:t>
            </a:r>
            <a:r>
              <a:rPr lang="de-DE" sz="1100"/>
              <a:t>ca. 3 Min</a:t>
            </a:r>
          </a:p>
          <a:p>
            <a:r>
              <a:rPr lang="de-DE" b="1" sz="1100"/>
              <a:t>Material: </a:t>
            </a:r>
            <a:r>
              <a:rPr lang="de-DE" sz="1100"/>
              <a:t>Beamer</a:t>
            </a:r>
          </a:p>
          <a:p>
            <a:r>
              <a:rPr lang="de-DE" b="1" sz="1100"/>
              <a:t>Hinweis: </a:t>
            </a:r>
            <a:r>
              <a:rPr lang="de-DE" sz="1100"/>
              <a:t>„Nein sagen ist erlaubt.“ Eine Anfrage muss niemand annehmen. Bei Unsicherheit eine vertraute Person fragen. Die Lernplattform hat dazu noch keine eigene Lektion – hier ergänzt der Workshop.</a:t>
            </a:r>
          </a:p>
        </p:txBody>
      </p:sp>
      <p:sp>
        <p:nvSpPr>
          <p:cNvPr id="4" name="Slide Number Placeholder 3"/>
          <p:cNvSpPr>
            <a:spLocks noGrp="1"/>
          </p:cNvSpPr>
          <p:nvPr>
            <p:ph type="sldNum" sz="quarter" idx="10"/>
          </p:nvPr>
        </p:nvSpPr>
        <p:spPr/>
        <p:txBody>
          <a:bodyPr/>
          <a:lstStyle/>
          <a:p>
            <a:fld id="{F7021451-1387-4CA6-816F-3879F97B5CBC}" type="slidenum">
              <a:rPr lang="de-DE"/>
              <a:t>9</a:t>
            </a:fld>
            <a:endParaRPr lang="de-D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Übergang zu Thema 2: Fotos und Ort.</a:t>
            </a:r>
          </a:p>
          <a:p>
            <a:r>
              <a:rPr lang="de-DE" b="1" sz="1100"/>
              <a:t>Methode: </a:t>
            </a:r>
            <a:r>
              <a:rPr lang="de-DE" sz="1100"/>
              <a:t>Kurzer Impuls.</a:t>
            </a:r>
          </a:p>
          <a:p>
            <a:r>
              <a:rPr lang="de-DE" b="1" sz="1100"/>
              <a:t>Sozialform: </a:t>
            </a:r>
            <a:r>
              <a:rPr lang="de-DE" sz="1100"/>
              <a:t>Plenum</a:t>
            </a:r>
          </a:p>
          <a:p>
            <a:r>
              <a:rPr lang="de-DE" b="1" sz="1100"/>
              <a:t>Zeit: </a:t>
            </a:r>
            <a:r>
              <a:rPr lang="de-DE" sz="1100"/>
              <a:t>ca. 1 Min</a:t>
            </a:r>
          </a:p>
          <a:p>
            <a:r>
              <a:rPr lang="de-DE" b="1" sz="1100"/>
              <a:t>Material: </a:t>
            </a:r>
            <a:r>
              <a:rPr lang="de-DE" sz="1100"/>
              <a:t>Beamer</a:t>
            </a:r>
          </a:p>
          <a:p>
            <a:r>
              <a:rPr lang="de-DE" b="1" sz="1100"/>
              <a:t>Hinweis: </a:t>
            </a:r>
            <a:r>
              <a:rPr lang="de-DE" sz="1100"/>
              <a:t>Frage an die Gruppe: Worauf achtest du vor dem Posten?</a:t>
            </a:r>
          </a:p>
        </p:txBody>
      </p:sp>
      <p:sp>
        <p:nvSpPr>
          <p:cNvPr id="4" name="Slide Number Placeholder 3"/>
          <p:cNvSpPr>
            <a:spLocks noGrp="1"/>
          </p:cNvSpPr>
          <p:nvPr>
            <p:ph type="sldNum" sz="quarter" idx="10"/>
          </p:nvPr>
        </p:nvSpPr>
        <p:spPr/>
        <p:txBody>
          <a:bodyPr/>
          <a:lstStyle/>
          <a:p>
            <a:fld id="{F7021451-1387-4CA6-816F-3879F97B5CBC}" type="slidenum">
              <a:rPr lang="de-DE"/>
              <a:t>10</a:t>
            </a:fld>
            <a:endParaRPr lang="de-D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Verstehen: Fotos und Stories können gespeichert und weitergeschickt werden.</a:t>
            </a:r>
          </a:p>
          <a:p>
            <a:r>
              <a:rPr lang="de-DE" b="1" sz="1100"/>
              <a:t>Methode: </a:t>
            </a:r>
            <a:r>
              <a:rPr lang="de-DE" sz="1100"/>
              <a:t>Lehrgespräch.</a:t>
            </a:r>
          </a:p>
          <a:p>
            <a:r>
              <a:rPr lang="de-DE" b="1" sz="1100"/>
              <a:t>Sozialform: </a:t>
            </a:r>
            <a:r>
              <a:rPr lang="de-DE" sz="1100"/>
              <a:t>Plenum</a:t>
            </a:r>
          </a:p>
          <a:p>
            <a:r>
              <a:rPr lang="de-DE" b="1" sz="1100"/>
              <a:t>Zeit: </a:t>
            </a:r>
            <a:r>
              <a:rPr lang="de-DE" sz="1100"/>
              <a:t>ca. 2 Min</a:t>
            </a:r>
          </a:p>
          <a:p>
            <a:r>
              <a:rPr lang="de-DE" b="1" sz="1100"/>
              <a:t>Material: </a:t>
            </a:r>
            <a:r>
              <a:rPr lang="de-DE" sz="1100"/>
              <a:t>Beamer</a:t>
            </a:r>
          </a:p>
          <a:p>
            <a:r>
              <a:rPr lang="de-DE" b="1" sz="1100"/>
              <a:t>Hinweis: </a:t>
            </a:r>
            <a:r>
              <a:rPr lang="de-DE" sz="1100"/>
              <a:t>Ruhig, ohne Angst. Auch Stories können mit einem Bild vom Bildschirm gespeichert werden.</a:t>
            </a:r>
          </a:p>
          <a:p>
            <a:r>
              <a:rPr lang="de-DE" b="1" sz="1100"/>
              <a:t>Bildvorschlag: </a:t>
            </a:r>
            <a:r>
              <a:rPr lang="de-DE" sz="1100"/>
              <a:t>Eigenes Bild: Ein Foto wird auf mehreren Handys gespeichert und weitergeschickt (Pfeile). Funktion: Weiterverbreitung sichtbar machen.</a:t>
            </a:r>
          </a:p>
          <a:p>
            <a:r>
              <a:rPr lang="de-DE" b="1" sz="1100"/>
              <a:t>Lernplattform: </a:t>
            </a:r>
            <a:r>
              <a:rPr lang="de-DE" sz="1100"/>
              <a:t>Instagram L3 (Kurze Videos und Stories), Quiz Frage 4.</a:t>
            </a:r>
          </a:p>
        </p:txBody>
      </p:sp>
      <p:sp>
        <p:nvSpPr>
          <p:cNvPr id="4" name="Slide Number Placeholder 3"/>
          <p:cNvSpPr>
            <a:spLocks noGrp="1"/>
          </p:cNvSpPr>
          <p:nvPr>
            <p:ph type="sldNum" sz="quarter" idx="10"/>
          </p:nvPr>
        </p:nvSpPr>
        <p:spPr/>
        <p:txBody>
          <a:bodyPr/>
          <a:lstStyle/>
          <a:p>
            <a:fld id="{F7021451-1387-4CA6-816F-3879F97B5CBC}" type="slidenum">
              <a:rPr lang="de-DE"/>
              <a:t>11</a:t>
            </a:fld>
            <a:endParaRPr lang="de-DE"/>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Vor dem Posten Hintergrund, Ort, andere Personen und private Daten prüfen.</a:t>
            </a:r>
          </a:p>
          <a:p>
            <a:r>
              <a:rPr lang="de-DE" b="1" sz="1100"/>
              <a:t>Methode: </a:t>
            </a:r>
            <a:r>
              <a:rPr lang="de-DE" sz="1100"/>
              <a:t>Auflösung Foto-Detektiv; Paar-Gespräch: Was würdest du ändern?</a:t>
            </a:r>
          </a:p>
          <a:p>
            <a:r>
              <a:rPr lang="de-DE" b="1" sz="1100"/>
              <a:t>Sozialform: </a:t>
            </a:r>
            <a:r>
              <a:rPr lang="de-DE" sz="1100"/>
              <a:t>Paare, Plenum</a:t>
            </a:r>
          </a:p>
          <a:p>
            <a:r>
              <a:rPr lang="de-DE" b="1" sz="1100"/>
              <a:t>Zeit: </a:t>
            </a:r>
            <a:r>
              <a:rPr lang="de-DE" sz="1100"/>
              <a:t>ca. 4 Min</a:t>
            </a:r>
          </a:p>
          <a:p>
            <a:r>
              <a:rPr lang="de-DE" b="1" sz="1100"/>
              <a:t>Material: </a:t>
            </a:r>
            <a:r>
              <a:rPr lang="de-DE" sz="1100"/>
              <a:t>Beamer, Beispielfoto von Folie 5</a:t>
            </a:r>
          </a:p>
          <a:p>
            <a:r>
              <a:rPr lang="de-DE" b="1" sz="1100"/>
              <a:t>Hinweis: </a:t>
            </a:r>
            <a:r>
              <a:rPr lang="de-DE" sz="1100"/>
              <a:t>Das Foto von Folie 5 wieder zeigen. Andere Personen auf Fotos vorher fragen (Recht am eigenen Bild). „Ort markieren“ (im Beitrag) und „Standort-Freigabe“ (Einstellung) getrennt erklären. Wichtig: Der Ort lässt sich auch am Hintergrund erkennen – Straßen-Schild, Haus-Nummer, Klingelschild, Bus-Haltestelle. Eine ausgeschaltete Standort-Freigabe allein schützt also nicht. Deshalb bleibt der Blick auf den Hintergrund der erste Prüfpunkt.</a:t>
            </a:r>
          </a:p>
          <a:p>
            <a:r>
              <a:rPr lang="de-DE" b="1" sz="1100"/>
              <a:t>Bildvorschlag: </a:t>
            </a:r>
            <a:r>
              <a:rPr lang="de-DE" sz="1100"/>
              <a:t>PFLICHT VOR DEM PRAXISTEST. Dasselbe Foto wie auf Folie 5; Adresse und Straßen-Schild sind farbig markiert. Funktion: Auflösung der Suchaufgabe.</a:t>
            </a:r>
          </a:p>
          <a:p>
            <a:r>
              <a:rPr lang="de-DE" b="1" sz="1100"/>
              <a:t>Lernplattform: </a:t>
            </a:r>
            <a:r>
              <a:rPr lang="de-DE" sz="1100"/>
              <a:t>Instagram L1 (Foto posten), L2 (Andere Personen auf Fotos), L4 (Standort); Alltags-Übung „Ein Konzert-Foto teilen“ (#alltag:foto:start).</a:t>
            </a:r>
          </a:p>
        </p:txBody>
      </p:sp>
      <p:sp>
        <p:nvSpPr>
          <p:cNvPr id="4" name="Slide Number Placeholder 3"/>
          <p:cNvSpPr>
            <a:spLocks noGrp="1"/>
          </p:cNvSpPr>
          <p:nvPr>
            <p:ph type="sldNum" sz="quarter" idx="10"/>
          </p:nvPr>
        </p:nvSpPr>
        <p:spPr/>
        <p:txBody>
          <a:bodyPr/>
          <a:lstStyle/>
          <a:p>
            <a:fld id="{F7021451-1387-4CA6-816F-3879F97B5CBC}" type="slidenum">
              <a:rPr lang="de-DE"/>
              <a:t>12</a:t>
            </a:fld>
            <a:endParaRPr lang="de-DE"/>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Den Merksatz „Erst prüfen. Dann teilen.“ nennen und anwenden.</a:t>
            </a:r>
          </a:p>
          <a:p>
            <a:r>
              <a:rPr lang="de-DE" b="1" sz="1100"/>
              <a:t>Methode: </a:t>
            </a:r>
            <a:r>
              <a:rPr lang="de-DE" sz="1100"/>
              <a:t>Merksatz gemeinsam sprechen.</a:t>
            </a:r>
          </a:p>
          <a:p>
            <a:r>
              <a:rPr lang="de-DE" b="1" sz="1100"/>
              <a:t>Sozialform: </a:t>
            </a:r>
            <a:r>
              <a:rPr lang="de-DE" sz="1100"/>
              <a:t>Plenum</a:t>
            </a:r>
          </a:p>
          <a:p>
            <a:r>
              <a:rPr lang="de-DE" b="1" sz="1100"/>
              <a:t>Zeit: </a:t>
            </a:r>
            <a:r>
              <a:rPr lang="de-DE" sz="1100"/>
              <a:t>ca. 2 Min</a:t>
            </a:r>
          </a:p>
          <a:p>
            <a:r>
              <a:rPr lang="de-DE" b="1" sz="1100"/>
              <a:t>Material: </a:t>
            </a:r>
            <a:r>
              <a:rPr lang="de-DE" sz="1100"/>
              <a:t>Beamer</a:t>
            </a:r>
          </a:p>
          <a:p>
            <a:r>
              <a:rPr lang="de-DE" b="1" sz="1100"/>
              <a:t>Hinweis: </a:t>
            </a:r>
            <a:r>
              <a:rPr lang="de-DE" sz="1100"/>
              <a:t>Merksatz zwei- bis dreimal gemeinsam wiederholen. Hilfsfrage: Ist das okay – für mich und für die anderen auf dem Foto?</a:t>
            </a:r>
          </a:p>
          <a:p>
            <a:r>
              <a:rPr lang="de-DE" b="1" sz="1100"/>
              <a:t>Bildvorschlag: </a:t>
            </a:r>
            <a:r>
              <a:rPr lang="de-DE" sz="1100"/>
              <a:t>Eigenes Bild: Person schaut noch einmal auf ihr Foto und teilt es erst dann. Funktion: die Handlung „erst prüfen“ zeigen.</a:t>
            </a:r>
          </a:p>
          <a:p>
            <a:r>
              <a:rPr lang="de-DE" b="1" sz="1100"/>
              <a:t>Lernplattform: </a:t>
            </a:r>
            <a:r>
              <a:rPr lang="de-DE" sz="1100"/>
              <a:t>Instagram Quiz Frage 7 („Erst prüfen. Dann teilen.“).</a:t>
            </a:r>
          </a:p>
        </p:txBody>
      </p:sp>
      <p:sp>
        <p:nvSpPr>
          <p:cNvPr id="4" name="Slide Number Placeholder 3"/>
          <p:cNvSpPr>
            <a:spLocks noGrp="1"/>
          </p:cNvSpPr>
          <p:nvPr>
            <p:ph type="sldNum" sz="quarter" idx="10"/>
          </p:nvPr>
        </p:nvSpPr>
        <p:spPr/>
        <p:txBody>
          <a:bodyPr/>
          <a:lstStyle/>
          <a:p>
            <a:fld id="{F7021451-1387-4CA6-816F-3879F97B5CBC}" type="slidenum">
              <a:rPr lang="de-DE"/>
              <a:t>13</a:t>
            </a:fld>
            <a:endParaRPr lang="de-DE"/>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Übergang zu Thema 3: Fremde wollen etwas.</a:t>
            </a:r>
          </a:p>
          <a:p>
            <a:r>
              <a:rPr lang="de-DE" b="1" sz="1100"/>
              <a:t>Methode: </a:t>
            </a:r>
            <a:r>
              <a:rPr lang="de-DE" sz="1100"/>
              <a:t>Kurzer Impuls.</a:t>
            </a:r>
          </a:p>
          <a:p>
            <a:r>
              <a:rPr lang="de-DE" b="1" sz="1100"/>
              <a:t>Sozialform: </a:t>
            </a:r>
            <a:r>
              <a:rPr lang="de-DE" sz="1100"/>
              <a:t>Plenum</a:t>
            </a:r>
          </a:p>
          <a:p>
            <a:r>
              <a:rPr lang="de-DE" b="1" sz="1100"/>
              <a:t>Zeit: </a:t>
            </a:r>
            <a:r>
              <a:rPr lang="de-DE" sz="1100"/>
              <a:t>ca. 1 Min</a:t>
            </a:r>
          </a:p>
          <a:p>
            <a:r>
              <a:rPr lang="de-DE" b="1" sz="1100"/>
              <a:t>Material: </a:t>
            </a:r>
            <a:r>
              <a:rPr lang="de-DE" sz="1100"/>
              <a:t>Beamer</a:t>
            </a:r>
          </a:p>
          <a:p>
            <a:r>
              <a:rPr lang="de-DE" b="1" sz="1100"/>
              <a:t>Hinweis: </a:t>
            </a:r>
            <a:r>
              <a:rPr lang="de-DE" sz="1100"/>
              <a:t>Behutsam überleiten: Manchmal schreiben uns fremde Menschen. Manche wollen etwas von uns.</a:t>
            </a:r>
          </a:p>
        </p:txBody>
      </p:sp>
      <p:sp>
        <p:nvSpPr>
          <p:cNvPr id="4" name="Slide Number Placeholder 3"/>
          <p:cNvSpPr>
            <a:spLocks noGrp="1"/>
          </p:cNvSpPr>
          <p:nvPr>
            <p:ph type="sldNum" sz="quarter" idx="10"/>
          </p:nvPr>
        </p:nvSpPr>
        <p:spPr/>
        <p:txBody>
          <a:bodyPr/>
          <a:lstStyle/>
          <a:p>
            <a:fld id="{F7021451-1387-4CA6-816F-3879F97B5CBC}" type="slidenum">
              <a:rPr lang="de-DE"/>
              <a:t>14</a:t>
            </a:fld>
            <a:endParaRPr lang="de-DE"/>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Wissen: Profile können falsch sein; ein schönes Bild ist kein Beweis.</a:t>
            </a:r>
          </a:p>
          <a:p>
            <a:r>
              <a:rPr lang="de-DE" b="1" sz="1100"/>
              <a:t>Methode: </a:t>
            </a:r>
            <a:r>
              <a:rPr lang="de-DE" sz="1100"/>
              <a:t>Lehrgespräch, achtsam.</a:t>
            </a:r>
          </a:p>
          <a:p>
            <a:r>
              <a:rPr lang="de-DE" b="1" sz="1100"/>
              <a:t>Sozialform: </a:t>
            </a:r>
            <a:r>
              <a:rPr lang="de-DE" sz="1100"/>
              <a:t>Plenum</a:t>
            </a:r>
          </a:p>
          <a:p>
            <a:r>
              <a:rPr lang="de-DE" b="1" sz="1100"/>
              <a:t>Zeit: </a:t>
            </a:r>
            <a:r>
              <a:rPr lang="de-DE" sz="1100"/>
              <a:t>ca. 3 Min</a:t>
            </a:r>
          </a:p>
          <a:p>
            <a:r>
              <a:rPr lang="de-DE" b="1" sz="1100"/>
              <a:t>Material: </a:t>
            </a:r>
            <a:r>
              <a:rPr lang="de-DE" sz="1100"/>
              <a:t>Beamer</a:t>
            </a:r>
          </a:p>
          <a:p>
            <a:r>
              <a:rPr lang="de-DE" b="1" sz="1100"/>
              <a:t>Hinweis: </a:t>
            </a:r>
            <a:r>
              <a:rPr lang="de-DE" sz="1100"/>
              <a:t>Fake-Profil = falsches Profil. Nicht Angst machen, sondern Prüfen und Nachfragen stärken.</a:t>
            </a:r>
          </a:p>
          <a:p>
            <a:r>
              <a:rPr lang="de-DE" b="1" sz="1100"/>
              <a:t>Bildvorschlag: </a:t>
            </a:r>
            <a:r>
              <a:rPr lang="de-DE" sz="1100"/>
              <a:t>Eigenes Bild: Zwei Profile nebeneinander; eines zeigt ein geborgtes Foto einer anderen Person. Funktion: „Ein Bild ist kein Beweis“ sichtbar machen. Keine echten Personen, keine Marken.</a:t>
            </a:r>
          </a:p>
          <a:p>
            <a:r>
              <a:rPr lang="de-DE" b="1" sz="1100"/>
              <a:t>Lernplattform: </a:t>
            </a:r>
            <a:r>
              <a:rPr lang="de-DE" sz="1100"/>
              <a:t>Instagram L8 (Warnhinweis), Lernziel Fake-Profile.</a:t>
            </a:r>
          </a:p>
        </p:txBody>
      </p:sp>
      <p:sp>
        <p:nvSpPr>
          <p:cNvPr id="4" name="Slide Number Placeholder 3"/>
          <p:cNvSpPr>
            <a:spLocks noGrp="1"/>
          </p:cNvSpPr>
          <p:nvPr>
            <p:ph type="sldNum" sz="quarter" idx="10"/>
          </p:nvPr>
        </p:nvSpPr>
        <p:spPr/>
        <p:txBody>
          <a:bodyPr/>
          <a:lstStyle/>
          <a:p>
            <a:fld id="{F7021451-1387-4CA6-816F-3879F97B5CBC}" type="slidenum">
              <a:rPr lang="de-DE"/>
              <a:t>15</a:t>
            </a:fld>
            <a:endParaRPr lang="de-DE"/>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Warnzeichen erkennen: private Fotos, Geld, Code oder Passwort, Link, Zeitdruck.</a:t>
            </a:r>
          </a:p>
          <a:p>
            <a:r>
              <a:rPr lang="de-DE" b="1" sz="1100"/>
              <a:t>Methode: </a:t>
            </a:r>
            <a:r>
              <a:rPr lang="de-DE" sz="1100"/>
              <a:t>Lehrgespräch mit erfundenem Fallbeispiel.</a:t>
            </a:r>
          </a:p>
          <a:p>
            <a:r>
              <a:rPr lang="de-DE" b="1" sz="1100"/>
              <a:t>Sozialform: </a:t>
            </a:r>
            <a:r>
              <a:rPr lang="de-DE" sz="1100"/>
              <a:t>Plenum</a:t>
            </a:r>
          </a:p>
          <a:p>
            <a:r>
              <a:rPr lang="de-DE" b="1" sz="1100"/>
              <a:t>Zeit: </a:t>
            </a:r>
            <a:r>
              <a:rPr lang="de-DE" sz="1100"/>
              <a:t>ca. 3 Min</a:t>
            </a:r>
          </a:p>
          <a:p>
            <a:r>
              <a:rPr lang="de-DE" b="1" sz="1100"/>
              <a:t>Material: </a:t>
            </a:r>
            <a:r>
              <a:rPr lang="de-DE" sz="1100"/>
              <a:t>Beamer</a:t>
            </a:r>
          </a:p>
          <a:p>
            <a:r>
              <a:rPr lang="de-DE" b="1" sz="1100"/>
              <a:t>Hinweis: </a:t>
            </a:r>
            <a:r>
              <a:rPr lang="de-DE" sz="1100"/>
              <a:t>Private Fotos ausdrücklich nennen (im alten Material fehlte das). Auf Reaktionen achten. Bei Hinweisen auf eigene Betroffenheit nicht in der Gruppe vertiefen, sondern Einzelgespräch in der Pause anbieten; Schutzauftrag beachten. Beispiele erfunden halten.</a:t>
            </a:r>
          </a:p>
          <a:p>
            <a:r>
              <a:rPr lang="de-DE" b="1" sz="1100"/>
              <a:t>Lernplattform: </a:t>
            </a:r>
            <a:r>
              <a:rPr lang="de-DE" sz="1100"/>
              <a:t>Instagram L5 (Private Nachrichten), Quiz Fragen 3, 8, 9; Themen Online-Betrug und Datenschutz.</a:t>
            </a:r>
          </a:p>
        </p:txBody>
      </p:sp>
      <p:sp>
        <p:nvSpPr>
          <p:cNvPr id="4" name="Slide Number Placeholder 3"/>
          <p:cNvSpPr>
            <a:spLocks noGrp="1"/>
          </p:cNvSpPr>
          <p:nvPr>
            <p:ph type="sldNum" sz="quarter" idx="10"/>
          </p:nvPr>
        </p:nvSpPr>
        <p:spPr/>
        <p:txBody>
          <a:bodyPr/>
          <a:lstStyle/>
          <a:p>
            <a:fld id="{F7021451-1387-4CA6-816F-3879F97B5CBC}" type="slidenum">
              <a:rPr lang="de-DE"/>
              <a:t>16</a:t>
            </a:fld>
            <a:endParaRPr lang="de-DE"/>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Den eigenen Plan nennen: Stopp machen. Nicht sofort antworten. Zeigen.</a:t>
            </a:r>
          </a:p>
          <a:p>
            <a:r>
              <a:rPr lang="de-DE" b="1" sz="1100"/>
              <a:t>Methode: </a:t>
            </a:r>
            <a:r>
              <a:rPr lang="de-DE" sz="1100"/>
              <a:t>Merksatz gemeinsam sprechen, kurz vormachen.</a:t>
            </a:r>
          </a:p>
          <a:p>
            <a:r>
              <a:rPr lang="de-DE" b="1" sz="1100"/>
              <a:t>Sozialform: </a:t>
            </a:r>
            <a:r>
              <a:rPr lang="de-DE" sz="1100"/>
              <a:t>Plenum</a:t>
            </a:r>
          </a:p>
          <a:p>
            <a:r>
              <a:rPr lang="de-DE" b="1" sz="1100"/>
              <a:t>Zeit: </a:t>
            </a:r>
            <a:r>
              <a:rPr lang="de-DE" sz="1100"/>
              <a:t>ca. 2 Min</a:t>
            </a:r>
          </a:p>
          <a:p>
            <a:r>
              <a:rPr lang="de-DE" b="1" sz="1100"/>
              <a:t>Material: </a:t>
            </a:r>
            <a:r>
              <a:rPr lang="de-DE" sz="1100"/>
              <a:t>Beamer</a:t>
            </a:r>
          </a:p>
          <a:p>
            <a:r>
              <a:rPr lang="de-DE" b="1" sz="1100"/>
              <a:t>Hinweis: </a:t>
            </a:r>
            <a:r>
              <a:rPr lang="de-DE" sz="1100"/>
              <a:t>Auf der Lernplattform steht derselbe Plan als Merksatz: Ich mache Stopp. Ich zeige es jemandem. Er gilt für Nachrichten, Anfragen und Links. Zeigen ist kein Petzen, sondern Schutz.</a:t>
            </a:r>
          </a:p>
          <a:p>
            <a:r>
              <a:rPr lang="de-DE" b="1" sz="1100"/>
              <a:t>Bildvorschlag: </a:t>
            </a:r>
            <a:r>
              <a:rPr lang="de-DE" sz="1100"/>
              <a:t>Eigenes Bild: Person zeigt ihr Handy einer vertrauten Person, beide ruhig. Funktion: „Zeigen“ als normale, starke Handlung darstellen.</a:t>
            </a:r>
          </a:p>
          <a:p>
            <a:r>
              <a:rPr lang="de-DE" b="1" sz="1100"/>
              <a:t>Lernplattform: </a:t>
            </a:r>
            <a:r>
              <a:rPr lang="de-DE" sz="1100"/>
              <a:t>Instagram L8 (Was kann ich tun?); Thema Hilfe bei Problemen: Stopp-Regel.</a:t>
            </a:r>
          </a:p>
        </p:txBody>
      </p:sp>
      <p:sp>
        <p:nvSpPr>
          <p:cNvPr id="4" name="Slide Number Placeholder 3"/>
          <p:cNvSpPr>
            <a:spLocks noGrp="1"/>
          </p:cNvSpPr>
          <p:nvPr>
            <p:ph type="sldNum" sz="quarter" idx="10"/>
          </p:nvPr>
        </p:nvSpPr>
        <p:spPr/>
        <p:txBody>
          <a:bodyPr/>
          <a:lstStyle/>
          <a:p>
            <a:fld id="{F7021451-1387-4CA6-816F-3879F97B5CBC}" type="slidenum">
              <a:rPr lang="de-DE"/>
              <a:t>17</a:t>
            </a:fld>
            <a:endParaRPr lang="de-DE"/>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Übergang zu Thema 4: Wenn etwas verletzt.</a:t>
            </a:r>
          </a:p>
          <a:p>
            <a:r>
              <a:rPr lang="de-DE" b="1" sz="1100"/>
              <a:t>Methode: </a:t>
            </a:r>
            <a:r>
              <a:rPr lang="de-DE" sz="1100"/>
              <a:t>Kurzer Impuls.</a:t>
            </a:r>
          </a:p>
          <a:p>
            <a:r>
              <a:rPr lang="de-DE" b="1" sz="1100"/>
              <a:t>Sozialform: </a:t>
            </a:r>
            <a:r>
              <a:rPr lang="de-DE" sz="1100"/>
              <a:t>Plenum</a:t>
            </a:r>
          </a:p>
          <a:p>
            <a:r>
              <a:rPr lang="de-DE" b="1" sz="1100"/>
              <a:t>Zeit: </a:t>
            </a:r>
            <a:r>
              <a:rPr lang="de-DE" sz="1100"/>
              <a:t>ca. 1 Min</a:t>
            </a:r>
          </a:p>
          <a:p>
            <a:r>
              <a:rPr lang="de-DE" b="1" sz="1100"/>
              <a:t>Material: </a:t>
            </a:r>
            <a:r>
              <a:rPr lang="de-DE" sz="1100"/>
              <a:t>Beamer</a:t>
            </a:r>
          </a:p>
          <a:p>
            <a:r>
              <a:rPr lang="de-DE" b="1" sz="1100"/>
              <a:t>Hinweis: </a:t>
            </a:r>
            <a:r>
              <a:rPr lang="de-DE" sz="1100"/>
              <a:t>Behutsam überleiten: Manchmal tut etwas weh, das andere schreiben.</a:t>
            </a:r>
          </a:p>
        </p:txBody>
      </p:sp>
      <p:sp>
        <p:nvSpPr>
          <p:cNvPr id="4" name="Slide Number Placeholder 3"/>
          <p:cNvSpPr>
            <a:spLocks noGrp="1"/>
          </p:cNvSpPr>
          <p:nvPr>
            <p:ph type="sldNum" sz="quarter" idx="10"/>
          </p:nvPr>
        </p:nvSpPr>
        <p:spPr/>
        <p:txBody>
          <a:bodyPr/>
          <a:lstStyle/>
          <a:p>
            <a:fld id="{F7021451-1387-4CA6-816F-3879F97B5CBC}" type="slidenum">
              <a:rPr lang="de-DE"/>
              <a:t>18</a:t>
            </a:fld>
            <a:endParaRPr lang="de-DE"/>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Wissen: Verletzende Kommentare sind nicht meine Schuld; ich muss nicht antworten.</a:t>
            </a:r>
          </a:p>
          <a:p>
            <a:r>
              <a:rPr lang="de-DE" b="1" sz="1100"/>
              <a:t>Methode: </a:t>
            </a:r>
            <a:r>
              <a:rPr lang="de-DE" sz="1100"/>
              <a:t>Lehrgespräch, Gefühle anerkennen.</a:t>
            </a:r>
          </a:p>
          <a:p>
            <a:r>
              <a:rPr lang="de-DE" b="1" sz="1100"/>
              <a:t>Sozialform: </a:t>
            </a:r>
            <a:r>
              <a:rPr lang="de-DE" sz="1100"/>
              <a:t>Plenum</a:t>
            </a:r>
          </a:p>
          <a:p>
            <a:r>
              <a:rPr lang="de-DE" b="1" sz="1100"/>
              <a:t>Zeit: </a:t>
            </a:r>
            <a:r>
              <a:rPr lang="de-DE" sz="1100"/>
              <a:t>ca. 2 Min</a:t>
            </a:r>
          </a:p>
          <a:p>
            <a:r>
              <a:rPr lang="de-DE" b="1" sz="1100"/>
              <a:t>Material: </a:t>
            </a:r>
            <a:r>
              <a:rPr lang="de-DE" sz="1100"/>
              <a:t>Beamer</a:t>
            </a:r>
          </a:p>
          <a:p>
            <a:r>
              <a:rPr lang="de-DE" b="1" sz="1100"/>
              <a:t>Hinweis: </a:t>
            </a:r>
            <a:r>
              <a:rPr lang="de-DE" sz="1100"/>
              <a:t>Wichtigste Botschaft: Das ist nicht deine Schuld. Gefühle ernst nehmen, nicht bewerten. Niemand muss eigene Erfahrungen erzählen. Begriff „verletzende Kommentare“ statt „Mobbing“ (Mobbing = immer wieder und gezielt).</a:t>
            </a:r>
          </a:p>
          <a:p>
            <a:r>
              <a:rPr lang="de-DE" b="1" sz="1100"/>
              <a:t>Bildvorschlag: </a:t>
            </a:r>
            <a:r>
              <a:rPr lang="de-DE" sz="1100"/>
              <a:t>Eigenes Bild: Person liest einen Kommentar, legt das Handy weg und atmet durch. Funktion: ruhige, selbstbestimmte Reaktion zeigen. Keine drastische Darstellung.</a:t>
            </a:r>
          </a:p>
          <a:p>
            <a:r>
              <a:rPr lang="de-DE" b="1" sz="1100"/>
              <a:t>Lernplattform: </a:t>
            </a:r>
            <a:r>
              <a:rPr lang="de-DE" sz="1100"/>
              <a:t>Instagram L6 (Verletzende Kommentare), Quiz Frage 5.</a:t>
            </a:r>
          </a:p>
        </p:txBody>
      </p:sp>
      <p:sp>
        <p:nvSpPr>
          <p:cNvPr id="4" name="Slide Number Placeholder 3"/>
          <p:cNvSpPr>
            <a:spLocks noGrp="1"/>
          </p:cNvSpPr>
          <p:nvPr>
            <p:ph type="sldNum" sz="quarter" idx="10"/>
          </p:nvPr>
        </p:nvSpPr>
        <p:spPr/>
        <p:txBody>
          <a:bodyPr/>
          <a:lstStyle/>
          <a:p>
            <a:fld id="{F7021451-1387-4CA6-816F-3879F97B5CBC}" type="slidenum">
              <a:rPr lang="de-DE"/>
              <a:t>19</a:t>
            </a:fld>
            <a:endParaRPr lang="de-DE"/>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Vier Schritte kennen: zeigen, blockieren, melden, Hilfe holen.</a:t>
            </a:r>
          </a:p>
          <a:p>
            <a:r>
              <a:rPr lang="de-DE" b="1" sz="1100"/>
              <a:t>Methode: </a:t>
            </a:r>
            <a:r>
              <a:rPr lang="de-DE" sz="1100"/>
              <a:t>Lehrgespräch; Blockieren und Melden in der Praxis nur zeigen.</a:t>
            </a:r>
          </a:p>
          <a:p>
            <a:r>
              <a:rPr lang="de-DE" b="1" sz="1100"/>
              <a:t>Sozialform: </a:t>
            </a:r>
            <a:r>
              <a:rPr lang="de-DE" sz="1100"/>
              <a:t>Plenum</a:t>
            </a:r>
          </a:p>
          <a:p>
            <a:r>
              <a:rPr lang="de-DE" b="1" sz="1100"/>
              <a:t>Zeit: </a:t>
            </a:r>
            <a:r>
              <a:rPr lang="de-DE" sz="1100"/>
              <a:t>ca. 3 Min</a:t>
            </a:r>
          </a:p>
          <a:p>
            <a:r>
              <a:rPr lang="de-DE" b="1" sz="1100"/>
              <a:t>Material: </a:t>
            </a:r>
            <a:r>
              <a:rPr lang="de-DE" sz="1100"/>
              <a:t>Beamer</a:t>
            </a:r>
          </a:p>
          <a:p>
            <a:r>
              <a:rPr lang="de-DE" b="1" sz="1100"/>
              <a:t>Hinweis: </a:t>
            </a:r>
            <a:r>
              <a:rPr lang="de-DE" sz="1100"/>
              <a:t>Zeigen heißt auch: die Nachricht nicht sofort löschen – sie kann ein Beweis sein. Blockieren wirkt nur für dieses Profil: Die Person kann mit einem neuen Profil wieder schreiben, und öffentliche Beiträge kann sie weiter sehen. Das ehrlich sagen und ergänzen: Melden und Hilfe holen bleiben wichtig. Blockieren und Melden werden nach der Pause auf der Praxis-Seite gezeigt, nicht an echten Kontakten ausprobiert.</a:t>
            </a:r>
          </a:p>
          <a:p>
            <a:r>
              <a:rPr lang="de-DE" b="1" sz="1100"/>
              <a:t>Lernplattform: </a:t>
            </a:r>
            <a:r>
              <a:rPr lang="de-DE" sz="1100"/>
              <a:t>Instagram L6 (Stichpunkte); Thema Hilfe bei Problemen: Nicht sofort löschen; Praxis-Seite: Blockieren, Melden.</a:t>
            </a:r>
          </a:p>
        </p:txBody>
      </p:sp>
      <p:sp>
        <p:nvSpPr>
          <p:cNvPr id="4" name="Slide Number Placeholder 3"/>
          <p:cNvSpPr>
            <a:spLocks noGrp="1"/>
          </p:cNvSpPr>
          <p:nvPr>
            <p:ph type="sldNum" sz="quarter" idx="10"/>
          </p:nvPr>
        </p:nvSpPr>
        <p:spPr/>
        <p:txBody>
          <a:bodyPr/>
          <a:lstStyle/>
          <a:p>
            <a:fld id="{F7021451-1387-4CA6-816F-3879F97B5CBC}" type="slidenum">
              <a:rPr lang="de-DE"/>
              <a:t>20</a:t>
            </a:fld>
            <a:endParaRPr lang="de-DE"/>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Wissen: Viele Bilder sind bearbeitet; ich muss mich nicht vergleichen.</a:t>
            </a:r>
          </a:p>
          <a:p>
            <a:r>
              <a:rPr lang="de-DE" b="1" sz="1100"/>
              <a:t>Methode: </a:t>
            </a:r>
            <a:r>
              <a:rPr lang="de-DE" sz="1100"/>
              <a:t>Bildvergleich echt und bearbeitet, Gespräch.</a:t>
            </a:r>
          </a:p>
          <a:p>
            <a:r>
              <a:rPr lang="de-DE" b="1" sz="1100"/>
              <a:t>Sozialform: </a:t>
            </a:r>
            <a:r>
              <a:rPr lang="de-DE" sz="1100"/>
              <a:t>Plenum</a:t>
            </a:r>
          </a:p>
          <a:p>
            <a:r>
              <a:rPr lang="de-DE" b="1" sz="1100"/>
              <a:t>Zeit: </a:t>
            </a:r>
            <a:r>
              <a:rPr lang="de-DE" sz="1100"/>
              <a:t>ca. 2 Min</a:t>
            </a:r>
          </a:p>
          <a:p>
            <a:r>
              <a:rPr lang="de-DE" b="1" sz="1100"/>
              <a:t>Material: </a:t>
            </a:r>
            <a:r>
              <a:rPr lang="de-DE" sz="1100"/>
              <a:t>Beamer</a:t>
            </a:r>
          </a:p>
          <a:p>
            <a:r>
              <a:rPr lang="de-DE" b="1" sz="1100"/>
              <a:t>Hinweis: </a:t>
            </a:r>
            <a:r>
              <a:rPr lang="de-DE" sz="1100"/>
              <a:t>Selbstwert-Thema behutsam begleiten, nicht abwerten. Keine Fotos von Teilnehmenden bearbeiten oder zeigen.</a:t>
            </a:r>
          </a:p>
          <a:p>
            <a:r>
              <a:rPr lang="de-DE" b="1" sz="1100"/>
              <a:t>Bildvorschlag: </a:t>
            </a:r>
            <a:r>
              <a:rPr lang="de-DE" sz="1100"/>
              <a:t>PFLICHT VOR DEM PRAXISTEST. Eigenes Bild: dasselbe Foto zweimal, links unbearbeitet, rechts mit Filter und Retusche. Funktion: Bearbeitung direkt vergleichbar machen (Methodik der Begleit-Ebene).</a:t>
            </a:r>
          </a:p>
          <a:p>
            <a:r>
              <a:rPr lang="de-DE" b="1" sz="1100"/>
              <a:t>Lernplattform: </a:t>
            </a:r>
            <a:r>
              <a:rPr lang="de-DE" sz="1100"/>
              <a:t>Instagram L7 (Bearbeitete Bilder), Quiz Frage 6.</a:t>
            </a:r>
          </a:p>
        </p:txBody>
      </p:sp>
      <p:sp>
        <p:nvSpPr>
          <p:cNvPr id="4" name="Slide Number Placeholder 3"/>
          <p:cNvSpPr>
            <a:spLocks noGrp="1"/>
          </p:cNvSpPr>
          <p:nvPr>
            <p:ph type="sldNum" sz="quarter" idx="10"/>
          </p:nvPr>
        </p:nvSpPr>
        <p:spPr/>
        <p:txBody>
          <a:bodyPr/>
          <a:lstStyle/>
          <a:p>
            <a:fld id="{F7021451-1387-4CA6-816F-3879F97B5CBC}" type="slidenum">
              <a:rPr lang="de-DE"/>
              <a:t>21</a:t>
            </a:fld>
            <a:endParaRPr lang="de-DE"/>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Eigene vertraute Personen und Ansprechpersonen vor Ort benennen können.</a:t>
            </a:r>
          </a:p>
          <a:p>
            <a:r>
              <a:rPr lang="de-DE" b="1" sz="1100"/>
              <a:t>Methode: </a:t>
            </a:r>
            <a:r>
              <a:rPr lang="de-DE" sz="1100"/>
              <a:t>Sammeln im Plenum; Karte zeigen.</a:t>
            </a:r>
          </a:p>
          <a:p>
            <a:r>
              <a:rPr lang="de-DE" b="1" sz="1100"/>
              <a:t>Sozialform: </a:t>
            </a:r>
            <a:r>
              <a:rPr lang="de-DE" sz="1100"/>
              <a:t>Plenum</a:t>
            </a:r>
          </a:p>
          <a:p>
            <a:r>
              <a:rPr lang="de-DE" b="1" sz="1100"/>
              <a:t>Zeit: </a:t>
            </a:r>
            <a:r>
              <a:rPr lang="de-DE" sz="1100"/>
              <a:t>ca. 1 Min</a:t>
            </a:r>
          </a:p>
          <a:p>
            <a:r>
              <a:rPr lang="de-DE" b="1" sz="1100"/>
              <a:t>Material: </a:t>
            </a:r>
            <a:r>
              <a:rPr lang="de-DE" sz="1100"/>
              <a:t>Hilfe-Karte für jede Person, Stifte</a:t>
            </a:r>
          </a:p>
          <a:p>
            <a:r>
              <a:rPr lang="de-DE" b="1" sz="1100"/>
              <a:t>Hinweis: </a:t>
            </a:r>
            <a:r>
              <a:rPr lang="de-DE" sz="1100"/>
              <a:t>Hilfe holen ist stark, nicht peinlich. Die Hilfe-Karte austeilen: Die Vorderseite mit den Ansprechpersonen vor Ort ist vorher ausgefüllt. Die Rückseite füllt jede Person freiwillig selbst aus – auch später zu Hause. Die Karte bleibt bei der Person.</a:t>
            </a:r>
          </a:p>
          <a:p>
            <a:r>
              <a:rPr lang="de-DE" b="1" sz="1100"/>
              <a:t>Bildvorschlag: </a:t>
            </a:r>
            <a:r>
              <a:rPr lang="de-DE" sz="1100"/>
              <a:t>PFLICHT VOR DEM PRAXISTEST. Kein Bild, sondern die gemeinsame Hilfe-Karte (gemeinsam/HILFE-KARTE.md) mit ausgefüllter Vorderseite. Funktion: konkreter Hilfeweg.</a:t>
            </a:r>
          </a:p>
          <a:p>
            <a:r>
              <a:rPr lang="de-DE" b="1" sz="1100"/>
              <a:t>Lernplattform: </a:t>
            </a:r>
            <a:r>
              <a:rPr lang="de-DE" sz="1100"/>
              <a:t>Thema Hilfe bei Problemen: Vertraute Personen, Externe Hilfe.</a:t>
            </a:r>
          </a:p>
        </p:txBody>
      </p:sp>
      <p:sp>
        <p:nvSpPr>
          <p:cNvPr id="4" name="Slide Number Placeholder 3"/>
          <p:cNvSpPr>
            <a:spLocks noGrp="1"/>
          </p:cNvSpPr>
          <p:nvPr>
            <p:ph type="sldNum" sz="quarter" idx="10"/>
          </p:nvPr>
        </p:nvSpPr>
        <p:spPr/>
        <p:txBody>
          <a:bodyPr/>
          <a:lstStyle/>
          <a:p>
            <a:fld id="{F7021451-1387-4CA6-816F-3879F97B5CBC}" type="slidenum">
              <a:rPr lang="de-DE"/>
              <a:t>22</a:t>
            </a:fld>
            <a:endParaRPr lang="de-DE"/>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Erholung; Zeit für Einzelgespräche.</a:t>
            </a:r>
          </a:p>
          <a:p>
            <a:r>
              <a:rPr lang="de-DE" b="1" sz="1100"/>
              <a:t>Methode: </a:t>
            </a:r>
            <a:r>
              <a:rPr lang="de-DE" sz="1100"/>
              <a:t>Pause.</a:t>
            </a:r>
          </a:p>
          <a:p>
            <a:r>
              <a:rPr lang="de-DE" b="1" sz="1100"/>
              <a:t>Sozialform: </a:t>
            </a:r>
            <a:r>
              <a:rPr lang="de-DE" sz="1100"/>
              <a:t>–</a:t>
            </a:r>
          </a:p>
          <a:p>
            <a:r>
              <a:rPr lang="de-DE" b="1" sz="1100"/>
              <a:t>Zeit: </a:t>
            </a:r>
            <a:r>
              <a:rPr lang="de-DE" sz="1100"/>
              <a:t>ca. 10 Min</a:t>
            </a:r>
          </a:p>
          <a:p>
            <a:r>
              <a:rPr lang="de-DE" b="1" sz="1100"/>
              <a:t>Material: </a:t>
            </a:r>
            <a:r>
              <a:rPr lang="de-DE" sz="1100"/>
              <a:t>Getränke</a:t>
            </a:r>
          </a:p>
          <a:p>
            <a:r>
              <a:rPr lang="de-DE" b="1" sz="1100"/>
              <a:t>Hinweis: </a:t>
            </a:r>
            <a:r>
              <a:rPr lang="de-DE" sz="1100"/>
              <a:t>Uhrzeit nennen, wann es weitergeht. Für Einzelgespräche erreichbar sein. In der Pause Handys laden, WLAN klären, Praxis-Seite am Beamer öffnen.</a:t>
            </a:r>
          </a:p>
        </p:txBody>
      </p:sp>
      <p:sp>
        <p:nvSpPr>
          <p:cNvPr id="4" name="Slide Number Placeholder 3"/>
          <p:cNvSpPr>
            <a:spLocks noGrp="1"/>
          </p:cNvSpPr>
          <p:nvPr>
            <p:ph type="sldNum" sz="quarter" idx="10"/>
          </p:nvPr>
        </p:nvSpPr>
        <p:spPr/>
        <p:txBody>
          <a:bodyPr/>
          <a:lstStyle/>
          <a:p>
            <a:fld id="{F7021451-1387-4CA6-816F-3879F97B5CBC}" type="slidenum">
              <a:rPr lang="de-DE"/>
              <a:t>23</a:t>
            </a:fld>
            <a:endParaRPr lang="de-DE"/>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Übergang in den Praxis-Teil: vom Wissen zum eigenen Tun.</a:t>
            </a:r>
          </a:p>
          <a:p>
            <a:r>
              <a:rPr lang="de-DE" b="1" sz="1100"/>
              <a:t>Methode: </a:t>
            </a:r>
            <a:r>
              <a:rPr lang="de-DE" sz="1100"/>
              <a:t>Kurzer Impuls.</a:t>
            </a:r>
          </a:p>
          <a:p>
            <a:r>
              <a:rPr lang="de-DE" b="1" sz="1100"/>
              <a:t>Sozialform: </a:t>
            </a:r>
            <a:r>
              <a:rPr lang="de-DE" sz="1100"/>
              <a:t>Plenum</a:t>
            </a:r>
          </a:p>
          <a:p>
            <a:r>
              <a:rPr lang="de-DE" b="1" sz="1100"/>
              <a:t>Zeit: </a:t>
            </a:r>
            <a:r>
              <a:rPr lang="de-DE" sz="1100"/>
              <a:t>ca. 1 Min</a:t>
            </a:r>
          </a:p>
          <a:p>
            <a:r>
              <a:rPr lang="de-DE" b="1" sz="1100"/>
              <a:t>Material: </a:t>
            </a:r>
            <a:r>
              <a:rPr lang="de-DE" sz="1100"/>
              <a:t>Beamer</a:t>
            </a:r>
          </a:p>
          <a:p>
            <a:r>
              <a:rPr lang="de-DE" b="1" sz="1100"/>
              <a:t>Hinweis: </a:t>
            </a:r>
            <a:r>
              <a:rPr lang="de-DE" sz="1100"/>
              <a:t>Ankündigen: Jetzt stellen wir Instagram zusammen am eigenen Handy ein. Fehler sind erlaubt. Einstellungen lassen sich zurückstellen.</a:t>
            </a:r>
          </a:p>
        </p:txBody>
      </p:sp>
      <p:sp>
        <p:nvSpPr>
          <p:cNvPr id="4" name="Slide Number Placeholder 3"/>
          <p:cNvSpPr>
            <a:spLocks noGrp="1"/>
          </p:cNvSpPr>
          <p:nvPr>
            <p:ph type="sldNum" sz="quarter" idx="10"/>
          </p:nvPr>
        </p:nvSpPr>
        <p:spPr/>
        <p:txBody>
          <a:bodyPr/>
          <a:lstStyle/>
          <a:p>
            <a:fld id="{F7021451-1387-4CA6-816F-3879F97B5CBC}" type="slidenum">
              <a:rPr lang="de-DE"/>
              <a:t>24</a:t>
            </a:fld>
            <a:endParaRPr lang="de-DE"/>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Die Praxis-Seite am eigenen Handy öffnen.</a:t>
            </a:r>
          </a:p>
          <a:p>
            <a:r>
              <a:rPr lang="de-DE" b="1" sz="1100"/>
              <a:t>Methode: </a:t>
            </a:r>
            <a:r>
              <a:rPr lang="de-DE" sz="1100"/>
              <a:t>Anleitung, QR-Code scannen.</a:t>
            </a:r>
          </a:p>
          <a:p>
            <a:r>
              <a:rPr lang="de-DE" b="1" sz="1100"/>
              <a:t>Sozialform: </a:t>
            </a:r>
            <a:r>
              <a:rPr lang="de-DE" sz="1100"/>
              <a:t>Einzeln mit Begleitung</a:t>
            </a:r>
          </a:p>
          <a:p>
            <a:r>
              <a:rPr lang="de-DE" b="1" sz="1100"/>
              <a:t>Zeit: </a:t>
            </a:r>
            <a:r>
              <a:rPr lang="de-DE" sz="1100"/>
              <a:t>ca. 2 Min</a:t>
            </a:r>
          </a:p>
          <a:p>
            <a:r>
              <a:rPr lang="de-DE" b="1" sz="1100"/>
              <a:t>Material: </a:t>
            </a:r>
            <a:r>
              <a:rPr lang="de-DE" sz="1100"/>
              <a:t>eigenes Handy, WLAN, QR-Code</a:t>
            </a:r>
          </a:p>
          <a:p>
            <a:r>
              <a:rPr lang="de-DE" b="1" sz="1100"/>
              <a:t>Hinweis: </a:t>
            </a:r>
            <a:r>
              <a:rPr lang="de-DE" sz="1100"/>
              <a:t>Der QR-Code ist der Hauptweg. Er wird vor dem Workshop am Handy getestet. Klappt das Scannen nicht: Die Begleitung öffnet die Seite auf dem Handy der Person oder zeigt sie am Beamer. Die volle Adresse steht unten im Feld Lernplattform und im Ausdruck dieses Leitfadens; sie wird nicht zum Abtippen an die Wand geworfen. Kein externer Kurz-Link-Dienst. Ohne Handy oder ohne Konto ist der Standardweg die Alltags-Übung „Ein Konzert-Foto teilen“ (#alltag:foto:start) – erfundene Personen, kein Konto nötig. Im Workshop kein Konto anlegen.</a:t>
            </a:r>
          </a:p>
          <a:p>
            <a:r>
              <a:rPr lang="de-DE" b="1" sz="1100"/>
              <a:t>Lernplattform: </a:t>
            </a:r>
            <a:r>
              <a:rPr lang="de-DE" sz="1100"/>
              <a:t>Praxis-Seite alex-und-tilda.github.io/sicher-und-selbstbestimmt-im-internet/praxis/instagram.html (Stand der Seite: Juni 2026 – vor dem Einsatz prüfen).</a:t>
            </a:r>
          </a:p>
        </p:txBody>
      </p:sp>
      <p:sp>
        <p:nvSpPr>
          <p:cNvPr id="4" name="Slide Number Placeholder 3"/>
          <p:cNvSpPr>
            <a:spLocks noGrp="1"/>
          </p:cNvSpPr>
          <p:nvPr>
            <p:ph type="sldNum" sz="quarter" idx="10"/>
          </p:nvPr>
        </p:nvSpPr>
        <p:spPr/>
        <p:txBody>
          <a:bodyPr/>
          <a:lstStyle/>
          <a:p>
            <a:fld id="{F7021451-1387-4CA6-816F-3879F97B5CBC}" type="slidenum">
              <a:rPr lang="de-DE"/>
              <a:t>25</a:t>
            </a:fld>
            <a:endParaRPr lang="de-DE"/>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Mindestens eine Einstellung selbst vornehmen: Konto auf privat stellen.</a:t>
            </a:r>
          </a:p>
          <a:p>
            <a:r>
              <a:rPr lang="de-DE" b="1" sz="1100"/>
              <a:t>Methode: </a:t>
            </a:r>
            <a:r>
              <a:rPr lang="de-DE" sz="1100"/>
              <a:t>Angeleitete Übung am Gerät; Tandem.</a:t>
            </a:r>
          </a:p>
          <a:p>
            <a:r>
              <a:rPr lang="de-DE" b="1" sz="1100"/>
              <a:t>Sozialform: </a:t>
            </a:r>
            <a:r>
              <a:rPr lang="de-DE" sz="1100"/>
              <a:t>Tandem, einzeln mit Begleitung</a:t>
            </a:r>
          </a:p>
          <a:p>
            <a:r>
              <a:rPr lang="de-DE" b="1" sz="1100"/>
              <a:t>Zeit: </a:t>
            </a:r>
            <a:r>
              <a:rPr lang="de-DE" sz="1100"/>
              <a:t>ca. 12 Min</a:t>
            </a:r>
          </a:p>
          <a:p>
            <a:r>
              <a:rPr lang="de-DE" b="1" sz="1100"/>
              <a:t>Material: </a:t>
            </a:r>
            <a:r>
              <a:rPr lang="de-DE" sz="1100"/>
              <a:t>eigenes Handy, Praxis-Seite, Beamer</a:t>
            </a:r>
          </a:p>
          <a:p>
            <a:r>
              <a:rPr lang="de-DE" b="1" sz="1100"/>
              <a:t>Hinweis: </a:t>
            </a:r>
            <a:r>
              <a:rPr lang="de-DE" sz="1100"/>
              <a:t>Mindestziel ist eine Einstellung: Konto auf privat. Wer das geschafft hat, ist fertig – das ausdrücklich sagen. Bis zu zwei weitere Einstellungen sind freiwillig: Nachrichten und beleidigende Kommentare verbergen. Die Praxis dauert trotzdem 15 Minuten; die Zeit geht in Ruhe, Wiederholung und Einzelhilfe. Pro Einstellung erst am Beamer auf der Praxis-Seite zeigen, dann machen alle mit. Die Begleitung zeigt, die Person tippt. Keine Passwörter eingeben oder vorlesen. Menüwege stehen nur auf der Praxis-Seite; weicht die App ab: oben in den Einstellungen suchen. Blockieren und Melden nur zeigen, nicht an echten Kontakten ausprobieren. Erfolge abhaken. Zuordnung zur Praxis-Seite: „Beleidigende Kommentare verbergen“ steht dort im Abschnitt „Wer darf kommentieren“; die übrigen Punkte heißen dort genauso wie auf der Folie. Markierungen und Aktivitätsstatus stehen auch auf der Praxis-Seite, sind aber nicht Teil dieses Workshops.</a:t>
            </a:r>
          </a:p>
          <a:p>
            <a:r>
              <a:rPr lang="de-DE" b="1" sz="1100"/>
              <a:t>Lernplattform: </a:t>
            </a:r>
            <a:r>
              <a:rPr lang="de-DE" sz="1100"/>
              <a:t>Praxis-Seite Instagram (Konto auf privat, Nachrichten, Kommentare, Blockieren, Melden). Ohne Handy oder Konto: Alltags-Übung „Ein Konzert-Foto teilen“ (#alltag:foto:start).</a:t>
            </a:r>
          </a:p>
        </p:txBody>
      </p:sp>
      <p:sp>
        <p:nvSpPr>
          <p:cNvPr id="4" name="Slide Number Placeholder 3"/>
          <p:cNvSpPr>
            <a:spLocks noGrp="1"/>
          </p:cNvSpPr>
          <p:nvPr>
            <p:ph type="sldNum" sz="quarter" idx="10"/>
          </p:nvPr>
        </p:nvSpPr>
        <p:spPr/>
        <p:txBody>
          <a:bodyPr/>
          <a:lstStyle/>
          <a:p>
            <a:fld id="{F7021451-1387-4CA6-816F-3879F97B5CBC}" type="slidenum">
              <a:rPr lang="de-DE"/>
              <a:t>26</a:t>
            </a:fld>
            <a:endParaRPr lang="de-DE"/>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Wiederholung und Gespräch: Thema 1, öffentliches Konto.</a:t>
            </a:r>
          </a:p>
          <a:p>
            <a:r>
              <a:rPr lang="de-DE" b="1" sz="1100"/>
              <a:t>Methode: </a:t>
            </a:r>
            <a:r>
              <a:rPr lang="de-DE" sz="1100"/>
              <a:t>Quiz als Gespräch: Antwortkarten A/B/C (Variante A, Standard) oder Kahoot in Teams (Variante B).</a:t>
            </a:r>
          </a:p>
          <a:p>
            <a:r>
              <a:rPr lang="de-DE" b="1" sz="1100"/>
              <a:t>Sozialform: </a:t>
            </a:r>
            <a:r>
              <a:rPr lang="de-DE" sz="1100"/>
              <a:t>Plenum oder Teams</a:t>
            </a:r>
          </a:p>
          <a:p>
            <a:r>
              <a:rPr lang="de-DE" b="1" sz="1100"/>
              <a:t>Zeit: </a:t>
            </a:r>
            <a:r>
              <a:rPr lang="de-DE" sz="1100"/>
              <a:t>ca. 1 Min</a:t>
            </a:r>
          </a:p>
          <a:p>
            <a:r>
              <a:rPr lang="de-DE" b="1" sz="1100"/>
              <a:t>Material: </a:t>
            </a:r>
            <a:r>
              <a:rPr lang="de-DE" sz="1100"/>
              <a:t>Antwortkarten A/B/C</a:t>
            </a:r>
          </a:p>
          <a:p>
            <a:r>
              <a:rPr lang="de-DE" b="1" sz="1100"/>
              <a:t>Hinweis: </a:t>
            </a:r>
            <a:r>
              <a:rPr lang="de-DE" sz="1100"/>
              <a:t>KERNFRAGE – wird immer gestellt. Passende Antwort: B. Erst fragen: Warum? Dann auflösen. Keine Noten, kein Zeitdruck. Zu Beginn sagen: Es gibt keine Noten. Jede Antwort hilft beim Gespräch. Gesprächsimpuls: Was ändert sich mit einem privaten Konto? Achtung: Im Kurz-Modus der Lernplattform steht noch „Dann sehen nur Freunde deine Fotos“. Im Workshop heißt es Follower – bei Nachfrage kurz erklären.</a:t>
            </a:r>
          </a:p>
          <a:p>
            <a:r>
              <a:rPr lang="de-DE" b="1" sz="1100"/>
              <a:t>Lernplattform: </a:t>
            </a:r>
            <a:r>
              <a:rPr lang="de-DE" sz="1100"/>
              <a:t>Übungs-Handy Instagram; Kurz-Modus „Deine Fotos auf Instagram“.</a:t>
            </a:r>
          </a:p>
        </p:txBody>
      </p:sp>
      <p:sp>
        <p:nvSpPr>
          <p:cNvPr id="4" name="Slide Number Placeholder 3"/>
          <p:cNvSpPr>
            <a:spLocks noGrp="1"/>
          </p:cNvSpPr>
          <p:nvPr>
            <p:ph type="sldNum" sz="quarter" idx="10"/>
          </p:nvPr>
        </p:nvSpPr>
        <p:spPr/>
        <p:txBody>
          <a:bodyPr/>
          <a:lstStyle/>
          <a:p>
            <a:fld id="{F7021451-1387-4CA6-816F-3879F97B5CBC}" type="slidenum">
              <a:rPr lang="de-DE"/>
              <a:t>27</a:t>
            </a:fld>
            <a:endParaRPr lang="de-DE"/>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Wiederholung und Gespräch: Thema 1 und 3, Anfragen und Fake-Profile.</a:t>
            </a:r>
          </a:p>
          <a:p>
            <a:r>
              <a:rPr lang="de-DE" b="1" sz="1100"/>
              <a:t>Methode: </a:t>
            </a:r>
            <a:r>
              <a:rPr lang="de-DE" sz="1100"/>
              <a:t>Quiz als Gespräch: Antwortkarten A/B/C (Variante A, Standard) oder Kahoot in Teams (Variante B).</a:t>
            </a:r>
          </a:p>
          <a:p>
            <a:r>
              <a:rPr lang="de-DE" b="1" sz="1100"/>
              <a:t>Sozialform: </a:t>
            </a:r>
            <a:r>
              <a:rPr lang="de-DE" sz="1100"/>
              <a:t>Plenum oder Teams</a:t>
            </a:r>
          </a:p>
          <a:p>
            <a:r>
              <a:rPr lang="de-DE" b="1" sz="1100"/>
              <a:t>Zeit: </a:t>
            </a:r>
            <a:r>
              <a:rPr lang="de-DE" sz="1100"/>
              <a:t>ca. 1 Min</a:t>
            </a:r>
          </a:p>
          <a:p>
            <a:r>
              <a:rPr lang="de-DE" b="1" sz="1100"/>
              <a:t>Material: </a:t>
            </a:r>
            <a:r>
              <a:rPr lang="de-DE" sz="1100"/>
              <a:t>Antwortkarten A/B/C</a:t>
            </a:r>
          </a:p>
          <a:p>
            <a:r>
              <a:rPr lang="de-DE" b="1" sz="1100"/>
              <a:t>Hinweis: </a:t>
            </a:r>
            <a:r>
              <a:rPr lang="de-DE" sz="1100"/>
              <a:t>RESERVEFRAGE – nur wenn Zeit und Aufmerksamkeit reichen. Passende Antwort: C. Erst fragen: Warum? Dann auflösen. Keine Noten, kein Zeitdruck. Gesprächsimpuls: Ein nettes Profil-Bild ist kein Beweis. Nein sagen ist erlaubt. Zu Antwort B: Entfernen ist möglich, aber die Person hat deine Bilder dann schon gesehen. Prüfen kommt vor dem Annehmen.</a:t>
            </a:r>
          </a:p>
          <a:p>
            <a:r>
              <a:rPr lang="de-DE" b="1" sz="1100"/>
              <a:t>Lernplattform: </a:t>
            </a:r>
            <a:r>
              <a:rPr lang="de-DE" sz="1100"/>
              <a:t>Instagram L8 (Warnhinweis: Ein schönes Bild ist kein Beweis).</a:t>
            </a:r>
          </a:p>
        </p:txBody>
      </p:sp>
      <p:sp>
        <p:nvSpPr>
          <p:cNvPr id="4" name="Slide Number Placeholder 3"/>
          <p:cNvSpPr>
            <a:spLocks noGrp="1"/>
          </p:cNvSpPr>
          <p:nvPr>
            <p:ph type="sldNum" sz="quarter" idx="10"/>
          </p:nvPr>
        </p:nvSpPr>
        <p:spPr/>
        <p:txBody>
          <a:bodyPr/>
          <a:lstStyle/>
          <a:p>
            <a:fld id="{F7021451-1387-4CA6-816F-3879F97B5CBC}" type="slidenum">
              <a:rPr lang="de-DE"/>
              <a:t>28</a:t>
            </a:fld>
            <a:endParaRPr lang="de-DE"/>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Wiederholung und Gespräch: Thema 2, Hintergrund prüfen.</a:t>
            </a:r>
          </a:p>
          <a:p>
            <a:r>
              <a:rPr lang="de-DE" b="1" sz="1100"/>
              <a:t>Methode: </a:t>
            </a:r>
            <a:r>
              <a:rPr lang="de-DE" sz="1100"/>
              <a:t>Quiz als Gespräch: Antwortkarten A/B/C (Variante A, Standard) oder Kahoot in Teams (Variante B).</a:t>
            </a:r>
          </a:p>
          <a:p>
            <a:r>
              <a:rPr lang="de-DE" b="1" sz="1100"/>
              <a:t>Sozialform: </a:t>
            </a:r>
            <a:r>
              <a:rPr lang="de-DE" sz="1100"/>
              <a:t>Plenum oder Teams</a:t>
            </a:r>
          </a:p>
          <a:p>
            <a:r>
              <a:rPr lang="de-DE" b="1" sz="1100"/>
              <a:t>Zeit: </a:t>
            </a:r>
            <a:r>
              <a:rPr lang="de-DE" sz="1100"/>
              <a:t>ca. 1 Min</a:t>
            </a:r>
          </a:p>
          <a:p>
            <a:r>
              <a:rPr lang="de-DE" b="1" sz="1100"/>
              <a:t>Material: </a:t>
            </a:r>
            <a:r>
              <a:rPr lang="de-DE" sz="1100"/>
              <a:t>Antwortkarten A/B/C</a:t>
            </a:r>
          </a:p>
          <a:p>
            <a:r>
              <a:rPr lang="de-DE" b="1" sz="1100"/>
              <a:t>Hinweis: </a:t>
            </a:r>
            <a:r>
              <a:rPr lang="de-DE" sz="1100"/>
              <a:t>KERNFRAGE – wird immer gestellt. Passende Antwort: A. Erst fragen: Warum? Dann auflösen. Keine Noten, kein Zeitdruck. Warten und schwarz-weiß klingen nach Schutz, helfen aber nicht: Haus-Nummer und Straßen-Schild bleiben lesbar. Gesprächsimpuls: Was steht sonst noch im Hintergrund?</a:t>
            </a:r>
          </a:p>
          <a:p>
            <a:r>
              <a:rPr lang="de-DE" b="1" sz="1100"/>
              <a:t>Lernplattform: </a:t>
            </a:r>
            <a:r>
              <a:rPr lang="de-DE" sz="1100"/>
              <a:t>Instagram L1, Quiz Frage 1.</a:t>
            </a:r>
          </a:p>
        </p:txBody>
      </p:sp>
      <p:sp>
        <p:nvSpPr>
          <p:cNvPr id="4" name="Slide Number Placeholder 3"/>
          <p:cNvSpPr>
            <a:spLocks noGrp="1"/>
          </p:cNvSpPr>
          <p:nvPr>
            <p:ph type="sldNum" sz="quarter" idx="10"/>
          </p:nvPr>
        </p:nvSpPr>
        <p:spPr/>
        <p:txBody>
          <a:bodyPr/>
          <a:lstStyle/>
          <a:p>
            <a:fld id="{F7021451-1387-4CA6-816F-3879F97B5CBC}" type="slidenum">
              <a:rPr lang="de-DE"/>
              <a:t>29</a:t>
            </a:fld>
            <a:endParaRPr lang="de-DE"/>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Wiederholung und Gespräch: Thema 2, Ort.</a:t>
            </a:r>
          </a:p>
          <a:p>
            <a:r>
              <a:rPr lang="de-DE" b="1" sz="1100"/>
              <a:t>Methode: </a:t>
            </a:r>
            <a:r>
              <a:rPr lang="de-DE" sz="1100"/>
              <a:t>Quiz als Gespräch: Antwortkarten A/B/C (Variante A, Standard) oder Kahoot in Teams (Variante B).</a:t>
            </a:r>
          </a:p>
          <a:p>
            <a:r>
              <a:rPr lang="de-DE" b="1" sz="1100"/>
              <a:t>Sozialform: </a:t>
            </a:r>
            <a:r>
              <a:rPr lang="de-DE" sz="1100"/>
              <a:t>Plenum oder Teams</a:t>
            </a:r>
          </a:p>
          <a:p>
            <a:r>
              <a:rPr lang="de-DE" b="1" sz="1100"/>
              <a:t>Zeit: </a:t>
            </a:r>
            <a:r>
              <a:rPr lang="de-DE" sz="1100"/>
              <a:t>ca. 1 Min</a:t>
            </a:r>
          </a:p>
          <a:p>
            <a:r>
              <a:rPr lang="de-DE" b="1" sz="1100"/>
              <a:t>Material: </a:t>
            </a:r>
            <a:r>
              <a:rPr lang="de-DE" sz="1100"/>
              <a:t>Antwortkarten A/B/C</a:t>
            </a:r>
          </a:p>
          <a:p>
            <a:r>
              <a:rPr lang="de-DE" b="1" sz="1100"/>
              <a:t>Hinweis: </a:t>
            </a:r>
            <a:r>
              <a:rPr lang="de-DE" sz="1100"/>
              <a:t>RESERVEFRAGE – nur wenn Zeit und Aufmerksamkeit reichen. Passende Antwort: B. Erst fragen: Warum? Dann auflösen. Keine Noten, kein Zeitdruck. Ort markieren (im Beitrag) und Standort-Freigabe (Einstellung) unterscheiden. Auch Stories können gespeichert werden. Ergänzen: Der Ort ist oft schon am Hintergrund zu erkennen.</a:t>
            </a:r>
          </a:p>
          <a:p>
            <a:r>
              <a:rPr lang="de-DE" b="1" sz="1100"/>
              <a:t>Lernplattform: </a:t>
            </a:r>
            <a:r>
              <a:rPr lang="de-DE" sz="1100"/>
              <a:t>Instagram L3 und L4, Quiz Frage 2 (gleiche Situation).</a:t>
            </a:r>
          </a:p>
        </p:txBody>
      </p:sp>
      <p:sp>
        <p:nvSpPr>
          <p:cNvPr id="4" name="Slide Number Placeholder 3"/>
          <p:cNvSpPr>
            <a:spLocks noGrp="1"/>
          </p:cNvSpPr>
          <p:nvPr>
            <p:ph type="sldNum" sz="quarter" idx="10"/>
          </p:nvPr>
        </p:nvSpPr>
        <p:spPr/>
        <p:txBody>
          <a:bodyPr/>
          <a:lstStyle/>
          <a:p>
            <a:fld id="{F7021451-1387-4CA6-816F-3879F97B5CBC}" type="slidenum">
              <a:rPr lang="de-DE"/>
              <a:t>30</a:t>
            </a:fld>
            <a:endParaRPr lang="de-DE"/>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Wiederholung und Gespräch: Thema 3, Warnzeichen und Plan.</a:t>
            </a:r>
          </a:p>
          <a:p>
            <a:r>
              <a:rPr lang="de-DE" b="1" sz="1100"/>
              <a:t>Methode: </a:t>
            </a:r>
            <a:r>
              <a:rPr lang="de-DE" sz="1100"/>
              <a:t>Quiz als Gespräch: Antwortkarten A/B/C (Variante A, Standard) oder Kahoot in Teams (Variante B).</a:t>
            </a:r>
          </a:p>
          <a:p>
            <a:r>
              <a:rPr lang="de-DE" b="1" sz="1100"/>
              <a:t>Sozialform: </a:t>
            </a:r>
            <a:r>
              <a:rPr lang="de-DE" sz="1100"/>
              <a:t>Plenum oder Teams</a:t>
            </a:r>
          </a:p>
          <a:p>
            <a:r>
              <a:rPr lang="de-DE" b="1" sz="1100"/>
              <a:t>Zeit: </a:t>
            </a:r>
            <a:r>
              <a:rPr lang="de-DE" sz="1100"/>
              <a:t>ca. 2 Min</a:t>
            </a:r>
          </a:p>
          <a:p>
            <a:r>
              <a:rPr lang="de-DE" b="1" sz="1100"/>
              <a:t>Material: </a:t>
            </a:r>
            <a:r>
              <a:rPr lang="de-DE" sz="1100"/>
              <a:t>Antwortkarten A/B/C</a:t>
            </a:r>
          </a:p>
          <a:p>
            <a:r>
              <a:rPr lang="de-DE" b="1" sz="1100"/>
              <a:t>Hinweis: </a:t>
            </a:r>
            <a:r>
              <a:rPr lang="de-DE" sz="1100"/>
              <a:t>KERNFRAGE – wird immer gestellt. Passende Antwort: A. Erst fragen: Warum? Dann auflösen. Keine Noten, kein Zeitdruck. Warnzeichen benennen lassen: unbekannte Person, Druck, Link. Druck und Drohung sind Warnzeichen – auch wenn eine Nachricht offiziell aussieht. Plan: Stopp machen. Zeigen.</a:t>
            </a:r>
          </a:p>
          <a:p>
            <a:r>
              <a:rPr lang="de-DE" b="1" sz="1100"/>
              <a:t>Lernplattform: </a:t>
            </a:r>
            <a:r>
              <a:rPr lang="de-DE" sz="1100"/>
              <a:t>Instagram L8, Quiz Frage 9; Thema Online-Betrug.</a:t>
            </a:r>
          </a:p>
        </p:txBody>
      </p:sp>
      <p:sp>
        <p:nvSpPr>
          <p:cNvPr id="4" name="Slide Number Placeholder 3"/>
          <p:cNvSpPr>
            <a:spLocks noGrp="1"/>
          </p:cNvSpPr>
          <p:nvPr>
            <p:ph type="sldNum" sz="quarter" idx="10"/>
          </p:nvPr>
        </p:nvSpPr>
        <p:spPr/>
        <p:txBody>
          <a:bodyPr/>
          <a:lstStyle/>
          <a:p>
            <a:fld id="{F7021451-1387-4CA6-816F-3879F97B5CBC}" type="slidenum">
              <a:rPr lang="de-DE"/>
              <a:t>31</a:t>
            </a:fld>
            <a:endParaRPr lang="de-DE"/>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Wiederholung und Gespräch: Thema 4, verletzende Kommentare.</a:t>
            </a:r>
          </a:p>
          <a:p>
            <a:r>
              <a:rPr lang="de-DE" b="1" sz="1100"/>
              <a:t>Methode: </a:t>
            </a:r>
            <a:r>
              <a:rPr lang="de-DE" sz="1100"/>
              <a:t>Quiz als Gespräch: Antwortkarten A/B/C (Variante A, Standard) oder Kahoot in Teams (Variante B).</a:t>
            </a:r>
          </a:p>
          <a:p>
            <a:r>
              <a:rPr lang="de-DE" b="1" sz="1100"/>
              <a:t>Sozialform: </a:t>
            </a:r>
            <a:r>
              <a:rPr lang="de-DE" sz="1100"/>
              <a:t>Plenum oder Teams</a:t>
            </a:r>
          </a:p>
          <a:p>
            <a:r>
              <a:rPr lang="de-DE" b="1" sz="1100"/>
              <a:t>Zeit: </a:t>
            </a:r>
            <a:r>
              <a:rPr lang="de-DE" sz="1100"/>
              <a:t>ca. 1 Min</a:t>
            </a:r>
          </a:p>
          <a:p>
            <a:r>
              <a:rPr lang="de-DE" b="1" sz="1100"/>
              <a:t>Material: </a:t>
            </a:r>
            <a:r>
              <a:rPr lang="de-DE" sz="1100"/>
              <a:t>Antwortkarten A/B/C</a:t>
            </a:r>
          </a:p>
          <a:p>
            <a:r>
              <a:rPr lang="de-DE" b="1" sz="1100"/>
              <a:t>Hinweis: </a:t>
            </a:r>
            <a:r>
              <a:rPr lang="de-DE" sz="1100"/>
              <a:t>RESERVEFRAGE – nur wenn Zeit und Aufmerksamkeit reichen. Passende Antwort: C. Erst fragen: Warum? Dann auflösen. Keine Noten, kein Zeitdruck. Gesprächsimpuls: Das ist nicht deine Schuld. Zeigen heißt auch: nicht sofort löschen. Diese Reservefrage zuerst nehmen, wenn verletzende Kommentare in der Gruppe Thema waren.</a:t>
            </a:r>
          </a:p>
          <a:p>
            <a:r>
              <a:rPr lang="de-DE" b="1" sz="1100"/>
              <a:t>Lernplattform: </a:t>
            </a:r>
            <a:r>
              <a:rPr lang="de-DE" sz="1100"/>
              <a:t>Instagram L6, Quiz Frage 5 (gleiche Situation).</a:t>
            </a:r>
          </a:p>
        </p:txBody>
      </p:sp>
      <p:sp>
        <p:nvSpPr>
          <p:cNvPr id="4" name="Slide Number Placeholder 3"/>
          <p:cNvSpPr>
            <a:spLocks noGrp="1"/>
          </p:cNvSpPr>
          <p:nvPr>
            <p:ph type="sldNum" sz="quarter" idx="10"/>
          </p:nvPr>
        </p:nvSpPr>
        <p:spPr/>
        <p:txBody>
          <a:bodyPr/>
          <a:lstStyle/>
          <a:p>
            <a:fld id="{F7021451-1387-4CA6-816F-3879F97B5CBC}" type="slidenum">
              <a:rPr lang="de-DE"/>
              <a:t>32</a:t>
            </a:fld>
            <a:endParaRPr lang="de-DE"/>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Fünf Merksätze wiederholen.</a:t>
            </a:r>
          </a:p>
          <a:p>
            <a:r>
              <a:rPr lang="de-DE" b="1" sz="1100"/>
              <a:t>Methode: </a:t>
            </a:r>
            <a:r>
              <a:rPr lang="de-DE" sz="1100"/>
              <a:t>Reihum vorlesen.</a:t>
            </a:r>
          </a:p>
          <a:p>
            <a:r>
              <a:rPr lang="de-DE" b="1" sz="1100"/>
              <a:t>Sozialform: </a:t>
            </a:r>
            <a:r>
              <a:rPr lang="de-DE" sz="1100"/>
              <a:t>Plenum</a:t>
            </a:r>
          </a:p>
          <a:p>
            <a:r>
              <a:rPr lang="de-DE" b="1" sz="1100"/>
              <a:t>Zeit: </a:t>
            </a:r>
            <a:r>
              <a:rPr lang="de-DE" sz="1100"/>
              <a:t>ca. 1 Min</a:t>
            </a:r>
          </a:p>
          <a:p>
            <a:r>
              <a:rPr lang="de-DE" b="1" sz="1100"/>
              <a:t>Material: </a:t>
            </a:r>
            <a:r>
              <a:rPr lang="de-DE" sz="1100"/>
              <a:t>gedruckte Merk-Karte Instagram der Lernplattform</a:t>
            </a:r>
          </a:p>
          <a:p>
            <a:r>
              <a:rPr lang="de-DE" b="1" sz="1100"/>
              <a:t>Hinweis: </a:t>
            </a:r>
            <a:r>
              <a:rPr lang="de-DE" sz="1100"/>
              <a:t>Merk-Karte austeilen. Die Merksätze passen inhaltlich zur Lernplattform (Instagram: Das merke ich mir), sind aber nicht wortgleich. Beim Austeilen sagen: Auf der Karte stehen die gleichen Regeln in anderen Worten.</a:t>
            </a:r>
          </a:p>
          <a:p>
            <a:r>
              <a:rPr lang="de-DE" b="1" sz="1100"/>
              <a:t>Lernplattform: </a:t>
            </a:r>
            <a:r>
              <a:rPr lang="de-DE" sz="1100"/>
              <a:t>Merk-Karte #thema-instagram:merk; Instagram L9.</a:t>
            </a:r>
          </a:p>
        </p:txBody>
      </p:sp>
      <p:sp>
        <p:nvSpPr>
          <p:cNvPr id="4" name="Slide Number Placeholder 3"/>
          <p:cNvSpPr>
            <a:spLocks noGrp="1"/>
          </p:cNvSpPr>
          <p:nvPr>
            <p:ph type="sldNum" sz="quarter" idx="10"/>
          </p:nvPr>
        </p:nvSpPr>
        <p:spPr/>
        <p:txBody>
          <a:bodyPr/>
          <a:lstStyle/>
          <a:p>
            <a:fld id="{F7021451-1387-4CA6-816F-3879F97B5CBC}" type="slidenum">
              <a:rPr lang="de-DE"/>
              <a:t>33</a:t>
            </a:fld>
            <a:endParaRPr lang="de-DE"/>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Wissen, wo das Thema zum Weiterüben liegt; die Seite öffnen können.</a:t>
            </a:r>
          </a:p>
          <a:p>
            <a:r>
              <a:rPr lang="de-DE" b="1" sz="1100"/>
              <a:t>Methode: </a:t>
            </a:r>
            <a:r>
              <a:rPr lang="de-DE" sz="1100"/>
              <a:t>QR-Code scannen, kurz zeigen.</a:t>
            </a:r>
          </a:p>
          <a:p>
            <a:r>
              <a:rPr lang="de-DE" b="1" sz="1100"/>
              <a:t>Sozialform: </a:t>
            </a:r>
            <a:r>
              <a:rPr lang="de-DE" sz="1100"/>
              <a:t>Plenum, einzeln</a:t>
            </a:r>
          </a:p>
          <a:p>
            <a:r>
              <a:rPr lang="de-DE" b="1" sz="1100"/>
              <a:t>Zeit: </a:t>
            </a:r>
            <a:r>
              <a:rPr lang="de-DE" sz="1100"/>
              <a:t>ca. 2 Min</a:t>
            </a:r>
          </a:p>
          <a:p>
            <a:r>
              <a:rPr lang="de-DE" b="1" sz="1100"/>
              <a:t>Material: </a:t>
            </a:r>
            <a:r>
              <a:rPr lang="de-DE" sz="1100"/>
              <a:t>eigenes Handy, QR-Code</a:t>
            </a:r>
          </a:p>
          <a:p>
            <a:r>
              <a:rPr lang="de-DE" b="1" sz="1100"/>
              <a:t>Hinweis: </a:t>
            </a:r>
            <a:r>
              <a:rPr lang="de-DE" sz="1100"/>
              <a:t>Der QR-Code ist der Hauptweg; die volle Adresse steht im Feld Lernplattform und im Ausdruck dieses Leitfadens, nicht klein auf der Folie. Zeigen: Sprache umstellen, Vorlesen, Kurz-Modus, Quiz, Merk-Karte und die Alltags-Übung „Ein Konzert-Foto teilen“ als erster Schritt für alle. Vertiefung: Stories (L3), Standort (L4), bearbeitete Bilder (L7). Die Lektion private Nachrichten (L5), die Quizfrage 3 und das Übungs-Handy enthalten Inhalte zu privaten Fotos – diese nur begleitet und angekündigt öffnen, nicht im Standardweg. Die Sprache lässt sich jederzeit umstellen. Vor dem Workshop an einem Gerät ohne gespeicherte Einstellungen testen, was der QR-Code zuerst zeigt. Zum Datenschutz nur das sagen, was auf der Datenschutz-Seite der Lernplattform steht (Stand Juni 2026): Die Seite fragt nicht nach dem Namen, es gibt kein Konto und keine Werbung; der Lernstand bleibt nur nach Zustimmung auf dem Gerät; beim Aufruf verarbeitet der Hoster GitHub Pages technisch nötige Daten wie die IP-Adresse. Keine pauschale Aussage, es würden gar keine personenbezogenen Daten verarbeitet.</a:t>
            </a:r>
          </a:p>
          <a:p>
            <a:r>
              <a:rPr lang="de-DE" b="1" sz="1100"/>
              <a:t>Lernplattform: </a:t>
            </a:r>
            <a:r>
              <a:rPr lang="de-DE" sz="1100"/>
              <a:t>alex-und-tilda.github.io/sicher-und-selbstbestimmt-im-internet/#thema-instagram; weitere Einstiege: #thema-instagram:kurz, #thema-instagram:quiz, #thema-instagram:merk, #alltag:foto:start.</a:t>
            </a:r>
          </a:p>
        </p:txBody>
      </p:sp>
      <p:sp>
        <p:nvSpPr>
          <p:cNvPr id="4" name="Slide Number Placeholder 3"/>
          <p:cNvSpPr>
            <a:spLocks noGrp="1"/>
          </p:cNvSpPr>
          <p:nvPr>
            <p:ph type="sldNum" sz="quarter" idx="10"/>
          </p:nvPr>
        </p:nvSpPr>
        <p:spPr/>
        <p:txBody>
          <a:bodyPr/>
          <a:lstStyle/>
          <a:p>
            <a:fld id="{F7021451-1387-4CA6-816F-3879F97B5CBC}" type="slidenum">
              <a:rPr lang="de-DE"/>
              <a:t>34</a:t>
            </a:fld>
            <a:endParaRPr lang="de-DE"/>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Einen konkreten Schritt für den Alltag benennen.</a:t>
            </a:r>
          </a:p>
          <a:p>
            <a:r>
              <a:rPr lang="de-DE" b="1" sz="1100"/>
              <a:t>Methode: </a:t>
            </a:r>
            <a:r>
              <a:rPr lang="de-DE" sz="1100"/>
              <a:t>Satz gemeinsam sprechen; freiwillig sagen, wann das nächste Foto kommt.</a:t>
            </a:r>
          </a:p>
          <a:p>
            <a:r>
              <a:rPr lang="de-DE" b="1" sz="1100"/>
              <a:t>Sozialform: </a:t>
            </a:r>
            <a:r>
              <a:rPr lang="de-DE" sz="1100"/>
              <a:t>Plenum</a:t>
            </a:r>
          </a:p>
          <a:p>
            <a:r>
              <a:rPr lang="de-DE" b="1" sz="1100"/>
              <a:t>Zeit: </a:t>
            </a:r>
            <a:r>
              <a:rPr lang="de-DE" sz="1100"/>
              <a:t>ca. 1 Min</a:t>
            </a:r>
          </a:p>
          <a:p>
            <a:r>
              <a:rPr lang="de-DE" b="1" sz="1100"/>
              <a:t>Material: </a:t>
            </a:r>
            <a:r>
              <a:rPr lang="de-DE" sz="1100"/>
              <a:t>Beamer</a:t>
            </a:r>
          </a:p>
          <a:p>
            <a:r>
              <a:rPr lang="de-DE" b="1" sz="1100"/>
              <a:t>Hinweis: </a:t>
            </a:r>
            <a:r>
              <a:rPr lang="de-DE" sz="1100"/>
              <a:t>Nur dieser eine Schritt. Wer im Workshop nicht einstellen konnte: zusätzlich zu Hause mit einer vertrauten Person das Konto auf privat stellen (Transfer der Lernplattform).</a:t>
            </a:r>
          </a:p>
          <a:p>
            <a:r>
              <a:rPr lang="de-DE" b="1" sz="1100"/>
              <a:t>Bildvorschlag: </a:t>
            </a:r>
            <a:r>
              <a:rPr lang="de-DE" sz="1100"/>
              <a:t>Eigenes Bild: Person schaut vor dem Posten auf den Hintergrund von ihrem Foto. Funktion: Erinnerungsbild, auch für einen Handzettel.</a:t>
            </a:r>
          </a:p>
          <a:p>
            <a:r>
              <a:rPr lang="de-DE" b="1" sz="1100"/>
              <a:t>Lernplattform: </a:t>
            </a:r>
            <a:r>
              <a:rPr lang="de-DE" sz="1100"/>
              <a:t>Transfer Thema Instagram: Schau heute in deine Einstellungen. Ist dein Konto privat?</a:t>
            </a:r>
          </a:p>
        </p:txBody>
      </p:sp>
      <p:sp>
        <p:nvSpPr>
          <p:cNvPr id="4" name="Slide Number Placeholder 3"/>
          <p:cNvSpPr>
            <a:spLocks noGrp="1"/>
          </p:cNvSpPr>
          <p:nvPr>
            <p:ph type="sldNum" sz="quarter" idx="10"/>
          </p:nvPr>
        </p:nvSpPr>
        <p:spPr/>
        <p:txBody>
          <a:bodyPr/>
          <a:lstStyle/>
          <a:p>
            <a:fld id="{F7021451-1387-4CA6-816F-3879F97B5CBC}" type="slidenum">
              <a:rPr lang="de-DE"/>
              <a:t>35</a:t>
            </a:fld>
            <a:endParaRPr lang="de-DE"/>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Ermutigender Abschluss.</a:t>
            </a:r>
          </a:p>
          <a:p>
            <a:r>
              <a:rPr lang="de-DE" b="1" sz="1100"/>
              <a:t>Methode: </a:t>
            </a:r>
            <a:r>
              <a:rPr lang="de-DE" sz="1100"/>
              <a:t>Fragerunde.</a:t>
            </a:r>
          </a:p>
          <a:p>
            <a:r>
              <a:rPr lang="de-DE" b="1" sz="1100"/>
              <a:t>Sozialform: </a:t>
            </a:r>
            <a:r>
              <a:rPr lang="de-DE" sz="1100"/>
              <a:t>Plenum</a:t>
            </a:r>
          </a:p>
          <a:p>
            <a:r>
              <a:rPr lang="de-DE" b="1" sz="1100"/>
              <a:t>Zeit: </a:t>
            </a:r>
            <a:r>
              <a:rPr lang="de-DE" sz="1100"/>
              <a:t>ca. 1 Min</a:t>
            </a:r>
          </a:p>
          <a:p>
            <a:r>
              <a:rPr lang="de-DE" b="1" sz="1100"/>
              <a:t>Material: </a:t>
            </a:r>
            <a:r>
              <a:rPr lang="de-DE" sz="1100"/>
              <a:t>–</a:t>
            </a:r>
          </a:p>
          <a:p>
            <a:r>
              <a:rPr lang="de-DE" b="1" sz="1100"/>
              <a:t>Hinweis: </a:t>
            </a:r>
            <a:r>
              <a:rPr lang="de-DE" sz="1100"/>
              <a:t>Sachlich-ermutigend abschließen. Auf Einzelgespräche nach dem Workshop hinweisen. Optional: Einstiegsfrage von Folie 4 noch einmal stellen. Danach Beobachtungen datensparsam festhalten (Checkliste nach dem Workshop in REFERENZMODUL.md).</a:t>
            </a:r>
          </a:p>
        </p:txBody>
      </p:sp>
      <p:sp>
        <p:nvSpPr>
          <p:cNvPr id="4" name="Slide Number Placeholder 3"/>
          <p:cNvSpPr>
            <a:spLocks noGrp="1"/>
          </p:cNvSpPr>
          <p:nvPr>
            <p:ph type="sldNum" sz="quarter" idx="10"/>
          </p:nvPr>
        </p:nvSpPr>
        <p:spPr/>
        <p:txBody>
          <a:bodyPr/>
          <a:lstStyle/>
          <a:p>
            <a:fld id="{F7021451-1387-4CA6-816F-3879F97B5CBC}" type="slidenum">
              <a:rPr lang="de-DE"/>
              <a:t>36</a:t>
            </a:fld>
            <a:endParaRPr lang="de-D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qr-praxis-instagram.png"/></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qr-lernplattform-instagram.png"/></Relationships>
</file>

<file path=ppt/slides/_rels/slide3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Instagram sicher und selbstbestimmt nutzen">
    <p:bg>
      <p:bgPr>
        <a:solidFill>
          <a:srgbClr val="00285A"/>
        </a:solidFill>
        <a:effectLst/>
      </p:bgPr>
    </p:bg>
    <p:spTree>
      <p:nvGrpSpPr>
        <p:cNvPr id="1" name=""/>
        <p:cNvGrpSpPr/>
        <p:nvPr/>
      </p:nvGrpSpPr>
      <p:grpSpPr>
        <a:xfrm>
          <a:off x="0" y="0"/>
          <a:ext cx="0" cy="0"/>
          <a:chOff x="0" y="0"/>
          <a:chExt cx="0" cy="0"/>
        </a:xfrm>
      </p:grpSpPr>
      <p:sp>
        <p:nvSpPr>
          <p:cNvPr id="2" name="Bild-Platzhalter 2"/>
          <p:cNvSpPr/>
          <p:nvPr/>
        </p:nvSpPr>
        <p:spPr>
          <a:xfrm>
            <a:off x="640080" y="540000"/>
            <a:ext cx="3200000" cy="1700000"/>
          </a:xfrm>
          <a:prstGeom prst="roundRect">
            <a:avLst>
              <a:gd name="adj" fmla="val 4000"/>
            </a:avLst>
          </a:prstGeom>
          <a:solidFill>
            <a:srgbClr val="0B3A6E"/>
          </a:solidFill>
          <a:ln w="19050">
            <a:solidFill>
              <a:srgbClr val="AAD1E3"/>
            </a:solidFill>
            <a:prstDash val="dash"/>
          </a:ln>
        </p:spPr>
        <p:txBody>
          <a:bodyPr wrap="square" lIns="137160" tIns="137160" rIns="137160" bIns="137160" rtlCol="0" anchor="ctr">
            <a:noAutofit/>
          </a:bodyPr>
          <a:lstStyle/>
          <a:p>
            <a:pPr algn="ctr" indent="0" marL="0">
              <a:lnSpc>
                <a:spcPct val="100000"/>
              </a:lnSpc>
              <a:spcAft>
                <a:spcPts val="0"/>
              </a:spcAft>
              <a:buNone/>
            </a:pPr>
            <a:r>
              <a:rPr lang="de-DE" sz="1500" b="0" i="1" dirty="0">
                <a:solidFill>
                  <a:srgbClr val="AAD1E3"/>
                </a:solidFill>
                <a:latin typeface="Arial" pitchFamily="34" charset="0"/>
                <a:ea typeface="Arial" pitchFamily="34" charset="-122"/>
                <a:cs typeface="Arial" pitchFamily="34" charset="-120"/>
              </a:rPr>
              <a:t>[BILD: Alex und Tilda begrüßen die Gruppe – eigene Figuren der Lernplattform]</a:t>
            </a:r>
          </a:p>
        </p:txBody>
      </p:sp>
      <p:sp>
        <p:nvSpPr>
          <p:cNvPr id="3" name="Text 3"/>
          <p:cNvSpPr/>
          <p:nvPr/>
        </p:nvSpPr>
        <p:spPr>
          <a:xfrm>
            <a:off x="640080" y="2423160"/>
            <a:ext cx="10972800" cy="1900000"/>
          </a:xfrm>
          <a:prstGeom prst="rect">
            <a:avLst/>
          </a:prstGeom>
          <a:noFill/>
          <a:ln>
            <a:noFill/>
          </a:ln>
        </p:spPr>
        <p:txBody>
          <a:bodyPr wrap="square" lIns="0" tIns="0" rIns="0" bIns="0" rtlCol="0" anchor="b">
            <a:noAutofit/>
          </a:bodyPr>
          <a:lstStyle/>
          <a:p>
            <a:pPr algn="l" indent="0" marL="0">
              <a:lnSpc>
                <a:spcPct val="95000"/>
              </a:lnSpc>
              <a:spcAft>
                <a:spcPts val="0"/>
              </a:spcAft>
              <a:buNone/>
            </a:pPr>
            <a:r>
              <a:rPr lang="de-DE" sz="4400" b="1" i="0" dirty="0">
                <a:solidFill>
                  <a:srgbClr val="FFFFFF"/>
                </a:solidFill>
                <a:latin typeface="Arial" pitchFamily="34" charset="0"/>
                <a:ea typeface="Arial" pitchFamily="34" charset="-122"/>
                <a:cs typeface="Arial" pitchFamily="34" charset="-120"/>
              </a:rPr>
              <a:t>Instagram sicher und selbstbestimmt nutzen</a:t>
            </a:r>
          </a:p>
        </p:txBody>
      </p:sp>
      <p:sp>
        <p:nvSpPr>
          <p:cNvPr id="4" name="Text 4"/>
          <p:cNvSpPr/>
          <p:nvPr/>
        </p:nvSpPr>
        <p:spPr>
          <a:xfrm>
            <a:off x="640080" y="4450000"/>
            <a:ext cx="10972800" cy="700000"/>
          </a:xfrm>
          <a:prstGeom prst="rect">
            <a:avLst/>
          </a:prstGeom>
          <a:noFill/>
          <a:ln>
            <a:noFill/>
          </a:ln>
        </p:spPr>
        <p:txBody>
          <a:bodyPr wrap="square" lIns="0" tIns="0" rIns="0" bIns="0" rtlCol="0" anchor="t">
            <a:noAutofit/>
          </a:bodyPr>
          <a:lstStyle/>
          <a:p>
            <a:pPr algn="l" indent="0" marL="0">
              <a:lnSpc>
                <a:spcPct val="100000"/>
              </a:lnSpc>
              <a:spcAft>
                <a:spcPts val="0"/>
              </a:spcAft>
              <a:buNone/>
            </a:pPr>
            <a:r>
              <a:rPr lang="de-DE" sz="2800" b="0" i="0" dirty="0">
                <a:solidFill>
                  <a:srgbClr val="AAD1E3"/>
                </a:solidFill>
                <a:latin typeface="Arial" pitchFamily="34" charset="0"/>
                <a:ea typeface="Arial" pitchFamily="34" charset="-122"/>
                <a:cs typeface="Arial" pitchFamily="34" charset="-120"/>
              </a:rPr>
              <a:t>Mein Konto. Meine Fotos. Mein Plan.</a:t>
            </a:r>
          </a:p>
        </p:txBody>
      </p:sp>
      <p:sp>
        <p:nvSpPr>
          <p:cNvPr id="5" name="Text 5"/>
          <p:cNvSpPr/>
          <p:nvPr/>
        </p:nvSpPr>
        <p:spPr>
          <a:xfrm>
            <a:off x="640080" y="5349240"/>
            <a:ext cx="10972800" cy="822960"/>
          </a:xfrm>
          <a:prstGeom prst="rect">
            <a:avLst/>
          </a:prstGeom>
          <a:noFill/>
          <a:ln>
            <a:noFill/>
          </a:ln>
        </p:spPr>
        <p:txBody>
          <a:bodyPr wrap="square" lIns="0" tIns="0" rIns="0" bIns="0" rtlCol="0" anchor="t">
            <a:noAutofit/>
          </a:bodyPr>
          <a:lstStyle/>
          <a:p>
            <a:pPr algn="l" indent="0" marL="0">
              <a:lnSpc>
                <a:spcPct val="100000"/>
              </a:lnSpc>
              <a:spcAft>
                <a:spcPts val="0"/>
              </a:spcAft>
              <a:buNone/>
            </a:pPr>
            <a:r>
              <a:rPr lang="de-DE" sz="1900" b="1" i="0" dirty="0">
                <a:solidFill>
                  <a:srgbClr val="FFFFFF"/>
                </a:solidFill>
                <a:latin typeface="Arial" pitchFamily="34" charset="0"/>
                <a:ea typeface="Arial" pitchFamily="34" charset="-122"/>
                <a:cs typeface="Arial" pitchFamily="34" charset="-120"/>
              </a:rPr>
              <a:t>Alex und Tilda</a:t>
            </a:r>
          </a:p>
          <a:p>
            <a:pPr algn="l" indent="0" marL="0">
              <a:lnSpc>
                <a:spcPct val="100000"/>
              </a:lnSpc>
              <a:spcAft>
                <a:spcPts val="0"/>
              </a:spcAft>
              <a:buNone/>
            </a:pPr>
            <a:r>
              <a:rPr lang="de-DE" sz="1800" b="0" i="0" dirty="0">
                <a:solidFill>
                  <a:srgbClr val="AAD1E3"/>
                </a:solidFill>
                <a:latin typeface="Arial" pitchFamily="34" charset="0"/>
                <a:ea typeface="Arial" pitchFamily="34" charset="-122"/>
                <a:cs typeface="Arial" pitchFamily="34" charset="-120"/>
              </a:rPr>
              <a:t>Sicher und selbstbestimmt im Internet</a:t>
            </a:r>
          </a:p>
        </p:txBody>
      </p:sp>
      <p:sp>
        <p:nvSpPr>
          <p:cNvPr id="6" name="Text 6"/>
          <p:cNvSpPr/>
          <p:nvPr/>
        </p:nvSpPr>
        <p:spPr>
          <a:xfrm>
            <a:off x="640080" y="6309360"/>
            <a:ext cx="10972800" cy="36576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1300" b="0" i="0" dirty="0">
                <a:solidFill>
                  <a:srgbClr val="AAD1E3"/>
                </a:solidFill>
                <a:latin typeface="Arial" pitchFamily="34" charset="0"/>
                <a:ea typeface="Arial" pitchFamily="34" charset="-122"/>
                <a:cs typeface="Arial" pitchFamily="34" charset="-120"/>
              </a:rPr>
              <a:t>Alexianer Stift Tilbeck GmbH   ·   Gefördert durch die Sozialstiftung NRW</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Das machen wir heute">
    <p:spTree>
      <p:nvGrpSpPr>
        <p:cNvPr id="1" name=""/>
        <p:cNvGrpSpPr/>
        <p:nvPr/>
      </p:nvGrpSpPr>
      <p:grpSpPr>
        <a:xfrm>
          <a:off x="0" y="0"/>
          <a:ext cx="0" cy="0"/>
          <a:chOff x="0" y="0"/>
          <a:chExt cx="0" cy="0"/>
        </a:xfrm>
      </p:grpSpPr>
      <p:sp>
        <p:nvSpPr>
          <p:cNvPr id="2" name="Titel 2"/>
          <p:cNvSpPr/>
          <p:nvPr/>
        </p:nvSpPr>
        <p:spPr>
          <a:xfrm>
            <a:off x="640080" y="400000"/>
            <a:ext cx="10911840" cy="10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3400" b="1" i="0" dirty="0">
                <a:solidFill>
                  <a:srgbClr val="00285A"/>
                </a:solidFill>
                <a:latin typeface="Arial" pitchFamily="34" charset="0"/>
                <a:ea typeface="Arial" pitchFamily="34" charset="-122"/>
                <a:cs typeface="Arial" pitchFamily="34" charset="-120"/>
              </a:rPr>
              <a:t>Das machen wir heute</a:t>
            </a:r>
          </a:p>
        </p:txBody>
      </p:sp>
      <p:sp>
        <p:nvSpPr>
          <p:cNvPr id="3" name="Zeile 3"/>
          <p:cNvSpPr/>
          <p:nvPr/>
        </p:nvSpPr>
        <p:spPr>
          <a:xfrm>
            <a:off x="640080" y="1600000"/>
            <a:ext cx="5300000" cy="820000"/>
          </a:xfrm>
          <a:prstGeom prst="roundRect">
            <a:avLst>
              <a:gd name="adj" fmla="val 12000"/>
            </a:avLst>
          </a:prstGeom>
          <a:solidFill>
            <a:srgbClr val="D8EAF2"/>
          </a:solidFill>
          <a:ln w="12700">
            <a:solidFill>
              <a:srgbClr val="AAD1E3"/>
            </a:solidFill>
            <a:prstDash val="solid"/>
          </a:ln>
        </p:spPr>
      </p:sp>
      <p:sp>
        <p:nvSpPr>
          <p:cNvPr id="4" name="Kreis 4"/>
          <p:cNvSpPr/>
          <p:nvPr/>
        </p:nvSpPr>
        <p:spPr>
          <a:xfrm>
            <a:off x="770080" y="1723000"/>
            <a:ext cx="574000" cy="574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210" b="1" i="0" dirty="0">
                <a:solidFill>
                  <a:srgbClr val="00285A"/>
                </a:solidFill>
                <a:latin typeface="Arial" pitchFamily="34" charset="0"/>
                <a:ea typeface="Arial" pitchFamily="34" charset="-122"/>
                <a:cs typeface="Arial" pitchFamily="34" charset="-120"/>
              </a:rPr>
              <a:t>1</a:t>
            </a:r>
          </a:p>
        </p:txBody>
      </p:sp>
      <p:sp>
        <p:nvSpPr>
          <p:cNvPr id="5" name="Text 5"/>
          <p:cNvSpPr/>
          <p:nvPr/>
        </p:nvSpPr>
        <p:spPr>
          <a:xfrm>
            <a:off x="1524080" y="1600000"/>
            <a:ext cx="4216000" cy="82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600" b="0" i="0" dirty="0">
                <a:solidFill>
                  <a:srgbClr val="1A1A1A"/>
                </a:solidFill>
                <a:latin typeface="Arial" pitchFamily="34" charset="0"/>
                <a:ea typeface="Arial" pitchFamily="34" charset="-122"/>
                <a:cs typeface="Arial" pitchFamily="34" charset="-120"/>
              </a:rPr>
              <a:t>Mein Konto</a:t>
            </a:r>
          </a:p>
        </p:txBody>
      </p:sp>
      <p:sp>
        <p:nvSpPr>
          <p:cNvPr id="6" name="Zeile 6"/>
          <p:cNvSpPr/>
          <p:nvPr/>
        </p:nvSpPr>
        <p:spPr>
          <a:xfrm>
            <a:off x="640080" y="2570000"/>
            <a:ext cx="5300000" cy="820000"/>
          </a:xfrm>
          <a:prstGeom prst="roundRect">
            <a:avLst>
              <a:gd name="adj" fmla="val 12000"/>
            </a:avLst>
          </a:prstGeom>
          <a:solidFill>
            <a:srgbClr val="D8EAF2"/>
          </a:solidFill>
          <a:ln w="12700">
            <a:solidFill>
              <a:srgbClr val="AAD1E3"/>
            </a:solidFill>
            <a:prstDash val="solid"/>
          </a:ln>
        </p:spPr>
      </p:sp>
      <p:sp>
        <p:nvSpPr>
          <p:cNvPr id="7" name="Kreis 7"/>
          <p:cNvSpPr/>
          <p:nvPr/>
        </p:nvSpPr>
        <p:spPr>
          <a:xfrm>
            <a:off x="770080" y="2693000"/>
            <a:ext cx="574000" cy="574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210" b="1" i="0" dirty="0">
                <a:solidFill>
                  <a:srgbClr val="00285A"/>
                </a:solidFill>
                <a:latin typeface="Arial" pitchFamily="34" charset="0"/>
                <a:ea typeface="Arial" pitchFamily="34" charset="-122"/>
                <a:cs typeface="Arial" pitchFamily="34" charset="-120"/>
              </a:rPr>
              <a:t>2</a:t>
            </a:r>
          </a:p>
        </p:txBody>
      </p:sp>
      <p:sp>
        <p:nvSpPr>
          <p:cNvPr id="8" name="Text 8"/>
          <p:cNvSpPr/>
          <p:nvPr/>
        </p:nvSpPr>
        <p:spPr>
          <a:xfrm>
            <a:off x="1524080" y="2570000"/>
            <a:ext cx="4216000" cy="82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600" b="0" i="0" dirty="0">
                <a:solidFill>
                  <a:srgbClr val="1A1A1A"/>
                </a:solidFill>
                <a:latin typeface="Arial" pitchFamily="34" charset="0"/>
                <a:ea typeface="Arial" pitchFamily="34" charset="-122"/>
                <a:cs typeface="Arial" pitchFamily="34" charset="-120"/>
              </a:rPr>
              <a:t>Fotos und Ort</a:t>
            </a:r>
          </a:p>
        </p:txBody>
      </p:sp>
      <p:sp>
        <p:nvSpPr>
          <p:cNvPr id="9" name="Zeile 9"/>
          <p:cNvSpPr/>
          <p:nvPr/>
        </p:nvSpPr>
        <p:spPr>
          <a:xfrm>
            <a:off x="640080" y="3540000"/>
            <a:ext cx="5300000" cy="820000"/>
          </a:xfrm>
          <a:prstGeom prst="roundRect">
            <a:avLst>
              <a:gd name="adj" fmla="val 12000"/>
            </a:avLst>
          </a:prstGeom>
          <a:solidFill>
            <a:srgbClr val="D8EAF2"/>
          </a:solidFill>
          <a:ln w="12700">
            <a:solidFill>
              <a:srgbClr val="AAD1E3"/>
            </a:solidFill>
            <a:prstDash val="solid"/>
          </a:ln>
        </p:spPr>
      </p:sp>
      <p:sp>
        <p:nvSpPr>
          <p:cNvPr id="10" name="Kreis 10"/>
          <p:cNvSpPr/>
          <p:nvPr/>
        </p:nvSpPr>
        <p:spPr>
          <a:xfrm>
            <a:off x="770080" y="3663000"/>
            <a:ext cx="574000" cy="574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210" b="1" i="0" dirty="0">
                <a:solidFill>
                  <a:srgbClr val="00285A"/>
                </a:solidFill>
                <a:latin typeface="Arial" pitchFamily="34" charset="0"/>
                <a:ea typeface="Arial" pitchFamily="34" charset="-122"/>
                <a:cs typeface="Arial" pitchFamily="34" charset="-120"/>
              </a:rPr>
              <a:t>3</a:t>
            </a:r>
          </a:p>
        </p:txBody>
      </p:sp>
      <p:sp>
        <p:nvSpPr>
          <p:cNvPr id="11" name="Text 11"/>
          <p:cNvSpPr/>
          <p:nvPr/>
        </p:nvSpPr>
        <p:spPr>
          <a:xfrm>
            <a:off x="1524080" y="3540000"/>
            <a:ext cx="4216000" cy="82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600" b="0" i="0" dirty="0">
                <a:solidFill>
                  <a:srgbClr val="1A1A1A"/>
                </a:solidFill>
                <a:latin typeface="Arial" pitchFamily="34" charset="0"/>
                <a:ea typeface="Arial" pitchFamily="34" charset="-122"/>
                <a:cs typeface="Arial" pitchFamily="34" charset="-120"/>
              </a:rPr>
              <a:t>Fremde wollen etwas</a:t>
            </a:r>
          </a:p>
        </p:txBody>
      </p:sp>
      <p:sp>
        <p:nvSpPr>
          <p:cNvPr id="12" name="Zeile 12"/>
          <p:cNvSpPr/>
          <p:nvPr/>
        </p:nvSpPr>
        <p:spPr>
          <a:xfrm>
            <a:off x="640080" y="4510000"/>
            <a:ext cx="5300000" cy="820000"/>
          </a:xfrm>
          <a:prstGeom prst="roundRect">
            <a:avLst>
              <a:gd name="adj" fmla="val 12000"/>
            </a:avLst>
          </a:prstGeom>
          <a:solidFill>
            <a:srgbClr val="D8EAF2"/>
          </a:solidFill>
          <a:ln w="12700">
            <a:solidFill>
              <a:srgbClr val="AAD1E3"/>
            </a:solidFill>
            <a:prstDash val="solid"/>
          </a:ln>
        </p:spPr>
      </p:sp>
      <p:sp>
        <p:nvSpPr>
          <p:cNvPr id="13" name="Kreis 13"/>
          <p:cNvSpPr/>
          <p:nvPr/>
        </p:nvSpPr>
        <p:spPr>
          <a:xfrm>
            <a:off x="770080" y="4633000"/>
            <a:ext cx="574000" cy="574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210" b="1" i="0" dirty="0">
                <a:solidFill>
                  <a:srgbClr val="00285A"/>
                </a:solidFill>
                <a:latin typeface="Arial" pitchFamily="34" charset="0"/>
                <a:ea typeface="Arial" pitchFamily="34" charset="-122"/>
                <a:cs typeface="Arial" pitchFamily="34" charset="-120"/>
              </a:rPr>
              <a:t>4</a:t>
            </a:r>
          </a:p>
        </p:txBody>
      </p:sp>
      <p:sp>
        <p:nvSpPr>
          <p:cNvPr id="14" name="Text 14"/>
          <p:cNvSpPr/>
          <p:nvPr/>
        </p:nvSpPr>
        <p:spPr>
          <a:xfrm>
            <a:off x="1524080" y="4510000"/>
            <a:ext cx="4216000" cy="82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600" b="0" i="0" dirty="0">
                <a:solidFill>
                  <a:srgbClr val="1A1A1A"/>
                </a:solidFill>
                <a:latin typeface="Arial" pitchFamily="34" charset="0"/>
                <a:ea typeface="Arial" pitchFamily="34" charset="-122"/>
                <a:cs typeface="Arial" pitchFamily="34" charset="-120"/>
              </a:rPr>
              <a:t>Wenn etwas verletzt</a:t>
            </a:r>
          </a:p>
        </p:txBody>
      </p:sp>
      <p:sp>
        <p:nvSpPr>
          <p:cNvPr id="15" name="Text 15"/>
          <p:cNvSpPr/>
          <p:nvPr/>
        </p:nvSpPr>
        <p:spPr>
          <a:xfrm>
            <a:off x="6250000" y="1600000"/>
            <a:ext cx="5300000" cy="820000"/>
          </a:xfrm>
          <a:prstGeom prst="roundRect">
            <a:avLst>
              <a:gd name="adj" fmla="val 12000"/>
            </a:avLst>
          </a:prstGeom>
          <a:solidFill>
            <a:srgbClr val="FFFFFF"/>
          </a:solidFill>
          <a:ln w="19050">
            <a:solidFill>
              <a:srgbClr val="AAD1E3"/>
            </a:solidFill>
            <a:prstDash val="solid"/>
          </a:ln>
        </p:spPr>
      </p:sp>
      <p:sp>
        <p:nvSpPr>
          <p:cNvPr id="16" name="Text 16"/>
          <p:cNvSpPr/>
          <p:nvPr/>
        </p:nvSpPr>
        <p:spPr>
          <a:xfrm>
            <a:off x="6450000" y="1600000"/>
            <a:ext cx="4900000" cy="82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400" b="0" i="0" dirty="0">
                <a:solidFill>
                  <a:srgbClr val="1A1A1A"/>
                </a:solidFill>
                <a:latin typeface="Arial" pitchFamily="34" charset="0"/>
                <a:ea typeface="Arial" pitchFamily="34" charset="-122"/>
                <a:cs typeface="Arial" pitchFamily="34" charset="-120"/>
              </a:rPr>
              <a:t>Pause</a:t>
            </a:r>
          </a:p>
        </p:txBody>
      </p:sp>
      <p:sp>
        <p:nvSpPr>
          <p:cNvPr id="17" name="Text 17"/>
          <p:cNvSpPr/>
          <p:nvPr/>
        </p:nvSpPr>
        <p:spPr>
          <a:xfrm>
            <a:off x="6250000" y="2570000"/>
            <a:ext cx="5300000" cy="820000"/>
          </a:xfrm>
          <a:prstGeom prst="roundRect">
            <a:avLst>
              <a:gd name="adj" fmla="val 12000"/>
            </a:avLst>
          </a:prstGeom>
          <a:solidFill>
            <a:srgbClr val="FFFFFF"/>
          </a:solidFill>
          <a:ln w="19050">
            <a:solidFill>
              <a:srgbClr val="AAD1E3"/>
            </a:solidFill>
            <a:prstDash val="solid"/>
          </a:ln>
        </p:spPr>
      </p:sp>
      <p:sp>
        <p:nvSpPr>
          <p:cNvPr id="18" name="Text 18"/>
          <p:cNvSpPr/>
          <p:nvPr/>
        </p:nvSpPr>
        <p:spPr>
          <a:xfrm>
            <a:off x="6450000" y="2570000"/>
            <a:ext cx="4900000" cy="82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400" b="0" i="0" dirty="0">
                <a:solidFill>
                  <a:srgbClr val="1A1A1A"/>
                </a:solidFill>
                <a:latin typeface="Arial" pitchFamily="34" charset="0"/>
                <a:ea typeface="Arial" pitchFamily="34" charset="-122"/>
                <a:cs typeface="Arial" pitchFamily="34" charset="-120"/>
              </a:rPr>
              <a:t>Praxis: Wir stellen ein</a:t>
            </a:r>
          </a:p>
        </p:txBody>
      </p:sp>
      <p:sp>
        <p:nvSpPr>
          <p:cNvPr id="19" name="Text 19"/>
          <p:cNvSpPr/>
          <p:nvPr/>
        </p:nvSpPr>
        <p:spPr>
          <a:xfrm>
            <a:off x="6250000" y="3540000"/>
            <a:ext cx="5300000" cy="820000"/>
          </a:xfrm>
          <a:prstGeom prst="roundRect">
            <a:avLst>
              <a:gd name="adj" fmla="val 12000"/>
            </a:avLst>
          </a:prstGeom>
          <a:solidFill>
            <a:srgbClr val="FFFFFF"/>
          </a:solidFill>
          <a:ln w="19050">
            <a:solidFill>
              <a:srgbClr val="AAD1E3"/>
            </a:solidFill>
            <a:prstDash val="solid"/>
          </a:ln>
        </p:spPr>
      </p:sp>
      <p:sp>
        <p:nvSpPr>
          <p:cNvPr id="20" name="Text 20"/>
          <p:cNvSpPr/>
          <p:nvPr/>
        </p:nvSpPr>
        <p:spPr>
          <a:xfrm>
            <a:off x="6450000" y="3540000"/>
            <a:ext cx="4900000" cy="82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400" b="0" i="0" dirty="0">
                <a:solidFill>
                  <a:srgbClr val="1A1A1A"/>
                </a:solidFill>
                <a:latin typeface="Arial" pitchFamily="34" charset="0"/>
                <a:ea typeface="Arial" pitchFamily="34" charset="-122"/>
                <a:cs typeface="Arial" pitchFamily="34" charset="-120"/>
              </a:rPr>
              <a:t>Quiz: Wir sprechen darüber</a:t>
            </a:r>
          </a:p>
        </p:txBody>
      </p:sp>
      <p:sp>
        <p:nvSpPr>
          <p:cNvPr id="21" name="Text 21"/>
          <p:cNvSpPr/>
          <p:nvPr/>
        </p:nvSpPr>
        <p:spPr>
          <a:xfrm>
            <a:off x="6250000" y="4510000"/>
            <a:ext cx="5300000" cy="820000"/>
          </a:xfrm>
          <a:prstGeom prst="roundRect">
            <a:avLst>
              <a:gd name="adj" fmla="val 12000"/>
            </a:avLst>
          </a:prstGeom>
          <a:solidFill>
            <a:srgbClr val="FFFFFF"/>
          </a:solidFill>
          <a:ln w="19050">
            <a:solidFill>
              <a:srgbClr val="AAD1E3"/>
            </a:solidFill>
            <a:prstDash val="solid"/>
          </a:ln>
        </p:spPr>
      </p:sp>
      <p:sp>
        <p:nvSpPr>
          <p:cNvPr id="22" name="Text 22"/>
          <p:cNvSpPr/>
          <p:nvPr/>
        </p:nvSpPr>
        <p:spPr>
          <a:xfrm>
            <a:off x="6450000" y="4510000"/>
            <a:ext cx="4900000" cy="82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400" b="0" i="0" dirty="0">
                <a:solidFill>
                  <a:srgbClr val="1A1A1A"/>
                </a:solidFill>
                <a:latin typeface="Arial" pitchFamily="34" charset="0"/>
                <a:ea typeface="Arial" pitchFamily="34" charset="-122"/>
                <a:cs typeface="Arial" pitchFamily="34" charset="-120"/>
              </a:rPr>
              <a:t>Lernplattform und eine Sache für heute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Unsere Regeln">
    <p:spTree>
      <p:nvGrpSpPr>
        <p:cNvPr id="1" name=""/>
        <p:cNvGrpSpPr/>
        <p:nvPr/>
      </p:nvGrpSpPr>
      <p:grpSpPr>
        <a:xfrm>
          <a:off x="0" y="0"/>
          <a:ext cx="0" cy="0"/>
          <a:chOff x="0" y="0"/>
          <a:chExt cx="0" cy="0"/>
        </a:xfrm>
      </p:grpSpPr>
      <p:sp>
        <p:nvSpPr>
          <p:cNvPr id="2" name="Titel 2"/>
          <p:cNvSpPr/>
          <p:nvPr/>
        </p:nvSpPr>
        <p:spPr>
          <a:xfrm>
            <a:off x="640080" y="400000"/>
            <a:ext cx="10911840" cy="10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3400" b="1" i="0" dirty="0">
                <a:solidFill>
                  <a:srgbClr val="00285A"/>
                </a:solidFill>
                <a:latin typeface="Arial" pitchFamily="34" charset="0"/>
                <a:ea typeface="Arial" pitchFamily="34" charset="-122"/>
                <a:cs typeface="Arial" pitchFamily="34" charset="-120"/>
              </a:rPr>
              <a:t>Unsere Regeln</a:t>
            </a:r>
          </a:p>
        </p:txBody>
      </p:sp>
      <p:sp>
        <p:nvSpPr>
          <p:cNvPr id="3" name="Text 3"/>
          <p:cNvSpPr/>
          <p:nvPr/>
        </p:nvSpPr>
        <p:spPr>
          <a:xfrm>
            <a:off x="640080" y="1700000"/>
            <a:ext cx="5360000" cy="2000000"/>
          </a:xfrm>
          <a:prstGeom prst="roundRect">
            <a:avLst>
              <a:gd name="adj" fmla="val 8000"/>
            </a:avLst>
          </a:prstGeom>
          <a:solidFill>
            <a:srgbClr val="D8EAF2"/>
          </a:solidFill>
          <a:ln w="12700">
            <a:solidFill>
              <a:srgbClr val="AAD1E3"/>
            </a:solidFill>
            <a:prstDash val="solid"/>
          </a:ln>
        </p:spPr>
        <p:txBody>
          <a:bodyPr wrap="square" lIns="180000" tIns="180000" rIns="180000" bIns="180000" rtlCol="0" anchor="ctr">
            <a:noAutofit/>
          </a:bodyPr>
          <a:lstStyle/>
          <a:p>
            <a:pPr algn="ctr" indent="0" marL="0">
              <a:lnSpc>
                <a:spcPct val="100000"/>
              </a:lnSpc>
              <a:spcAft>
                <a:spcPts val="0"/>
              </a:spcAft>
              <a:buNone/>
            </a:pPr>
            <a:r>
              <a:rPr lang="de-DE" sz="3000" b="1" i="0" dirty="0">
                <a:solidFill>
                  <a:srgbClr val="00285A"/>
                </a:solidFill>
                <a:latin typeface="Arial" pitchFamily="34" charset="0"/>
                <a:ea typeface="Arial" pitchFamily="34" charset="-122"/>
                <a:cs typeface="Arial" pitchFamily="34" charset="-120"/>
              </a:rPr>
              <a:t>Jede Frage ist gut.</a:t>
            </a:r>
          </a:p>
        </p:txBody>
      </p:sp>
      <p:sp>
        <p:nvSpPr>
          <p:cNvPr id="4" name="Text 4"/>
          <p:cNvSpPr/>
          <p:nvPr/>
        </p:nvSpPr>
        <p:spPr>
          <a:xfrm>
            <a:off x="6190080" y="1700000"/>
            <a:ext cx="5360000" cy="2000000"/>
          </a:xfrm>
          <a:prstGeom prst="roundRect">
            <a:avLst>
              <a:gd name="adj" fmla="val 8000"/>
            </a:avLst>
          </a:prstGeom>
          <a:solidFill>
            <a:srgbClr val="D8EAF2"/>
          </a:solidFill>
          <a:ln w="12700">
            <a:solidFill>
              <a:srgbClr val="AAD1E3"/>
            </a:solidFill>
            <a:prstDash val="solid"/>
          </a:ln>
        </p:spPr>
        <p:txBody>
          <a:bodyPr wrap="square" lIns="180000" tIns="180000" rIns="180000" bIns="180000" rtlCol="0" anchor="ctr">
            <a:noAutofit/>
          </a:bodyPr>
          <a:lstStyle/>
          <a:p>
            <a:pPr algn="ctr" indent="0" marL="0">
              <a:lnSpc>
                <a:spcPct val="100000"/>
              </a:lnSpc>
              <a:spcAft>
                <a:spcPts val="0"/>
              </a:spcAft>
              <a:buNone/>
            </a:pPr>
            <a:r>
              <a:rPr lang="de-DE" sz="3000" b="1" i="0" dirty="0">
                <a:solidFill>
                  <a:srgbClr val="00285A"/>
                </a:solidFill>
                <a:latin typeface="Arial" pitchFamily="34" charset="0"/>
                <a:ea typeface="Arial" pitchFamily="34" charset="-122"/>
                <a:cs typeface="Arial" pitchFamily="34" charset="-120"/>
              </a:rPr>
              <a:t>Fehler sind erlaubt.</a:t>
            </a:r>
          </a:p>
        </p:txBody>
      </p:sp>
      <p:sp>
        <p:nvSpPr>
          <p:cNvPr id="5" name="Text 5"/>
          <p:cNvSpPr/>
          <p:nvPr/>
        </p:nvSpPr>
        <p:spPr>
          <a:xfrm>
            <a:off x="640080" y="3950000"/>
            <a:ext cx="5360000" cy="2000000"/>
          </a:xfrm>
          <a:prstGeom prst="roundRect">
            <a:avLst>
              <a:gd name="adj" fmla="val 8000"/>
            </a:avLst>
          </a:prstGeom>
          <a:solidFill>
            <a:srgbClr val="D8EAF2"/>
          </a:solidFill>
          <a:ln w="12700">
            <a:solidFill>
              <a:srgbClr val="AAD1E3"/>
            </a:solidFill>
            <a:prstDash val="solid"/>
          </a:ln>
        </p:spPr>
        <p:txBody>
          <a:bodyPr wrap="square" lIns="180000" tIns="180000" rIns="180000" bIns="180000" rtlCol="0" anchor="ctr">
            <a:noAutofit/>
          </a:bodyPr>
          <a:lstStyle/>
          <a:p>
            <a:pPr algn="ctr" indent="0" marL="0">
              <a:lnSpc>
                <a:spcPct val="100000"/>
              </a:lnSpc>
              <a:spcAft>
                <a:spcPts val="0"/>
              </a:spcAft>
              <a:buNone/>
            </a:pPr>
            <a:r>
              <a:rPr lang="de-DE" sz="3000" b="1" i="0" dirty="0">
                <a:solidFill>
                  <a:srgbClr val="00285A"/>
                </a:solidFill>
                <a:latin typeface="Arial" pitchFamily="34" charset="0"/>
                <a:ea typeface="Arial" pitchFamily="34" charset="-122"/>
                <a:cs typeface="Arial" pitchFamily="34" charset="-120"/>
              </a:rPr>
              <a:t>Wir hören einander zu.</a:t>
            </a:r>
          </a:p>
        </p:txBody>
      </p:sp>
      <p:sp>
        <p:nvSpPr>
          <p:cNvPr id="6" name="Text 6"/>
          <p:cNvSpPr/>
          <p:nvPr/>
        </p:nvSpPr>
        <p:spPr>
          <a:xfrm>
            <a:off x="6190080" y="3950000"/>
            <a:ext cx="5360000" cy="2000000"/>
          </a:xfrm>
          <a:prstGeom prst="roundRect">
            <a:avLst>
              <a:gd name="adj" fmla="val 8000"/>
            </a:avLst>
          </a:prstGeom>
          <a:solidFill>
            <a:srgbClr val="D8EAF2"/>
          </a:solidFill>
          <a:ln w="12700">
            <a:solidFill>
              <a:srgbClr val="AAD1E3"/>
            </a:solidFill>
            <a:prstDash val="solid"/>
          </a:ln>
        </p:spPr>
        <p:txBody>
          <a:bodyPr wrap="square" lIns="180000" tIns="180000" rIns="180000" bIns="180000" rtlCol="0" anchor="ctr">
            <a:noAutofit/>
          </a:bodyPr>
          <a:lstStyle/>
          <a:p>
            <a:pPr algn="ctr" indent="0" marL="0">
              <a:lnSpc>
                <a:spcPct val="100000"/>
              </a:lnSpc>
              <a:spcAft>
                <a:spcPts val="0"/>
              </a:spcAft>
              <a:buNone/>
            </a:pPr>
            <a:r>
              <a:rPr lang="de-DE" sz="3000" b="1" i="0" dirty="0">
                <a:solidFill>
                  <a:srgbClr val="00285A"/>
                </a:solidFill>
                <a:latin typeface="Arial" pitchFamily="34" charset="0"/>
                <a:ea typeface="Arial" pitchFamily="34" charset="-122"/>
                <a:cs typeface="Arial" pitchFamily="34" charset="-120"/>
              </a:rPr>
              <a:t>Du musst nicht mitmachen.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Wie sicher fühlst du dich auf Instagram?">
    <p:spTree>
      <p:nvGrpSpPr>
        <p:cNvPr id="1" name=""/>
        <p:cNvGrpSpPr/>
        <p:nvPr/>
      </p:nvGrpSpPr>
      <p:grpSpPr>
        <a:xfrm>
          <a:off x="0" y="0"/>
          <a:ext cx="0" cy="0"/>
          <a:chOff x="0" y="0"/>
          <a:chExt cx="0" cy="0"/>
        </a:xfrm>
      </p:grpSpPr>
      <p:sp>
        <p:nvSpPr>
          <p:cNvPr id="2" name="Titel 2"/>
          <p:cNvSpPr/>
          <p:nvPr/>
        </p:nvSpPr>
        <p:spPr>
          <a:xfrm>
            <a:off x="640080" y="400000"/>
            <a:ext cx="10911840" cy="10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3400" b="1" i="0" dirty="0">
                <a:solidFill>
                  <a:srgbClr val="00285A"/>
                </a:solidFill>
                <a:latin typeface="Arial" pitchFamily="34" charset="0"/>
                <a:ea typeface="Arial" pitchFamily="34" charset="-122"/>
                <a:cs typeface="Arial" pitchFamily="34" charset="-120"/>
              </a:rPr>
              <a:t>Wie sicher fühlst du dich auf Instagram?</a:t>
            </a:r>
          </a:p>
        </p:txBody>
      </p:sp>
      <p:sp>
        <p:nvSpPr>
          <p:cNvPr id="3" name="Text 3"/>
          <p:cNvSpPr/>
          <p:nvPr/>
        </p:nvSpPr>
        <p:spPr>
          <a:xfrm>
            <a:off x="640080" y="1800000"/>
            <a:ext cx="3500000" cy="2900000"/>
          </a:xfrm>
          <a:prstGeom prst="roundRect">
            <a:avLst>
              <a:gd name="adj" fmla="val 6000"/>
            </a:avLst>
          </a:prstGeom>
          <a:solidFill>
            <a:srgbClr val="FFFFFF"/>
          </a:solidFill>
          <a:ln w="25400">
            <a:solidFill>
              <a:srgbClr val="AAD1E3"/>
            </a:solidFill>
            <a:prstDash val="solid"/>
          </a:ln>
          <a:effectLst>
            <a:outerShdw sx="100000" sy="100000" kx="0" ky="0" algn="bl" rotWithShape="0" blurRad="88900" dist="25400" dir="5400000">
              <a:srgbClr val="000000">
                <a:alpha val="14000"/>
              </a:srgbClr>
            </a:outerShdw>
          </a:effectLst>
        </p:spPr>
      </p:sp>
      <p:sp>
        <p:nvSpPr>
          <p:cNvPr id="4" name="Kreis 4"/>
          <p:cNvSpPr/>
          <p:nvPr/>
        </p:nvSpPr>
        <p:spPr>
          <a:xfrm>
            <a:off x="1940080" y="2100000"/>
            <a:ext cx="900000" cy="90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3200" b="1" i="0" dirty="0">
                <a:solidFill>
                  <a:srgbClr val="00285A"/>
                </a:solidFill>
                <a:latin typeface="Arial" pitchFamily="34" charset="0"/>
                <a:ea typeface="Arial" pitchFamily="34" charset="-122"/>
                <a:cs typeface="Arial" pitchFamily="34" charset="-120"/>
              </a:rPr>
              <a:t>A</a:t>
            </a:r>
          </a:p>
        </p:txBody>
      </p:sp>
      <p:sp>
        <p:nvSpPr>
          <p:cNvPr id="5" name="Text 5"/>
          <p:cNvSpPr/>
          <p:nvPr/>
        </p:nvSpPr>
        <p:spPr>
          <a:xfrm>
            <a:off x="790080" y="3200000"/>
            <a:ext cx="3200000" cy="1300000"/>
          </a:xfrm>
          <a:prstGeom prst="rect">
            <a:avLst/>
          </a:prstGeom>
          <a:noFill/>
          <a:ln>
            <a:noFill/>
          </a:ln>
        </p:spPr>
        <p:txBody>
          <a:bodyPr wrap="square" lIns="0" tIns="0" rIns="0" bIns="0" rtlCol="0" anchor="ctr">
            <a:noAutofit/>
          </a:bodyPr>
          <a:lstStyle/>
          <a:p>
            <a:pPr algn="ctr" indent="0" marL="0">
              <a:lnSpc>
                <a:spcPct val="100000"/>
              </a:lnSpc>
              <a:spcAft>
                <a:spcPts val="0"/>
              </a:spcAft>
              <a:buNone/>
            </a:pPr>
            <a:r>
              <a:rPr lang="de-DE" sz="2600" b="1" i="0" dirty="0">
                <a:solidFill>
                  <a:srgbClr val="00285A"/>
                </a:solidFill>
                <a:latin typeface="Arial" pitchFamily="34" charset="0"/>
                <a:ea typeface="Arial" pitchFamily="34" charset="-122"/>
                <a:cs typeface="Arial" pitchFamily="34" charset="-120"/>
              </a:rPr>
              <a:t>Noch nicht so sicher</a:t>
            </a:r>
          </a:p>
        </p:txBody>
      </p:sp>
      <p:sp>
        <p:nvSpPr>
          <p:cNvPr id="6" name="Text 6"/>
          <p:cNvSpPr/>
          <p:nvPr/>
        </p:nvSpPr>
        <p:spPr>
          <a:xfrm>
            <a:off x="4340080" y="1800000"/>
            <a:ext cx="3500000" cy="2900000"/>
          </a:xfrm>
          <a:prstGeom prst="roundRect">
            <a:avLst>
              <a:gd name="adj" fmla="val 6000"/>
            </a:avLst>
          </a:prstGeom>
          <a:solidFill>
            <a:srgbClr val="FFFFFF"/>
          </a:solidFill>
          <a:ln w="25400">
            <a:solidFill>
              <a:srgbClr val="AAD1E3"/>
            </a:solidFill>
            <a:prstDash val="solid"/>
          </a:ln>
          <a:effectLst>
            <a:outerShdw sx="100000" sy="100000" kx="0" ky="0" algn="bl" rotWithShape="0" blurRad="88900" dist="25400" dir="5400000">
              <a:srgbClr val="000000">
                <a:alpha val="14000"/>
              </a:srgbClr>
            </a:outerShdw>
          </a:effectLst>
        </p:spPr>
      </p:sp>
      <p:sp>
        <p:nvSpPr>
          <p:cNvPr id="7" name="Kreis 7"/>
          <p:cNvSpPr/>
          <p:nvPr/>
        </p:nvSpPr>
        <p:spPr>
          <a:xfrm>
            <a:off x="5640080" y="2100000"/>
            <a:ext cx="900000" cy="90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3200" b="1" i="0" dirty="0">
                <a:solidFill>
                  <a:srgbClr val="00285A"/>
                </a:solidFill>
                <a:latin typeface="Arial" pitchFamily="34" charset="0"/>
                <a:ea typeface="Arial" pitchFamily="34" charset="-122"/>
                <a:cs typeface="Arial" pitchFamily="34" charset="-120"/>
              </a:rPr>
              <a:t>B</a:t>
            </a:r>
          </a:p>
        </p:txBody>
      </p:sp>
      <p:sp>
        <p:nvSpPr>
          <p:cNvPr id="8" name="Text 8"/>
          <p:cNvSpPr/>
          <p:nvPr/>
        </p:nvSpPr>
        <p:spPr>
          <a:xfrm>
            <a:off x="4490080" y="3200000"/>
            <a:ext cx="3200000" cy="1300000"/>
          </a:xfrm>
          <a:prstGeom prst="rect">
            <a:avLst/>
          </a:prstGeom>
          <a:noFill/>
          <a:ln>
            <a:noFill/>
          </a:ln>
        </p:spPr>
        <p:txBody>
          <a:bodyPr wrap="square" lIns="0" tIns="0" rIns="0" bIns="0" rtlCol="0" anchor="ctr">
            <a:noAutofit/>
          </a:bodyPr>
          <a:lstStyle/>
          <a:p>
            <a:pPr algn="ctr" indent="0" marL="0">
              <a:lnSpc>
                <a:spcPct val="100000"/>
              </a:lnSpc>
              <a:spcAft>
                <a:spcPts val="0"/>
              </a:spcAft>
              <a:buNone/>
            </a:pPr>
            <a:r>
              <a:rPr lang="de-DE" sz="2600" b="1" i="0" dirty="0">
                <a:solidFill>
                  <a:srgbClr val="00285A"/>
                </a:solidFill>
                <a:latin typeface="Arial" pitchFamily="34" charset="0"/>
                <a:ea typeface="Arial" pitchFamily="34" charset="-122"/>
                <a:cs typeface="Arial" pitchFamily="34" charset="-120"/>
              </a:rPr>
              <a:t>Ein bisschen sicher</a:t>
            </a:r>
          </a:p>
        </p:txBody>
      </p:sp>
      <p:sp>
        <p:nvSpPr>
          <p:cNvPr id="9" name="Text 9"/>
          <p:cNvSpPr/>
          <p:nvPr/>
        </p:nvSpPr>
        <p:spPr>
          <a:xfrm>
            <a:off x="8040080" y="1800000"/>
            <a:ext cx="3500000" cy="2900000"/>
          </a:xfrm>
          <a:prstGeom prst="roundRect">
            <a:avLst>
              <a:gd name="adj" fmla="val 6000"/>
            </a:avLst>
          </a:prstGeom>
          <a:solidFill>
            <a:srgbClr val="FFFFFF"/>
          </a:solidFill>
          <a:ln w="25400">
            <a:solidFill>
              <a:srgbClr val="AAD1E3"/>
            </a:solidFill>
            <a:prstDash val="solid"/>
          </a:ln>
          <a:effectLst>
            <a:outerShdw sx="100000" sy="100000" kx="0" ky="0" algn="bl" rotWithShape="0" blurRad="88900" dist="25400" dir="5400000">
              <a:srgbClr val="000000">
                <a:alpha val="14000"/>
              </a:srgbClr>
            </a:outerShdw>
          </a:effectLst>
        </p:spPr>
      </p:sp>
      <p:sp>
        <p:nvSpPr>
          <p:cNvPr id="10" name="Kreis 10"/>
          <p:cNvSpPr/>
          <p:nvPr/>
        </p:nvSpPr>
        <p:spPr>
          <a:xfrm>
            <a:off x="9340080" y="2100000"/>
            <a:ext cx="900000" cy="90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3200" b="1" i="0" dirty="0">
                <a:solidFill>
                  <a:srgbClr val="00285A"/>
                </a:solidFill>
                <a:latin typeface="Arial" pitchFamily="34" charset="0"/>
                <a:ea typeface="Arial" pitchFamily="34" charset="-122"/>
                <a:cs typeface="Arial" pitchFamily="34" charset="-120"/>
              </a:rPr>
              <a:t>C</a:t>
            </a:r>
          </a:p>
        </p:txBody>
      </p:sp>
      <p:sp>
        <p:nvSpPr>
          <p:cNvPr id="11" name="Text 11"/>
          <p:cNvSpPr/>
          <p:nvPr/>
        </p:nvSpPr>
        <p:spPr>
          <a:xfrm>
            <a:off x="8190080" y="3200000"/>
            <a:ext cx="3200000" cy="1300000"/>
          </a:xfrm>
          <a:prstGeom prst="rect">
            <a:avLst/>
          </a:prstGeom>
          <a:noFill/>
          <a:ln>
            <a:noFill/>
          </a:ln>
        </p:spPr>
        <p:txBody>
          <a:bodyPr wrap="square" lIns="0" tIns="0" rIns="0" bIns="0" rtlCol="0" anchor="ctr">
            <a:noAutofit/>
          </a:bodyPr>
          <a:lstStyle/>
          <a:p>
            <a:pPr algn="ctr" indent="0" marL="0">
              <a:lnSpc>
                <a:spcPct val="100000"/>
              </a:lnSpc>
              <a:spcAft>
                <a:spcPts val="0"/>
              </a:spcAft>
              <a:buNone/>
            </a:pPr>
            <a:r>
              <a:rPr lang="de-DE" sz="2600" b="1" i="0" dirty="0">
                <a:solidFill>
                  <a:srgbClr val="00285A"/>
                </a:solidFill>
                <a:latin typeface="Arial" pitchFamily="34" charset="0"/>
                <a:ea typeface="Arial" pitchFamily="34" charset="-122"/>
                <a:cs typeface="Arial" pitchFamily="34" charset="-120"/>
              </a:rPr>
              <a:t>Schon ziemlich sicher</a:t>
            </a:r>
          </a:p>
        </p:txBody>
      </p:sp>
      <p:sp>
        <p:nvSpPr>
          <p:cNvPr id="12" name="Text 12"/>
          <p:cNvSpPr/>
          <p:nvPr/>
        </p:nvSpPr>
        <p:spPr>
          <a:xfrm>
            <a:off x="640080" y="5000000"/>
            <a:ext cx="10911840" cy="1200000"/>
          </a:xfrm>
          <a:prstGeom prst="rect">
            <a:avLst/>
          </a:prstGeom>
          <a:noFill/>
          <a:ln>
            <a:noFill/>
          </a:ln>
        </p:spPr>
        <p:txBody>
          <a:bodyPr wrap="square" lIns="0" tIns="0" rIns="0" bIns="0" rtlCol="0" anchor="ctr">
            <a:noAutofit/>
          </a:bodyPr>
          <a:lstStyle/>
          <a:p>
            <a:pPr algn="ctr" indent="0" marL="0">
              <a:lnSpc>
                <a:spcPct val="100000"/>
              </a:lnSpc>
              <a:spcAft>
                <a:spcPts val="300"/>
              </a:spcAft>
              <a:buNone/>
            </a:pPr>
            <a:r>
              <a:rPr lang="de-DE" sz="2400" b="0" i="0" dirty="0">
                <a:solidFill>
                  <a:srgbClr val="48586A"/>
                </a:solidFill>
                <a:latin typeface="Arial" pitchFamily="34" charset="0"/>
                <a:ea typeface="Arial" pitchFamily="34" charset="-122"/>
                <a:cs typeface="Arial" pitchFamily="34" charset="-120"/>
              </a:rPr>
              <a:t>Zeig es mit der Hand oder mit einer Karte.</a:t>
            </a:r>
          </a:p>
          <a:p>
            <a:pPr algn="ctr" indent="0" marL="0">
              <a:lnSpc>
                <a:spcPct val="100000"/>
              </a:lnSpc>
              <a:spcAft>
                <a:spcPts val="300"/>
              </a:spcAft>
              <a:buNone/>
            </a:pPr>
            <a:r>
              <a:rPr lang="de-DE" sz="2400" b="0" i="0" dirty="0">
                <a:solidFill>
                  <a:srgbClr val="48586A"/>
                </a:solidFill>
                <a:latin typeface="Arial" pitchFamily="34" charset="0"/>
                <a:ea typeface="Arial" pitchFamily="34" charset="-122"/>
                <a:cs typeface="Arial" pitchFamily="34" charset="-120"/>
              </a:rPr>
              <a:t>Es gibt keine falsche Antwort.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Foto-Detektiv: Was sieht man?">
    <p:spTree>
      <p:nvGrpSpPr>
        <p:cNvPr id="1" name=""/>
        <p:cNvGrpSpPr/>
        <p:nvPr/>
      </p:nvGrpSpPr>
      <p:grpSpPr>
        <a:xfrm>
          <a:off x="0" y="0"/>
          <a:ext cx="0" cy="0"/>
          <a:chOff x="0" y="0"/>
          <a:chExt cx="0" cy="0"/>
        </a:xfrm>
      </p:grpSpPr>
      <p:sp>
        <p:nvSpPr>
          <p:cNvPr id="2" name="Titel 2"/>
          <p:cNvSpPr/>
          <p:nvPr/>
        </p:nvSpPr>
        <p:spPr>
          <a:xfrm>
            <a:off x="640080" y="400000"/>
            <a:ext cx="10911840" cy="10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3400" b="1" i="0" dirty="0">
                <a:solidFill>
                  <a:srgbClr val="00285A"/>
                </a:solidFill>
                <a:latin typeface="Arial" pitchFamily="34" charset="0"/>
                <a:ea typeface="Arial" pitchFamily="34" charset="-122"/>
                <a:cs typeface="Arial" pitchFamily="34" charset="-120"/>
              </a:rPr>
              <a:t>Foto-Detektiv: Was sieht man?</a:t>
            </a:r>
          </a:p>
        </p:txBody>
      </p:sp>
      <p:sp>
        <p:nvSpPr>
          <p:cNvPr id="3" name="Bild-Platzhalter 3"/>
          <p:cNvSpPr/>
          <p:nvPr/>
        </p:nvSpPr>
        <p:spPr>
          <a:xfrm>
            <a:off x="640080" y="1600000"/>
            <a:ext cx="6200000" cy="4600000"/>
          </a:xfrm>
          <a:prstGeom prst="roundRect">
            <a:avLst>
              <a:gd name="adj" fmla="val 4000"/>
            </a:avLst>
          </a:prstGeom>
          <a:solidFill>
            <a:srgbClr val="F3F6F9"/>
          </a:solidFill>
          <a:ln w="19050">
            <a:solidFill>
              <a:srgbClr val="6B7A89"/>
            </a:solidFill>
            <a:prstDash val="dash"/>
          </a:ln>
        </p:spPr>
        <p:txBody>
          <a:bodyPr wrap="square" lIns="137160" tIns="137160" rIns="137160" bIns="137160" rtlCol="0" anchor="ctr">
            <a:noAutofit/>
          </a:bodyPr>
          <a:lstStyle/>
          <a:p>
            <a:pPr algn="ctr" indent="0" marL="0">
              <a:lnSpc>
                <a:spcPct val="100000"/>
              </a:lnSpc>
              <a:spcAft>
                <a:spcPts val="0"/>
              </a:spcAft>
              <a:buNone/>
            </a:pPr>
            <a:r>
              <a:rPr lang="de-DE" sz="1800" b="0" i="1" dirty="0">
                <a:solidFill>
                  <a:srgbClr val="48586A"/>
                </a:solidFill>
                <a:latin typeface="Arial" pitchFamily="34" charset="0"/>
                <a:ea typeface="Arial" pitchFamily="34" charset="-122"/>
                <a:cs typeface="Arial" pitchFamily="34" charset="-120"/>
              </a:rPr>
              <a:t>[BILD: Erfundenes Foto. Eine Person macht ein Selfie in ihrer Wohnung. Im Hintergrund: ein Brief mit Adresse und ein Fenster mit Straßen-Schild.]</a:t>
            </a:r>
          </a:p>
        </p:txBody>
      </p:sp>
      <p:sp>
        <p:nvSpPr>
          <p:cNvPr id="4" name="Text 4"/>
          <p:cNvSpPr/>
          <p:nvPr/>
        </p:nvSpPr>
        <p:spPr>
          <a:xfrm>
            <a:off x="7200000" y="1800000"/>
            <a:ext cx="4350000" cy="4200000"/>
          </a:xfrm>
          <a:prstGeom prst="rect">
            <a:avLst/>
          </a:prstGeom>
          <a:noFill/>
          <a:ln>
            <a:noFill/>
          </a:ln>
        </p:spPr>
        <p:txBody>
          <a:bodyPr wrap="square" lIns="0" tIns="0" rIns="0" bIns="0" rtlCol="0" anchor="t">
            <a:noAutofit/>
          </a:bodyPr>
          <a:lstStyle/>
          <a:p>
            <a:pPr algn="l" indent="0" marL="0">
              <a:lnSpc>
                <a:spcPct val="100000"/>
              </a:lnSpc>
              <a:spcAft>
                <a:spcPts val="1400"/>
              </a:spcAft>
              <a:buNone/>
            </a:pPr>
            <a:r>
              <a:rPr lang="de-DE" sz="2600" b="1" i="0" dirty="0">
                <a:solidFill>
                  <a:srgbClr val="00285A"/>
                </a:solidFill>
                <a:latin typeface="Arial" pitchFamily="34" charset="0"/>
                <a:ea typeface="Arial" pitchFamily="34" charset="-122"/>
                <a:cs typeface="Arial" pitchFamily="34" charset="-120"/>
              </a:rPr>
              <a:t>Schau genau hin.</a:t>
            </a:r>
          </a:p>
          <a:p>
            <a:pPr algn="l" indent="0" marL="0">
              <a:lnSpc>
                <a:spcPct val="100000"/>
              </a:lnSpc>
              <a:spcAft>
                <a:spcPts val="1400"/>
              </a:spcAft>
              <a:buNone/>
            </a:pPr>
            <a:r>
              <a:rPr lang="de-DE" sz="2600" b="0" i="0" dirty="0">
                <a:solidFill>
                  <a:srgbClr val="00285A"/>
                </a:solidFill>
                <a:latin typeface="Arial" pitchFamily="34" charset="0"/>
                <a:ea typeface="Arial" pitchFamily="34" charset="-122"/>
                <a:cs typeface="Arial" pitchFamily="34" charset="-120"/>
              </a:rPr>
              <a:t>Was sieht man im Hintergrund?</a:t>
            </a:r>
          </a:p>
          <a:p>
            <a:pPr algn="l" indent="0" marL="0">
              <a:lnSpc>
                <a:spcPct val="100000"/>
              </a:lnSpc>
              <a:spcAft>
                <a:spcPts val="1400"/>
              </a:spcAft>
              <a:buNone/>
            </a:pPr>
            <a:r>
              <a:rPr lang="de-DE" sz="2600" b="0" i="0" dirty="0">
                <a:solidFill>
                  <a:srgbClr val="00285A"/>
                </a:solidFill>
                <a:latin typeface="Arial" pitchFamily="34" charset="0"/>
                <a:ea typeface="Arial" pitchFamily="34" charset="-122"/>
                <a:cs typeface="Arial" pitchFamily="34" charset="-120"/>
              </a:rPr>
              <a:t>Was verrät das Foto über die Person?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Thema 1: Mein Konto">
    <p:bg>
      <p:bgPr>
        <a:solidFill>
          <a:srgbClr val="00285A"/>
        </a:solidFill>
        <a:effectLst/>
      </p:bgPr>
    </p:bg>
    <p:spTree>
      <p:nvGrpSpPr>
        <p:cNvPr id="1" name=""/>
        <p:cNvGrpSpPr/>
        <p:nvPr/>
      </p:nvGrpSpPr>
      <p:grpSpPr>
        <a:xfrm>
          <a:off x="0" y="0"/>
          <a:ext cx="0" cy="0"/>
          <a:chOff x="0" y="0"/>
          <a:chExt cx="0" cy="0"/>
        </a:xfrm>
      </p:grpSpPr>
      <p:sp>
        <p:nvSpPr>
          <p:cNvPr id="2" name="Text 2"/>
          <p:cNvSpPr/>
          <p:nvPr/>
        </p:nvSpPr>
        <p:spPr>
          <a:xfrm>
            <a:off x="640080" y="1737360"/>
            <a:ext cx="2743200" cy="3108960"/>
          </a:xfrm>
          <a:prstGeom prst="rect">
            <a:avLst/>
          </a:prstGeom>
          <a:noFill/>
          <a:ln>
            <a:noFill/>
          </a:ln>
        </p:spPr>
        <p:txBody>
          <a:bodyPr wrap="square" lIns="0" tIns="0" rIns="0" bIns="0" rtlCol="0" anchor="ctr">
            <a:noAutofit/>
          </a:bodyPr>
          <a:lstStyle/>
          <a:p>
            <a:pPr algn="ctr" indent="0" marL="0">
              <a:lnSpc>
                <a:spcPct val="100000"/>
              </a:lnSpc>
              <a:spcAft>
                <a:spcPts val="0"/>
              </a:spcAft>
              <a:buNone/>
            </a:pPr>
            <a:r>
              <a:rPr lang="de-DE" sz="20000" b="1" i="0" dirty="0">
                <a:solidFill>
                  <a:srgbClr val="57A3C7"/>
                </a:solidFill>
                <a:latin typeface="Arial" pitchFamily="34" charset="0"/>
                <a:ea typeface="Arial" pitchFamily="34" charset="-122"/>
                <a:cs typeface="Arial" pitchFamily="34" charset="-120"/>
              </a:rPr>
              <a:t>1</a:t>
            </a:r>
          </a:p>
        </p:txBody>
      </p:sp>
      <p:sp>
        <p:nvSpPr>
          <p:cNvPr id="3" name="Text 3"/>
          <p:cNvSpPr/>
          <p:nvPr/>
        </p:nvSpPr>
        <p:spPr>
          <a:xfrm>
            <a:off x="3657600" y="2148840"/>
            <a:ext cx="7680960" cy="731520"/>
          </a:xfrm>
          <a:prstGeom prst="rect">
            <a:avLst/>
          </a:prstGeom>
          <a:noFill/>
          <a:ln>
            <a:noFill/>
          </a:ln>
        </p:spPr>
        <p:txBody>
          <a:bodyPr wrap="square" lIns="0" tIns="0" rIns="0" bIns="0" rtlCol="0" anchor="b">
            <a:noAutofit/>
          </a:bodyPr>
          <a:lstStyle/>
          <a:p>
            <a:pPr algn="l" indent="0" marL="0">
              <a:lnSpc>
                <a:spcPct val="100000"/>
              </a:lnSpc>
              <a:spcAft>
                <a:spcPts val="0"/>
              </a:spcAft>
              <a:buNone/>
            </a:pPr>
            <a:r>
              <a:rPr lang="de-DE" sz="2600" b="1" i="0" dirty="0">
                <a:solidFill>
                  <a:srgbClr val="AAD1E3"/>
                </a:solidFill>
                <a:latin typeface="Arial" pitchFamily="34" charset="0"/>
                <a:ea typeface="Arial" pitchFamily="34" charset="-122"/>
                <a:cs typeface="Arial" pitchFamily="34" charset="-120"/>
              </a:rPr>
              <a:t>Thema 1</a:t>
            </a:r>
          </a:p>
        </p:txBody>
      </p:sp>
      <p:sp>
        <p:nvSpPr>
          <p:cNvPr id="4" name="Text 4"/>
          <p:cNvSpPr/>
          <p:nvPr/>
        </p:nvSpPr>
        <p:spPr>
          <a:xfrm>
            <a:off x="3657600" y="2880000"/>
            <a:ext cx="7680960" cy="1900000"/>
          </a:xfrm>
          <a:prstGeom prst="rect">
            <a:avLst/>
          </a:prstGeom>
          <a:noFill/>
          <a:ln>
            <a:noFill/>
          </a:ln>
        </p:spPr>
        <p:txBody>
          <a:bodyPr wrap="square" lIns="0" tIns="0" rIns="0" bIns="0" rtlCol="0" anchor="t">
            <a:noAutofit/>
          </a:bodyPr>
          <a:lstStyle/>
          <a:p>
            <a:pPr algn="l" indent="0" marL="0">
              <a:lnSpc>
                <a:spcPct val="100000"/>
              </a:lnSpc>
              <a:spcAft>
                <a:spcPts val="0"/>
              </a:spcAft>
              <a:buNone/>
            </a:pPr>
            <a:r>
              <a:rPr lang="de-DE" sz="4400" b="1" i="0" dirty="0">
                <a:solidFill>
                  <a:srgbClr val="FFFFFF"/>
                </a:solidFill>
                <a:latin typeface="Arial" pitchFamily="34" charset="0"/>
                <a:ea typeface="Arial" pitchFamily="34" charset="-122"/>
                <a:cs typeface="Arial" pitchFamily="34" charset="-120"/>
              </a:rPr>
              <a:t>Mein Konto</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Diese Wörter brauchen wir">
    <p:spTree>
      <p:nvGrpSpPr>
        <p:cNvPr id="1" name=""/>
        <p:cNvGrpSpPr/>
        <p:nvPr/>
      </p:nvGrpSpPr>
      <p:grpSpPr>
        <a:xfrm>
          <a:off x="0" y="0"/>
          <a:ext cx="0" cy="0"/>
          <a:chOff x="0" y="0"/>
          <a:chExt cx="0" cy="0"/>
        </a:xfrm>
      </p:grpSpPr>
      <p:sp>
        <p:nvSpPr>
          <p:cNvPr id="2" name="Titel 2"/>
          <p:cNvSpPr/>
          <p:nvPr/>
        </p:nvSpPr>
        <p:spPr>
          <a:xfrm>
            <a:off x="640080" y="400000"/>
            <a:ext cx="10911840" cy="10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3400" b="1" i="0" dirty="0">
                <a:solidFill>
                  <a:srgbClr val="00285A"/>
                </a:solidFill>
                <a:latin typeface="Arial" pitchFamily="34" charset="0"/>
                <a:ea typeface="Arial" pitchFamily="34" charset="-122"/>
                <a:cs typeface="Arial" pitchFamily="34" charset="-120"/>
              </a:rPr>
              <a:t>Diese Wörter brauchen wir</a:t>
            </a:r>
          </a:p>
        </p:txBody>
      </p:sp>
      <p:sp>
        <p:nvSpPr>
          <p:cNvPr id="3" name="Zeile 3"/>
          <p:cNvSpPr/>
          <p:nvPr/>
        </p:nvSpPr>
        <p:spPr>
          <a:xfrm>
            <a:off x="640080" y="1550000"/>
            <a:ext cx="10911840" cy="780000"/>
          </a:xfrm>
          <a:prstGeom prst="roundRect">
            <a:avLst>
              <a:gd name="adj" fmla="val 12000"/>
            </a:avLst>
          </a:prstGeom>
          <a:solidFill>
            <a:srgbClr val="D8EAF2"/>
          </a:solidFill>
          <a:ln w="12700">
            <a:solidFill>
              <a:srgbClr val="AAD1E3"/>
            </a:solidFill>
            <a:prstDash val="solid"/>
          </a:ln>
        </p:spPr>
      </p:sp>
      <p:sp>
        <p:nvSpPr>
          <p:cNvPr id="4" name="Text 4"/>
          <p:cNvSpPr/>
          <p:nvPr/>
        </p:nvSpPr>
        <p:spPr>
          <a:xfrm>
            <a:off x="840080" y="1550000"/>
            <a:ext cx="10511840" cy="7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400" b="1" i="0" dirty="0">
                <a:solidFill>
                  <a:srgbClr val="00285A"/>
                </a:solidFill>
                <a:latin typeface="Arial" pitchFamily="34" charset="0"/>
                <a:ea typeface="Arial" pitchFamily="34" charset="-122"/>
                <a:cs typeface="Arial" pitchFamily="34" charset="-120"/>
              </a:rPr>
              <a:t>Profil: </a:t>
            </a:r>
            <a:r>
              <a:rPr lang="de-DE" sz="2400" b="0" i="0" dirty="0">
                <a:solidFill>
                  <a:srgbClr val="1A1A1A"/>
                </a:solidFill>
                <a:latin typeface="Arial" pitchFamily="34" charset="0"/>
                <a:ea typeface="Arial" pitchFamily="34" charset="-122"/>
                <a:cs typeface="Arial" pitchFamily="34" charset="-120"/>
              </a:rPr>
              <a:t>Deine Seite bei Instagram.</a:t>
            </a:r>
          </a:p>
        </p:txBody>
      </p:sp>
      <p:sp>
        <p:nvSpPr>
          <p:cNvPr id="5" name="Zeile 5"/>
          <p:cNvSpPr/>
          <p:nvPr/>
        </p:nvSpPr>
        <p:spPr>
          <a:xfrm>
            <a:off x="640080" y="2440000"/>
            <a:ext cx="10911840" cy="780000"/>
          </a:xfrm>
          <a:prstGeom prst="roundRect">
            <a:avLst>
              <a:gd name="adj" fmla="val 12000"/>
            </a:avLst>
          </a:prstGeom>
          <a:solidFill>
            <a:srgbClr val="D8EAF2"/>
          </a:solidFill>
          <a:ln w="12700">
            <a:solidFill>
              <a:srgbClr val="AAD1E3"/>
            </a:solidFill>
            <a:prstDash val="solid"/>
          </a:ln>
        </p:spPr>
      </p:sp>
      <p:sp>
        <p:nvSpPr>
          <p:cNvPr id="6" name="Text 6"/>
          <p:cNvSpPr/>
          <p:nvPr/>
        </p:nvSpPr>
        <p:spPr>
          <a:xfrm>
            <a:off x="840080" y="2440000"/>
            <a:ext cx="10511840" cy="7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400" b="1" i="0" dirty="0">
                <a:solidFill>
                  <a:srgbClr val="00285A"/>
                </a:solidFill>
                <a:latin typeface="Arial" pitchFamily="34" charset="0"/>
                <a:ea typeface="Arial" pitchFamily="34" charset="-122"/>
                <a:cs typeface="Arial" pitchFamily="34" charset="-120"/>
              </a:rPr>
              <a:t>Beitrag: </a:t>
            </a:r>
            <a:r>
              <a:rPr lang="de-DE" sz="2400" b="0" i="0" dirty="0">
                <a:solidFill>
                  <a:srgbClr val="1A1A1A"/>
                </a:solidFill>
                <a:latin typeface="Arial" pitchFamily="34" charset="0"/>
                <a:ea typeface="Arial" pitchFamily="34" charset="-122"/>
                <a:cs typeface="Arial" pitchFamily="34" charset="-120"/>
              </a:rPr>
              <a:t>Du teilst ein Foto oder ein Video.</a:t>
            </a:r>
          </a:p>
        </p:txBody>
      </p:sp>
      <p:sp>
        <p:nvSpPr>
          <p:cNvPr id="7" name="Zeile 7"/>
          <p:cNvSpPr/>
          <p:nvPr/>
        </p:nvSpPr>
        <p:spPr>
          <a:xfrm>
            <a:off x="640080" y="3330000"/>
            <a:ext cx="10911840" cy="780000"/>
          </a:xfrm>
          <a:prstGeom prst="roundRect">
            <a:avLst>
              <a:gd name="adj" fmla="val 12000"/>
            </a:avLst>
          </a:prstGeom>
          <a:solidFill>
            <a:srgbClr val="D8EAF2"/>
          </a:solidFill>
          <a:ln w="12700">
            <a:solidFill>
              <a:srgbClr val="AAD1E3"/>
            </a:solidFill>
            <a:prstDash val="solid"/>
          </a:ln>
        </p:spPr>
      </p:sp>
      <p:sp>
        <p:nvSpPr>
          <p:cNvPr id="8" name="Text 8"/>
          <p:cNvSpPr/>
          <p:nvPr/>
        </p:nvSpPr>
        <p:spPr>
          <a:xfrm>
            <a:off x="840080" y="3330000"/>
            <a:ext cx="10511840" cy="7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400" b="1" i="0" dirty="0">
                <a:solidFill>
                  <a:srgbClr val="00285A"/>
                </a:solidFill>
                <a:latin typeface="Arial" pitchFamily="34" charset="0"/>
                <a:ea typeface="Arial" pitchFamily="34" charset="-122"/>
                <a:cs typeface="Arial" pitchFamily="34" charset="-120"/>
              </a:rPr>
              <a:t>Story: </a:t>
            </a:r>
            <a:r>
              <a:rPr lang="de-DE" sz="2400" b="0" i="0" dirty="0">
                <a:solidFill>
                  <a:srgbClr val="1A1A1A"/>
                </a:solidFill>
                <a:latin typeface="Arial" pitchFamily="34" charset="0"/>
                <a:ea typeface="Arial" pitchFamily="34" charset="-122"/>
                <a:cs typeface="Arial" pitchFamily="34" charset="-120"/>
              </a:rPr>
              <a:t>Ein Foto oder Video für kurze Zeit.</a:t>
            </a:r>
          </a:p>
        </p:txBody>
      </p:sp>
      <p:sp>
        <p:nvSpPr>
          <p:cNvPr id="9" name="Zeile 9"/>
          <p:cNvSpPr/>
          <p:nvPr/>
        </p:nvSpPr>
        <p:spPr>
          <a:xfrm>
            <a:off x="640080" y="4220000"/>
            <a:ext cx="10911840" cy="780000"/>
          </a:xfrm>
          <a:prstGeom prst="roundRect">
            <a:avLst>
              <a:gd name="adj" fmla="val 12000"/>
            </a:avLst>
          </a:prstGeom>
          <a:solidFill>
            <a:srgbClr val="D8EAF2"/>
          </a:solidFill>
          <a:ln w="12700">
            <a:solidFill>
              <a:srgbClr val="AAD1E3"/>
            </a:solidFill>
            <a:prstDash val="solid"/>
          </a:ln>
        </p:spPr>
      </p:sp>
      <p:sp>
        <p:nvSpPr>
          <p:cNvPr id="10" name="Text 10"/>
          <p:cNvSpPr/>
          <p:nvPr/>
        </p:nvSpPr>
        <p:spPr>
          <a:xfrm>
            <a:off x="840080" y="4220000"/>
            <a:ext cx="10511840" cy="7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400" b="1" i="0" dirty="0">
                <a:solidFill>
                  <a:srgbClr val="00285A"/>
                </a:solidFill>
                <a:latin typeface="Arial" pitchFamily="34" charset="0"/>
                <a:ea typeface="Arial" pitchFamily="34" charset="-122"/>
                <a:cs typeface="Arial" pitchFamily="34" charset="-120"/>
              </a:rPr>
              <a:t>Follower: </a:t>
            </a:r>
            <a:r>
              <a:rPr lang="de-DE" sz="2400" b="0" i="0" dirty="0">
                <a:solidFill>
                  <a:srgbClr val="1A1A1A"/>
                </a:solidFill>
                <a:latin typeface="Arial" pitchFamily="34" charset="0"/>
                <a:ea typeface="Arial" pitchFamily="34" charset="-122"/>
                <a:cs typeface="Arial" pitchFamily="34" charset="-120"/>
              </a:rPr>
              <a:t>Sie folgen dir. Sie sehen deine Beiträge.</a:t>
            </a:r>
          </a:p>
        </p:txBody>
      </p:sp>
      <p:sp>
        <p:nvSpPr>
          <p:cNvPr id="11" name="Zeile 11"/>
          <p:cNvSpPr/>
          <p:nvPr/>
        </p:nvSpPr>
        <p:spPr>
          <a:xfrm>
            <a:off x="640080" y="5110000"/>
            <a:ext cx="10911840" cy="780000"/>
          </a:xfrm>
          <a:prstGeom prst="roundRect">
            <a:avLst>
              <a:gd name="adj" fmla="val 12000"/>
            </a:avLst>
          </a:prstGeom>
          <a:solidFill>
            <a:srgbClr val="D8EAF2"/>
          </a:solidFill>
          <a:ln w="12700">
            <a:solidFill>
              <a:srgbClr val="AAD1E3"/>
            </a:solidFill>
            <a:prstDash val="solid"/>
          </a:ln>
        </p:spPr>
      </p:sp>
      <p:sp>
        <p:nvSpPr>
          <p:cNvPr id="12" name="Text 12"/>
          <p:cNvSpPr/>
          <p:nvPr/>
        </p:nvSpPr>
        <p:spPr>
          <a:xfrm>
            <a:off x="840080" y="5110000"/>
            <a:ext cx="10511840" cy="7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400" b="1" i="0" dirty="0">
                <a:solidFill>
                  <a:srgbClr val="00285A"/>
                </a:solidFill>
                <a:latin typeface="Arial" pitchFamily="34" charset="0"/>
                <a:ea typeface="Arial" pitchFamily="34" charset="-122"/>
                <a:cs typeface="Arial" pitchFamily="34" charset="-120"/>
              </a:rPr>
              <a:t>Private Nachricht: </a:t>
            </a:r>
            <a:r>
              <a:rPr lang="de-DE" sz="2400" b="0" i="0" dirty="0">
                <a:solidFill>
                  <a:srgbClr val="1A1A1A"/>
                </a:solidFill>
                <a:latin typeface="Arial" pitchFamily="34" charset="0"/>
                <a:ea typeface="Arial" pitchFamily="34" charset="-122"/>
                <a:cs typeface="Arial" pitchFamily="34" charset="-120"/>
              </a:rPr>
              <a:t>Sie geht nur an dich. Oder an eine kleine Gruppe.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Wer darf meine Bilder sehen?">
    <p:spTree>
      <p:nvGrpSpPr>
        <p:cNvPr id="1" name=""/>
        <p:cNvGrpSpPr/>
        <p:nvPr/>
      </p:nvGrpSpPr>
      <p:grpSpPr>
        <a:xfrm>
          <a:off x="0" y="0"/>
          <a:ext cx="0" cy="0"/>
          <a:chOff x="0" y="0"/>
          <a:chExt cx="0" cy="0"/>
        </a:xfrm>
      </p:grpSpPr>
      <p:sp>
        <p:nvSpPr>
          <p:cNvPr id="2" name="Titel 2"/>
          <p:cNvSpPr/>
          <p:nvPr/>
        </p:nvSpPr>
        <p:spPr>
          <a:xfrm>
            <a:off x="640080" y="400000"/>
            <a:ext cx="10911840" cy="10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3400" b="1" i="0" dirty="0">
                <a:solidFill>
                  <a:srgbClr val="00285A"/>
                </a:solidFill>
                <a:latin typeface="Arial" pitchFamily="34" charset="0"/>
                <a:ea typeface="Arial" pitchFamily="34" charset="-122"/>
                <a:cs typeface="Arial" pitchFamily="34" charset="-120"/>
              </a:rPr>
              <a:t>Wer darf meine Bilder sehen?</a:t>
            </a:r>
          </a:p>
        </p:txBody>
      </p:sp>
      <p:sp>
        <p:nvSpPr>
          <p:cNvPr id="3" name="Text 3"/>
          <p:cNvSpPr/>
          <p:nvPr/>
        </p:nvSpPr>
        <p:spPr>
          <a:xfrm>
            <a:off x="640080" y="1600000"/>
            <a:ext cx="5240000" cy="4300000"/>
          </a:xfrm>
          <a:prstGeom prst="roundRect">
            <a:avLst>
              <a:gd name="adj" fmla="val 4000"/>
            </a:avLst>
          </a:prstGeom>
          <a:solidFill>
            <a:srgbClr val="E7F3EC"/>
          </a:solidFill>
          <a:ln w="19050">
            <a:solidFill>
              <a:srgbClr val="2E7D4F"/>
            </a:solidFill>
            <a:prstDash val="solid"/>
          </a:ln>
          <a:effectLst>
            <a:outerShdw sx="100000" sy="100000" kx="0" ky="0" algn="bl" rotWithShape="0" blurRad="88900" dist="25400" dir="5400000">
              <a:srgbClr val="000000">
                <a:alpha val="14000"/>
              </a:srgbClr>
            </a:outerShdw>
          </a:effectLst>
        </p:spPr>
      </p:sp>
      <p:sp>
        <p:nvSpPr>
          <p:cNvPr id="4" name="Bild-Platzhalter 4"/>
          <p:cNvSpPr/>
          <p:nvPr/>
        </p:nvSpPr>
        <p:spPr>
          <a:xfrm>
            <a:off x="940080" y="1800000"/>
            <a:ext cx="4640000" cy="1500000"/>
          </a:xfrm>
          <a:prstGeom prst="roundRect">
            <a:avLst>
              <a:gd name="adj" fmla="val 4000"/>
            </a:avLst>
          </a:prstGeom>
          <a:solidFill>
            <a:srgbClr val="F3F6F9"/>
          </a:solidFill>
          <a:ln w="19050">
            <a:solidFill>
              <a:srgbClr val="6B7A89"/>
            </a:solidFill>
            <a:prstDash val="dash"/>
          </a:ln>
        </p:spPr>
        <p:txBody>
          <a:bodyPr wrap="square" lIns="137160" tIns="137160" rIns="137160" bIns="137160" rtlCol="0" anchor="ctr">
            <a:noAutofit/>
          </a:bodyPr>
          <a:lstStyle/>
          <a:p>
            <a:pPr algn="ctr" indent="0" marL="0">
              <a:lnSpc>
                <a:spcPct val="100000"/>
              </a:lnSpc>
              <a:spcAft>
                <a:spcPts val="0"/>
              </a:spcAft>
              <a:buNone/>
            </a:pPr>
            <a:r>
              <a:rPr lang="de-DE" sz="1500" b="0" i="1" dirty="0">
                <a:solidFill>
                  <a:srgbClr val="48586A"/>
                </a:solidFill>
                <a:latin typeface="Arial" pitchFamily="34" charset="0"/>
                <a:ea typeface="Arial" pitchFamily="34" charset="-122"/>
                <a:cs typeface="Arial" pitchFamily="34" charset="-120"/>
              </a:rPr>
              <a:t>[BILD: Profil mit Schloss. Nur wenige bekannte Menschen schauen zu.]</a:t>
            </a:r>
          </a:p>
        </p:txBody>
      </p:sp>
      <p:sp>
        <p:nvSpPr>
          <p:cNvPr id="5" name="Text 5"/>
          <p:cNvSpPr/>
          <p:nvPr/>
        </p:nvSpPr>
        <p:spPr>
          <a:xfrm>
            <a:off x="890080" y="3450000"/>
            <a:ext cx="4740000" cy="600000"/>
          </a:xfrm>
          <a:prstGeom prst="rect">
            <a:avLst/>
          </a:prstGeom>
          <a:noFill/>
          <a:ln>
            <a:noFill/>
          </a:ln>
        </p:spPr>
        <p:txBody>
          <a:bodyPr wrap="square" lIns="0" tIns="0" rIns="0" bIns="0" rtlCol="0" anchor="ctr">
            <a:noAutofit/>
          </a:bodyPr>
          <a:lstStyle/>
          <a:p>
            <a:pPr algn="ctr" indent="0" marL="0">
              <a:lnSpc>
                <a:spcPct val="100000"/>
              </a:lnSpc>
              <a:spcAft>
                <a:spcPts val="0"/>
              </a:spcAft>
              <a:buNone/>
            </a:pPr>
            <a:r>
              <a:rPr lang="de-DE" sz="2800" b="1" i="0" dirty="0">
                <a:solidFill>
                  <a:srgbClr val="00285A"/>
                </a:solidFill>
                <a:latin typeface="Arial" pitchFamily="34" charset="0"/>
                <a:ea typeface="Arial" pitchFamily="34" charset="-122"/>
                <a:cs typeface="Arial" pitchFamily="34" charset="-120"/>
              </a:rPr>
              <a:t>Privates Konto</a:t>
            </a:r>
          </a:p>
        </p:txBody>
      </p:sp>
      <p:sp>
        <p:nvSpPr>
          <p:cNvPr id="6" name="Text 6"/>
          <p:cNvSpPr/>
          <p:nvPr/>
        </p:nvSpPr>
        <p:spPr>
          <a:xfrm>
            <a:off x="890080" y="4100000"/>
            <a:ext cx="4740000" cy="1700000"/>
          </a:xfrm>
          <a:prstGeom prst="rect">
            <a:avLst/>
          </a:prstGeom>
          <a:noFill/>
          <a:ln>
            <a:noFill/>
          </a:ln>
        </p:spPr>
        <p:txBody>
          <a:bodyPr wrap="square" lIns="0" tIns="0" rIns="0" bIns="0" rtlCol="0" anchor="t">
            <a:noAutofit/>
          </a:bodyPr>
          <a:lstStyle/>
          <a:p>
            <a:pPr algn="ctr" indent="0" marL="0">
              <a:lnSpc>
                <a:spcPct val="100000"/>
              </a:lnSpc>
              <a:spcAft>
                <a:spcPts val="500"/>
              </a:spcAft>
              <a:buNone/>
            </a:pPr>
            <a:r>
              <a:rPr lang="de-DE" sz="2300" b="0" i="0" dirty="0">
                <a:solidFill>
                  <a:srgbClr val="1A1A1A"/>
                </a:solidFill>
                <a:latin typeface="Arial" pitchFamily="34" charset="0"/>
                <a:ea typeface="Arial" pitchFamily="34" charset="-122"/>
                <a:cs typeface="Arial" pitchFamily="34" charset="-120"/>
              </a:rPr>
              <a:t>Nur deine Follower sehen deine Bilder.</a:t>
            </a:r>
          </a:p>
          <a:p>
            <a:pPr algn="ctr" indent="0" marL="0">
              <a:lnSpc>
                <a:spcPct val="100000"/>
              </a:lnSpc>
              <a:spcAft>
                <a:spcPts val="500"/>
              </a:spcAft>
              <a:buNone/>
            </a:pPr>
            <a:r>
              <a:rPr lang="de-DE" sz="2300" b="0" i="0" dirty="0">
                <a:solidFill>
                  <a:srgbClr val="1A1A1A"/>
                </a:solidFill>
                <a:latin typeface="Arial" pitchFamily="34" charset="0"/>
                <a:ea typeface="Arial" pitchFamily="34" charset="-122"/>
                <a:cs typeface="Arial" pitchFamily="34" charset="-120"/>
              </a:rPr>
              <a:t>Du entscheidest: Wer darf folgen?</a:t>
            </a:r>
          </a:p>
        </p:txBody>
      </p:sp>
      <p:sp>
        <p:nvSpPr>
          <p:cNvPr id="7" name="Text 7"/>
          <p:cNvSpPr/>
          <p:nvPr/>
        </p:nvSpPr>
        <p:spPr>
          <a:xfrm>
            <a:off x="6310080" y="1600000"/>
            <a:ext cx="5240000" cy="4300000"/>
          </a:xfrm>
          <a:prstGeom prst="roundRect">
            <a:avLst>
              <a:gd name="adj" fmla="val 4000"/>
            </a:avLst>
          </a:prstGeom>
          <a:solidFill>
            <a:srgbClr val="FBE9EC"/>
          </a:solidFill>
          <a:ln w="19050">
            <a:solidFill>
              <a:srgbClr val="B5152B"/>
            </a:solidFill>
            <a:prstDash val="solid"/>
          </a:ln>
          <a:effectLst>
            <a:outerShdw sx="100000" sy="100000" kx="0" ky="0" algn="bl" rotWithShape="0" blurRad="88900" dist="25400" dir="5400000">
              <a:srgbClr val="000000">
                <a:alpha val="14000"/>
              </a:srgbClr>
            </a:outerShdw>
          </a:effectLst>
        </p:spPr>
      </p:sp>
      <p:sp>
        <p:nvSpPr>
          <p:cNvPr id="8" name="Bild-Platzhalter 8"/>
          <p:cNvSpPr/>
          <p:nvPr/>
        </p:nvSpPr>
        <p:spPr>
          <a:xfrm>
            <a:off x="6610080" y="1800000"/>
            <a:ext cx="4640000" cy="1500000"/>
          </a:xfrm>
          <a:prstGeom prst="roundRect">
            <a:avLst>
              <a:gd name="adj" fmla="val 4000"/>
            </a:avLst>
          </a:prstGeom>
          <a:solidFill>
            <a:srgbClr val="F3F6F9"/>
          </a:solidFill>
          <a:ln w="19050">
            <a:solidFill>
              <a:srgbClr val="6B7A89"/>
            </a:solidFill>
            <a:prstDash val="dash"/>
          </a:ln>
        </p:spPr>
        <p:txBody>
          <a:bodyPr wrap="square" lIns="137160" tIns="137160" rIns="137160" bIns="137160" rtlCol="0" anchor="ctr">
            <a:noAutofit/>
          </a:bodyPr>
          <a:lstStyle/>
          <a:p>
            <a:pPr algn="ctr" indent="0" marL="0">
              <a:lnSpc>
                <a:spcPct val="100000"/>
              </a:lnSpc>
              <a:spcAft>
                <a:spcPts val="0"/>
              </a:spcAft>
              <a:buNone/>
            </a:pPr>
            <a:r>
              <a:rPr lang="de-DE" sz="1500" b="0" i="1" dirty="0">
                <a:solidFill>
                  <a:srgbClr val="48586A"/>
                </a:solidFill>
                <a:latin typeface="Arial" pitchFamily="34" charset="0"/>
                <a:ea typeface="Arial" pitchFamily="34" charset="-122"/>
                <a:cs typeface="Arial" pitchFamily="34" charset="-120"/>
              </a:rPr>
              <a:t>[BILD: Offenes Profil. Viele fremde Menschen schauen zu.]</a:t>
            </a:r>
          </a:p>
        </p:txBody>
      </p:sp>
      <p:sp>
        <p:nvSpPr>
          <p:cNvPr id="9" name="Text 9"/>
          <p:cNvSpPr/>
          <p:nvPr/>
        </p:nvSpPr>
        <p:spPr>
          <a:xfrm>
            <a:off x="6560080" y="3450000"/>
            <a:ext cx="4740000" cy="600000"/>
          </a:xfrm>
          <a:prstGeom prst="rect">
            <a:avLst/>
          </a:prstGeom>
          <a:noFill/>
          <a:ln>
            <a:noFill/>
          </a:ln>
        </p:spPr>
        <p:txBody>
          <a:bodyPr wrap="square" lIns="0" tIns="0" rIns="0" bIns="0" rtlCol="0" anchor="ctr">
            <a:noAutofit/>
          </a:bodyPr>
          <a:lstStyle/>
          <a:p>
            <a:pPr algn="ctr" indent="0" marL="0">
              <a:lnSpc>
                <a:spcPct val="100000"/>
              </a:lnSpc>
              <a:spcAft>
                <a:spcPts val="0"/>
              </a:spcAft>
              <a:buNone/>
            </a:pPr>
            <a:r>
              <a:rPr lang="de-DE" sz="2800" b="1" i="0" dirty="0">
                <a:solidFill>
                  <a:srgbClr val="00285A"/>
                </a:solidFill>
                <a:latin typeface="Arial" pitchFamily="34" charset="0"/>
                <a:ea typeface="Arial" pitchFamily="34" charset="-122"/>
                <a:cs typeface="Arial" pitchFamily="34" charset="-120"/>
              </a:rPr>
              <a:t>Öffentliches Konto</a:t>
            </a:r>
          </a:p>
        </p:txBody>
      </p:sp>
      <p:sp>
        <p:nvSpPr>
          <p:cNvPr id="10" name="Text 10"/>
          <p:cNvSpPr/>
          <p:nvPr/>
        </p:nvSpPr>
        <p:spPr>
          <a:xfrm>
            <a:off x="6560080" y="4100000"/>
            <a:ext cx="4740000" cy="1700000"/>
          </a:xfrm>
          <a:prstGeom prst="rect">
            <a:avLst/>
          </a:prstGeom>
          <a:noFill/>
          <a:ln>
            <a:noFill/>
          </a:ln>
        </p:spPr>
        <p:txBody>
          <a:bodyPr wrap="square" lIns="0" tIns="0" rIns="0" bIns="0" rtlCol="0" anchor="t">
            <a:noAutofit/>
          </a:bodyPr>
          <a:lstStyle/>
          <a:p>
            <a:pPr algn="ctr" indent="0" marL="0">
              <a:lnSpc>
                <a:spcPct val="100000"/>
              </a:lnSpc>
              <a:spcAft>
                <a:spcPts val="500"/>
              </a:spcAft>
              <a:buNone/>
            </a:pPr>
            <a:r>
              <a:rPr lang="de-DE" sz="2300" b="0" i="0" dirty="0">
                <a:solidFill>
                  <a:srgbClr val="1A1A1A"/>
                </a:solidFill>
                <a:latin typeface="Arial" pitchFamily="34" charset="0"/>
                <a:ea typeface="Arial" pitchFamily="34" charset="-122"/>
                <a:cs typeface="Arial" pitchFamily="34" charset="-120"/>
              </a:rPr>
              <a:t>Alle Menschen sehen deine Bilder.</a:t>
            </a:r>
          </a:p>
          <a:p>
            <a:pPr algn="ctr" indent="0" marL="0">
              <a:lnSpc>
                <a:spcPct val="100000"/>
              </a:lnSpc>
              <a:spcAft>
                <a:spcPts val="500"/>
              </a:spcAft>
              <a:buNone/>
            </a:pPr>
            <a:r>
              <a:rPr lang="de-DE" sz="2300" b="0" i="0" dirty="0">
                <a:solidFill>
                  <a:srgbClr val="1A1A1A"/>
                </a:solidFill>
                <a:latin typeface="Arial" pitchFamily="34" charset="0"/>
                <a:ea typeface="Arial" pitchFamily="34" charset="-122"/>
                <a:cs typeface="Arial" pitchFamily="34" charset="-120"/>
              </a:rPr>
              <a:t>Auch fremde Menschen.</a:t>
            </a:r>
          </a:p>
        </p:txBody>
      </p:sp>
      <p:sp>
        <p:nvSpPr>
          <p:cNvPr id="11" name="Text 11"/>
          <p:cNvSpPr/>
          <p:nvPr/>
        </p:nvSpPr>
        <p:spPr>
          <a:xfrm>
            <a:off x="640080" y="6050000"/>
            <a:ext cx="10911840" cy="55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000" b="1" i="0" dirty="0">
                <a:solidFill>
                  <a:srgbClr val="00285A"/>
                </a:solidFill>
                <a:latin typeface="Arial" pitchFamily="34" charset="0"/>
                <a:ea typeface="Arial" pitchFamily="34" charset="-122"/>
                <a:cs typeface="Arial" pitchFamily="34" charset="-120"/>
              </a:rPr>
              <a:t>Privat ist sicherer. Das stellen wir nach der Pause zusammen ein.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Jemand will dir folgen">
    <p:spTree>
      <p:nvGrpSpPr>
        <p:cNvPr id="1" name=""/>
        <p:cNvGrpSpPr/>
        <p:nvPr/>
      </p:nvGrpSpPr>
      <p:grpSpPr>
        <a:xfrm>
          <a:off x="0" y="0"/>
          <a:ext cx="0" cy="0"/>
          <a:chOff x="0" y="0"/>
          <a:chExt cx="0" cy="0"/>
        </a:xfrm>
      </p:grpSpPr>
      <p:sp>
        <p:nvSpPr>
          <p:cNvPr id="2" name="Titel 2"/>
          <p:cNvSpPr/>
          <p:nvPr/>
        </p:nvSpPr>
        <p:spPr>
          <a:xfrm>
            <a:off x="640080" y="400000"/>
            <a:ext cx="10911840" cy="10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3400" b="1" i="0" dirty="0">
                <a:solidFill>
                  <a:srgbClr val="00285A"/>
                </a:solidFill>
                <a:latin typeface="Arial" pitchFamily="34" charset="0"/>
                <a:ea typeface="Arial" pitchFamily="34" charset="-122"/>
                <a:cs typeface="Arial" pitchFamily="34" charset="-120"/>
              </a:rPr>
              <a:t>Jemand will dir folgen</a:t>
            </a:r>
          </a:p>
        </p:txBody>
      </p:sp>
      <p:sp>
        <p:nvSpPr>
          <p:cNvPr id="3" name="Text 3"/>
          <p:cNvSpPr/>
          <p:nvPr/>
        </p:nvSpPr>
        <p:spPr>
          <a:xfrm>
            <a:off x="640080" y="1550000"/>
            <a:ext cx="10911840" cy="900000"/>
          </a:xfrm>
          <a:prstGeom prst="rect">
            <a:avLst/>
          </a:prstGeom>
          <a:noFill/>
          <a:ln>
            <a:noFill/>
          </a:ln>
        </p:spPr>
        <p:txBody>
          <a:bodyPr wrap="square" lIns="0" tIns="0" rIns="0" bIns="0" rtlCol="0" anchor="ctr">
            <a:noAutofit/>
          </a:bodyPr>
          <a:lstStyle/>
          <a:p>
            <a:pPr algn="l" indent="0" marL="0">
              <a:lnSpc>
                <a:spcPct val="100000"/>
              </a:lnSpc>
              <a:spcAft>
                <a:spcPts val="300"/>
              </a:spcAft>
              <a:buNone/>
            </a:pPr>
            <a:r>
              <a:rPr lang="de-DE" sz="2600" b="0" i="0" dirty="0">
                <a:solidFill>
                  <a:srgbClr val="1A1A1A"/>
                </a:solidFill>
                <a:latin typeface="Arial" pitchFamily="34" charset="0"/>
                <a:ea typeface="Arial" pitchFamily="34" charset="-122"/>
                <a:cs typeface="Arial" pitchFamily="34" charset="-120"/>
              </a:rPr>
              <a:t>Eine Person schickt dir eine Anfrage.</a:t>
            </a:r>
          </a:p>
          <a:p>
            <a:pPr algn="l" indent="0" marL="0">
              <a:lnSpc>
                <a:spcPct val="100000"/>
              </a:lnSpc>
              <a:spcAft>
                <a:spcPts val="300"/>
              </a:spcAft>
              <a:buNone/>
            </a:pPr>
            <a:r>
              <a:rPr lang="de-DE" sz="2600" b="1" i="0" dirty="0">
                <a:solidFill>
                  <a:srgbClr val="1A1A1A"/>
                </a:solidFill>
                <a:latin typeface="Arial" pitchFamily="34" charset="0"/>
                <a:ea typeface="Arial" pitchFamily="34" charset="-122"/>
                <a:cs typeface="Arial" pitchFamily="34" charset="-120"/>
              </a:rPr>
              <a:t>Kennst du die Person?</a:t>
            </a:r>
          </a:p>
        </p:txBody>
      </p:sp>
      <p:sp>
        <p:nvSpPr>
          <p:cNvPr id="4" name="Text 4"/>
          <p:cNvSpPr/>
          <p:nvPr/>
        </p:nvSpPr>
        <p:spPr>
          <a:xfrm>
            <a:off x="640080" y="2650000"/>
            <a:ext cx="5240000" cy="2500000"/>
          </a:xfrm>
          <a:prstGeom prst="roundRect">
            <a:avLst>
              <a:gd name="adj" fmla="val 5000"/>
            </a:avLst>
          </a:prstGeom>
          <a:solidFill>
            <a:srgbClr val="E7F3EC"/>
          </a:solidFill>
          <a:ln w="19050">
            <a:solidFill>
              <a:srgbClr val="2E7D4F"/>
            </a:solidFill>
            <a:prstDash val="solid"/>
          </a:ln>
          <a:effectLst>
            <a:outerShdw sx="100000" sy="100000" kx="0" ky="0" algn="bl" rotWithShape="0" blurRad="88900" dist="25400" dir="5400000">
              <a:srgbClr val="000000">
                <a:alpha val="14000"/>
              </a:srgbClr>
            </a:outerShdw>
          </a:effectLst>
        </p:spPr>
        <p:txBody>
          <a:bodyPr wrap="square" lIns="180000" tIns="180000" rIns="180000" bIns="180000" rtlCol="0" anchor="ctr">
            <a:noAutofit/>
          </a:bodyPr>
          <a:lstStyle/>
          <a:p>
            <a:pPr algn="ctr" indent="0" marL="0">
              <a:lnSpc>
                <a:spcPct val="100000"/>
              </a:lnSpc>
              <a:spcAft>
                <a:spcPts val="1200"/>
              </a:spcAft>
              <a:buNone/>
            </a:pPr>
            <a:r>
              <a:rPr lang="de-DE" sz="2600" b="1" i="0" dirty="0">
                <a:solidFill>
                  <a:srgbClr val="00285A"/>
                </a:solidFill>
                <a:latin typeface="Arial" pitchFamily="34" charset="0"/>
                <a:ea typeface="Arial" pitchFamily="34" charset="-122"/>
                <a:cs typeface="Arial" pitchFamily="34" charset="-120"/>
              </a:rPr>
              <a:t>Ja, ich kenne die Person.</a:t>
            </a:r>
          </a:p>
          <a:p>
            <a:pPr algn="ctr" indent="0" marL="0">
              <a:lnSpc>
                <a:spcPct val="100000"/>
              </a:lnSpc>
              <a:spcAft>
                <a:spcPts val="0"/>
              </a:spcAft>
              <a:buNone/>
            </a:pPr>
            <a:r>
              <a:rPr lang="de-DE" sz="2400" b="0" i="0" dirty="0">
                <a:solidFill>
                  <a:srgbClr val="1A1A1A"/>
                </a:solidFill>
                <a:latin typeface="Arial" pitchFamily="34" charset="0"/>
                <a:ea typeface="Arial" pitchFamily="34" charset="-122"/>
                <a:cs typeface="Arial" pitchFamily="34" charset="-120"/>
              </a:rPr>
              <a:t>Du kannst die Anfrage annehmen.</a:t>
            </a:r>
          </a:p>
        </p:txBody>
      </p:sp>
      <p:sp>
        <p:nvSpPr>
          <p:cNvPr id="5" name="Text 5"/>
          <p:cNvSpPr/>
          <p:nvPr/>
        </p:nvSpPr>
        <p:spPr>
          <a:xfrm>
            <a:off x="6310080" y="2650000"/>
            <a:ext cx="5240000" cy="2500000"/>
          </a:xfrm>
          <a:prstGeom prst="roundRect">
            <a:avLst>
              <a:gd name="adj" fmla="val 5000"/>
            </a:avLst>
          </a:prstGeom>
          <a:solidFill>
            <a:srgbClr val="D8EAF2"/>
          </a:solidFill>
          <a:ln w="19050">
            <a:solidFill>
              <a:srgbClr val="3E96BE"/>
            </a:solidFill>
            <a:prstDash val="solid"/>
          </a:ln>
          <a:effectLst>
            <a:outerShdw sx="100000" sy="100000" kx="0" ky="0" algn="bl" rotWithShape="0" blurRad="88900" dist="25400" dir="5400000">
              <a:srgbClr val="000000">
                <a:alpha val="14000"/>
              </a:srgbClr>
            </a:outerShdw>
          </a:effectLst>
        </p:spPr>
        <p:txBody>
          <a:bodyPr wrap="square" lIns="180000" tIns="180000" rIns="180000" bIns="180000" rtlCol="0" anchor="ctr">
            <a:noAutofit/>
          </a:bodyPr>
          <a:lstStyle/>
          <a:p>
            <a:pPr algn="ctr" indent="0" marL="0">
              <a:lnSpc>
                <a:spcPct val="100000"/>
              </a:lnSpc>
              <a:spcAft>
                <a:spcPts val="1200"/>
              </a:spcAft>
              <a:buNone/>
            </a:pPr>
            <a:r>
              <a:rPr lang="de-DE" sz="2600" b="1" i="0" dirty="0">
                <a:solidFill>
                  <a:srgbClr val="00285A"/>
                </a:solidFill>
                <a:latin typeface="Arial" pitchFamily="34" charset="0"/>
                <a:ea typeface="Arial" pitchFamily="34" charset="-122"/>
                <a:cs typeface="Arial" pitchFamily="34" charset="-120"/>
              </a:rPr>
              <a:t>Nein, ich kenne sie nicht.</a:t>
            </a:r>
          </a:p>
          <a:p>
            <a:pPr algn="ctr" indent="0" marL="0">
              <a:lnSpc>
                <a:spcPct val="100000"/>
              </a:lnSpc>
              <a:spcAft>
                <a:spcPts val="0"/>
              </a:spcAft>
              <a:buNone/>
            </a:pPr>
            <a:r>
              <a:rPr lang="de-DE" sz="2400" b="0" i="0" dirty="0">
                <a:solidFill>
                  <a:srgbClr val="1A1A1A"/>
                </a:solidFill>
                <a:latin typeface="Arial" pitchFamily="34" charset="0"/>
                <a:ea typeface="Arial" pitchFamily="34" charset="-122"/>
                <a:cs typeface="Arial" pitchFamily="34" charset="-120"/>
              </a:rPr>
              <a:t>Du darfst Nein sagen.</a:t>
            </a:r>
          </a:p>
        </p:txBody>
      </p:sp>
      <p:sp>
        <p:nvSpPr>
          <p:cNvPr id="6" name="Text 6"/>
          <p:cNvSpPr/>
          <p:nvPr/>
        </p:nvSpPr>
        <p:spPr>
          <a:xfrm>
            <a:off x="640080" y="5400000"/>
            <a:ext cx="10911840" cy="900000"/>
          </a:xfrm>
          <a:prstGeom prst="rect">
            <a:avLst/>
          </a:prstGeom>
          <a:noFill/>
          <a:ln>
            <a:noFill/>
          </a:ln>
        </p:spPr>
        <p:txBody>
          <a:bodyPr wrap="square" lIns="0" tIns="0" rIns="0" bIns="0" rtlCol="0" anchor="ctr">
            <a:noAutofit/>
          </a:bodyPr>
          <a:lstStyle/>
          <a:p>
            <a:pPr algn="ctr" indent="0" marL="0">
              <a:lnSpc>
                <a:spcPct val="100000"/>
              </a:lnSpc>
              <a:spcAft>
                <a:spcPts val="0"/>
              </a:spcAft>
              <a:buNone/>
            </a:pPr>
            <a:r>
              <a:rPr lang="de-DE" sz="2400" b="1" i="0" dirty="0">
                <a:solidFill>
                  <a:srgbClr val="00285A"/>
                </a:solidFill>
                <a:latin typeface="Arial" pitchFamily="34" charset="0"/>
                <a:ea typeface="Arial" pitchFamily="34" charset="-122"/>
                <a:cs typeface="Arial" pitchFamily="34" charset="-120"/>
              </a:rPr>
              <a:t>Du bist unsicher? Frag eine vertraute Person.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Thema 2: Fotos und Ort">
    <p:bg>
      <p:bgPr>
        <a:solidFill>
          <a:srgbClr val="00285A"/>
        </a:solidFill>
        <a:effectLst/>
      </p:bgPr>
    </p:bg>
    <p:spTree>
      <p:nvGrpSpPr>
        <p:cNvPr id="1" name=""/>
        <p:cNvGrpSpPr/>
        <p:nvPr/>
      </p:nvGrpSpPr>
      <p:grpSpPr>
        <a:xfrm>
          <a:off x="0" y="0"/>
          <a:ext cx="0" cy="0"/>
          <a:chOff x="0" y="0"/>
          <a:chExt cx="0" cy="0"/>
        </a:xfrm>
      </p:grpSpPr>
      <p:sp>
        <p:nvSpPr>
          <p:cNvPr id="2" name="Text 2"/>
          <p:cNvSpPr/>
          <p:nvPr/>
        </p:nvSpPr>
        <p:spPr>
          <a:xfrm>
            <a:off x="640080" y="1737360"/>
            <a:ext cx="2743200" cy="3108960"/>
          </a:xfrm>
          <a:prstGeom prst="rect">
            <a:avLst/>
          </a:prstGeom>
          <a:noFill/>
          <a:ln>
            <a:noFill/>
          </a:ln>
        </p:spPr>
        <p:txBody>
          <a:bodyPr wrap="square" lIns="0" tIns="0" rIns="0" bIns="0" rtlCol="0" anchor="ctr">
            <a:noAutofit/>
          </a:bodyPr>
          <a:lstStyle/>
          <a:p>
            <a:pPr algn="ctr" indent="0" marL="0">
              <a:lnSpc>
                <a:spcPct val="100000"/>
              </a:lnSpc>
              <a:spcAft>
                <a:spcPts val="0"/>
              </a:spcAft>
              <a:buNone/>
            </a:pPr>
            <a:r>
              <a:rPr lang="de-DE" sz="20000" b="1" i="0" dirty="0">
                <a:solidFill>
                  <a:srgbClr val="57A3C7"/>
                </a:solidFill>
                <a:latin typeface="Arial" pitchFamily="34" charset="0"/>
                <a:ea typeface="Arial" pitchFamily="34" charset="-122"/>
                <a:cs typeface="Arial" pitchFamily="34" charset="-120"/>
              </a:rPr>
              <a:t>2</a:t>
            </a:r>
          </a:p>
        </p:txBody>
      </p:sp>
      <p:sp>
        <p:nvSpPr>
          <p:cNvPr id="3" name="Text 3"/>
          <p:cNvSpPr/>
          <p:nvPr/>
        </p:nvSpPr>
        <p:spPr>
          <a:xfrm>
            <a:off x="3657600" y="2148840"/>
            <a:ext cx="7680960" cy="731520"/>
          </a:xfrm>
          <a:prstGeom prst="rect">
            <a:avLst/>
          </a:prstGeom>
          <a:noFill/>
          <a:ln>
            <a:noFill/>
          </a:ln>
        </p:spPr>
        <p:txBody>
          <a:bodyPr wrap="square" lIns="0" tIns="0" rIns="0" bIns="0" rtlCol="0" anchor="b">
            <a:noAutofit/>
          </a:bodyPr>
          <a:lstStyle/>
          <a:p>
            <a:pPr algn="l" indent="0" marL="0">
              <a:lnSpc>
                <a:spcPct val="100000"/>
              </a:lnSpc>
              <a:spcAft>
                <a:spcPts val="0"/>
              </a:spcAft>
              <a:buNone/>
            </a:pPr>
            <a:r>
              <a:rPr lang="de-DE" sz="2600" b="1" i="0" dirty="0">
                <a:solidFill>
                  <a:srgbClr val="AAD1E3"/>
                </a:solidFill>
                <a:latin typeface="Arial" pitchFamily="34" charset="0"/>
                <a:ea typeface="Arial" pitchFamily="34" charset="-122"/>
                <a:cs typeface="Arial" pitchFamily="34" charset="-120"/>
              </a:rPr>
              <a:t>Thema 2</a:t>
            </a:r>
          </a:p>
        </p:txBody>
      </p:sp>
      <p:sp>
        <p:nvSpPr>
          <p:cNvPr id="4" name="Text 4"/>
          <p:cNvSpPr/>
          <p:nvPr/>
        </p:nvSpPr>
        <p:spPr>
          <a:xfrm>
            <a:off x="3657600" y="2880000"/>
            <a:ext cx="7680960" cy="1900000"/>
          </a:xfrm>
          <a:prstGeom prst="rect">
            <a:avLst/>
          </a:prstGeom>
          <a:noFill/>
          <a:ln>
            <a:noFill/>
          </a:ln>
        </p:spPr>
        <p:txBody>
          <a:bodyPr wrap="square" lIns="0" tIns="0" rIns="0" bIns="0" rtlCol="0" anchor="t">
            <a:noAutofit/>
          </a:bodyPr>
          <a:lstStyle/>
          <a:p>
            <a:pPr algn="l" indent="0" marL="0">
              <a:lnSpc>
                <a:spcPct val="100000"/>
              </a:lnSpc>
              <a:spcAft>
                <a:spcPts val="0"/>
              </a:spcAft>
              <a:buNone/>
            </a:pPr>
            <a:r>
              <a:rPr lang="de-DE" sz="4400" b="1" i="0" dirty="0">
                <a:solidFill>
                  <a:srgbClr val="FFFFFF"/>
                </a:solidFill>
                <a:latin typeface="Arial" pitchFamily="34" charset="0"/>
                <a:ea typeface="Arial" pitchFamily="34" charset="-122"/>
                <a:cs typeface="Arial" pitchFamily="34" charset="-120"/>
              </a:rPr>
              <a:t>Fotos und Ort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Ein Foto bleibt oft lange">
    <p:spTree>
      <p:nvGrpSpPr>
        <p:cNvPr id="1" name=""/>
        <p:cNvGrpSpPr/>
        <p:nvPr/>
      </p:nvGrpSpPr>
      <p:grpSpPr>
        <a:xfrm>
          <a:off x="0" y="0"/>
          <a:ext cx="0" cy="0"/>
          <a:chOff x="0" y="0"/>
          <a:chExt cx="0" cy="0"/>
        </a:xfrm>
      </p:grpSpPr>
      <p:sp>
        <p:nvSpPr>
          <p:cNvPr id="2" name="Titel 2"/>
          <p:cNvSpPr/>
          <p:nvPr/>
        </p:nvSpPr>
        <p:spPr>
          <a:xfrm>
            <a:off x="640080" y="400000"/>
            <a:ext cx="10911840" cy="10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3400" b="1" i="0" dirty="0">
                <a:solidFill>
                  <a:srgbClr val="00285A"/>
                </a:solidFill>
                <a:latin typeface="Arial" pitchFamily="34" charset="0"/>
                <a:ea typeface="Arial" pitchFamily="34" charset="-122"/>
                <a:cs typeface="Arial" pitchFamily="34" charset="-120"/>
              </a:rPr>
              <a:t>Ein Foto bleibt oft lange</a:t>
            </a:r>
          </a:p>
        </p:txBody>
      </p:sp>
      <p:sp>
        <p:nvSpPr>
          <p:cNvPr id="3" name="Text 3"/>
          <p:cNvSpPr/>
          <p:nvPr/>
        </p:nvSpPr>
        <p:spPr>
          <a:xfrm>
            <a:off x="640080" y="1700000"/>
            <a:ext cx="5700000" cy="4400000"/>
          </a:xfrm>
          <a:prstGeom prst="rect">
            <a:avLst/>
          </a:prstGeom>
          <a:noFill/>
          <a:ln>
            <a:noFill/>
          </a:ln>
        </p:spPr>
        <p:txBody>
          <a:bodyPr wrap="square" lIns="0" tIns="0" rIns="0" bIns="0" rtlCol="0" anchor="t">
            <a:noAutofit/>
          </a:bodyPr>
          <a:lstStyle/>
          <a:p>
            <a:pPr algn="l" indent="0" marL="0">
              <a:lnSpc>
                <a:spcPct val="100000"/>
              </a:lnSpc>
              <a:spcAft>
                <a:spcPts val="1300"/>
              </a:spcAft>
              <a:buNone/>
            </a:pPr>
            <a:r>
              <a:rPr lang="de-DE" sz="2500" b="0" i="0" dirty="0">
                <a:solidFill>
                  <a:srgbClr val="1A1A1A"/>
                </a:solidFill>
                <a:latin typeface="Arial" pitchFamily="34" charset="0"/>
                <a:ea typeface="Arial" pitchFamily="34" charset="-122"/>
                <a:cs typeface="Arial" pitchFamily="34" charset="-120"/>
              </a:rPr>
              <a:t>Ein Foto kann lange im Internet bleiben.</a:t>
            </a:r>
          </a:p>
          <a:p>
            <a:pPr algn="l" indent="0" marL="0">
              <a:lnSpc>
                <a:spcPct val="100000"/>
              </a:lnSpc>
              <a:spcAft>
                <a:spcPts val="1300"/>
              </a:spcAft>
              <a:buNone/>
            </a:pPr>
            <a:r>
              <a:rPr lang="de-DE" sz="2500" b="0" i="0" dirty="0">
                <a:solidFill>
                  <a:srgbClr val="1A1A1A"/>
                </a:solidFill>
                <a:latin typeface="Arial" pitchFamily="34" charset="0"/>
                <a:ea typeface="Arial" pitchFamily="34" charset="-122"/>
                <a:cs typeface="Arial" pitchFamily="34" charset="-120"/>
              </a:rPr>
              <a:t>Andere können ein Bild vom Bildschirm machen.</a:t>
            </a:r>
          </a:p>
          <a:p>
            <a:pPr algn="l" indent="0" marL="0">
              <a:lnSpc>
                <a:spcPct val="100000"/>
              </a:lnSpc>
              <a:spcAft>
                <a:spcPts val="1300"/>
              </a:spcAft>
              <a:buNone/>
            </a:pPr>
            <a:r>
              <a:rPr lang="de-DE" sz="2500" b="0" i="0" dirty="0">
                <a:solidFill>
                  <a:srgbClr val="1A1A1A"/>
                </a:solidFill>
                <a:latin typeface="Arial" pitchFamily="34" charset="0"/>
                <a:ea typeface="Arial" pitchFamily="34" charset="-122"/>
                <a:cs typeface="Arial" pitchFamily="34" charset="-120"/>
              </a:rPr>
              <a:t>Andere können das Foto weiter-schicken.</a:t>
            </a:r>
          </a:p>
          <a:p>
            <a:pPr algn="l" indent="0" marL="0">
              <a:lnSpc>
                <a:spcPct val="100000"/>
              </a:lnSpc>
              <a:spcAft>
                <a:spcPts val="1300"/>
              </a:spcAft>
              <a:buNone/>
            </a:pPr>
            <a:r>
              <a:rPr lang="de-DE" sz="2500" b="0" i="0" dirty="0">
                <a:solidFill>
                  <a:srgbClr val="1A1A1A"/>
                </a:solidFill>
                <a:latin typeface="Arial" pitchFamily="34" charset="0"/>
                <a:ea typeface="Arial" pitchFamily="34" charset="-122"/>
                <a:cs typeface="Arial" pitchFamily="34" charset="-120"/>
              </a:rPr>
              <a:t>Du kannst es dann nicht mehr zurückholen.</a:t>
            </a:r>
          </a:p>
        </p:txBody>
      </p:sp>
      <p:sp>
        <p:nvSpPr>
          <p:cNvPr id="4" name="Bild-Platzhalter 4"/>
          <p:cNvSpPr/>
          <p:nvPr/>
        </p:nvSpPr>
        <p:spPr>
          <a:xfrm>
            <a:off x="6700000" y="1700000"/>
            <a:ext cx="4850000" cy="4300000"/>
          </a:xfrm>
          <a:prstGeom prst="roundRect">
            <a:avLst>
              <a:gd name="adj" fmla="val 4000"/>
            </a:avLst>
          </a:prstGeom>
          <a:solidFill>
            <a:srgbClr val="F3F6F9"/>
          </a:solidFill>
          <a:ln w="19050">
            <a:solidFill>
              <a:srgbClr val="6B7A89"/>
            </a:solidFill>
            <a:prstDash val="dash"/>
          </a:ln>
        </p:spPr>
        <p:txBody>
          <a:bodyPr wrap="square" lIns="137160" tIns="137160" rIns="137160" bIns="137160" rtlCol="0" anchor="ctr">
            <a:noAutofit/>
          </a:bodyPr>
          <a:lstStyle/>
          <a:p>
            <a:pPr algn="ctr" indent="0" marL="0">
              <a:lnSpc>
                <a:spcPct val="100000"/>
              </a:lnSpc>
              <a:spcAft>
                <a:spcPts val="0"/>
              </a:spcAft>
              <a:buNone/>
            </a:pPr>
            <a:r>
              <a:rPr lang="de-DE" sz="1700" b="0" i="1" dirty="0">
                <a:solidFill>
                  <a:srgbClr val="48586A"/>
                </a:solidFill>
                <a:latin typeface="Arial" pitchFamily="34" charset="0"/>
                <a:ea typeface="Arial" pitchFamily="34" charset="-122"/>
                <a:cs typeface="Arial" pitchFamily="34" charset="-120"/>
              </a:rPr>
              <a:t>[BILD: Ein Foto wird auf mehreren Handys gespeichert und weiter-geschickt.]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Das prüfst du vor dem Posten">
    <p:spTree>
      <p:nvGrpSpPr>
        <p:cNvPr id="1" name=""/>
        <p:cNvGrpSpPr/>
        <p:nvPr/>
      </p:nvGrpSpPr>
      <p:grpSpPr>
        <a:xfrm>
          <a:off x="0" y="0"/>
          <a:ext cx="0" cy="0"/>
          <a:chOff x="0" y="0"/>
          <a:chExt cx="0" cy="0"/>
        </a:xfrm>
      </p:grpSpPr>
      <p:sp>
        <p:nvSpPr>
          <p:cNvPr id="2" name="Titel 2"/>
          <p:cNvSpPr/>
          <p:nvPr/>
        </p:nvSpPr>
        <p:spPr>
          <a:xfrm>
            <a:off x="640080" y="400000"/>
            <a:ext cx="10911840" cy="10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3400" b="1" i="0" dirty="0">
                <a:solidFill>
                  <a:srgbClr val="00285A"/>
                </a:solidFill>
                <a:latin typeface="Arial" pitchFamily="34" charset="0"/>
                <a:ea typeface="Arial" pitchFamily="34" charset="-122"/>
                <a:cs typeface="Arial" pitchFamily="34" charset="-120"/>
              </a:rPr>
              <a:t>Das prüfst du vor dem Posten</a:t>
            </a:r>
          </a:p>
        </p:txBody>
      </p:sp>
      <p:sp>
        <p:nvSpPr>
          <p:cNvPr id="3" name="Zeile 3"/>
          <p:cNvSpPr/>
          <p:nvPr/>
        </p:nvSpPr>
        <p:spPr>
          <a:xfrm>
            <a:off x="640080" y="1600000"/>
            <a:ext cx="6600000" cy="900000"/>
          </a:xfrm>
          <a:prstGeom prst="roundRect">
            <a:avLst>
              <a:gd name="adj" fmla="val 12000"/>
            </a:avLst>
          </a:prstGeom>
          <a:solidFill>
            <a:srgbClr val="D8EAF2"/>
          </a:solidFill>
          <a:ln w="12700">
            <a:solidFill>
              <a:srgbClr val="AAD1E3"/>
            </a:solidFill>
            <a:prstDash val="solid"/>
          </a:ln>
        </p:spPr>
      </p:sp>
      <p:sp>
        <p:nvSpPr>
          <p:cNvPr id="4" name="Kreis 4"/>
          <p:cNvSpPr/>
          <p:nvPr/>
        </p:nvSpPr>
        <p:spPr>
          <a:xfrm>
            <a:off x="770080" y="1735000"/>
            <a:ext cx="630000" cy="63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040" b="1" i="0" dirty="0">
                <a:solidFill>
                  <a:srgbClr val="00285A"/>
                </a:solidFill>
                <a:latin typeface="Arial" pitchFamily="34" charset="0"/>
                <a:ea typeface="Arial" pitchFamily="34" charset="-122"/>
                <a:cs typeface="Arial" pitchFamily="34" charset="-120"/>
              </a:rPr>
              <a:t>?</a:t>
            </a:r>
          </a:p>
        </p:txBody>
      </p:sp>
      <p:sp>
        <p:nvSpPr>
          <p:cNvPr id="5" name="Text 5"/>
          <p:cNvSpPr/>
          <p:nvPr/>
        </p:nvSpPr>
        <p:spPr>
          <a:xfrm>
            <a:off x="1580080" y="1600000"/>
            <a:ext cx="5460000" cy="9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300" b="1" i="0" dirty="0">
                <a:solidFill>
                  <a:srgbClr val="00285A"/>
                </a:solidFill>
                <a:latin typeface="Arial" pitchFamily="34" charset="0"/>
                <a:ea typeface="Arial" pitchFamily="34" charset="-122"/>
                <a:cs typeface="Arial" pitchFamily="34" charset="-120"/>
              </a:rPr>
              <a:t>Hintergrund: </a:t>
            </a:r>
            <a:r>
              <a:rPr lang="de-DE" sz="2300" b="0" i="0" dirty="0">
                <a:solidFill>
                  <a:srgbClr val="1A1A1A"/>
                </a:solidFill>
                <a:latin typeface="Arial" pitchFamily="34" charset="0"/>
                <a:ea typeface="Arial" pitchFamily="34" charset="-122"/>
                <a:cs typeface="Arial" pitchFamily="34" charset="-120"/>
              </a:rPr>
              <a:t>Sieht man Adresse, Haus-Nummer oder Straße?</a:t>
            </a:r>
          </a:p>
        </p:txBody>
      </p:sp>
      <p:sp>
        <p:nvSpPr>
          <p:cNvPr id="6" name="Zeile 6"/>
          <p:cNvSpPr/>
          <p:nvPr/>
        </p:nvSpPr>
        <p:spPr>
          <a:xfrm>
            <a:off x="640080" y="2680000"/>
            <a:ext cx="6600000" cy="900000"/>
          </a:xfrm>
          <a:prstGeom prst="roundRect">
            <a:avLst>
              <a:gd name="adj" fmla="val 12000"/>
            </a:avLst>
          </a:prstGeom>
          <a:solidFill>
            <a:srgbClr val="D8EAF2"/>
          </a:solidFill>
          <a:ln w="12700">
            <a:solidFill>
              <a:srgbClr val="AAD1E3"/>
            </a:solidFill>
            <a:prstDash val="solid"/>
          </a:ln>
        </p:spPr>
      </p:sp>
      <p:sp>
        <p:nvSpPr>
          <p:cNvPr id="7" name="Kreis 7"/>
          <p:cNvSpPr/>
          <p:nvPr/>
        </p:nvSpPr>
        <p:spPr>
          <a:xfrm>
            <a:off x="770080" y="2815000"/>
            <a:ext cx="630000" cy="63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040" b="1" i="0" dirty="0">
                <a:solidFill>
                  <a:srgbClr val="00285A"/>
                </a:solidFill>
                <a:latin typeface="Arial" pitchFamily="34" charset="0"/>
                <a:ea typeface="Arial" pitchFamily="34" charset="-122"/>
                <a:cs typeface="Arial" pitchFamily="34" charset="-120"/>
              </a:rPr>
              <a:t>?</a:t>
            </a:r>
          </a:p>
        </p:txBody>
      </p:sp>
      <p:sp>
        <p:nvSpPr>
          <p:cNvPr id="8" name="Text 8"/>
          <p:cNvSpPr/>
          <p:nvPr/>
        </p:nvSpPr>
        <p:spPr>
          <a:xfrm>
            <a:off x="1580080" y="2680000"/>
            <a:ext cx="5460000" cy="9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300" b="1" i="0" dirty="0">
                <a:solidFill>
                  <a:srgbClr val="00285A"/>
                </a:solidFill>
                <a:latin typeface="Arial" pitchFamily="34" charset="0"/>
                <a:ea typeface="Arial" pitchFamily="34" charset="-122"/>
                <a:cs typeface="Arial" pitchFamily="34" charset="-120"/>
              </a:rPr>
              <a:t>Ort: </a:t>
            </a:r>
            <a:r>
              <a:rPr lang="de-DE" sz="2300" b="0" i="0" dirty="0">
                <a:solidFill>
                  <a:srgbClr val="1A1A1A"/>
                </a:solidFill>
                <a:latin typeface="Arial" pitchFamily="34" charset="0"/>
                <a:ea typeface="Arial" pitchFamily="34" charset="-122"/>
                <a:cs typeface="Arial" pitchFamily="34" charset="-120"/>
              </a:rPr>
              <a:t>Markierst du den Ort?</a:t>
            </a:r>
          </a:p>
        </p:txBody>
      </p:sp>
      <p:sp>
        <p:nvSpPr>
          <p:cNvPr id="9" name="Zeile 9"/>
          <p:cNvSpPr/>
          <p:nvPr/>
        </p:nvSpPr>
        <p:spPr>
          <a:xfrm>
            <a:off x="640080" y="3760000"/>
            <a:ext cx="6600000" cy="900000"/>
          </a:xfrm>
          <a:prstGeom prst="roundRect">
            <a:avLst>
              <a:gd name="adj" fmla="val 12000"/>
            </a:avLst>
          </a:prstGeom>
          <a:solidFill>
            <a:srgbClr val="D8EAF2"/>
          </a:solidFill>
          <a:ln w="12700">
            <a:solidFill>
              <a:srgbClr val="AAD1E3"/>
            </a:solidFill>
            <a:prstDash val="solid"/>
          </a:ln>
        </p:spPr>
      </p:sp>
      <p:sp>
        <p:nvSpPr>
          <p:cNvPr id="10" name="Kreis 10"/>
          <p:cNvSpPr/>
          <p:nvPr/>
        </p:nvSpPr>
        <p:spPr>
          <a:xfrm>
            <a:off x="770080" y="3895000"/>
            <a:ext cx="630000" cy="63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040" b="1" i="0" dirty="0">
                <a:solidFill>
                  <a:srgbClr val="00285A"/>
                </a:solidFill>
                <a:latin typeface="Arial" pitchFamily="34" charset="0"/>
                <a:ea typeface="Arial" pitchFamily="34" charset="-122"/>
                <a:cs typeface="Arial" pitchFamily="34" charset="-120"/>
              </a:rPr>
              <a:t>?</a:t>
            </a:r>
          </a:p>
        </p:txBody>
      </p:sp>
      <p:sp>
        <p:nvSpPr>
          <p:cNvPr id="11" name="Text 11"/>
          <p:cNvSpPr/>
          <p:nvPr/>
        </p:nvSpPr>
        <p:spPr>
          <a:xfrm>
            <a:off x="1580080" y="3760000"/>
            <a:ext cx="5460000" cy="9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300" b="1" i="0" dirty="0">
                <a:solidFill>
                  <a:srgbClr val="00285A"/>
                </a:solidFill>
                <a:latin typeface="Arial" pitchFamily="34" charset="0"/>
                <a:ea typeface="Arial" pitchFamily="34" charset="-122"/>
                <a:cs typeface="Arial" pitchFamily="34" charset="-120"/>
              </a:rPr>
              <a:t>Andere Personen: </a:t>
            </a:r>
            <a:r>
              <a:rPr lang="de-DE" sz="2300" b="0" i="0" dirty="0">
                <a:solidFill>
                  <a:srgbClr val="1A1A1A"/>
                </a:solidFill>
                <a:latin typeface="Arial" pitchFamily="34" charset="0"/>
                <a:ea typeface="Arial" pitchFamily="34" charset="-122"/>
                <a:cs typeface="Arial" pitchFamily="34" charset="-120"/>
              </a:rPr>
              <a:t>Hast du sie vorher gefragt?</a:t>
            </a:r>
          </a:p>
        </p:txBody>
      </p:sp>
      <p:sp>
        <p:nvSpPr>
          <p:cNvPr id="12" name="Zeile 12"/>
          <p:cNvSpPr/>
          <p:nvPr/>
        </p:nvSpPr>
        <p:spPr>
          <a:xfrm>
            <a:off x="640080" y="4840000"/>
            <a:ext cx="6600000" cy="900000"/>
          </a:xfrm>
          <a:prstGeom prst="roundRect">
            <a:avLst>
              <a:gd name="adj" fmla="val 12000"/>
            </a:avLst>
          </a:prstGeom>
          <a:solidFill>
            <a:srgbClr val="D8EAF2"/>
          </a:solidFill>
          <a:ln w="12700">
            <a:solidFill>
              <a:srgbClr val="AAD1E3"/>
            </a:solidFill>
            <a:prstDash val="solid"/>
          </a:ln>
        </p:spPr>
      </p:sp>
      <p:sp>
        <p:nvSpPr>
          <p:cNvPr id="13" name="Kreis 13"/>
          <p:cNvSpPr/>
          <p:nvPr/>
        </p:nvSpPr>
        <p:spPr>
          <a:xfrm>
            <a:off x="770080" y="4975000"/>
            <a:ext cx="630000" cy="63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040" b="1" i="0" dirty="0">
                <a:solidFill>
                  <a:srgbClr val="00285A"/>
                </a:solidFill>
                <a:latin typeface="Arial" pitchFamily="34" charset="0"/>
                <a:ea typeface="Arial" pitchFamily="34" charset="-122"/>
                <a:cs typeface="Arial" pitchFamily="34" charset="-120"/>
              </a:rPr>
              <a:t>?</a:t>
            </a:r>
          </a:p>
        </p:txBody>
      </p:sp>
      <p:sp>
        <p:nvSpPr>
          <p:cNvPr id="14" name="Text 14"/>
          <p:cNvSpPr/>
          <p:nvPr/>
        </p:nvSpPr>
        <p:spPr>
          <a:xfrm>
            <a:off x="1580080" y="4840000"/>
            <a:ext cx="5460000" cy="9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300" b="1" i="0" dirty="0">
                <a:solidFill>
                  <a:srgbClr val="00285A"/>
                </a:solidFill>
                <a:latin typeface="Arial" pitchFamily="34" charset="0"/>
                <a:ea typeface="Arial" pitchFamily="34" charset="-122"/>
                <a:cs typeface="Arial" pitchFamily="34" charset="-120"/>
              </a:rPr>
              <a:t>Private Daten: </a:t>
            </a:r>
            <a:r>
              <a:rPr lang="de-DE" sz="2300" b="0" i="0" dirty="0">
                <a:solidFill>
                  <a:srgbClr val="1A1A1A"/>
                </a:solidFill>
                <a:latin typeface="Arial" pitchFamily="34" charset="0"/>
                <a:ea typeface="Arial" pitchFamily="34" charset="-122"/>
                <a:cs typeface="Arial" pitchFamily="34" charset="-120"/>
              </a:rPr>
              <a:t>Sieht man Briefe oder eine Telefon-Nummer?</a:t>
            </a:r>
          </a:p>
        </p:txBody>
      </p:sp>
      <p:sp>
        <p:nvSpPr>
          <p:cNvPr id="15" name="Bild-Platzhalter 15"/>
          <p:cNvSpPr/>
          <p:nvPr/>
        </p:nvSpPr>
        <p:spPr>
          <a:xfrm>
            <a:off x="7550000" y="1600000"/>
            <a:ext cx="4000000" cy="4140000"/>
          </a:xfrm>
          <a:prstGeom prst="roundRect">
            <a:avLst>
              <a:gd name="adj" fmla="val 4000"/>
            </a:avLst>
          </a:prstGeom>
          <a:solidFill>
            <a:srgbClr val="F3F6F9"/>
          </a:solidFill>
          <a:ln w="19050">
            <a:solidFill>
              <a:srgbClr val="6B7A89"/>
            </a:solidFill>
            <a:prstDash val="dash"/>
          </a:ln>
        </p:spPr>
        <p:txBody>
          <a:bodyPr wrap="square" lIns="137160" tIns="137160" rIns="137160" bIns="137160" rtlCol="0" anchor="ctr">
            <a:noAutofit/>
          </a:bodyPr>
          <a:lstStyle/>
          <a:p>
            <a:pPr algn="ctr" indent="0" marL="0">
              <a:lnSpc>
                <a:spcPct val="100000"/>
              </a:lnSpc>
              <a:spcAft>
                <a:spcPts val="0"/>
              </a:spcAft>
              <a:buNone/>
            </a:pPr>
            <a:r>
              <a:rPr lang="de-DE" sz="1600" b="0" i="1" dirty="0">
                <a:solidFill>
                  <a:srgbClr val="48586A"/>
                </a:solidFill>
                <a:latin typeface="Arial" pitchFamily="34" charset="0"/>
                <a:ea typeface="Arial" pitchFamily="34" charset="-122"/>
                <a:cs typeface="Arial" pitchFamily="34" charset="-120"/>
              </a:rPr>
              <a:t>[BILD: Dasselbe Foto wie beim Foto-Detektiv. Adresse und Straßen-Schild sind markiert.]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Merksatz: Erst prüfen. Dann teilen.">
    <p:bg>
      <p:bgPr>
        <a:solidFill>
          <a:srgbClr val="D8EAF2"/>
        </a:solidFill>
        <a:effectLst/>
      </p:bgPr>
    </p:bg>
    <p:spTree>
      <p:nvGrpSpPr>
        <p:cNvPr id="1" name=""/>
        <p:cNvGrpSpPr/>
        <p:nvPr/>
      </p:nvGrpSpPr>
      <p:grpSpPr>
        <a:xfrm>
          <a:off x="0" y="0"/>
          <a:ext cx="0" cy="0"/>
          <a:chOff x="0" y="0"/>
          <a:chExt cx="0" cy="0"/>
        </a:xfrm>
      </p:grpSpPr>
      <p:sp>
        <p:nvSpPr>
          <p:cNvPr id="2" name="Text 2"/>
          <p:cNvSpPr/>
          <p:nvPr/>
        </p:nvSpPr>
        <p:spPr>
          <a:xfrm>
            <a:off x="640080" y="500000"/>
            <a:ext cx="10911840" cy="8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3200" b="1" i="0" dirty="0">
                <a:solidFill>
                  <a:srgbClr val="00285A"/>
                </a:solidFill>
                <a:latin typeface="Arial" pitchFamily="34" charset="0"/>
                <a:ea typeface="Arial" pitchFamily="34" charset="-122"/>
                <a:cs typeface="Arial" pitchFamily="34" charset="-120"/>
              </a:rPr>
              <a:t>Merksatz</a:t>
            </a:r>
          </a:p>
        </p:txBody>
      </p:sp>
      <p:sp>
        <p:nvSpPr>
          <p:cNvPr id="3" name="Text 3"/>
          <p:cNvSpPr/>
          <p:nvPr/>
        </p:nvSpPr>
        <p:spPr>
          <a:xfrm>
            <a:off x="640080" y="1500000"/>
            <a:ext cx="6500000" cy="4600000"/>
          </a:xfrm>
          <a:prstGeom prst="roundRect">
            <a:avLst>
              <a:gd name="adj" fmla="val 5000"/>
            </a:avLst>
          </a:prstGeom>
          <a:solidFill>
            <a:srgbClr val="FFFFFF"/>
          </a:solidFill>
          <a:ln>
            <a:noFill/>
          </a:ln>
          <a:effectLst>
            <a:outerShdw sx="100000" sy="100000" kx="0" ky="0" algn="bl" rotWithShape="0" blurRad="88900" dist="25400" dir="5400000">
              <a:srgbClr val="000000">
                <a:alpha val="14000"/>
              </a:srgbClr>
            </a:outerShdw>
          </a:effectLst>
        </p:spPr>
      </p:sp>
      <p:sp>
        <p:nvSpPr>
          <p:cNvPr id="4" name="Text 4"/>
          <p:cNvSpPr/>
          <p:nvPr/>
        </p:nvSpPr>
        <p:spPr>
          <a:xfrm>
            <a:off x="1040080" y="1700000"/>
            <a:ext cx="5700000" cy="4200000"/>
          </a:xfrm>
          <a:prstGeom prst="rect">
            <a:avLst/>
          </a:prstGeom>
          <a:noFill/>
          <a:ln>
            <a:noFill/>
          </a:ln>
        </p:spPr>
        <p:txBody>
          <a:bodyPr wrap="square" lIns="0" tIns="0" rIns="0" bIns="0" rtlCol="0" anchor="ctr">
            <a:noAutofit/>
          </a:bodyPr>
          <a:lstStyle/>
          <a:p>
            <a:pPr algn="l" indent="0" marL="0">
              <a:lnSpc>
                <a:spcPct val="100000"/>
              </a:lnSpc>
              <a:spcAft>
                <a:spcPts val="300"/>
              </a:spcAft>
              <a:buNone/>
            </a:pPr>
            <a:r>
              <a:rPr lang="de-DE" sz="4400" b="1" i="0" dirty="0">
                <a:solidFill>
                  <a:srgbClr val="00285A"/>
                </a:solidFill>
                <a:latin typeface="Arial" pitchFamily="34" charset="0"/>
                <a:ea typeface="Arial" pitchFamily="34" charset="-122"/>
                <a:cs typeface="Arial" pitchFamily="34" charset="-120"/>
              </a:rPr>
              <a:t>Erst prüfen.</a:t>
            </a:r>
          </a:p>
          <a:p>
            <a:pPr algn="l" indent="0" marL="0">
              <a:lnSpc>
                <a:spcPct val="100000"/>
              </a:lnSpc>
              <a:spcAft>
                <a:spcPts val="1800"/>
              </a:spcAft>
              <a:buNone/>
            </a:pPr>
            <a:r>
              <a:rPr lang="de-DE" sz="4400" b="1" i="0" dirty="0">
                <a:solidFill>
                  <a:srgbClr val="00285A"/>
                </a:solidFill>
                <a:latin typeface="Arial" pitchFamily="34" charset="0"/>
                <a:ea typeface="Arial" pitchFamily="34" charset="-122"/>
                <a:cs typeface="Arial" pitchFamily="34" charset="-120"/>
              </a:rPr>
              <a:t>Dann teilen.</a:t>
            </a:r>
          </a:p>
          <a:p>
            <a:pPr algn="l" indent="0" marL="0">
              <a:lnSpc>
                <a:spcPct val="100000"/>
              </a:lnSpc>
              <a:spcAft>
                <a:spcPts val="300"/>
              </a:spcAft>
              <a:buNone/>
            </a:pPr>
            <a:r>
              <a:rPr lang="de-DE" sz="2400" b="0" i="0" dirty="0">
                <a:solidFill>
                  <a:srgbClr val="1A1A1A"/>
                </a:solidFill>
                <a:latin typeface="Arial" pitchFamily="34" charset="0"/>
                <a:ea typeface="Arial" pitchFamily="34" charset="-122"/>
                <a:cs typeface="Arial" pitchFamily="34" charset="-120"/>
              </a:rPr>
              <a:t>Frag dich:</a:t>
            </a:r>
          </a:p>
          <a:p>
            <a:pPr algn="l" indent="0" marL="0">
              <a:lnSpc>
                <a:spcPct val="100000"/>
              </a:lnSpc>
              <a:spcAft>
                <a:spcPts val="0"/>
              </a:spcAft>
              <a:buNone/>
            </a:pPr>
            <a:r>
              <a:rPr lang="de-DE" sz="2400" b="1" i="0" dirty="0">
                <a:solidFill>
                  <a:srgbClr val="1A1A1A"/>
                </a:solidFill>
                <a:latin typeface="Arial" pitchFamily="34" charset="0"/>
                <a:ea typeface="Arial" pitchFamily="34" charset="-122"/>
                <a:cs typeface="Arial" pitchFamily="34" charset="-120"/>
              </a:rPr>
              <a:t>Ist das okay – für mich und für die anderen?</a:t>
            </a:r>
          </a:p>
        </p:txBody>
      </p:sp>
      <p:sp>
        <p:nvSpPr>
          <p:cNvPr id="5" name="Bild-Platzhalter 5"/>
          <p:cNvSpPr/>
          <p:nvPr/>
        </p:nvSpPr>
        <p:spPr>
          <a:xfrm>
            <a:off x="7450000" y="1500000"/>
            <a:ext cx="4100000" cy="4600000"/>
          </a:xfrm>
          <a:prstGeom prst="roundRect">
            <a:avLst>
              <a:gd name="adj" fmla="val 4000"/>
            </a:avLst>
          </a:prstGeom>
          <a:solidFill>
            <a:srgbClr val="F3F6F9"/>
          </a:solidFill>
          <a:ln w="19050">
            <a:solidFill>
              <a:srgbClr val="6B7A89"/>
            </a:solidFill>
            <a:prstDash val="dash"/>
          </a:ln>
        </p:spPr>
        <p:txBody>
          <a:bodyPr wrap="square" lIns="137160" tIns="137160" rIns="137160" bIns="137160" rtlCol="0" anchor="ctr">
            <a:noAutofit/>
          </a:bodyPr>
          <a:lstStyle/>
          <a:p>
            <a:pPr algn="ctr" indent="0" marL="0">
              <a:lnSpc>
                <a:spcPct val="100000"/>
              </a:lnSpc>
              <a:spcAft>
                <a:spcPts val="0"/>
              </a:spcAft>
              <a:buNone/>
            </a:pPr>
            <a:r>
              <a:rPr lang="de-DE" sz="1600" b="0" i="1" dirty="0">
                <a:solidFill>
                  <a:srgbClr val="48586A"/>
                </a:solidFill>
                <a:latin typeface="Arial" pitchFamily="34" charset="0"/>
                <a:ea typeface="Arial" pitchFamily="34" charset="-122"/>
                <a:cs typeface="Arial" pitchFamily="34" charset="-120"/>
              </a:rPr>
              <a:t>[BILD: Eine Person schaut noch einmal auf ihr Foto. Erst dann teilt sie 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Thema 3: Fremde wollen etwas">
    <p:bg>
      <p:bgPr>
        <a:solidFill>
          <a:srgbClr val="00285A"/>
        </a:solidFill>
        <a:effectLst/>
      </p:bgPr>
    </p:bg>
    <p:spTree>
      <p:nvGrpSpPr>
        <p:cNvPr id="1" name=""/>
        <p:cNvGrpSpPr/>
        <p:nvPr/>
      </p:nvGrpSpPr>
      <p:grpSpPr>
        <a:xfrm>
          <a:off x="0" y="0"/>
          <a:ext cx="0" cy="0"/>
          <a:chOff x="0" y="0"/>
          <a:chExt cx="0" cy="0"/>
        </a:xfrm>
      </p:grpSpPr>
      <p:sp>
        <p:nvSpPr>
          <p:cNvPr id="2" name="Text 2"/>
          <p:cNvSpPr/>
          <p:nvPr/>
        </p:nvSpPr>
        <p:spPr>
          <a:xfrm>
            <a:off x="640080" y="1737360"/>
            <a:ext cx="2743200" cy="3108960"/>
          </a:xfrm>
          <a:prstGeom prst="rect">
            <a:avLst/>
          </a:prstGeom>
          <a:noFill/>
          <a:ln>
            <a:noFill/>
          </a:ln>
        </p:spPr>
        <p:txBody>
          <a:bodyPr wrap="square" lIns="0" tIns="0" rIns="0" bIns="0" rtlCol="0" anchor="ctr">
            <a:noAutofit/>
          </a:bodyPr>
          <a:lstStyle/>
          <a:p>
            <a:pPr algn="ctr" indent="0" marL="0">
              <a:lnSpc>
                <a:spcPct val="100000"/>
              </a:lnSpc>
              <a:spcAft>
                <a:spcPts val="0"/>
              </a:spcAft>
              <a:buNone/>
            </a:pPr>
            <a:r>
              <a:rPr lang="de-DE" sz="20000" b="1" i="0" dirty="0">
                <a:solidFill>
                  <a:srgbClr val="57A3C7"/>
                </a:solidFill>
                <a:latin typeface="Arial" pitchFamily="34" charset="0"/>
                <a:ea typeface="Arial" pitchFamily="34" charset="-122"/>
                <a:cs typeface="Arial" pitchFamily="34" charset="-120"/>
              </a:rPr>
              <a:t>3</a:t>
            </a:r>
          </a:p>
        </p:txBody>
      </p:sp>
      <p:sp>
        <p:nvSpPr>
          <p:cNvPr id="3" name="Text 3"/>
          <p:cNvSpPr/>
          <p:nvPr/>
        </p:nvSpPr>
        <p:spPr>
          <a:xfrm>
            <a:off x="3657600" y="2148840"/>
            <a:ext cx="7680960" cy="731520"/>
          </a:xfrm>
          <a:prstGeom prst="rect">
            <a:avLst/>
          </a:prstGeom>
          <a:noFill/>
          <a:ln>
            <a:noFill/>
          </a:ln>
        </p:spPr>
        <p:txBody>
          <a:bodyPr wrap="square" lIns="0" tIns="0" rIns="0" bIns="0" rtlCol="0" anchor="b">
            <a:noAutofit/>
          </a:bodyPr>
          <a:lstStyle/>
          <a:p>
            <a:pPr algn="l" indent="0" marL="0">
              <a:lnSpc>
                <a:spcPct val="100000"/>
              </a:lnSpc>
              <a:spcAft>
                <a:spcPts val="0"/>
              </a:spcAft>
              <a:buNone/>
            </a:pPr>
            <a:r>
              <a:rPr lang="de-DE" sz="2600" b="1" i="0" dirty="0">
                <a:solidFill>
                  <a:srgbClr val="AAD1E3"/>
                </a:solidFill>
                <a:latin typeface="Arial" pitchFamily="34" charset="0"/>
                <a:ea typeface="Arial" pitchFamily="34" charset="-122"/>
                <a:cs typeface="Arial" pitchFamily="34" charset="-120"/>
              </a:rPr>
              <a:t>Thema 3</a:t>
            </a:r>
          </a:p>
        </p:txBody>
      </p:sp>
      <p:sp>
        <p:nvSpPr>
          <p:cNvPr id="4" name="Text 4"/>
          <p:cNvSpPr/>
          <p:nvPr/>
        </p:nvSpPr>
        <p:spPr>
          <a:xfrm>
            <a:off x="3657600" y="2880000"/>
            <a:ext cx="7680960" cy="1900000"/>
          </a:xfrm>
          <a:prstGeom prst="rect">
            <a:avLst/>
          </a:prstGeom>
          <a:noFill/>
          <a:ln>
            <a:noFill/>
          </a:ln>
        </p:spPr>
        <p:txBody>
          <a:bodyPr wrap="square" lIns="0" tIns="0" rIns="0" bIns="0" rtlCol="0" anchor="t">
            <a:noAutofit/>
          </a:bodyPr>
          <a:lstStyle/>
          <a:p>
            <a:pPr algn="l" indent="0" marL="0">
              <a:lnSpc>
                <a:spcPct val="100000"/>
              </a:lnSpc>
              <a:spcAft>
                <a:spcPts val="0"/>
              </a:spcAft>
              <a:buNone/>
            </a:pPr>
            <a:r>
              <a:rPr lang="de-DE" sz="4400" b="1" i="0" dirty="0">
                <a:solidFill>
                  <a:srgbClr val="FFFFFF"/>
                </a:solidFill>
                <a:latin typeface="Arial" pitchFamily="34" charset="0"/>
                <a:ea typeface="Arial" pitchFamily="34" charset="-122"/>
                <a:cs typeface="Arial" pitchFamily="34" charset="-120"/>
              </a:rPr>
              <a:t>Fremde wollen etwas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Vorsicht bei Fake-Profilen">
    <p:spTree>
      <p:nvGrpSpPr>
        <p:cNvPr id="1" name=""/>
        <p:cNvGrpSpPr/>
        <p:nvPr/>
      </p:nvGrpSpPr>
      <p:grpSpPr>
        <a:xfrm>
          <a:off x="0" y="0"/>
          <a:ext cx="0" cy="0"/>
          <a:chOff x="0" y="0"/>
          <a:chExt cx="0" cy="0"/>
        </a:xfrm>
      </p:grpSpPr>
      <p:sp>
        <p:nvSpPr>
          <p:cNvPr id="2" name="Titel 2"/>
          <p:cNvSpPr/>
          <p:nvPr/>
        </p:nvSpPr>
        <p:spPr>
          <a:xfrm>
            <a:off x="640080" y="400000"/>
            <a:ext cx="10911840" cy="10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3400" b="1" i="0" dirty="0">
                <a:solidFill>
                  <a:srgbClr val="00285A"/>
                </a:solidFill>
                <a:latin typeface="Arial" pitchFamily="34" charset="0"/>
                <a:ea typeface="Arial" pitchFamily="34" charset="-122"/>
                <a:cs typeface="Arial" pitchFamily="34" charset="-120"/>
              </a:rPr>
              <a:t>Vorsicht bei Fake-Profilen</a:t>
            </a:r>
          </a:p>
        </p:txBody>
      </p:sp>
      <p:sp>
        <p:nvSpPr>
          <p:cNvPr id="3" name="Text 3"/>
          <p:cNvSpPr/>
          <p:nvPr/>
        </p:nvSpPr>
        <p:spPr>
          <a:xfrm>
            <a:off x="640080" y="1700000"/>
            <a:ext cx="6300000" cy="4400000"/>
          </a:xfrm>
          <a:prstGeom prst="rect">
            <a:avLst/>
          </a:prstGeom>
          <a:noFill/>
          <a:ln>
            <a:noFill/>
          </a:ln>
        </p:spPr>
        <p:txBody>
          <a:bodyPr wrap="square" lIns="0" tIns="0" rIns="0" bIns="0" rtlCol="0" anchor="t">
            <a:noAutofit/>
          </a:bodyPr>
          <a:lstStyle/>
          <a:p>
            <a:pPr algn="l" indent="0" marL="0">
              <a:lnSpc>
                <a:spcPct val="100000"/>
              </a:lnSpc>
              <a:spcAft>
                <a:spcPts val="1300"/>
              </a:spcAft>
              <a:buNone/>
            </a:pPr>
            <a:r>
              <a:rPr lang="de-DE" sz="2500" b="0" i="0" dirty="0">
                <a:solidFill>
                  <a:srgbClr val="1A1A1A"/>
                </a:solidFill>
                <a:latin typeface="Arial" pitchFamily="34" charset="0"/>
                <a:ea typeface="Arial" pitchFamily="34" charset="-122"/>
                <a:cs typeface="Arial" pitchFamily="34" charset="-120"/>
              </a:rPr>
              <a:t>Manche Profile sind nicht echt.</a:t>
            </a:r>
          </a:p>
          <a:p>
            <a:pPr algn="l" indent="0" marL="0">
              <a:lnSpc>
                <a:spcPct val="100000"/>
              </a:lnSpc>
              <a:spcAft>
                <a:spcPts val="1300"/>
              </a:spcAft>
              <a:buNone/>
            </a:pPr>
            <a:r>
              <a:rPr lang="de-DE" sz="2500" b="0" i="0" dirty="0">
                <a:solidFill>
                  <a:srgbClr val="1A1A1A"/>
                </a:solidFill>
                <a:latin typeface="Arial" pitchFamily="34" charset="0"/>
                <a:ea typeface="Arial" pitchFamily="34" charset="-122"/>
                <a:cs typeface="Arial" pitchFamily="34" charset="-120"/>
              </a:rPr>
              <a:t>Das heißt: Fake-Profil.</a:t>
            </a:r>
          </a:p>
          <a:p>
            <a:pPr algn="l" indent="0" marL="0">
              <a:lnSpc>
                <a:spcPct val="100000"/>
              </a:lnSpc>
              <a:spcAft>
                <a:spcPts val="1300"/>
              </a:spcAft>
              <a:buNone/>
            </a:pPr>
            <a:r>
              <a:rPr lang="de-DE" sz="2500" b="1" i="0" dirty="0">
                <a:solidFill>
                  <a:srgbClr val="1A1A1A"/>
                </a:solidFill>
                <a:latin typeface="Arial" pitchFamily="34" charset="0"/>
                <a:ea typeface="Arial" pitchFamily="34" charset="-122"/>
                <a:cs typeface="Arial" pitchFamily="34" charset="-120"/>
              </a:rPr>
              <a:t>Ein schönes Profil-Bild ist kein Beweis.</a:t>
            </a:r>
          </a:p>
          <a:p>
            <a:pPr algn="l" indent="0" marL="0">
              <a:lnSpc>
                <a:spcPct val="100000"/>
              </a:lnSpc>
              <a:spcAft>
                <a:spcPts val="1300"/>
              </a:spcAft>
              <a:buNone/>
            </a:pPr>
            <a:r>
              <a:rPr lang="de-DE" sz="2500" b="0" i="0" dirty="0">
                <a:solidFill>
                  <a:srgbClr val="1A1A1A"/>
                </a:solidFill>
                <a:latin typeface="Arial" pitchFamily="34" charset="0"/>
                <a:ea typeface="Arial" pitchFamily="34" charset="-122"/>
                <a:cs typeface="Arial" pitchFamily="34" charset="-120"/>
              </a:rPr>
              <a:t>Kennst du die Person? Nur dann nimmst du sie an.</a:t>
            </a:r>
          </a:p>
        </p:txBody>
      </p:sp>
      <p:sp>
        <p:nvSpPr>
          <p:cNvPr id="4" name="Bild-Platzhalter 4"/>
          <p:cNvSpPr/>
          <p:nvPr/>
        </p:nvSpPr>
        <p:spPr>
          <a:xfrm>
            <a:off x="7250000" y="1700000"/>
            <a:ext cx="4300000" cy="4300000"/>
          </a:xfrm>
          <a:prstGeom prst="roundRect">
            <a:avLst>
              <a:gd name="adj" fmla="val 4000"/>
            </a:avLst>
          </a:prstGeom>
          <a:solidFill>
            <a:srgbClr val="F3F6F9"/>
          </a:solidFill>
          <a:ln w="19050">
            <a:solidFill>
              <a:srgbClr val="6B7A89"/>
            </a:solidFill>
            <a:prstDash val="dash"/>
          </a:ln>
        </p:spPr>
        <p:txBody>
          <a:bodyPr wrap="square" lIns="137160" tIns="137160" rIns="137160" bIns="137160" rtlCol="0" anchor="ctr">
            <a:noAutofit/>
          </a:bodyPr>
          <a:lstStyle/>
          <a:p>
            <a:pPr algn="ctr" indent="0" marL="0">
              <a:lnSpc>
                <a:spcPct val="100000"/>
              </a:lnSpc>
              <a:spcAft>
                <a:spcPts val="0"/>
              </a:spcAft>
              <a:buNone/>
            </a:pPr>
            <a:r>
              <a:rPr lang="de-DE" sz="1600" b="0" i="1" dirty="0">
                <a:solidFill>
                  <a:srgbClr val="48586A"/>
                </a:solidFill>
                <a:latin typeface="Arial" pitchFamily="34" charset="0"/>
                <a:ea typeface="Arial" pitchFamily="34" charset="-122"/>
                <a:cs typeface="Arial" pitchFamily="34" charset="-120"/>
              </a:rPr>
              <a:t>[BILD: Zwei Profile nebeneinander. Ein Profil nutzt das Foto von einer anderen Person.]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Warnzeichen">
    <p:spTree>
      <p:nvGrpSpPr>
        <p:cNvPr id="1" name=""/>
        <p:cNvGrpSpPr/>
        <p:nvPr/>
      </p:nvGrpSpPr>
      <p:grpSpPr>
        <a:xfrm>
          <a:off x="0" y="0"/>
          <a:ext cx="0" cy="0"/>
          <a:chOff x="0" y="0"/>
          <a:chExt cx="0" cy="0"/>
        </a:xfrm>
      </p:grpSpPr>
      <p:sp>
        <p:nvSpPr>
          <p:cNvPr id="2" name="Titel 2"/>
          <p:cNvSpPr/>
          <p:nvPr/>
        </p:nvSpPr>
        <p:spPr>
          <a:xfrm>
            <a:off x="640080" y="400000"/>
            <a:ext cx="10911840" cy="10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3400" b="1" i="0" dirty="0">
                <a:solidFill>
                  <a:srgbClr val="00285A"/>
                </a:solidFill>
                <a:latin typeface="Arial" pitchFamily="34" charset="0"/>
                <a:ea typeface="Arial" pitchFamily="34" charset="-122"/>
                <a:cs typeface="Arial" pitchFamily="34" charset="-120"/>
              </a:rPr>
              <a:t>Warnzeichen</a:t>
            </a:r>
          </a:p>
        </p:txBody>
      </p:sp>
      <p:sp>
        <p:nvSpPr>
          <p:cNvPr id="3" name="Text 3"/>
          <p:cNvSpPr/>
          <p:nvPr/>
        </p:nvSpPr>
        <p:spPr>
          <a:xfrm>
            <a:off x="640080" y="1450000"/>
            <a:ext cx="10911840" cy="7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400" b="1" i="0" dirty="0">
                <a:solidFill>
                  <a:srgbClr val="00285A"/>
                </a:solidFill>
                <a:latin typeface="Arial" pitchFamily="34" charset="0"/>
                <a:ea typeface="Arial" pitchFamily="34" charset="-122"/>
                <a:cs typeface="Arial" pitchFamily="34" charset="-120"/>
              </a:rPr>
              <a:t>Eine fremde Person schreibt dir. Pass auf bei diesen Zeichen:</a:t>
            </a:r>
          </a:p>
        </p:txBody>
      </p:sp>
      <p:sp>
        <p:nvSpPr>
          <p:cNvPr id="4" name="Zeile 4"/>
          <p:cNvSpPr/>
          <p:nvPr/>
        </p:nvSpPr>
        <p:spPr>
          <a:xfrm>
            <a:off x="640080" y="2250000"/>
            <a:ext cx="10911840" cy="720000"/>
          </a:xfrm>
          <a:prstGeom prst="roundRect">
            <a:avLst>
              <a:gd name="adj" fmla="val 12000"/>
            </a:avLst>
          </a:prstGeom>
          <a:solidFill>
            <a:srgbClr val="D8EAF2"/>
          </a:solidFill>
          <a:ln w="12700">
            <a:solidFill>
              <a:srgbClr val="AAD1E3"/>
            </a:solidFill>
            <a:prstDash val="solid"/>
          </a:ln>
        </p:spPr>
      </p:sp>
      <p:sp>
        <p:nvSpPr>
          <p:cNvPr id="5" name="Kreis 5"/>
          <p:cNvSpPr/>
          <p:nvPr/>
        </p:nvSpPr>
        <p:spPr>
          <a:xfrm>
            <a:off x="770080" y="2358000"/>
            <a:ext cx="503999" cy="503999"/>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040" b="1" i="0" dirty="0">
                <a:solidFill>
                  <a:srgbClr val="00285A"/>
                </a:solidFill>
                <a:latin typeface="Arial" pitchFamily="34" charset="0"/>
                <a:ea typeface="Arial" pitchFamily="34" charset="-122"/>
                <a:cs typeface="Arial" pitchFamily="34" charset="-120"/>
              </a:rPr>
              <a:t>!</a:t>
            </a:r>
          </a:p>
        </p:txBody>
      </p:sp>
      <p:sp>
        <p:nvSpPr>
          <p:cNvPr id="6" name="Text 6"/>
          <p:cNvSpPr/>
          <p:nvPr/>
        </p:nvSpPr>
        <p:spPr>
          <a:xfrm>
            <a:off x="1454079" y="2250000"/>
            <a:ext cx="9897841" cy="72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400" b="0" i="0" dirty="0">
                <a:solidFill>
                  <a:srgbClr val="1A1A1A"/>
                </a:solidFill>
                <a:latin typeface="Arial" pitchFamily="34" charset="0"/>
                <a:ea typeface="Arial" pitchFamily="34" charset="-122"/>
                <a:cs typeface="Arial" pitchFamily="34" charset="-120"/>
              </a:rPr>
              <a:t>Sie will private Fotos.</a:t>
            </a:r>
          </a:p>
        </p:txBody>
      </p:sp>
      <p:sp>
        <p:nvSpPr>
          <p:cNvPr id="7" name="Zeile 7"/>
          <p:cNvSpPr/>
          <p:nvPr/>
        </p:nvSpPr>
        <p:spPr>
          <a:xfrm>
            <a:off x="640080" y="3070000"/>
            <a:ext cx="10911840" cy="720000"/>
          </a:xfrm>
          <a:prstGeom prst="roundRect">
            <a:avLst>
              <a:gd name="adj" fmla="val 12000"/>
            </a:avLst>
          </a:prstGeom>
          <a:solidFill>
            <a:srgbClr val="D8EAF2"/>
          </a:solidFill>
          <a:ln w="12700">
            <a:solidFill>
              <a:srgbClr val="AAD1E3"/>
            </a:solidFill>
            <a:prstDash val="solid"/>
          </a:ln>
        </p:spPr>
      </p:sp>
      <p:sp>
        <p:nvSpPr>
          <p:cNvPr id="8" name="Kreis 8"/>
          <p:cNvSpPr/>
          <p:nvPr/>
        </p:nvSpPr>
        <p:spPr>
          <a:xfrm>
            <a:off x="770080" y="3178000"/>
            <a:ext cx="503999" cy="503999"/>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040" b="1" i="0" dirty="0">
                <a:solidFill>
                  <a:srgbClr val="00285A"/>
                </a:solidFill>
                <a:latin typeface="Arial" pitchFamily="34" charset="0"/>
                <a:ea typeface="Arial" pitchFamily="34" charset="-122"/>
                <a:cs typeface="Arial" pitchFamily="34" charset="-120"/>
              </a:rPr>
              <a:t>!</a:t>
            </a:r>
          </a:p>
        </p:txBody>
      </p:sp>
      <p:sp>
        <p:nvSpPr>
          <p:cNvPr id="9" name="Text 9"/>
          <p:cNvSpPr/>
          <p:nvPr/>
        </p:nvSpPr>
        <p:spPr>
          <a:xfrm>
            <a:off x="1454079" y="3070000"/>
            <a:ext cx="9897841" cy="72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400" b="0" i="0" dirty="0">
                <a:solidFill>
                  <a:srgbClr val="1A1A1A"/>
                </a:solidFill>
                <a:latin typeface="Arial" pitchFamily="34" charset="0"/>
                <a:ea typeface="Arial" pitchFamily="34" charset="-122"/>
                <a:cs typeface="Arial" pitchFamily="34" charset="-120"/>
              </a:rPr>
              <a:t>Sie will Geld.</a:t>
            </a:r>
          </a:p>
        </p:txBody>
      </p:sp>
      <p:sp>
        <p:nvSpPr>
          <p:cNvPr id="10" name="Zeile 10"/>
          <p:cNvSpPr/>
          <p:nvPr/>
        </p:nvSpPr>
        <p:spPr>
          <a:xfrm>
            <a:off x="640080" y="3890000"/>
            <a:ext cx="10911840" cy="720000"/>
          </a:xfrm>
          <a:prstGeom prst="roundRect">
            <a:avLst>
              <a:gd name="adj" fmla="val 12000"/>
            </a:avLst>
          </a:prstGeom>
          <a:solidFill>
            <a:srgbClr val="D8EAF2"/>
          </a:solidFill>
          <a:ln w="12700">
            <a:solidFill>
              <a:srgbClr val="AAD1E3"/>
            </a:solidFill>
            <a:prstDash val="solid"/>
          </a:ln>
        </p:spPr>
      </p:sp>
      <p:sp>
        <p:nvSpPr>
          <p:cNvPr id="11" name="Kreis 11"/>
          <p:cNvSpPr/>
          <p:nvPr/>
        </p:nvSpPr>
        <p:spPr>
          <a:xfrm>
            <a:off x="770080" y="3998000"/>
            <a:ext cx="503999" cy="503999"/>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040" b="1" i="0" dirty="0">
                <a:solidFill>
                  <a:srgbClr val="00285A"/>
                </a:solidFill>
                <a:latin typeface="Arial" pitchFamily="34" charset="0"/>
                <a:ea typeface="Arial" pitchFamily="34" charset="-122"/>
                <a:cs typeface="Arial" pitchFamily="34" charset="-120"/>
              </a:rPr>
              <a:t>!</a:t>
            </a:r>
          </a:p>
        </p:txBody>
      </p:sp>
      <p:sp>
        <p:nvSpPr>
          <p:cNvPr id="12" name="Text 12"/>
          <p:cNvSpPr/>
          <p:nvPr/>
        </p:nvSpPr>
        <p:spPr>
          <a:xfrm>
            <a:off x="1454079" y="3890000"/>
            <a:ext cx="9897841" cy="72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400" b="0" i="0" dirty="0">
                <a:solidFill>
                  <a:srgbClr val="1A1A1A"/>
                </a:solidFill>
                <a:latin typeface="Arial" pitchFamily="34" charset="0"/>
                <a:ea typeface="Arial" pitchFamily="34" charset="-122"/>
                <a:cs typeface="Arial" pitchFamily="34" charset="-120"/>
              </a:rPr>
              <a:t>Sie will einen Code oder dein Passwort.</a:t>
            </a:r>
          </a:p>
        </p:txBody>
      </p:sp>
      <p:sp>
        <p:nvSpPr>
          <p:cNvPr id="13" name="Zeile 13"/>
          <p:cNvSpPr/>
          <p:nvPr/>
        </p:nvSpPr>
        <p:spPr>
          <a:xfrm>
            <a:off x="640080" y="4710000"/>
            <a:ext cx="10911840" cy="720000"/>
          </a:xfrm>
          <a:prstGeom prst="roundRect">
            <a:avLst>
              <a:gd name="adj" fmla="val 12000"/>
            </a:avLst>
          </a:prstGeom>
          <a:solidFill>
            <a:srgbClr val="D8EAF2"/>
          </a:solidFill>
          <a:ln w="12700">
            <a:solidFill>
              <a:srgbClr val="AAD1E3"/>
            </a:solidFill>
            <a:prstDash val="solid"/>
          </a:ln>
        </p:spPr>
      </p:sp>
      <p:sp>
        <p:nvSpPr>
          <p:cNvPr id="14" name="Kreis 14"/>
          <p:cNvSpPr/>
          <p:nvPr/>
        </p:nvSpPr>
        <p:spPr>
          <a:xfrm>
            <a:off x="770080" y="4818000"/>
            <a:ext cx="503999" cy="503999"/>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040" b="1" i="0" dirty="0">
                <a:solidFill>
                  <a:srgbClr val="00285A"/>
                </a:solidFill>
                <a:latin typeface="Arial" pitchFamily="34" charset="0"/>
                <a:ea typeface="Arial" pitchFamily="34" charset="-122"/>
                <a:cs typeface="Arial" pitchFamily="34" charset="-120"/>
              </a:rPr>
              <a:t>!</a:t>
            </a:r>
          </a:p>
        </p:txBody>
      </p:sp>
      <p:sp>
        <p:nvSpPr>
          <p:cNvPr id="15" name="Text 15"/>
          <p:cNvSpPr/>
          <p:nvPr/>
        </p:nvSpPr>
        <p:spPr>
          <a:xfrm>
            <a:off x="1454079" y="4710000"/>
            <a:ext cx="9897841" cy="72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400" b="0" i="0" dirty="0">
                <a:solidFill>
                  <a:srgbClr val="1A1A1A"/>
                </a:solidFill>
                <a:latin typeface="Arial" pitchFamily="34" charset="0"/>
                <a:ea typeface="Arial" pitchFamily="34" charset="-122"/>
                <a:cs typeface="Arial" pitchFamily="34" charset="-120"/>
              </a:rPr>
              <a:t>Sie schickt dir einen Link.</a:t>
            </a:r>
          </a:p>
        </p:txBody>
      </p:sp>
      <p:sp>
        <p:nvSpPr>
          <p:cNvPr id="16" name="Zeile 16"/>
          <p:cNvSpPr/>
          <p:nvPr/>
        </p:nvSpPr>
        <p:spPr>
          <a:xfrm>
            <a:off x="640080" y="5530000"/>
            <a:ext cx="10911840" cy="720000"/>
          </a:xfrm>
          <a:prstGeom prst="roundRect">
            <a:avLst>
              <a:gd name="adj" fmla="val 12000"/>
            </a:avLst>
          </a:prstGeom>
          <a:solidFill>
            <a:srgbClr val="D8EAF2"/>
          </a:solidFill>
          <a:ln w="12700">
            <a:solidFill>
              <a:srgbClr val="AAD1E3"/>
            </a:solidFill>
            <a:prstDash val="solid"/>
          </a:ln>
        </p:spPr>
      </p:sp>
      <p:sp>
        <p:nvSpPr>
          <p:cNvPr id="17" name="Kreis 17"/>
          <p:cNvSpPr/>
          <p:nvPr/>
        </p:nvSpPr>
        <p:spPr>
          <a:xfrm>
            <a:off x="770080" y="5638000"/>
            <a:ext cx="503999" cy="503999"/>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040" b="1" i="0" dirty="0">
                <a:solidFill>
                  <a:srgbClr val="00285A"/>
                </a:solidFill>
                <a:latin typeface="Arial" pitchFamily="34" charset="0"/>
                <a:ea typeface="Arial" pitchFamily="34" charset="-122"/>
                <a:cs typeface="Arial" pitchFamily="34" charset="-120"/>
              </a:rPr>
              <a:t>!</a:t>
            </a:r>
          </a:p>
        </p:txBody>
      </p:sp>
      <p:sp>
        <p:nvSpPr>
          <p:cNvPr id="18" name="Text 18"/>
          <p:cNvSpPr/>
          <p:nvPr/>
        </p:nvSpPr>
        <p:spPr>
          <a:xfrm>
            <a:off x="1454079" y="5530000"/>
            <a:ext cx="9897841" cy="72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400" b="0" i="0" dirty="0">
                <a:solidFill>
                  <a:srgbClr val="1A1A1A"/>
                </a:solidFill>
                <a:latin typeface="Arial" pitchFamily="34" charset="0"/>
                <a:ea typeface="Arial" pitchFamily="34" charset="-122"/>
                <a:cs typeface="Arial" pitchFamily="34" charset="-120"/>
              </a:rPr>
              <a:t>Sie macht Druck: Schnell!</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Dein Plan: Stopp machen. Zeigen.">
    <p:bg>
      <p:bgPr>
        <a:solidFill>
          <a:srgbClr val="D8EAF2"/>
        </a:solidFill>
        <a:effectLst/>
      </p:bgPr>
    </p:bg>
    <p:spTree>
      <p:nvGrpSpPr>
        <p:cNvPr id="1" name=""/>
        <p:cNvGrpSpPr/>
        <p:nvPr/>
      </p:nvGrpSpPr>
      <p:grpSpPr>
        <a:xfrm>
          <a:off x="0" y="0"/>
          <a:ext cx="0" cy="0"/>
          <a:chOff x="0" y="0"/>
          <a:chExt cx="0" cy="0"/>
        </a:xfrm>
      </p:grpSpPr>
      <p:sp>
        <p:nvSpPr>
          <p:cNvPr id="2" name="Text 2"/>
          <p:cNvSpPr/>
          <p:nvPr/>
        </p:nvSpPr>
        <p:spPr>
          <a:xfrm>
            <a:off x="640080" y="500000"/>
            <a:ext cx="10911840" cy="8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3200" b="1" i="0" dirty="0">
                <a:solidFill>
                  <a:srgbClr val="00285A"/>
                </a:solidFill>
                <a:latin typeface="Arial" pitchFamily="34" charset="0"/>
                <a:ea typeface="Arial" pitchFamily="34" charset="-122"/>
                <a:cs typeface="Arial" pitchFamily="34" charset="-120"/>
              </a:rPr>
              <a:t>Dein Plan</a:t>
            </a:r>
          </a:p>
        </p:txBody>
      </p:sp>
      <p:sp>
        <p:nvSpPr>
          <p:cNvPr id="3" name="Text 3"/>
          <p:cNvSpPr/>
          <p:nvPr/>
        </p:nvSpPr>
        <p:spPr>
          <a:xfrm>
            <a:off x="640080" y="1500000"/>
            <a:ext cx="6500000" cy="4600000"/>
          </a:xfrm>
          <a:prstGeom prst="roundRect">
            <a:avLst>
              <a:gd name="adj" fmla="val 5000"/>
            </a:avLst>
          </a:prstGeom>
          <a:solidFill>
            <a:srgbClr val="FFFFFF"/>
          </a:solidFill>
          <a:ln>
            <a:noFill/>
          </a:ln>
          <a:effectLst>
            <a:outerShdw sx="100000" sy="100000" kx="0" ky="0" algn="bl" rotWithShape="0" blurRad="88900" dist="25400" dir="5400000">
              <a:srgbClr val="000000">
                <a:alpha val="14000"/>
              </a:srgbClr>
            </a:outerShdw>
          </a:effectLst>
        </p:spPr>
      </p:sp>
      <p:sp>
        <p:nvSpPr>
          <p:cNvPr id="4" name="Text 4"/>
          <p:cNvSpPr/>
          <p:nvPr/>
        </p:nvSpPr>
        <p:spPr>
          <a:xfrm>
            <a:off x="1040080" y="1700000"/>
            <a:ext cx="5700000" cy="4200000"/>
          </a:xfrm>
          <a:prstGeom prst="rect">
            <a:avLst/>
          </a:prstGeom>
          <a:noFill/>
          <a:ln>
            <a:noFill/>
          </a:ln>
        </p:spPr>
        <p:txBody>
          <a:bodyPr wrap="square" lIns="0" tIns="0" rIns="0" bIns="0" rtlCol="0" anchor="ctr">
            <a:noAutofit/>
          </a:bodyPr>
          <a:lstStyle/>
          <a:p>
            <a:pPr algn="l" indent="0" marL="0">
              <a:lnSpc>
                <a:spcPct val="100000"/>
              </a:lnSpc>
              <a:spcAft>
                <a:spcPts val="1800"/>
              </a:spcAft>
              <a:buNone/>
            </a:pPr>
            <a:r>
              <a:rPr lang="de-DE" sz="4000" b="1" i="0" dirty="0">
                <a:solidFill>
                  <a:srgbClr val="00285A"/>
                </a:solidFill>
                <a:latin typeface="Arial" pitchFamily="34" charset="0"/>
                <a:ea typeface="Arial" pitchFamily="34" charset="-122"/>
                <a:cs typeface="Arial" pitchFamily="34" charset="-120"/>
              </a:rPr>
              <a:t>Stopp machen. Zeigen.</a:t>
            </a:r>
          </a:p>
          <a:p>
            <a:pPr algn="l" indent="0" marL="0">
              <a:lnSpc>
                <a:spcPct val="100000"/>
              </a:lnSpc>
              <a:spcAft>
                <a:spcPts val="600"/>
              </a:spcAft>
              <a:buNone/>
            </a:pPr>
            <a:r>
              <a:rPr lang="de-DE" sz="2600" b="0" i="0" dirty="0">
                <a:solidFill>
                  <a:srgbClr val="1A1A1A"/>
                </a:solidFill>
                <a:latin typeface="Arial" pitchFamily="34" charset="0"/>
                <a:ea typeface="Arial" pitchFamily="34" charset="-122"/>
                <a:cs typeface="Arial" pitchFamily="34" charset="-120"/>
              </a:rPr>
              <a:t>1  Stopp machen.</a:t>
            </a:r>
          </a:p>
          <a:p>
            <a:pPr algn="l" indent="0" marL="0">
              <a:lnSpc>
                <a:spcPct val="100000"/>
              </a:lnSpc>
              <a:spcAft>
                <a:spcPts val="600"/>
              </a:spcAft>
              <a:buNone/>
            </a:pPr>
            <a:r>
              <a:rPr lang="de-DE" sz="2600" b="0" i="0" dirty="0">
                <a:solidFill>
                  <a:srgbClr val="1A1A1A"/>
                </a:solidFill>
                <a:latin typeface="Arial" pitchFamily="34" charset="0"/>
                <a:ea typeface="Arial" pitchFamily="34" charset="-122"/>
                <a:cs typeface="Arial" pitchFamily="34" charset="-120"/>
              </a:rPr>
              <a:t>2  Nicht sofort antworten.</a:t>
            </a:r>
          </a:p>
          <a:p>
            <a:pPr algn="l" indent="0" marL="0">
              <a:lnSpc>
                <a:spcPct val="100000"/>
              </a:lnSpc>
              <a:spcAft>
                <a:spcPts val="0"/>
              </a:spcAft>
              <a:buNone/>
            </a:pPr>
            <a:r>
              <a:rPr lang="de-DE" sz="2600" b="0" i="0" dirty="0">
                <a:solidFill>
                  <a:srgbClr val="1A1A1A"/>
                </a:solidFill>
                <a:latin typeface="Arial" pitchFamily="34" charset="0"/>
                <a:ea typeface="Arial" pitchFamily="34" charset="-122"/>
                <a:cs typeface="Arial" pitchFamily="34" charset="-120"/>
              </a:rPr>
              <a:t>3  Einer vertrauten Person zeigen.</a:t>
            </a:r>
          </a:p>
        </p:txBody>
      </p:sp>
      <p:sp>
        <p:nvSpPr>
          <p:cNvPr id="5" name="Bild-Platzhalter 5"/>
          <p:cNvSpPr/>
          <p:nvPr/>
        </p:nvSpPr>
        <p:spPr>
          <a:xfrm>
            <a:off x="7450000" y="1500000"/>
            <a:ext cx="4100000" cy="4600000"/>
          </a:xfrm>
          <a:prstGeom prst="roundRect">
            <a:avLst>
              <a:gd name="adj" fmla="val 4000"/>
            </a:avLst>
          </a:prstGeom>
          <a:solidFill>
            <a:srgbClr val="F3F6F9"/>
          </a:solidFill>
          <a:ln w="19050">
            <a:solidFill>
              <a:srgbClr val="6B7A89"/>
            </a:solidFill>
            <a:prstDash val="dash"/>
          </a:ln>
        </p:spPr>
        <p:txBody>
          <a:bodyPr wrap="square" lIns="137160" tIns="137160" rIns="137160" bIns="137160" rtlCol="0" anchor="ctr">
            <a:noAutofit/>
          </a:bodyPr>
          <a:lstStyle/>
          <a:p>
            <a:pPr algn="ctr" indent="0" marL="0">
              <a:lnSpc>
                <a:spcPct val="100000"/>
              </a:lnSpc>
              <a:spcAft>
                <a:spcPts val="0"/>
              </a:spcAft>
              <a:buNone/>
            </a:pPr>
            <a:r>
              <a:rPr lang="de-DE" sz="1600" b="0" i="1" dirty="0">
                <a:solidFill>
                  <a:srgbClr val="48586A"/>
                </a:solidFill>
                <a:latin typeface="Arial" pitchFamily="34" charset="0"/>
                <a:ea typeface="Arial" pitchFamily="34" charset="-122"/>
                <a:cs typeface="Arial" pitchFamily="34" charset="-120"/>
              </a:rPr>
              <a:t>[BILD: Eine Person zeigt ihr Handy einer vertrauten Person. Beide sind ruhig.]</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Thema 4: Wenn etwas verletzt">
    <p:bg>
      <p:bgPr>
        <a:solidFill>
          <a:srgbClr val="00285A"/>
        </a:solidFill>
        <a:effectLst/>
      </p:bgPr>
    </p:bg>
    <p:spTree>
      <p:nvGrpSpPr>
        <p:cNvPr id="1" name=""/>
        <p:cNvGrpSpPr/>
        <p:nvPr/>
      </p:nvGrpSpPr>
      <p:grpSpPr>
        <a:xfrm>
          <a:off x="0" y="0"/>
          <a:ext cx="0" cy="0"/>
          <a:chOff x="0" y="0"/>
          <a:chExt cx="0" cy="0"/>
        </a:xfrm>
      </p:grpSpPr>
      <p:sp>
        <p:nvSpPr>
          <p:cNvPr id="2" name="Text 2"/>
          <p:cNvSpPr/>
          <p:nvPr/>
        </p:nvSpPr>
        <p:spPr>
          <a:xfrm>
            <a:off x="640080" y="1737360"/>
            <a:ext cx="2743200" cy="3108960"/>
          </a:xfrm>
          <a:prstGeom prst="rect">
            <a:avLst/>
          </a:prstGeom>
          <a:noFill/>
          <a:ln>
            <a:noFill/>
          </a:ln>
        </p:spPr>
        <p:txBody>
          <a:bodyPr wrap="square" lIns="0" tIns="0" rIns="0" bIns="0" rtlCol="0" anchor="ctr">
            <a:noAutofit/>
          </a:bodyPr>
          <a:lstStyle/>
          <a:p>
            <a:pPr algn="ctr" indent="0" marL="0">
              <a:lnSpc>
                <a:spcPct val="100000"/>
              </a:lnSpc>
              <a:spcAft>
                <a:spcPts val="0"/>
              </a:spcAft>
              <a:buNone/>
            </a:pPr>
            <a:r>
              <a:rPr lang="de-DE" sz="20000" b="1" i="0" dirty="0">
                <a:solidFill>
                  <a:srgbClr val="57A3C7"/>
                </a:solidFill>
                <a:latin typeface="Arial" pitchFamily="34" charset="0"/>
                <a:ea typeface="Arial" pitchFamily="34" charset="-122"/>
                <a:cs typeface="Arial" pitchFamily="34" charset="-120"/>
              </a:rPr>
              <a:t>4</a:t>
            </a:r>
          </a:p>
        </p:txBody>
      </p:sp>
      <p:sp>
        <p:nvSpPr>
          <p:cNvPr id="3" name="Text 3"/>
          <p:cNvSpPr/>
          <p:nvPr/>
        </p:nvSpPr>
        <p:spPr>
          <a:xfrm>
            <a:off x="3657600" y="2148840"/>
            <a:ext cx="7680960" cy="731520"/>
          </a:xfrm>
          <a:prstGeom prst="rect">
            <a:avLst/>
          </a:prstGeom>
          <a:noFill/>
          <a:ln>
            <a:noFill/>
          </a:ln>
        </p:spPr>
        <p:txBody>
          <a:bodyPr wrap="square" lIns="0" tIns="0" rIns="0" bIns="0" rtlCol="0" anchor="b">
            <a:noAutofit/>
          </a:bodyPr>
          <a:lstStyle/>
          <a:p>
            <a:pPr algn="l" indent="0" marL="0">
              <a:lnSpc>
                <a:spcPct val="100000"/>
              </a:lnSpc>
              <a:spcAft>
                <a:spcPts val="0"/>
              </a:spcAft>
              <a:buNone/>
            </a:pPr>
            <a:r>
              <a:rPr lang="de-DE" sz="2600" b="1" i="0" dirty="0">
                <a:solidFill>
                  <a:srgbClr val="AAD1E3"/>
                </a:solidFill>
                <a:latin typeface="Arial" pitchFamily="34" charset="0"/>
                <a:ea typeface="Arial" pitchFamily="34" charset="-122"/>
                <a:cs typeface="Arial" pitchFamily="34" charset="-120"/>
              </a:rPr>
              <a:t>Thema 4</a:t>
            </a:r>
          </a:p>
        </p:txBody>
      </p:sp>
      <p:sp>
        <p:nvSpPr>
          <p:cNvPr id="4" name="Text 4"/>
          <p:cNvSpPr/>
          <p:nvPr/>
        </p:nvSpPr>
        <p:spPr>
          <a:xfrm>
            <a:off x="3657600" y="2880000"/>
            <a:ext cx="7680960" cy="1900000"/>
          </a:xfrm>
          <a:prstGeom prst="rect">
            <a:avLst/>
          </a:prstGeom>
          <a:noFill/>
          <a:ln>
            <a:noFill/>
          </a:ln>
        </p:spPr>
        <p:txBody>
          <a:bodyPr wrap="square" lIns="0" tIns="0" rIns="0" bIns="0" rtlCol="0" anchor="t">
            <a:noAutofit/>
          </a:bodyPr>
          <a:lstStyle/>
          <a:p>
            <a:pPr algn="l" indent="0" marL="0">
              <a:lnSpc>
                <a:spcPct val="100000"/>
              </a:lnSpc>
              <a:spcAft>
                <a:spcPts val="0"/>
              </a:spcAft>
              <a:buNone/>
            </a:pPr>
            <a:r>
              <a:rPr lang="de-DE" sz="4400" b="1" i="0" dirty="0">
                <a:solidFill>
                  <a:srgbClr val="FFFFFF"/>
                </a:solidFill>
                <a:latin typeface="Arial" pitchFamily="34" charset="0"/>
                <a:ea typeface="Arial" pitchFamily="34" charset="-122"/>
                <a:cs typeface="Arial" pitchFamily="34" charset="-120"/>
              </a:rPr>
              <a:t>Wenn etwas verletzt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Verletzende Kommentare">
    <p:spTree>
      <p:nvGrpSpPr>
        <p:cNvPr id="1" name=""/>
        <p:cNvGrpSpPr/>
        <p:nvPr/>
      </p:nvGrpSpPr>
      <p:grpSpPr>
        <a:xfrm>
          <a:off x="0" y="0"/>
          <a:ext cx="0" cy="0"/>
          <a:chOff x="0" y="0"/>
          <a:chExt cx="0" cy="0"/>
        </a:xfrm>
      </p:grpSpPr>
      <p:sp>
        <p:nvSpPr>
          <p:cNvPr id="2" name="Titel 2"/>
          <p:cNvSpPr/>
          <p:nvPr/>
        </p:nvSpPr>
        <p:spPr>
          <a:xfrm>
            <a:off x="640080" y="400000"/>
            <a:ext cx="10911840" cy="10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3400" b="1" i="0" dirty="0">
                <a:solidFill>
                  <a:srgbClr val="00285A"/>
                </a:solidFill>
                <a:latin typeface="Arial" pitchFamily="34" charset="0"/>
                <a:ea typeface="Arial" pitchFamily="34" charset="-122"/>
                <a:cs typeface="Arial" pitchFamily="34" charset="-120"/>
              </a:rPr>
              <a:t>Verletzende Kommentare</a:t>
            </a:r>
          </a:p>
        </p:txBody>
      </p:sp>
      <p:sp>
        <p:nvSpPr>
          <p:cNvPr id="3" name="Text 3"/>
          <p:cNvSpPr/>
          <p:nvPr/>
        </p:nvSpPr>
        <p:spPr>
          <a:xfrm>
            <a:off x="640080" y="1700000"/>
            <a:ext cx="6300000" cy="1400000"/>
          </a:xfrm>
          <a:prstGeom prst="rect">
            <a:avLst/>
          </a:prstGeom>
          <a:noFill/>
          <a:ln>
            <a:noFill/>
          </a:ln>
        </p:spPr>
        <p:txBody>
          <a:bodyPr wrap="square" lIns="0" tIns="0" rIns="0" bIns="0" rtlCol="0" anchor="t">
            <a:noAutofit/>
          </a:bodyPr>
          <a:lstStyle/>
          <a:p>
            <a:pPr algn="l" indent="0" marL="0">
              <a:lnSpc>
                <a:spcPct val="100000"/>
              </a:lnSpc>
              <a:spcAft>
                <a:spcPts val="600"/>
              </a:spcAft>
              <a:buNone/>
            </a:pPr>
            <a:r>
              <a:rPr lang="de-DE" sz="2600" b="0" i="0" dirty="0">
                <a:solidFill>
                  <a:srgbClr val="1A1A1A"/>
                </a:solidFill>
                <a:latin typeface="Arial" pitchFamily="34" charset="0"/>
                <a:ea typeface="Arial" pitchFamily="34" charset="-122"/>
                <a:cs typeface="Arial" pitchFamily="34" charset="-120"/>
              </a:rPr>
              <a:t>Manche Kommentare sind gemein.</a:t>
            </a:r>
          </a:p>
          <a:p>
            <a:pPr algn="l" indent="0" marL="0">
              <a:lnSpc>
                <a:spcPct val="100000"/>
              </a:lnSpc>
              <a:spcAft>
                <a:spcPts val="600"/>
              </a:spcAft>
              <a:buNone/>
            </a:pPr>
            <a:r>
              <a:rPr lang="de-DE" sz="2600" b="0" i="0" dirty="0">
                <a:solidFill>
                  <a:srgbClr val="1A1A1A"/>
                </a:solidFill>
                <a:latin typeface="Arial" pitchFamily="34" charset="0"/>
                <a:ea typeface="Arial" pitchFamily="34" charset="-122"/>
                <a:cs typeface="Arial" pitchFamily="34" charset="-120"/>
              </a:rPr>
              <a:t>Sie verletzen.</a:t>
            </a:r>
          </a:p>
        </p:txBody>
      </p:sp>
      <p:sp>
        <p:nvSpPr>
          <p:cNvPr id="4" name="Text 4"/>
          <p:cNvSpPr/>
          <p:nvPr/>
        </p:nvSpPr>
        <p:spPr>
          <a:xfrm>
            <a:off x="640080" y="3200000"/>
            <a:ext cx="6300000" cy="1300000"/>
          </a:xfrm>
          <a:prstGeom prst="roundRect">
            <a:avLst>
              <a:gd name="adj" fmla="val 10000"/>
            </a:avLst>
          </a:prstGeom>
          <a:solidFill>
            <a:srgbClr val="D8EAF2"/>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3200" b="1" i="0" dirty="0">
                <a:solidFill>
                  <a:srgbClr val="00285A"/>
                </a:solidFill>
                <a:latin typeface="Arial" pitchFamily="34" charset="0"/>
                <a:ea typeface="Arial" pitchFamily="34" charset="-122"/>
                <a:cs typeface="Arial" pitchFamily="34" charset="-120"/>
              </a:rPr>
              <a:t>Das ist nicht deine Schuld.</a:t>
            </a:r>
          </a:p>
        </p:txBody>
      </p:sp>
      <p:sp>
        <p:nvSpPr>
          <p:cNvPr id="5" name="Text 5"/>
          <p:cNvSpPr/>
          <p:nvPr/>
        </p:nvSpPr>
        <p:spPr>
          <a:xfrm>
            <a:off x="640080" y="4750000"/>
            <a:ext cx="6300000" cy="9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600" b="1" i="0" dirty="0">
                <a:solidFill>
                  <a:srgbClr val="1A1A1A"/>
                </a:solidFill>
                <a:latin typeface="Arial" pitchFamily="34" charset="0"/>
                <a:ea typeface="Arial" pitchFamily="34" charset="-122"/>
                <a:cs typeface="Arial" pitchFamily="34" charset="-120"/>
              </a:rPr>
              <a:t>Du musst nicht antworten.</a:t>
            </a:r>
          </a:p>
        </p:txBody>
      </p:sp>
      <p:sp>
        <p:nvSpPr>
          <p:cNvPr id="6" name="Bild-Platzhalter 6"/>
          <p:cNvSpPr/>
          <p:nvPr/>
        </p:nvSpPr>
        <p:spPr>
          <a:xfrm>
            <a:off x="7250000" y="1700000"/>
            <a:ext cx="4300000" cy="4100000"/>
          </a:xfrm>
          <a:prstGeom prst="roundRect">
            <a:avLst>
              <a:gd name="adj" fmla="val 4000"/>
            </a:avLst>
          </a:prstGeom>
          <a:solidFill>
            <a:srgbClr val="F3F6F9"/>
          </a:solidFill>
          <a:ln w="19050">
            <a:solidFill>
              <a:srgbClr val="6B7A89"/>
            </a:solidFill>
            <a:prstDash val="dash"/>
          </a:ln>
        </p:spPr>
        <p:txBody>
          <a:bodyPr wrap="square" lIns="137160" tIns="137160" rIns="137160" bIns="137160" rtlCol="0" anchor="ctr">
            <a:noAutofit/>
          </a:bodyPr>
          <a:lstStyle/>
          <a:p>
            <a:pPr algn="ctr" indent="0" marL="0">
              <a:lnSpc>
                <a:spcPct val="100000"/>
              </a:lnSpc>
              <a:spcAft>
                <a:spcPts val="0"/>
              </a:spcAft>
              <a:buNone/>
            </a:pPr>
            <a:r>
              <a:rPr lang="de-DE" sz="1600" b="0" i="1" dirty="0">
                <a:solidFill>
                  <a:srgbClr val="48586A"/>
                </a:solidFill>
                <a:latin typeface="Arial" pitchFamily="34" charset="0"/>
                <a:ea typeface="Arial" pitchFamily="34" charset="-122"/>
                <a:cs typeface="Arial" pitchFamily="34" charset="-120"/>
              </a:rPr>
              <a:t>[BILD: Eine Person liest einen Kommentar. Sie legt das Handy weg und atmet durch.]</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Das kannst du tun">
    <p:spTree>
      <p:nvGrpSpPr>
        <p:cNvPr id="1" name=""/>
        <p:cNvGrpSpPr/>
        <p:nvPr/>
      </p:nvGrpSpPr>
      <p:grpSpPr>
        <a:xfrm>
          <a:off x="0" y="0"/>
          <a:ext cx="0" cy="0"/>
          <a:chOff x="0" y="0"/>
          <a:chExt cx="0" cy="0"/>
        </a:xfrm>
      </p:grpSpPr>
      <p:sp>
        <p:nvSpPr>
          <p:cNvPr id="2" name="Titel 2"/>
          <p:cNvSpPr/>
          <p:nvPr/>
        </p:nvSpPr>
        <p:spPr>
          <a:xfrm>
            <a:off x="640080" y="400000"/>
            <a:ext cx="10911840" cy="10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3400" b="1" i="0" dirty="0">
                <a:solidFill>
                  <a:srgbClr val="00285A"/>
                </a:solidFill>
                <a:latin typeface="Arial" pitchFamily="34" charset="0"/>
                <a:ea typeface="Arial" pitchFamily="34" charset="-122"/>
                <a:cs typeface="Arial" pitchFamily="34" charset="-120"/>
              </a:rPr>
              <a:t>Das kannst du tun</a:t>
            </a:r>
          </a:p>
        </p:txBody>
      </p:sp>
      <p:sp>
        <p:nvSpPr>
          <p:cNvPr id="3" name="Text 3"/>
          <p:cNvSpPr/>
          <p:nvPr/>
        </p:nvSpPr>
        <p:spPr>
          <a:xfrm>
            <a:off x="640080" y="1600000"/>
            <a:ext cx="5360000" cy="2150000"/>
          </a:xfrm>
          <a:prstGeom prst="roundRect">
            <a:avLst>
              <a:gd name="adj" fmla="val 6000"/>
            </a:avLst>
          </a:prstGeom>
          <a:solidFill>
            <a:srgbClr val="D8EAF2"/>
          </a:solidFill>
          <a:ln w="12700">
            <a:solidFill>
              <a:srgbClr val="AAD1E3"/>
            </a:solidFill>
            <a:prstDash val="solid"/>
          </a:ln>
        </p:spPr>
        <p:txBody>
          <a:bodyPr wrap="square" lIns="280000" tIns="280000" rIns="280000" bIns="280000" rtlCol="0" anchor="ctr">
            <a:noAutofit/>
          </a:bodyPr>
          <a:lstStyle/>
          <a:p>
            <a:pPr algn="l" indent="0" marL="0">
              <a:lnSpc>
                <a:spcPct val="100000"/>
              </a:lnSpc>
              <a:spcAft>
                <a:spcPts val="800"/>
              </a:spcAft>
              <a:buNone/>
            </a:pPr>
            <a:r>
              <a:rPr lang="de-DE" sz="3000" b="1" i="0" dirty="0">
                <a:solidFill>
                  <a:srgbClr val="00285A"/>
                </a:solidFill>
                <a:latin typeface="Arial" pitchFamily="34" charset="0"/>
                <a:ea typeface="Arial" pitchFamily="34" charset="-122"/>
                <a:cs typeface="Arial" pitchFamily="34" charset="-120"/>
              </a:rPr>
              <a:t>Zeigen</a:t>
            </a:r>
          </a:p>
          <a:p>
            <a:pPr algn="l" indent="0" marL="0">
              <a:lnSpc>
                <a:spcPct val="100000"/>
              </a:lnSpc>
              <a:spcAft>
                <a:spcPts val="0"/>
              </a:spcAft>
              <a:buNone/>
            </a:pPr>
            <a:r>
              <a:rPr lang="de-DE" sz="2300" b="0" i="0" dirty="0">
                <a:solidFill>
                  <a:srgbClr val="1A1A1A"/>
                </a:solidFill>
                <a:latin typeface="Arial" pitchFamily="34" charset="0"/>
                <a:ea typeface="Arial" pitchFamily="34" charset="-122"/>
                <a:cs typeface="Arial" pitchFamily="34" charset="-120"/>
              </a:rPr>
              <a:t>Zeig es einer vertrauten Person. Lösch es nicht sofort.</a:t>
            </a:r>
          </a:p>
        </p:txBody>
      </p:sp>
      <p:sp>
        <p:nvSpPr>
          <p:cNvPr id="4" name="Text 4"/>
          <p:cNvSpPr/>
          <p:nvPr/>
        </p:nvSpPr>
        <p:spPr>
          <a:xfrm>
            <a:off x="6190080" y="1600000"/>
            <a:ext cx="5360000" cy="2150000"/>
          </a:xfrm>
          <a:prstGeom prst="roundRect">
            <a:avLst>
              <a:gd name="adj" fmla="val 6000"/>
            </a:avLst>
          </a:prstGeom>
          <a:solidFill>
            <a:srgbClr val="D8EAF2"/>
          </a:solidFill>
          <a:ln w="12700">
            <a:solidFill>
              <a:srgbClr val="AAD1E3"/>
            </a:solidFill>
            <a:prstDash val="solid"/>
          </a:ln>
        </p:spPr>
        <p:txBody>
          <a:bodyPr wrap="square" lIns="280000" tIns="280000" rIns="280000" bIns="280000" rtlCol="0" anchor="ctr">
            <a:noAutofit/>
          </a:bodyPr>
          <a:lstStyle/>
          <a:p>
            <a:pPr algn="l" indent="0" marL="0">
              <a:lnSpc>
                <a:spcPct val="100000"/>
              </a:lnSpc>
              <a:spcAft>
                <a:spcPts val="800"/>
              </a:spcAft>
              <a:buNone/>
            </a:pPr>
            <a:r>
              <a:rPr lang="de-DE" sz="3000" b="1" i="0" dirty="0">
                <a:solidFill>
                  <a:srgbClr val="00285A"/>
                </a:solidFill>
                <a:latin typeface="Arial" pitchFamily="34" charset="0"/>
                <a:ea typeface="Arial" pitchFamily="34" charset="-122"/>
                <a:cs typeface="Arial" pitchFamily="34" charset="-120"/>
              </a:rPr>
              <a:t>Blockieren</a:t>
            </a:r>
          </a:p>
          <a:p>
            <a:pPr algn="l" indent="0" marL="0">
              <a:lnSpc>
                <a:spcPct val="100000"/>
              </a:lnSpc>
              <a:spcAft>
                <a:spcPts val="0"/>
              </a:spcAft>
              <a:buNone/>
            </a:pPr>
            <a:r>
              <a:rPr lang="de-DE" sz="2300" b="0" i="0" dirty="0">
                <a:solidFill>
                  <a:srgbClr val="1A1A1A"/>
                </a:solidFill>
                <a:latin typeface="Arial" pitchFamily="34" charset="0"/>
                <a:ea typeface="Arial" pitchFamily="34" charset="-122"/>
                <a:cs typeface="Arial" pitchFamily="34" charset="-120"/>
              </a:rPr>
              <a:t>Die Person kann dir nicht mehr schreiben. Mit einem neuen Profil kann sie es wieder versuchen.</a:t>
            </a:r>
          </a:p>
        </p:txBody>
      </p:sp>
      <p:sp>
        <p:nvSpPr>
          <p:cNvPr id="5" name="Text 5"/>
          <p:cNvSpPr/>
          <p:nvPr/>
        </p:nvSpPr>
        <p:spPr>
          <a:xfrm>
            <a:off x="640080" y="3950000"/>
            <a:ext cx="5360000" cy="2150000"/>
          </a:xfrm>
          <a:prstGeom prst="roundRect">
            <a:avLst>
              <a:gd name="adj" fmla="val 6000"/>
            </a:avLst>
          </a:prstGeom>
          <a:solidFill>
            <a:srgbClr val="D8EAF2"/>
          </a:solidFill>
          <a:ln w="12700">
            <a:solidFill>
              <a:srgbClr val="AAD1E3"/>
            </a:solidFill>
            <a:prstDash val="solid"/>
          </a:ln>
        </p:spPr>
        <p:txBody>
          <a:bodyPr wrap="square" lIns="280000" tIns="280000" rIns="280000" bIns="280000" rtlCol="0" anchor="ctr">
            <a:noAutofit/>
          </a:bodyPr>
          <a:lstStyle/>
          <a:p>
            <a:pPr algn="l" indent="0" marL="0">
              <a:lnSpc>
                <a:spcPct val="100000"/>
              </a:lnSpc>
              <a:spcAft>
                <a:spcPts val="800"/>
              </a:spcAft>
              <a:buNone/>
            </a:pPr>
            <a:r>
              <a:rPr lang="de-DE" sz="3000" b="1" i="0" dirty="0">
                <a:solidFill>
                  <a:srgbClr val="00285A"/>
                </a:solidFill>
                <a:latin typeface="Arial" pitchFamily="34" charset="0"/>
                <a:ea typeface="Arial" pitchFamily="34" charset="-122"/>
                <a:cs typeface="Arial" pitchFamily="34" charset="-120"/>
              </a:rPr>
              <a:t>Melden</a:t>
            </a:r>
          </a:p>
          <a:p>
            <a:pPr algn="l" indent="0" marL="0">
              <a:lnSpc>
                <a:spcPct val="100000"/>
              </a:lnSpc>
              <a:spcAft>
                <a:spcPts val="0"/>
              </a:spcAft>
              <a:buNone/>
            </a:pPr>
            <a:r>
              <a:rPr lang="de-DE" sz="2300" b="0" i="0" dirty="0">
                <a:solidFill>
                  <a:srgbClr val="1A1A1A"/>
                </a:solidFill>
                <a:latin typeface="Arial" pitchFamily="34" charset="0"/>
                <a:ea typeface="Arial" pitchFamily="34" charset="-122"/>
                <a:cs typeface="Arial" pitchFamily="34" charset="-120"/>
              </a:rPr>
              <a:t>Du sagst Instagram Bescheid.</a:t>
            </a:r>
          </a:p>
        </p:txBody>
      </p:sp>
      <p:sp>
        <p:nvSpPr>
          <p:cNvPr id="6" name="Text 6"/>
          <p:cNvSpPr/>
          <p:nvPr/>
        </p:nvSpPr>
        <p:spPr>
          <a:xfrm>
            <a:off x="6190080" y="3950000"/>
            <a:ext cx="5360000" cy="2150000"/>
          </a:xfrm>
          <a:prstGeom prst="roundRect">
            <a:avLst>
              <a:gd name="adj" fmla="val 6000"/>
            </a:avLst>
          </a:prstGeom>
          <a:solidFill>
            <a:srgbClr val="D8EAF2"/>
          </a:solidFill>
          <a:ln w="12700">
            <a:solidFill>
              <a:srgbClr val="AAD1E3"/>
            </a:solidFill>
            <a:prstDash val="solid"/>
          </a:ln>
        </p:spPr>
        <p:txBody>
          <a:bodyPr wrap="square" lIns="280000" tIns="280000" rIns="280000" bIns="280000" rtlCol="0" anchor="ctr">
            <a:noAutofit/>
          </a:bodyPr>
          <a:lstStyle/>
          <a:p>
            <a:pPr algn="l" indent="0" marL="0">
              <a:lnSpc>
                <a:spcPct val="100000"/>
              </a:lnSpc>
              <a:spcAft>
                <a:spcPts val="800"/>
              </a:spcAft>
              <a:buNone/>
            </a:pPr>
            <a:r>
              <a:rPr lang="de-DE" sz="3000" b="1" i="0" dirty="0">
                <a:solidFill>
                  <a:srgbClr val="00285A"/>
                </a:solidFill>
                <a:latin typeface="Arial" pitchFamily="34" charset="0"/>
                <a:ea typeface="Arial" pitchFamily="34" charset="-122"/>
                <a:cs typeface="Arial" pitchFamily="34" charset="-120"/>
              </a:rPr>
              <a:t>Hilfe holen</a:t>
            </a:r>
          </a:p>
          <a:p>
            <a:pPr algn="l" indent="0" marL="0">
              <a:lnSpc>
                <a:spcPct val="100000"/>
              </a:lnSpc>
              <a:spcAft>
                <a:spcPts val="0"/>
              </a:spcAft>
              <a:buNone/>
            </a:pPr>
            <a:r>
              <a:rPr lang="de-DE" sz="2300" b="0" i="0" dirty="0">
                <a:solidFill>
                  <a:srgbClr val="1A1A1A"/>
                </a:solidFill>
                <a:latin typeface="Arial" pitchFamily="34" charset="0"/>
                <a:ea typeface="Arial" pitchFamily="34" charset="-122"/>
                <a:cs typeface="Arial" pitchFamily="34" charset="-120"/>
              </a:rPr>
              <a:t>Du musst das nicht allein schaffen.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Nicht alles ist echt">
    <p:spTree>
      <p:nvGrpSpPr>
        <p:cNvPr id="1" name=""/>
        <p:cNvGrpSpPr/>
        <p:nvPr/>
      </p:nvGrpSpPr>
      <p:grpSpPr>
        <a:xfrm>
          <a:off x="0" y="0"/>
          <a:ext cx="0" cy="0"/>
          <a:chOff x="0" y="0"/>
          <a:chExt cx="0" cy="0"/>
        </a:xfrm>
      </p:grpSpPr>
      <p:sp>
        <p:nvSpPr>
          <p:cNvPr id="2" name="Titel 2"/>
          <p:cNvSpPr/>
          <p:nvPr/>
        </p:nvSpPr>
        <p:spPr>
          <a:xfrm>
            <a:off x="640080" y="400000"/>
            <a:ext cx="10911840" cy="10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3400" b="1" i="0" dirty="0">
                <a:solidFill>
                  <a:srgbClr val="00285A"/>
                </a:solidFill>
                <a:latin typeface="Arial" pitchFamily="34" charset="0"/>
                <a:ea typeface="Arial" pitchFamily="34" charset="-122"/>
                <a:cs typeface="Arial" pitchFamily="34" charset="-120"/>
              </a:rPr>
              <a:t>Nicht alles ist echt</a:t>
            </a:r>
          </a:p>
        </p:txBody>
      </p:sp>
      <p:sp>
        <p:nvSpPr>
          <p:cNvPr id="3" name="Text 3"/>
          <p:cNvSpPr/>
          <p:nvPr/>
        </p:nvSpPr>
        <p:spPr>
          <a:xfrm>
            <a:off x="640080" y="1700000"/>
            <a:ext cx="6300000" cy="4400000"/>
          </a:xfrm>
          <a:prstGeom prst="rect">
            <a:avLst/>
          </a:prstGeom>
          <a:noFill/>
          <a:ln>
            <a:noFill/>
          </a:ln>
        </p:spPr>
        <p:txBody>
          <a:bodyPr wrap="square" lIns="0" tIns="0" rIns="0" bIns="0" rtlCol="0" anchor="t">
            <a:noAutofit/>
          </a:bodyPr>
          <a:lstStyle/>
          <a:p>
            <a:pPr algn="l" indent="0" marL="0">
              <a:lnSpc>
                <a:spcPct val="100000"/>
              </a:lnSpc>
              <a:spcAft>
                <a:spcPts val="1300"/>
              </a:spcAft>
              <a:buNone/>
            </a:pPr>
            <a:r>
              <a:rPr lang="de-DE" sz="2500" b="0" i="0" dirty="0">
                <a:solidFill>
                  <a:srgbClr val="1A1A1A"/>
                </a:solidFill>
                <a:latin typeface="Arial" pitchFamily="34" charset="0"/>
                <a:ea typeface="Arial" pitchFamily="34" charset="-122"/>
                <a:cs typeface="Arial" pitchFamily="34" charset="-120"/>
              </a:rPr>
              <a:t>Viele Bilder sind bearbeitet.</a:t>
            </a:r>
          </a:p>
          <a:p>
            <a:pPr algn="l" indent="0" marL="0">
              <a:lnSpc>
                <a:spcPct val="100000"/>
              </a:lnSpc>
              <a:spcAft>
                <a:spcPts val="1300"/>
              </a:spcAft>
              <a:buNone/>
            </a:pPr>
            <a:r>
              <a:rPr lang="de-DE" sz="2500" b="0" i="0" dirty="0">
                <a:solidFill>
                  <a:srgbClr val="1A1A1A"/>
                </a:solidFill>
                <a:latin typeface="Arial" pitchFamily="34" charset="0"/>
                <a:ea typeface="Arial" pitchFamily="34" charset="-122"/>
                <a:cs typeface="Arial" pitchFamily="34" charset="-120"/>
              </a:rPr>
              <a:t>Mit Filtern sieht vieles perfekt aus.</a:t>
            </a:r>
          </a:p>
          <a:p>
            <a:pPr algn="l" indent="0" marL="0">
              <a:lnSpc>
                <a:spcPct val="100000"/>
              </a:lnSpc>
              <a:spcAft>
                <a:spcPts val="1300"/>
              </a:spcAft>
              <a:buNone/>
            </a:pPr>
            <a:r>
              <a:rPr lang="de-DE" sz="2500" b="0" i="0" dirty="0">
                <a:solidFill>
                  <a:srgbClr val="1A1A1A"/>
                </a:solidFill>
                <a:latin typeface="Arial" pitchFamily="34" charset="0"/>
                <a:ea typeface="Arial" pitchFamily="34" charset="-122"/>
                <a:cs typeface="Arial" pitchFamily="34" charset="-120"/>
              </a:rPr>
              <a:t>Du musst dich nicht vergleichen.</a:t>
            </a:r>
          </a:p>
          <a:p>
            <a:pPr algn="l" indent="0" marL="0">
              <a:lnSpc>
                <a:spcPct val="100000"/>
              </a:lnSpc>
              <a:spcAft>
                <a:spcPts val="1300"/>
              </a:spcAft>
              <a:buNone/>
            </a:pPr>
            <a:r>
              <a:rPr lang="de-DE" sz="2500" b="1" i="0" dirty="0">
                <a:solidFill>
                  <a:srgbClr val="1A1A1A"/>
                </a:solidFill>
                <a:latin typeface="Arial" pitchFamily="34" charset="0"/>
                <a:ea typeface="Arial" pitchFamily="34" charset="-122"/>
                <a:cs typeface="Arial" pitchFamily="34" charset="-120"/>
              </a:rPr>
              <a:t>Du bist gut, so wie du bist.</a:t>
            </a:r>
          </a:p>
        </p:txBody>
      </p:sp>
      <p:sp>
        <p:nvSpPr>
          <p:cNvPr id="4" name="Bild-Platzhalter 4"/>
          <p:cNvSpPr/>
          <p:nvPr/>
        </p:nvSpPr>
        <p:spPr>
          <a:xfrm>
            <a:off x="7250000" y="1700000"/>
            <a:ext cx="4300000" cy="4300000"/>
          </a:xfrm>
          <a:prstGeom prst="roundRect">
            <a:avLst>
              <a:gd name="adj" fmla="val 4000"/>
            </a:avLst>
          </a:prstGeom>
          <a:solidFill>
            <a:srgbClr val="F3F6F9"/>
          </a:solidFill>
          <a:ln w="19050">
            <a:solidFill>
              <a:srgbClr val="6B7A89"/>
            </a:solidFill>
            <a:prstDash val="dash"/>
          </a:ln>
        </p:spPr>
        <p:txBody>
          <a:bodyPr wrap="square" lIns="137160" tIns="137160" rIns="137160" bIns="137160" rtlCol="0" anchor="ctr">
            <a:noAutofit/>
          </a:bodyPr>
          <a:lstStyle/>
          <a:p>
            <a:pPr algn="ctr" indent="0" marL="0">
              <a:lnSpc>
                <a:spcPct val="100000"/>
              </a:lnSpc>
              <a:spcAft>
                <a:spcPts val="0"/>
              </a:spcAft>
              <a:buNone/>
            </a:pPr>
            <a:r>
              <a:rPr lang="de-DE" sz="1600" b="0" i="1" dirty="0">
                <a:solidFill>
                  <a:srgbClr val="48586A"/>
                </a:solidFill>
                <a:latin typeface="Arial" pitchFamily="34" charset="0"/>
                <a:ea typeface="Arial" pitchFamily="34" charset="-122"/>
                <a:cs typeface="Arial" pitchFamily="34" charset="-120"/>
              </a:rPr>
              <a:t>[BILD: Dasselbe Foto zweimal. Links echt. Rechts mit Filter bearbeitet.]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Hol dir Hilfe">
    <p:spTree>
      <p:nvGrpSpPr>
        <p:cNvPr id="1" name=""/>
        <p:cNvGrpSpPr/>
        <p:nvPr/>
      </p:nvGrpSpPr>
      <p:grpSpPr>
        <a:xfrm>
          <a:off x="0" y="0"/>
          <a:ext cx="0" cy="0"/>
          <a:chOff x="0" y="0"/>
          <a:chExt cx="0" cy="0"/>
        </a:xfrm>
      </p:grpSpPr>
      <p:sp>
        <p:nvSpPr>
          <p:cNvPr id="2" name="Titel 2"/>
          <p:cNvSpPr/>
          <p:nvPr/>
        </p:nvSpPr>
        <p:spPr>
          <a:xfrm>
            <a:off x="640080" y="400000"/>
            <a:ext cx="10911840" cy="10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3400" b="1" i="0" dirty="0">
                <a:solidFill>
                  <a:srgbClr val="00285A"/>
                </a:solidFill>
                <a:latin typeface="Arial" pitchFamily="34" charset="0"/>
                <a:ea typeface="Arial" pitchFamily="34" charset="-122"/>
                <a:cs typeface="Arial" pitchFamily="34" charset="-120"/>
              </a:rPr>
              <a:t>Hol dir Hilfe</a:t>
            </a:r>
          </a:p>
        </p:txBody>
      </p:sp>
      <p:sp>
        <p:nvSpPr>
          <p:cNvPr id="3" name="Text 3"/>
          <p:cNvSpPr/>
          <p:nvPr/>
        </p:nvSpPr>
        <p:spPr>
          <a:xfrm>
            <a:off x="640080" y="1700000"/>
            <a:ext cx="6300000" cy="4400000"/>
          </a:xfrm>
          <a:prstGeom prst="rect">
            <a:avLst/>
          </a:prstGeom>
          <a:noFill/>
          <a:ln>
            <a:noFill/>
          </a:ln>
        </p:spPr>
        <p:txBody>
          <a:bodyPr wrap="square" lIns="0" tIns="0" rIns="0" bIns="0" rtlCol="0" anchor="t">
            <a:noAutofit/>
          </a:bodyPr>
          <a:lstStyle/>
          <a:p>
            <a:pPr algn="l" indent="0" marL="0">
              <a:lnSpc>
                <a:spcPct val="100000"/>
              </a:lnSpc>
              <a:spcAft>
                <a:spcPts val="1500"/>
              </a:spcAft>
              <a:buNone/>
            </a:pPr>
            <a:r>
              <a:rPr lang="de-DE" sz="2800" b="1" i="0" dirty="0">
                <a:solidFill>
                  <a:srgbClr val="00285A"/>
                </a:solidFill>
                <a:latin typeface="Arial" pitchFamily="34" charset="0"/>
                <a:ea typeface="Arial" pitchFamily="34" charset="-122"/>
                <a:cs typeface="Arial" pitchFamily="34" charset="-120"/>
              </a:rPr>
              <a:t>Du bist nicht allein.</a:t>
            </a:r>
          </a:p>
          <a:p>
            <a:pPr algn="l" indent="0" marL="0">
              <a:lnSpc>
                <a:spcPct val="100000"/>
              </a:lnSpc>
              <a:spcAft>
                <a:spcPts val="1200"/>
              </a:spcAft>
              <a:buNone/>
            </a:pPr>
            <a:r>
              <a:rPr lang="de-DE" sz="2500" b="0" i="0" dirty="0">
                <a:solidFill>
                  <a:srgbClr val="1A1A1A"/>
                </a:solidFill>
                <a:latin typeface="Arial" pitchFamily="34" charset="0"/>
                <a:ea typeface="Arial" pitchFamily="34" charset="-122"/>
                <a:cs typeface="Arial" pitchFamily="34" charset="-120"/>
              </a:rPr>
              <a:t>Sprich mit einer vertrauten Person.</a:t>
            </a:r>
          </a:p>
          <a:p>
            <a:pPr algn="l" indent="0" marL="0">
              <a:lnSpc>
                <a:spcPct val="100000"/>
              </a:lnSpc>
              <a:spcAft>
                <a:spcPts val="600"/>
              </a:spcAft>
              <a:buNone/>
            </a:pPr>
            <a:r>
              <a:rPr lang="de-DE" sz="2500" b="0" i="0" dirty="0">
                <a:solidFill>
                  <a:srgbClr val="1A1A1A"/>
                </a:solidFill>
                <a:latin typeface="Arial" pitchFamily="34" charset="0"/>
                <a:ea typeface="Arial" pitchFamily="34" charset="-122"/>
                <a:cs typeface="Arial" pitchFamily="34" charset="-120"/>
              </a:rPr>
              <a:t>Zum Beispiel: Familie, Freundin oder Freund.</a:t>
            </a:r>
          </a:p>
          <a:p>
            <a:pPr algn="l" indent="0" marL="0">
              <a:lnSpc>
                <a:spcPct val="100000"/>
              </a:lnSpc>
              <a:spcAft>
                <a:spcPts val="0"/>
              </a:spcAft>
              <a:buNone/>
            </a:pPr>
            <a:r>
              <a:rPr lang="de-DE" sz="2500" b="0" i="0" dirty="0">
                <a:solidFill>
                  <a:srgbClr val="1A1A1A"/>
                </a:solidFill>
                <a:latin typeface="Arial" pitchFamily="34" charset="0"/>
                <a:ea typeface="Arial" pitchFamily="34" charset="-122"/>
                <a:cs typeface="Arial" pitchFamily="34" charset="-120"/>
              </a:rPr>
              <a:t>Oder Unterstützerin oder Unterstützer.</a:t>
            </a:r>
          </a:p>
        </p:txBody>
      </p:sp>
      <p:sp>
        <p:nvSpPr>
          <p:cNvPr id="4" name="Bild-Platzhalter 4"/>
          <p:cNvSpPr/>
          <p:nvPr/>
        </p:nvSpPr>
        <p:spPr>
          <a:xfrm>
            <a:off x="7250000" y="1700000"/>
            <a:ext cx="4300000" cy="4300000"/>
          </a:xfrm>
          <a:prstGeom prst="roundRect">
            <a:avLst>
              <a:gd name="adj" fmla="val 4000"/>
            </a:avLst>
          </a:prstGeom>
          <a:solidFill>
            <a:srgbClr val="F3F6F9"/>
          </a:solidFill>
          <a:ln w="19050">
            <a:solidFill>
              <a:srgbClr val="6B7A89"/>
            </a:solidFill>
            <a:prstDash val="dash"/>
          </a:ln>
        </p:spPr>
        <p:txBody>
          <a:bodyPr wrap="square" lIns="137160" tIns="137160" rIns="137160" bIns="137160" rtlCol="0" anchor="ctr">
            <a:noAutofit/>
          </a:bodyPr>
          <a:lstStyle/>
          <a:p>
            <a:pPr algn="ctr" indent="0" marL="0">
              <a:lnSpc>
                <a:spcPct val="100000"/>
              </a:lnSpc>
              <a:spcAft>
                <a:spcPts val="0"/>
              </a:spcAft>
              <a:buNone/>
            </a:pPr>
            <a:r>
              <a:rPr lang="de-DE" sz="1700" b="0" i="1" dirty="0">
                <a:solidFill>
                  <a:srgbClr val="48586A"/>
                </a:solidFill>
                <a:latin typeface="Arial" pitchFamily="34" charset="0"/>
                <a:ea typeface="Arial" pitchFamily="34" charset="-122"/>
                <a:cs typeface="Arial" pitchFamily="34" charset="-120"/>
              </a:rPr>
              <a:t>[KARTE: Hilfe-Karte. Vorderseite: Ansprechpersonen vor Ort und Hilfe am Telefon. Rückseite: zum Ausfüllen.]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Pause">
    <p:bg>
      <p:bgPr>
        <a:solidFill>
          <a:srgbClr val="00285A"/>
        </a:solidFill>
        <a:effectLst/>
      </p:bgPr>
    </p:bg>
    <p:spTree>
      <p:nvGrpSpPr>
        <p:cNvPr id="1" name=""/>
        <p:cNvGrpSpPr/>
        <p:nvPr/>
      </p:nvGrpSpPr>
      <p:grpSpPr>
        <a:xfrm>
          <a:off x="0" y="0"/>
          <a:ext cx="0" cy="0"/>
          <a:chOff x="0" y="0"/>
          <a:chExt cx="0" cy="0"/>
        </a:xfrm>
      </p:grpSpPr>
      <p:sp>
        <p:nvSpPr>
          <p:cNvPr id="2" name="Text 2"/>
          <p:cNvSpPr/>
          <p:nvPr/>
        </p:nvSpPr>
        <p:spPr>
          <a:xfrm>
            <a:off x="0" y="2400000"/>
            <a:ext cx="12192000" cy="1300000"/>
          </a:xfrm>
          <a:prstGeom prst="rect">
            <a:avLst/>
          </a:prstGeom>
          <a:noFill/>
          <a:ln>
            <a:noFill/>
          </a:ln>
        </p:spPr>
        <p:txBody>
          <a:bodyPr wrap="square" lIns="0" tIns="0" rIns="0" bIns="0" rtlCol="0" anchor="ctr">
            <a:noAutofit/>
          </a:bodyPr>
          <a:lstStyle/>
          <a:p>
            <a:pPr algn="ctr" indent="0" marL="0">
              <a:lnSpc>
                <a:spcPct val="100000"/>
              </a:lnSpc>
              <a:spcAft>
                <a:spcPts val="0"/>
              </a:spcAft>
              <a:buNone/>
            </a:pPr>
            <a:r>
              <a:rPr lang="de-DE" sz="6000" b="1" i="0" dirty="0">
                <a:solidFill>
                  <a:srgbClr val="FFFFFF"/>
                </a:solidFill>
                <a:latin typeface="Arial" pitchFamily="34" charset="0"/>
                <a:ea typeface="Arial" pitchFamily="34" charset="-122"/>
                <a:cs typeface="Arial" pitchFamily="34" charset="-120"/>
              </a:rPr>
              <a:t>Pause</a:t>
            </a:r>
          </a:p>
        </p:txBody>
      </p:sp>
      <p:sp>
        <p:nvSpPr>
          <p:cNvPr id="3" name="Text 3"/>
          <p:cNvSpPr/>
          <p:nvPr/>
        </p:nvSpPr>
        <p:spPr>
          <a:xfrm>
            <a:off x="0" y="3750000"/>
            <a:ext cx="12192000" cy="900000"/>
          </a:xfrm>
          <a:prstGeom prst="rect">
            <a:avLst/>
          </a:prstGeom>
          <a:noFill/>
          <a:ln>
            <a:noFill/>
          </a:ln>
        </p:spPr>
        <p:txBody>
          <a:bodyPr wrap="square" lIns="0" tIns="0" rIns="0" bIns="0" rtlCol="0" anchor="t">
            <a:noAutofit/>
          </a:bodyPr>
          <a:lstStyle/>
          <a:p>
            <a:pPr algn="ctr" indent="0" marL="0">
              <a:lnSpc>
                <a:spcPct val="100000"/>
              </a:lnSpc>
              <a:spcAft>
                <a:spcPts val="0"/>
              </a:spcAft>
              <a:buNone/>
            </a:pPr>
            <a:r>
              <a:rPr lang="de-DE" sz="3000" b="0" i="0" dirty="0">
                <a:solidFill>
                  <a:srgbClr val="AAD1E3"/>
                </a:solidFill>
                <a:latin typeface="Arial" pitchFamily="34" charset="0"/>
                <a:ea typeface="Arial" pitchFamily="34" charset="-122"/>
                <a:cs typeface="Arial" pitchFamily="34" charset="-120"/>
              </a:rPr>
              <a:t>10 Minuten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Praxis">
    <p:bg>
      <p:bgPr>
        <a:solidFill>
          <a:srgbClr val="00285A"/>
        </a:solidFill>
        <a:effectLst/>
      </p:bgPr>
    </p:bg>
    <p:spTree>
      <p:nvGrpSpPr>
        <p:cNvPr id="1" name=""/>
        <p:cNvGrpSpPr/>
        <p:nvPr/>
      </p:nvGrpSpPr>
      <p:grpSpPr>
        <a:xfrm>
          <a:off x="0" y="0"/>
          <a:ext cx="0" cy="0"/>
          <a:chOff x="0" y="0"/>
          <a:chExt cx="0" cy="0"/>
        </a:xfrm>
      </p:grpSpPr>
      <p:sp>
        <p:nvSpPr>
          <p:cNvPr id="2" name="Text 2"/>
          <p:cNvSpPr/>
          <p:nvPr/>
        </p:nvSpPr>
        <p:spPr>
          <a:xfrm>
            <a:off x="0" y="2400000"/>
            <a:ext cx="12192000" cy="1300000"/>
          </a:xfrm>
          <a:prstGeom prst="rect">
            <a:avLst/>
          </a:prstGeom>
          <a:noFill/>
          <a:ln>
            <a:noFill/>
          </a:ln>
        </p:spPr>
        <p:txBody>
          <a:bodyPr wrap="square" lIns="0" tIns="0" rIns="0" bIns="0" rtlCol="0" anchor="ctr">
            <a:noAutofit/>
          </a:bodyPr>
          <a:lstStyle/>
          <a:p>
            <a:pPr algn="ctr" indent="0" marL="0">
              <a:lnSpc>
                <a:spcPct val="100000"/>
              </a:lnSpc>
              <a:spcAft>
                <a:spcPts val="0"/>
              </a:spcAft>
              <a:buNone/>
            </a:pPr>
            <a:r>
              <a:rPr lang="de-DE" sz="6000" b="1" i="0" dirty="0">
                <a:solidFill>
                  <a:srgbClr val="FFFFFF"/>
                </a:solidFill>
                <a:latin typeface="Arial" pitchFamily="34" charset="0"/>
                <a:ea typeface="Arial" pitchFamily="34" charset="-122"/>
                <a:cs typeface="Arial" pitchFamily="34" charset="-120"/>
              </a:rPr>
              <a:t>Praxis</a:t>
            </a:r>
          </a:p>
        </p:txBody>
      </p:sp>
      <p:sp>
        <p:nvSpPr>
          <p:cNvPr id="3" name="Text 3"/>
          <p:cNvSpPr/>
          <p:nvPr/>
        </p:nvSpPr>
        <p:spPr>
          <a:xfrm>
            <a:off x="0" y="3750000"/>
            <a:ext cx="12192000" cy="900000"/>
          </a:xfrm>
          <a:prstGeom prst="rect">
            <a:avLst/>
          </a:prstGeom>
          <a:noFill/>
          <a:ln>
            <a:noFill/>
          </a:ln>
        </p:spPr>
        <p:txBody>
          <a:bodyPr wrap="square" lIns="0" tIns="0" rIns="0" bIns="0" rtlCol="0" anchor="t">
            <a:noAutofit/>
          </a:bodyPr>
          <a:lstStyle/>
          <a:p>
            <a:pPr algn="ctr" indent="0" marL="0">
              <a:lnSpc>
                <a:spcPct val="100000"/>
              </a:lnSpc>
              <a:spcAft>
                <a:spcPts val="0"/>
              </a:spcAft>
              <a:buNone/>
            </a:pPr>
            <a:r>
              <a:rPr lang="de-DE" sz="3000" b="0" i="0" dirty="0">
                <a:solidFill>
                  <a:srgbClr val="AAD1E3"/>
                </a:solidFill>
                <a:latin typeface="Arial" pitchFamily="34" charset="0"/>
                <a:ea typeface="Arial" pitchFamily="34" charset="-122"/>
                <a:cs typeface="Arial" pitchFamily="34" charset="-120"/>
              </a:rPr>
              <a:t>Wir stellen Instagram zusammen ein.</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canne den Code und mach mit">
    <p:spTree>
      <p:nvGrpSpPr>
        <p:cNvPr id="1" name=""/>
        <p:cNvGrpSpPr/>
        <p:nvPr/>
      </p:nvGrpSpPr>
      <p:grpSpPr>
        <a:xfrm>
          <a:off x="0" y="0"/>
          <a:ext cx="0" cy="0"/>
          <a:chOff x="0" y="0"/>
          <a:chExt cx="0" cy="0"/>
        </a:xfrm>
      </p:grpSpPr>
      <p:sp>
        <p:nvSpPr>
          <p:cNvPr id="2" name="Titel 2"/>
          <p:cNvSpPr/>
          <p:nvPr/>
        </p:nvSpPr>
        <p:spPr>
          <a:xfrm>
            <a:off x="640080" y="400000"/>
            <a:ext cx="10911840" cy="10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3400" b="1" i="0" dirty="0">
                <a:solidFill>
                  <a:srgbClr val="00285A"/>
                </a:solidFill>
                <a:latin typeface="Arial" pitchFamily="34" charset="0"/>
                <a:ea typeface="Arial" pitchFamily="34" charset="-122"/>
                <a:cs typeface="Arial" pitchFamily="34" charset="-120"/>
              </a:rPr>
              <a:t>Scanne den Code und mach mit</a:t>
            </a:r>
          </a:p>
        </p:txBody>
      </p:sp>
      <p:sp>
        <p:nvSpPr>
          <p:cNvPr id="3" name="Text 3"/>
          <p:cNvSpPr/>
          <p:nvPr/>
        </p:nvSpPr>
        <p:spPr>
          <a:xfrm>
            <a:off x="640080" y="1500000"/>
            <a:ext cx="3700000" cy="3700000"/>
          </a:xfrm>
          <a:prstGeom prst="roundRect">
            <a:avLst>
              <a:gd name="adj" fmla="val 4000"/>
            </a:avLst>
          </a:prstGeom>
          <a:solidFill>
            <a:srgbClr val="FFFFFF"/>
          </a:solidFill>
          <a:ln w="19050">
            <a:solidFill>
              <a:srgbClr val="AAD1E3"/>
            </a:solidFill>
            <a:prstDash val="solid"/>
          </a:ln>
          <a:effectLst>
            <a:outerShdw sx="100000" sy="100000" kx="0" ky="0" algn="bl" rotWithShape="0" blurRad="88900" dist="25400" dir="5400000">
              <a:srgbClr val="000000">
                <a:alpha val="14000"/>
              </a:srgbClr>
            </a:outerShdw>
          </a:effectLst>
        </p:spPr>
      </p:sp>
      <p:pic>
        <p:nvPicPr>
          <p:cNvPr id="4" name="QR-Code 4" descr="QR-Code zur Praxis-Seite Instagram"/>
          <p:cNvPicPr>
            <a:picLocks noChangeAspect="1"/>
          </p:cNvPicPr>
          <p:nvPr/>
        </p:nvPicPr>
        <p:blipFill>
          <a:blip r:embed="rId3"/>
          <a:stretch>
            <a:fillRect/>
          </a:stretch>
        </p:blipFill>
        <p:spPr>
          <a:xfrm>
            <a:off x="890080" y="1750000"/>
            <a:ext cx="3200000" cy="3200000"/>
          </a:xfrm>
          <a:prstGeom prst="rect">
            <a:avLst/>
          </a:prstGeom>
        </p:spPr>
      </p:pic>
      <p:sp>
        <p:nvSpPr>
          <p:cNvPr id="5" name="Text 5"/>
          <p:cNvSpPr/>
          <p:nvPr/>
        </p:nvSpPr>
        <p:spPr>
          <a:xfrm>
            <a:off x="640080" y="5250000"/>
            <a:ext cx="3700000" cy="700000"/>
          </a:xfrm>
          <a:prstGeom prst="rect">
            <a:avLst/>
          </a:prstGeom>
          <a:noFill/>
          <a:ln>
            <a:noFill/>
          </a:ln>
        </p:spPr>
        <p:txBody>
          <a:bodyPr wrap="square" lIns="0" tIns="0" rIns="0" bIns="0" rtlCol="0" anchor="t">
            <a:noAutofit/>
          </a:bodyPr>
          <a:lstStyle/>
          <a:p>
            <a:pPr algn="ctr" indent="0" marL="0">
              <a:lnSpc>
                <a:spcPct val="100000"/>
              </a:lnSpc>
              <a:spcAft>
                <a:spcPts val="0"/>
              </a:spcAft>
              <a:buNone/>
            </a:pPr>
            <a:r>
              <a:rPr lang="de-DE" sz="2000" b="1" i="0" dirty="0">
                <a:solidFill>
                  <a:srgbClr val="00285A"/>
                </a:solidFill>
                <a:latin typeface="Arial" pitchFamily="34" charset="0"/>
                <a:ea typeface="Arial" pitchFamily="34" charset="-122"/>
                <a:cs typeface="Arial" pitchFamily="34" charset="-120"/>
              </a:rPr>
              <a:t>Zur Praxis-Seite</a:t>
            </a:r>
          </a:p>
        </p:txBody>
      </p:sp>
      <p:sp>
        <p:nvSpPr>
          <p:cNvPr id="6" name="Zeile 6"/>
          <p:cNvSpPr/>
          <p:nvPr/>
        </p:nvSpPr>
        <p:spPr>
          <a:xfrm>
            <a:off x="4700000" y="1500000"/>
            <a:ext cx="6850000" cy="700000"/>
          </a:xfrm>
          <a:prstGeom prst="roundRect">
            <a:avLst>
              <a:gd name="adj" fmla="val 12000"/>
            </a:avLst>
          </a:prstGeom>
          <a:solidFill>
            <a:srgbClr val="D8EAF2"/>
          </a:solidFill>
          <a:ln w="12700">
            <a:solidFill>
              <a:srgbClr val="AAD1E3"/>
            </a:solidFill>
            <a:prstDash val="solid"/>
          </a:ln>
        </p:spPr>
      </p:sp>
      <p:sp>
        <p:nvSpPr>
          <p:cNvPr id="7" name="Kreis 7"/>
          <p:cNvSpPr/>
          <p:nvPr/>
        </p:nvSpPr>
        <p:spPr>
          <a:xfrm>
            <a:off x="4830000" y="1605000"/>
            <a:ext cx="489999" cy="489999"/>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1955" b="1" i="0" dirty="0">
                <a:solidFill>
                  <a:srgbClr val="00285A"/>
                </a:solidFill>
                <a:latin typeface="Arial" pitchFamily="34" charset="0"/>
                <a:ea typeface="Arial" pitchFamily="34" charset="-122"/>
                <a:cs typeface="Arial" pitchFamily="34" charset="-120"/>
              </a:rPr>
              <a:t>1</a:t>
            </a:r>
          </a:p>
        </p:txBody>
      </p:sp>
      <p:sp>
        <p:nvSpPr>
          <p:cNvPr id="8" name="Text 8"/>
          <p:cNvSpPr/>
          <p:nvPr/>
        </p:nvSpPr>
        <p:spPr>
          <a:xfrm>
            <a:off x="5499999" y="1500000"/>
            <a:ext cx="5850001" cy="7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300" b="0" i="0" dirty="0">
                <a:solidFill>
                  <a:srgbClr val="1A1A1A"/>
                </a:solidFill>
                <a:latin typeface="Arial" pitchFamily="34" charset="0"/>
                <a:ea typeface="Arial" pitchFamily="34" charset="-122"/>
                <a:cs typeface="Arial" pitchFamily="34" charset="-120"/>
              </a:rPr>
              <a:t>Öffne die Kamera am Handy.</a:t>
            </a:r>
          </a:p>
        </p:txBody>
      </p:sp>
      <p:sp>
        <p:nvSpPr>
          <p:cNvPr id="9" name="Zeile 9"/>
          <p:cNvSpPr/>
          <p:nvPr/>
        </p:nvSpPr>
        <p:spPr>
          <a:xfrm>
            <a:off x="4700000" y="2320000"/>
            <a:ext cx="6850000" cy="700000"/>
          </a:xfrm>
          <a:prstGeom prst="roundRect">
            <a:avLst>
              <a:gd name="adj" fmla="val 12000"/>
            </a:avLst>
          </a:prstGeom>
          <a:solidFill>
            <a:srgbClr val="D8EAF2"/>
          </a:solidFill>
          <a:ln w="12700">
            <a:solidFill>
              <a:srgbClr val="AAD1E3"/>
            </a:solidFill>
            <a:prstDash val="solid"/>
          </a:ln>
        </p:spPr>
      </p:sp>
      <p:sp>
        <p:nvSpPr>
          <p:cNvPr id="10" name="Kreis 10"/>
          <p:cNvSpPr/>
          <p:nvPr/>
        </p:nvSpPr>
        <p:spPr>
          <a:xfrm>
            <a:off x="4830000" y="2425000"/>
            <a:ext cx="489999" cy="489999"/>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1955" b="1" i="0" dirty="0">
                <a:solidFill>
                  <a:srgbClr val="00285A"/>
                </a:solidFill>
                <a:latin typeface="Arial" pitchFamily="34" charset="0"/>
                <a:ea typeface="Arial" pitchFamily="34" charset="-122"/>
                <a:cs typeface="Arial" pitchFamily="34" charset="-120"/>
              </a:rPr>
              <a:t>2</a:t>
            </a:r>
          </a:p>
        </p:txBody>
      </p:sp>
      <p:sp>
        <p:nvSpPr>
          <p:cNvPr id="11" name="Text 11"/>
          <p:cNvSpPr/>
          <p:nvPr/>
        </p:nvSpPr>
        <p:spPr>
          <a:xfrm>
            <a:off x="5499999" y="2320000"/>
            <a:ext cx="5850001" cy="7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300" b="0" i="0" dirty="0">
                <a:solidFill>
                  <a:srgbClr val="1A1A1A"/>
                </a:solidFill>
                <a:latin typeface="Arial" pitchFamily="34" charset="0"/>
                <a:ea typeface="Arial" pitchFamily="34" charset="-122"/>
                <a:cs typeface="Arial" pitchFamily="34" charset="-120"/>
              </a:rPr>
              <a:t>Halte sie auf den Code.</a:t>
            </a:r>
          </a:p>
        </p:txBody>
      </p:sp>
      <p:sp>
        <p:nvSpPr>
          <p:cNvPr id="12" name="Zeile 12"/>
          <p:cNvSpPr/>
          <p:nvPr/>
        </p:nvSpPr>
        <p:spPr>
          <a:xfrm>
            <a:off x="4700000" y="3140000"/>
            <a:ext cx="6850000" cy="700000"/>
          </a:xfrm>
          <a:prstGeom prst="roundRect">
            <a:avLst>
              <a:gd name="adj" fmla="val 12000"/>
            </a:avLst>
          </a:prstGeom>
          <a:solidFill>
            <a:srgbClr val="D8EAF2"/>
          </a:solidFill>
          <a:ln w="12700">
            <a:solidFill>
              <a:srgbClr val="AAD1E3"/>
            </a:solidFill>
            <a:prstDash val="solid"/>
          </a:ln>
        </p:spPr>
      </p:sp>
      <p:sp>
        <p:nvSpPr>
          <p:cNvPr id="13" name="Kreis 13"/>
          <p:cNvSpPr/>
          <p:nvPr/>
        </p:nvSpPr>
        <p:spPr>
          <a:xfrm>
            <a:off x="4830000" y="3245000"/>
            <a:ext cx="489999" cy="489999"/>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1955" b="1" i="0" dirty="0">
                <a:solidFill>
                  <a:srgbClr val="00285A"/>
                </a:solidFill>
                <a:latin typeface="Arial" pitchFamily="34" charset="0"/>
                <a:ea typeface="Arial" pitchFamily="34" charset="-122"/>
                <a:cs typeface="Arial" pitchFamily="34" charset="-120"/>
              </a:rPr>
              <a:t>3</a:t>
            </a:r>
          </a:p>
        </p:txBody>
      </p:sp>
      <p:sp>
        <p:nvSpPr>
          <p:cNvPr id="14" name="Text 14"/>
          <p:cNvSpPr/>
          <p:nvPr/>
        </p:nvSpPr>
        <p:spPr>
          <a:xfrm>
            <a:off x="5499999" y="3140000"/>
            <a:ext cx="5850001" cy="7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300" b="0" i="0" dirty="0">
                <a:solidFill>
                  <a:srgbClr val="1A1A1A"/>
                </a:solidFill>
                <a:latin typeface="Arial" pitchFamily="34" charset="0"/>
                <a:ea typeface="Arial" pitchFamily="34" charset="-122"/>
                <a:cs typeface="Arial" pitchFamily="34" charset="-120"/>
              </a:rPr>
              <a:t>Tippe auf den Link.</a:t>
            </a:r>
          </a:p>
        </p:txBody>
      </p:sp>
      <p:sp>
        <p:nvSpPr>
          <p:cNvPr id="15" name="Zeile 15"/>
          <p:cNvSpPr/>
          <p:nvPr/>
        </p:nvSpPr>
        <p:spPr>
          <a:xfrm>
            <a:off x="4700000" y="3960000"/>
            <a:ext cx="6850000" cy="700000"/>
          </a:xfrm>
          <a:prstGeom prst="roundRect">
            <a:avLst>
              <a:gd name="adj" fmla="val 12000"/>
            </a:avLst>
          </a:prstGeom>
          <a:solidFill>
            <a:srgbClr val="D8EAF2"/>
          </a:solidFill>
          <a:ln w="12700">
            <a:solidFill>
              <a:srgbClr val="AAD1E3"/>
            </a:solidFill>
            <a:prstDash val="solid"/>
          </a:ln>
        </p:spPr>
      </p:sp>
      <p:sp>
        <p:nvSpPr>
          <p:cNvPr id="16" name="Kreis 16"/>
          <p:cNvSpPr/>
          <p:nvPr/>
        </p:nvSpPr>
        <p:spPr>
          <a:xfrm>
            <a:off x="4830000" y="4065000"/>
            <a:ext cx="489999" cy="489999"/>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1955" b="1" i="0" dirty="0">
                <a:solidFill>
                  <a:srgbClr val="00285A"/>
                </a:solidFill>
                <a:latin typeface="Arial" pitchFamily="34" charset="0"/>
                <a:ea typeface="Arial" pitchFamily="34" charset="-122"/>
                <a:cs typeface="Arial" pitchFamily="34" charset="-120"/>
              </a:rPr>
              <a:t>4</a:t>
            </a:r>
          </a:p>
        </p:txBody>
      </p:sp>
      <p:sp>
        <p:nvSpPr>
          <p:cNvPr id="17" name="Text 17"/>
          <p:cNvSpPr/>
          <p:nvPr/>
        </p:nvSpPr>
        <p:spPr>
          <a:xfrm>
            <a:off x="5499999" y="3960000"/>
            <a:ext cx="5850001" cy="7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300" b="0" i="0" dirty="0">
                <a:solidFill>
                  <a:srgbClr val="1A1A1A"/>
                </a:solidFill>
                <a:latin typeface="Arial" pitchFamily="34" charset="0"/>
                <a:ea typeface="Arial" pitchFamily="34" charset="-122"/>
                <a:cs typeface="Arial" pitchFamily="34" charset="-120"/>
              </a:rPr>
              <a:t>Wir machen es zusammen.</a:t>
            </a:r>
          </a:p>
        </p:txBody>
      </p:sp>
      <p:sp>
        <p:nvSpPr>
          <p:cNvPr id="18" name="Text 18"/>
          <p:cNvSpPr/>
          <p:nvPr/>
        </p:nvSpPr>
        <p:spPr>
          <a:xfrm>
            <a:off x="4700000" y="4900000"/>
            <a:ext cx="6850000" cy="1150000"/>
          </a:xfrm>
          <a:prstGeom prst="roundRect">
            <a:avLst>
              <a:gd name="adj" fmla="val 8000"/>
            </a:avLst>
          </a:prstGeom>
          <a:solidFill>
            <a:srgbClr val="D8EAF2"/>
          </a:solidFill>
          <a:ln>
            <a:noFill/>
          </a:ln>
        </p:spPr>
        <p:txBody>
          <a:bodyPr wrap="square" lIns="200000" tIns="200000" rIns="200000" bIns="200000" rtlCol="0" anchor="ctr">
            <a:noAutofit/>
          </a:bodyPr>
          <a:lstStyle/>
          <a:p>
            <a:pPr algn="l" indent="0" marL="0">
              <a:lnSpc>
                <a:spcPct val="100000"/>
              </a:lnSpc>
              <a:spcAft>
                <a:spcPts val="0"/>
              </a:spcAft>
              <a:buNone/>
            </a:pPr>
            <a:r>
              <a:rPr lang="de-DE" sz="2000" b="0" i="0" dirty="0">
                <a:solidFill>
                  <a:srgbClr val="00285A"/>
                </a:solidFill>
                <a:latin typeface="Arial" pitchFamily="34" charset="0"/>
                <a:ea typeface="Arial" pitchFamily="34" charset="-122"/>
                <a:cs typeface="Arial" pitchFamily="34" charset="-120"/>
              </a:rPr>
              <a:t>Kein Handy oder kein Konto? Schau bei jemandem mit. Oder mach die Übung: Ein Konzert-Foto teilen.</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Das stellen wir zusammen ein">
    <p:spTree>
      <p:nvGrpSpPr>
        <p:cNvPr id="1" name=""/>
        <p:cNvGrpSpPr/>
        <p:nvPr/>
      </p:nvGrpSpPr>
      <p:grpSpPr>
        <a:xfrm>
          <a:off x="0" y="0"/>
          <a:ext cx="0" cy="0"/>
          <a:chOff x="0" y="0"/>
          <a:chExt cx="0" cy="0"/>
        </a:xfrm>
      </p:grpSpPr>
      <p:sp>
        <p:nvSpPr>
          <p:cNvPr id="2" name="Titel 2"/>
          <p:cNvSpPr/>
          <p:nvPr/>
        </p:nvSpPr>
        <p:spPr>
          <a:xfrm>
            <a:off x="640080" y="400000"/>
            <a:ext cx="10911840" cy="10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3400" b="1" i="0" dirty="0">
                <a:solidFill>
                  <a:srgbClr val="00285A"/>
                </a:solidFill>
                <a:latin typeface="Arial" pitchFamily="34" charset="0"/>
                <a:ea typeface="Arial" pitchFamily="34" charset="-122"/>
                <a:cs typeface="Arial" pitchFamily="34" charset="-120"/>
              </a:rPr>
              <a:t>Das stellen wir zusammen ein</a:t>
            </a:r>
          </a:p>
        </p:txBody>
      </p:sp>
      <p:sp>
        <p:nvSpPr>
          <p:cNvPr id="3" name="Text 3"/>
          <p:cNvSpPr/>
          <p:nvPr/>
        </p:nvSpPr>
        <p:spPr>
          <a:xfrm>
            <a:off x="640080" y="1450000"/>
            <a:ext cx="6500000" cy="6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400" b="1" i="0" dirty="0">
                <a:solidFill>
                  <a:srgbClr val="00285A"/>
                </a:solidFill>
                <a:latin typeface="Arial" pitchFamily="34" charset="0"/>
                <a:ea typeface="Arial" pitchFamily="34" charset="-122"/>
                <a:cs typeface="Arial" pitchFamily="34" charset="-120"/>
              </a:rPr>
              <a:t>Das machen wir zuerst:</a:t>
            </a:r>
          </a:p>
        </p:txBody>
      </p:sp>
      <p:sp>
        <p:nvSpPr>
          <p:cNvPr id="4" name="Zeile 4"/>
          <p:cNvSpPr/>
          <p:nvPr/>
        </p:nvSpPr>
        <p:spPr>
          <a:xfrm>
            <a:off x="640080" y="2100000"/>
            <a:ext cx="6500000" cy="900000"/>
          </a:xfrm>
          <a:prstGeom prst="roundRect">
            <a:avLst>
              <a:gd name="adj" fmla="val 12000"/>
            </a:avLst>
          </a:prstGeom>
          <a:solidFill>
            <a:srgbClr val="D8EAF2"/>
          </a:solidFill>
          <a:ln w="12700">
            <a:solidFill>
              <a:srgbClr val="AAD1E3"/>
            </a:solidFill>
            <a:prstDash val="solid"/>
          </a:ln>
        </p:spPr>
      </p:sp>
      <p:sp>
        <p:nvSpPr>
          <p:cNvPr id="5" name="Kreis 5"/>
          <p:cNvSpPr/>
          <p:nvPr/>
        </p:nvSpPr>
        <p:spPr>
          <a:xfrm>
            <a:off x="770080" y="2235000"/>
            <a:ext cx="630000" cy="63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1870" b="1" i="0" dirty="0">
                <a:solidFill>
                  <a:srgbClr val="00285A"/>
                </a:solidFill>
                <a:latin typeface="Arial" pitchFamily="34" charset="0"/>
                <a:ea typeface="Arial" pitchFamily="34" charset="-122"/>
                <a:cs typeface="Arial" pitchFamily="34" charset="-120"/>
              </a:rPr>
              <a:t>1</a:t>
            </a:r>
          </a:p>
        </p:txBody>
      </p:sp>
      <p:sp>
        <p:nvSpPr>
          <p:cNvPr id="6" name="Text 6"/>
          <p:cNvSpPr/>
          <p:nvPr/>
        </p:nvSpPr>
        <p:spPr>
          <a:xfrm>
            <a:off x="1580080" y="2100000"/>
            <a:ext cx="4960000" cy="9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200" b="0" i="0" dirty="0">
                <a:solidFill>
                  <a:srgbClr val="1A1A1A"/>
                </a:solidFill>
                <a:latin typeface="Arial" pitchFamily="34" charset="0"/>
                <a:ea typeface="Arial" pitchFamily="34" charset="-122"/>
                <a:cs typeface="Arial" pitchFamily="34" charset="-120"/>
              </a:rPr>
              <a:t>Konto auf privat stellen</a:t>
            </a:r>
          </a:p>
        </p:txBody>
      </p:sp>
      <p:sp>
        <p:nvSpPr>
          <p:cNvPr id="7" name="Abhaken 7"/>
          <p:cNvSpPr/>
          <p:nvPr/>
        </p:nvSpPr>
        <p:spPr>
          <a:xfrm>
            <a:off x="6620080" y="2345000"/>
            <a:ext cx="410000" cy="410000"/>
          </a:xfrm>
          <a:prstGeom prst="roundRect">
            <a:avLst>
              <a:gd name="adj" fmla="val 12000"/>
            </a:avLst>
          </a:prstGeom>
          <a:solidFill>
            <a:srgbClr val="FFFFFF"/>
          </a:solidFill>
          <a:ln w="25400">
            <a:solidFill>
              <a:srgbClr val="C6C7C8"/>
            </a:solidFill>
            <a:prstDash val="solid"/>
          </a:ln>
        </p:spPr>
      </p:sp>
      <p:sp>
        <p:nvSpPr>
          <p:cNvPr id="8" name="Text 8"/>
          <p:cNvSpPr/>
          <p:nvPr/>
        </p:nvSpPr>
        <p:spPr>
          <a:xfrm>
            <a:off x="640080" y="3250000"/>
            <a:ext cx="6500000" cy="1100000"/>
          </a:xfrm>
          <a:prstGeom prst="roundRect">
            <a:avLst>
              <a:gd name="adj" fmla="val 8000"/>
            </a:avLst>
          </a:prstGeom>
          <a:solidFill>
            <a:srgbClr val="D8EAF2"/>
          </a:solidFill>
          <a:ln>
            <a:noFill/>
          </a:ln>
        </p:spPr>
        <p:txBody>
          <a:bodyPr wrap="square" lIns="250000" tIns="250000" rIns="250000" bIns="250000" rtlCol="0" anchor="ctr">
            <a:noAutofit/>
          </a:bodyPr>
          <a:lstStyle/>
          <a:p>
            <a:pPr algn="l" indent="0" marL="0">
              <a:lnSpc>
                <a:spcPct val="100000"/>
              </a:lnSpc>
              <a:spcAft>
                <a:spcPts val="300"/>
              </a:spcAft>
              <a:buNone/>
            </a:pPr>
            <a:r>
              <a:rPr lang="de-DE" sz="2400" b="1" i="0" dirty="0">
                <a:solidFill>
                  <a:srgbClr val="00285A"/>
                </a:solidFill>
                <a:latin typeface="Arial" pitchFamily="34" charset="0"/>
                <a:ea typeface="Arial" pitchFamily="34" charset="-122"/>
                <a:cs typeface="Arial" pitchFamily="34" charset="-120"/>
              </a:rPr>
              <a:t>Eine Einstellung ist genug.</a:t>
            </a:r>
          </a:p>
          <a:p>
            <a:pPr algn="l" indent="0" marL="0">
              <a:lnSpc>
                <a:spcPct val="100000"/>
              </a:lnSpc>
              <a:spcAft>
                <a:spcPts val="0"/>
              </a:spcAft>
              <a:buNone/>
            </a:pPr>
            <a:r>
              <a:rPr lang="de-DE" sz="2200" b="0" i="0" dirty="0">
                <a:solidFill>
                  <a:srgbClr val="1A1A1A"/>
                </a:solidFill>
                <a:latin typeface="Arial" pitchFamily="34" charset="0"/>
                <a:ea typeface="Arial" pitchFamily="34" charset="-122"/>
                <a:cs typeface="Arial" pitchFamily="34" charset="-120"/>
              </a:rPr>
              <a:t>Du hast dann schon viel geschafft.</a:t>
            </a:r>
          </a:p>
        </p:txBody>
      </p:sp>
      <p:sp>
        <p:nvSpPr>
          <p:cNvPr id="9" name="Text 9"/>
          <p:cNvSpPr/>
          <p:nvPr/>
        </p:nvSpPr>
        <p:spPr>
          <a:xfrm>
            <a:off x="7400000" y="1450000"/>
            <a:ext cx="4150000" cy="6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400" b="1" i="0" dirty="0">
                <a:solidFill>
                  <a:srgbClr val="00285A"/>
                </a:solidFill>
                <a:latin typeface="Arial" pitchFamily="34" charset="0"/>
                <a:ea typeface="Arial" pitchFamily="34" charset="-122"/>
                <a:cs typeface="Arial" pitchFamily="34" charset="-120"/>
              </a:rPr>
              <a:t>Das ist freiwillig:</a:t>
            </a:r>
          </a:p>
        </p:txBody>
      </p:sp>
      <p:sp>
        <p:nvSpPr>
          <p:cNvPr id="10" name="Text 10"/>
          <p:cNvSpPr/>
          <p:nvPr/>
        </p:nvSpPr>
        <p:spPr>
          <a:xfrm>
            <a:off x="7400000" y="2100000"/>
            <a:ext cx="4150000" cy="900000"/>
          </a:xfrm>
          <a:prstGeom prst="roundRect">
            <a:avLst>
              <a:gd name="adj" fmla="val 12000"/>
            </a:avLst>
          </a:prstGeom>
          <a:solidFill>
            <a:srgbClr val="FFFFFF"/>
          </a:solidFill>
          <a:ln w="19050">
            <a:solidFill>
              <a:srgbClr val="AAD1E3"/>
            </a:solidFill>
            <a:prstDash val="solid"/>
          </a:ln>
        </p:spPr>
      </p:sp>
      <p:sp>
        <p:nvSpPr>
          <p:cNvPr id="11" name="Text 11"/>
          <p:cNvSpPr/>
          <p:nvPr/>
        </p:nvSpPr>
        <p:spPr>
          <a:xfrm>
            <a:off x="7600000" y="2100000"/>
            <a:ext cx="3250000" cy="9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000" b="0" i="0" dirty="0">
                <a:solidFill>
                  <a:srgbClr val="1A1A1A"/>
                </a:solidFill>
                <a:latin typeface="Arial" pitchFamily="34" charset="0"/>
                <a:ea typeface="Arial" pitchFamily="34" charset="-122"/>
                <a:cs typeface="Arial" pitchFamily="34" charset="-120"/>
              </a:rPr>
              <a:t>Wer darf dir Nachrichten schicken?</a:t>
            </a:r>
          </a:p>
        </p:txBody>
      </p:sp>
      <p:sp>
        <p:nvSpPr>
          <p:cNvPr id="12" name="Text 12"/>
          <p:cNvSpPr/>
          <p:nvPr/>
        </p:nvSpPr>
        <p:spPr>
          <a:xfrm>
            <a:off x="11030000" y="2345000"/>
            <a:ext cx="410000" cy="410000"/>
          </a:xfrm>
          <a:prstGeom prst="roundRect">
            <a:avLst>
              <a:gd name="adj" fmla="val 12000"/>
            </a:avLst>
          </a:prstGeom>
          <a:solidFill>
            <a:srgbClr val="FFFFFF"/>
          </a:solidFill>
          <a:ln w="25400">
            <a:solidFill>
              <a:srgbClr val="C6C7C8"/>
            </a:solidFill>
            <a:prstDash val="solid"/>
          </a:ln>
        </p:spPr>
      </p:sp>
      <p:sp>
        <p:nvSpPr>
          <p:cNvPr id="13" name="Text 13"/>
          <p:cNvSpPr/>
          <p:nvPr/>
        </p:nvSpPr>
        <p:spPr>
          <a:xfrm>
            <a:off x="7400000" y="3130000"/>
            <a:ext cx="4150000" cy="900000"/>
          </a:xfrm>
          <a:prstGeom prst="roundRect">
            <a:avLst>
              <a:gd name="adj" fmla="val 12000"/>
            </a:avLst>
          </a:prstGeom>
          <a:solidFill>
            <a:srgbClr val="FFFFFF"/>
          </a:solidFill>
          <a:ln w="19050">
            <a:solidFill>
              <a:srgbClr val="AAD1E3"/>
            </a:solidFill>
            <a:prstDash val="solid"/>
          </a:ln>
        </p:spPr>
      </p:sp>
      <p:sp>
        <p:nvSpPr>
          <p:cNvPr id="14" name="Text 14"/>
          <p:cNvSpPr/>
          <p:nvPr/>
        </p:nvSpPr>
        <p:spPr>
          <a:xfrm>
            <a:off x="7600000" y="3130000"/>
            <a:ext cx="3250000" cy="9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000" b="0" i="0" dirty="0">
                <a:solidFill>
                  <a:srgbClr val="1A1A1A"/>
                </a:solidFill>
                <a:latin typeface="Arial" pitchFamily="34" charset="0"/>
                <a:ea typeface="Arial" pitchFamily="34" charset="-122"/>
                <a:cs typeface="Arial" pitchFamily="34" charset="-120"/>
              </a:rPr>
              <a:t>Beleidigende Kommentare verbergen</a:t>
            </a:r>
          </a:p>
        </p:txBody>
      </p:sp>
      <p:sp>
        <p:nvSpPr>
          <p:cNvPr id="15" name="Text 15"/>
          <p:cNvSpPr/>
          <p:nvPr/>
        </p:nvSpPr>
        <p:spPr>
          <a:xfrm>
            <a:off x="11030000" y="3375000"/>
            <a:ext cx="410000" cy="410000"/>
          </a:xfrm>
          <a:prstGeom prst="roundRect">
            <a:avLst>
              <a:gd name="adj" fmla="val 12000"/>
            </a:avLst>
          </a:prstGeom>
          <a:solidFill>
            <a:srgbClr val="FFFFFF"/>
          </a:solidFill>
          <a:ln w="25400">
            <a:solidFill>
              <a:srgbClr val="C6C7C8"/>
            </a:solidFill>
            <a:prstDash val="solid"/>
          </a:ln>
        </p:spPr>
      </p:sp>
      <p:sp>
        <p:nvSpPr>
          <p:cNvPr id="16" name="Text 16"/>
          <p:cNvSpPr/>
          <p:nvPr/>
        </p:nvSpPr>
        <p:spPr>
          <a:xfrm>
            <a:off x="7400000" y="4160000"/>
            <a:ext cx="4150000" cy="900000"/>
          </a:xfrm>
          <a:prstGeom prst="roundRect">
            <a:avLst>
              <a:gd name="adj" fmla="val 12000"/>
            </a:avLst>
          </a:prstGeom>
          <a:solidFill>
            <a:srgbClr val="D8EAF2"/>
          </a:solidFill>
          <a:ln>
            <a:noFill/>
          </a:ln>
        </p:spPr>
        <p:txBody>
          <a:bodyPr wrap="square" lIns="200000" tIns="200000" rIns="200000" bIns="200000" rtlCol="0" anchor="ctr">
            <a:noAutofit/>
          </a:bodyPr>
          <a:lstStyle/>
          <a:p>
            <a:pPr algn="l" indent="0" marL="0">
              <a:lnSpc>
                <a:spcPct val="100000"/>
              </a:lnSpc>
              <a:spcAft>
                <a:spcPts val="0"/>
              </a:spcAft>
              <a:buNone/>
            </a:pPr>
            <a:r>
              <a:rPr lang="de-DE" sz="2000" b="1" i="0" dirty="0">
                <a:solidFill>
                  <a:srgbClr val="00285A"/>
                </a:solidFill>
                <a:latin typeface="Arial" pitchFamily="34" charset="0"/>
                <a:ea typeface="Arial" pitchFamily="34" charset="-122"/>
                <a:cs typeface="Arial" pitchFamily="34" charset="-120"/>
              </a:rPr>
              <a:t>Nur zeigen: Blockieren und Melden</a:t>
            </a:r>
          </a:p>
        </p:txBody>
      </p:sp>
      <p:sp>
        <p:nvSpPr>
          <p:cNvPr id="17" name="Text 17"/>
          <p:cNvSpPr/>
          <p:nvPr/>
        </p:nvSpPr>
        <p:spPr>
          <a:xfrm>
            <a:off x="640080" y="5350000"/>
            <a:ext cx="10911840" cy="1100000"/>
          </a:xfrm>
          <a:prstGeom prst="rect">
            <a:avLst/>
          </a:prstGeom>
          <a:noFill/>
          <a:ln>
            <a:noFill/>
          </a:ln>
        </p:spPr>
        <p:txBody>
          <a:bodyPr wrap="square" lIns="0" tIns="0" rIns="0" bIns="0" rtlCol="0" anchor="ctr">
            <a:noAutofit/>
          </a:bodyPr>
          <a:lstStyle/>
          <a:p>
            <a:pPr algn="l" indent="0" marL="0">
              <a:lnSpc>
                <a:spcPct val="100000"/>
              </a:lnSpc>
              <a:spcAft>
                <a:spcPts val="400"/>
              </a:spcAft>
              <a:buNone/>
            </a:pPr>
            <a:r>
              <a:rPr lang="de-DE" sz="2200" b="1" i="0" dirty="0">
                <a:solidFill>
                  <a:srgbClr val="00285A"/>
                </a:solidFill>
                <a:latin typeface="Arial" pitchFamily="34" charset="0"/>
                <a:ea typeface="Arial" pitchFamily="34" charset="-122"/>
                <a:cs typeface="Arial" pitchFamily="34" charset="-120"/>
              </a:rPr>
              <a:t>Tipp: Öffne die Einstellungen. Oben kannst du suchen.</a:t>
            </a:r>
          </a:p>
          <a:p>
            <a:pPr algn="l" indent="0" marL="0">
              <a:lnSpc>
                <a:spcPct val="100000"/>
              </a:lnSpc>
              <a:spcAft>
                <a:spcPts val="0"/>
              </a:spcAft>
              <a:buNone/>
            </a:pPr>
            <a:r>
              <a:rPr lang="de-DE" sz="2000" b="0" i="0" dirty="0">
                <a:solidFill>
                  <a:srgbClr val="48586A"/>
                </a:solidFill>
                <a:latin typeface="Arial" pitchFamily="34" charset="0"/>
                <a:ea typeface="Arial" pitchFamily="34" charset="-122"/>
                <a:cs typeface="Arial" pitchFamily="34" charset="-120"/>
              </a:rPr>
              <a:t>Die App ändert ihre Menüs oft. Das ist nicht dein Fehler.</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Quiz-Gespräch: Frage 1 von 6">
    <p:spTree>
      <p:nvGrpSpPr>
        <p:cNvPr id="1" name=""/>
        <p:cNvGrpSpPr/>
        <p:nvPr/>
      </p:nvGrpSpPr>
      <p:grpSpPr>
        <a:xfrm>
          <a:off x="0" y="0"/>
          <a:ext cx="0" cy="0"/>
          <a:chOff x="0" y="0"/>
          <a:chExt cx="0" cy="0"/>
        </a:xfrm>
      </p:grpSpPr>
      <p:sp>
        <p:nvSpPr>
          <p:cNvPr id="2" name="Text 2"/>
          <p:cNvSpPr/>
          <p:nvPr/>
        </p:nvSpPr>
        <p:spPr>
          <a:xfrm>
            <a:off x="640080" y="300000"/>
            <a:ext cx="10911840" cy="5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000" b="1" i="0" dirty="0">
                <a:solidFill>
                  <a:srgbClr val="3E96BE"/>
                </a:solidFill>
                <a:latin typeface="Arial" pitchFamily="34" charset="0"/>
                <a:ea typeface="Arial" pitchFamily="34" charset="-122"/>
                <a:cs typeface="Arial" pitchFamily="34" charset="-120"/>
              </a:rPr>
              <a:t>Quiz-Gespräch  ·  Frage 1 von 6</a:t>
            </a:r>
          </a:p>
        </p:txBody>
      </p:sp>
      <p:sp>
        <p:nvSpPr>
          <p:cNvPr id="3" name="Text 3"/>
          <p:cNvSpPr/>
          <p:nvPr/>
        </p:nvSpPr>
        <p:spPr>
          <a:xfrm>
            <a:off x="640080" y="800000"/>
            <a:ext cx="10911840" cy="1500000"/>
          </a:xfrm>
          <a:prstGeom prst="rect">
            <a:avLst/>
          </a:prstGeom>
          <a:noFill/>
          <a:ln>
            <a:noFill/>
          </a:ln>
        </p:spPr>
        <p:txBody>
          <a:bodyPr wrap="square" lIns="0" tIns="0" rIns="0" bIns="0" rtlCol="0" anchor="ctr">
            <a:noAutofit/>
          </a:bodyPr>
          <a:lstStyle/>
          <a:p>
            <a:pPr algn="l" indent="0" marL="0">
              <a:lnSpc>
                <a:spcPct val="105000"/>
              </a:lnSpc>
              <a:spcAft>
                <a:spcPts val="0"/>
              </a:spcAft>
              <a:buNone/>
            </a:pPr>
            <a:r>
              <a:rPr lang="de-DE" sz="3000" b="1" i="0" dirty="0">
                <a:solidFill>
                  <a:srgbClr val="00285A"/>
                </a:solidFill>
                <a:latin typeface="Arial" pitchFamily="34" charset="0"/>
                <a:ea typeface="Arial" pitchFamily="34" charset="-122"/>
                <a:cs typeface="Arial" pitchFamily="34" charset="-120"/>
              </a:rPr>
              <a:t>Dein Konto ist öffentlich. Wer kann deine Bilder sehen?</a:t>
            </a:r>
          </a:p>
        </p:txBody>
      </p:sp>
      <p:sp>
        <p:nvSpPr>
          <p:cNvPr id="4" name="Antwort 4"/>
          <p:cNvSpPr/>
          <p:nvPr/>
        </p:nvSpPr>
        <p:spPr>
          <a:xfrm>
            <a:off x="640080" y="2450000"/>
            <a:ext cx="10911840" cy="980000"/>
          </a:xfrm>
          <a:prstGeom prst="roundRect">
            <a:avLst>
              <a:gd name="adj" fmla="val 10000"/>
            </a:avLst>
          </a:prstGeom>
          <a:solidFill>
            <a:srgbClr val="FFFFFF"/>
          </a:solidFill>
          <a:ln w="25400">
            <a:solidFill>
              <a:srgbClr val="AAD1E3"/>
            </a:solidFill>
            <a:prstDash val="solid"/>
          </a:ln>
          <a:effectLst>
            <a:outerShdw sx="100000" sy="100000" kx="0" ky="0" algn="bl" rotWithShape="0" blurRad="88900" dist="25400" dir="5400000">
              <a:srgbClr val="000000">
                <a:alpha val="14000"/>
              </a:srgbClr>
            </a:outerShdw>
          </a:effectLst>
        </p:spPr>
      </p:sp>
      <p:sp>
        <p:nvSpPr>
          <p:cNvPr id="5" name="Kreis 5"/>
          <p:cNvSpPr/>
          <p:nvPr/>
        </p:nvSpPr>
        <p:spPr>
          <a:xfrm>
            <a:off x="820080" y="2625000"/>
            <a:ext cx="630000" cy="63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600" b="1" i="0" dirty="0">
                <a:solidFill>
                  <a:srgbClr val="00285A"/>
                </a:solidFill>
                <a:latin typeface="Arial" pitchFamily="34" charset="0"/>
                <a:ea typeface="Arial" pitchFamily="34" charset="-122"/>
                <a:cs typeface="Arial" pitchFamily="34" charset="-120"/>
              </a:rPr>
              <a:t>A</a:t>
            </a:r>
          </a:p>
        </p:txBody>
      </p:sp>
      <p:sp>
        <p:nvSpPr>
          <p:cNvPr id="6" name="Text 6"/>
          <p:cNvSpPr/>
          <p:nvPr/>
        </p:nvSpPr>
        <p:spPr>
          <a:xfrm>
            <a:off x="1690080" y="2450000"/>
            <a:ext cx="9661840" cy="9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600" b="0" i="0" dirty="0">
                <a:solidFill>
                  <a:srgbClr val="1A1A1A"/>
                </a:solidFill>
                <a:latin typeface="Arial" pitchFamily="34" charset="0"/>
                <a:ea typeface="Arial" pitchFamily="34" charset="-122"/>
                <a:cs typeface="Arial" pitchFamily="34" charset="-120"/>
              </a:rPr>
              <a:t>Nur meine Follower.</a:t>
            </a:r>
          </a:p>
        </p:txBody>
      </p:sp>
      <p:sp>
        <p:nvSpPr>
          <p:cNvPr id="7" name="Antwort 7"/>
          <p:cNvSpPr/>
          <p:nvPr/>
        </p:nvSpPr>
        <p:spPr>
          <a:xfrm>
            <a:off x="640080" y="3530000"/>
            <a:ext cx="10911840" cy="980000"/>
          </a:xfrm>
          <a:prstGeom prst="roundRect">
            <a:avLst>
              <a:gd name="adj" fmla="val 10000"/>
            </a:avLst>
          </a:prstGeom>
          <a:solidFill>
            <a:srgbClr val="FFFFFF"/>
          </a:solidFill>
          <a:ln w="25400">
            <a:solidFill>
              <a:srgbClr val="AAD1E3"/>
            </a:solidFill>
            <a:prstDash val="solid"/>
          </a:ln>
          <a:effectLst>
            <a:outerShdw sx="100000" sy="100000" kx="0" ky="0" algn="bl" rotWithShape="0" blurRad="88900" dist="25400" dir="5400000">
              <a:srgbClr val="000000">
                <a:alpha val="14000"/>
              </a:srgbClr>
            </a:outerShdw>
          </a:effectLst>
        </p:spPr>
      </p:sp>
      <p:sp>
        <p:nvSpPr>
          <p:cNvPr id="8" name="Kreis 8"/>
          <p:cNvSpPr/>
          <p:nvPr/>
        </p:nvSpPr>
        <p:spPr>
          <a:xfrm>
            <a:off x="820080" y="3705000"/>
            <a:ext cx="630000" cy="63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600" b="1" i="0" dirty="0">
                <a:solidFill>
                  <a:srgbClr val="00285A"/>
                </a:solidFill>
                <a:latin typeface="Arial" pitchFamily="34" charset="0"/>
                <a:ea typeface="Arial" pitchFamily="34" charset="-122"/>
                <a:cs typeface="Arial" pitchFamily="34" charset="-120"/>
              </a:rPr>
              <a:t>B</a:t>
            </a:r>
          </a:p>
        </p:txBody>
      </p:sp>
      <p:sp>
        <p:nvSpPr>
          <p:cNvPr id="9" name="Text 9"/>
          <p:cNvSpPr/>
          <p:nvPr/>
        </p:nvSpPr>
        <p:spPr>
          <a:xfrm>
            <a:off x="1690080" y="3530000"/>
            <a:ext cx="9661840" cy="9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600" b="0" i="0" dirty="0">
                <a:solidFill>
                  <a:srgbClr val="1A1A1A"/>
                </a:solidFill>
                <a:latin typeface="Arial" pitchFamily="34" charset="0"/>
                <a:ea typeface="Arial" pitchFamily="34" charset="-122"/>
                <a:cs typeface="Arial" pitchFamily="34" charset="-120"/>
              </a:rPr>
              <a:t>Alle Menschen.</a:t>
            </a:r>
          </a:p>
        </p:txBody>
      </p:sp>
      <p:sp>
        <p:nvSpPr>
          <p:cNvPr id="10" name="Antwort 10"/>
          <p:cNvSpPr/>
          <p:nvPr/>
        </p:nvSpPr>
        <p:spPr>
          <a:xfrm>
            <a:off x="640080" y="4610000"/>
            <a:ext cx="10911840" cy="980000"/>
          </a:xfrm>
          <a:prstGeom prst="roundRect">
            <a:avLst>
              <a:gd name="adj" fmla="val 10000"/>
            </a:avLst>
          </a:prstGeom>
          <a:solidFill>
            <a:srgbClr val="FFFFFF"/>
          </a:solidFill>
          <a:ln w="25400">
            <a:solidFill>
              <a:srgbClr val="AAD1E3"/>
            </a:solidFill>
            <a:prstDash val="solid"/>
          </a:ln>
          <a:effectLst>
            <a:outerShdw sx="100000" sy="100000" kx="0" ky="0" algn="bl" rotWithShape="0" blurRad="88900" dist="25400" dir="5400000">
              <a:srgbClr val="000000">
                <a:alpha val="14000"/>
              </a:srgbClr>
            </a:outerShdw>
          </a:effectLst>
        </p:spPr>
      </p:sp>
      <p:sp>
        <p:nvSpPr>
          <p:cNvPr id="11" name="Kreis 11"/>
          <p:cNvSpPr/>
          <p:nvPr/>
        </p:nvSpPr>
        <p:spPr>
          <a:xfrm>
            <a:off x="820080" y="4785000"/>
            <a:ext cx="630000" cy="63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600" b="1" i="0" dirty="0">
                <a:solidFill>
                  <a:srgbClr val="00285A"/>
                </a:solidFill>
                <a:latin typeface="Arial" pitchFamily="34" charset="0"/>
                <a:ea typeface="Arial" pitchFamily="34" charset="-122"/>
                <a:cs typeface="Arial" pitchFamily="34" charset="-120"/>
              </a:rPr>
              <a:t>C</a:t>
            </a:r>
          </a:p>
        </p:txBody>
      </p:sp>
      <p:sp>
        <p:nvSpPr>
          <p:cNvPr id="12" name="Text 12"/>
          <p:cNvSpPr/>
          <p:nvPr/>
        </p:nvSpPr>
        <p:spPr>
          <a:xfrm>
            <a:off x="1690080" y="4610000"/>
            <a:ext cx="9661840" cy="9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600" b="0" i="0" dirty="0">
                <a:solidFill>
                  <a:srgbClr val="1A1A1A"/>
                </a:solidFill>
                <a:latin typeface="Arial" pitchFamily="34" charset="0"/>
                <a:ea typeface="Arial" pitchFamily="34" charset="-122"/>
                <a:cs typeface="Arial" pitchFamily="34" charset="-120"/>
              </a:rPr>
              <a:t>Nur ich.</a:t>
            </a:r>
          </a:p>
        </p:txBody>
      </p:sp>
      <p:sp>
        <p:nvSpPr>
          <p:cNvPr id="13" name="Text 13"/>
          <p:cNvSpPr/>
          <p:nvPr/>
        </p:nvSpPr>
        <p:spPr>
          <a:xfrm>
            <a:off x="640080" y="5780000"/>
            <a:ext cx="10911840" cy="7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000" b="0" i="1" dirty="0">
                <a:solidFill>
                  <a:srgbClr val="48586A"/>
                </a:solidFill>
                <a:latin typeface="Arial" pitchFamily="34" charset="0"/>
                <a:ea typeface="Arial" pitchFamily="34" charset="-122"/>
                <a:cs typeface="Arial" pitchFamily="34" charset="-120"/>
              </a:rPr>
              <a:t>Zeig deine Antwort mit der Karte. Dann sprechen wir darüber.</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Quiz-Gespräch: Frage 2 von 6">
    <p:spTree>
      <p:nvGrpSpPr>
        <p:cNvPr id="1" name=""/>
        <p:cNvGrpSpPr/>
        <p:nvPr/>
      </p:nvGrpSpPr>
      <p:grpSpPr>
        <a:xfrm>
          <a:off x="0" y="0"/>
          <a:ext cx="0" cy="0"/>
          <a:chOff x="0" y="0"/>
          <a:chExt cx="0" cy="0"/>
        </a:xfrm>
      </p:grpSpPr>
      <p:sp>
        <p:nvSpPr>
          <p:cNvPr id="2" name="Text 2"/>
          <p:cNvSpPr/>
          <p:nvPr/>
        </p:nvSpPr>
        <p:spPr>
          <a:xfrm>
            <a:off x="640080" y="300000"/>
            <a:ext cx="10911840" cy="5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000" b="1" i="0" dirty="0">
                <a:solidFill>
                  <a:srgbClr val="3E96BE"/>
                </a:solidFill>
                <a:latin typeface="Arial" pitchFamily="34" charset="0"/>
                <a:ea typeface="Arial" pitchFamily="34" charset="-122"/>
                <a:cs typeface="Arial" pitchFamily="34" charset="-120"/>
              </a:rPr>
              <a:t>Quiz-Gespräch  ·  Frage 2 von 6</a:t>
            </a:r>
          </a:p>
        </p:txBody>
      </p:sp>
      <p:sp>
        <p:nvSpPr>
          <p:cNvPr id="3" name="Text 3"/>
          <p:cNvSpPr/>
          <p:nvPr/>
        </p:nvSpPr>
        <p:spPr>
          <a:xfrm>
            <a:off x="640080" y="800000"/>
            <a:ext cx="10911840" cy="1500000"/>
          </a:xfrm>
          <a:prstGeom prst="rect">
            <a:avLst/>
          </a:prstGeom>
          <a:noFill/>
          <a:ln>
            <a:noFill/>
          </a:ln>
        </p:spPr>
        <p:txBody>
          <a:bodyPr wrap="square" lIns="0" tIns="0" rIns="0" bIns="0" rtlCol="0" anchor="ctr">
            <a:noAutofit/>
          </a:bodyPr>
          <a:lstStyle/>
          <a:p>
            <a:pPr algn="l" indent="0" marL="0">
              <a:lnSpc>
                <a:spcPct val="105000"/>
              </a:lnSpc>
              <a:spcAft>
                <a:spcPts val="0"/>
              </a:spcAft>
              <a:buNone/>
            </a:pPr>
            <a:r>
              <a:rPr lang="de-DE" sz="3000" b="1" i="0" dirty="0">
                <a:solidFill>
                  <a:srgbClr val="00285A"/>
                </a:solidFill>
                <a:latin typeface="Arial" pitchFamily="34" charset="0"/>
                <a:ea typeface="Arial" pitchFamily="34" charset="-122"/>
                <a:cs typeface="Arial" pitchFamily="34" charset="-120"/>
              </a:rPr>
              <a:t>Eine Person will dir folgen. Du kennst sie nicht. Ihr Profil-Bild sieht nett aus. Was machst du?</a:t>
            </a:r>
          </a:p>
        </p:txBody>
      </p:sp>
      <p:sp>
        <p:nvSpPr>
          <p:cNvPr id="4" name="Antwort 4"/>
          <p:cNvSpPr/>
          <p:nvPr/>
        </p:nvSpPr>
        <p:spPr>
          <a:xfrm>
            <a:off x="640080" y="2450000"/>
            <a:ext cx="10911840" cy="980000"/>
          </a:xfrm>
          <a:prstGeom prst="roundRect">
            <a:avLst>
              <a:gd name="adj" fmla="val 10000"/>
            </a:avLst>
          </a:prstGeom>
          <a:solidFill>
            <a:srgbClr val="FFFFFF"/>
          </a:solidFill>
          <a:ln w="25400">
            <a:solidFill>
              <a:srgbClr val="AAD1E3"/>
            </a:solidFill>
            <a:prstDash val="solid"/>
          </a:ln>
          <a:effectLst>
            <a:outerShdw sx="100000" sy="100000" kx="0" ky="0" algn="bl" rotWithShape="0" blurRad="88900" dist="25400" dir="5400000">
              <a:srgbClr val="000000">
                <a:alpha val="14000"/>
              </a:srgbClr>
            </a:outerShdw>
          </a:effectLst>
        </p:spPr>
      </p:sp>
      <p:sp>
        <p:nvSpPr>
          <p:cNvPr id="5" name="Kreis 5"/>
          <p:cNvSpPr/>
          <p:nvPr/>
        </p:nvSpPr>
        <p:spPr>
          <a:xfrm>
            <a:off x="820080" y="2625000"/>
            <a:ext cx="630000" cy="63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600" b="1" i="0" dirty="0">
                <a:solidFill>
                  <a:srgbClr val="00285A"/>
                </a:solidFill>
                <a:latin typeface="Arial" pitchFamily="34" charset="0"/>
                <a:ea typeface="Arial" pitchFamily="34" charset="-122"/>
                <a:cs typeface="Arial" pitchFamily="34" charset="-120"/>
              </a:rPr>
              <a:t>A</a:t>
            </a:r>
          </a:p>
        </p:txBody>
      </p:sp>
      <p:sp>
        <p:nvSpPr>
          <p:cNvPr id="6" name="Text 6"/>
          <p:cNvSpPr/>
          <p:nvPr/>
        </p:nvSpPr>
        <p:spPr>
          <a:xfrm>
            <a:off x="1690080" y="2450000"/>
            <a:ext cx="9661840" cy="9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600" b="0" i="0" dirty="0">
                <a:solidFill>
                  <a:srgbClr val="1A1A1A"/>
                </a:solidFill>
                <a:latin typeface="Arial" pitchFamily="34" charset="0"/>
                <a:ea typeface="Arial" pitchFamily="34" charset="-122"/>
                <a:cs typeface="Arial" pitchFamily="34" charset="-120"/>
              </a:rPr>
              <a:t>Ich nehme an. Das Bild sieht nett aus.</a:t>
            </a:r>
          </a:p>
        </p:txBody>
      </p:sp>
      <p:sp>
        <p:nvSpPr>
          <p:cNvPr id="7" name="Antwort 7"/>
          <p:cNvSpPr/>
          <p:nvPr/>
        </p:nvSpPr>
        <p:spPr>
          <a:xfrm>
            <a:off x="640080" y="3530000"/>
            <a:ext cx="10911840" cy="980000"/>
          </a:xfrm>
          <a:prstGeom prst="roundRect">
            <a:avLst>
              <a:gd name="adj" fmla="val 10000"/>
            </a:avLst>
          </a:prstGeom>
          <a:solidFill>
            <a:srgbClr val="FFFFFF"/>
          </a:solidFill>
          <a:ln w="25400">
            <a:solidFill>
              <a:srgbClr val="AAD1E3"/>
            </a:solidFill>
            <a:prstDash val="solid"/>
          </a:ln>
          <a:effectLst>
            <a:outerShdw sx="100000" sy="100000" kx="0" ky="0" algn="bl" rotWithShape="0" blurRad="88900" dist="25400" dir="5400000">
              <a:srgbClr val="000000">
                <a:alpha val="14000"/>
              </a:srgbClr>
            </a:outerShdw>
          </a:effectLst>
        </p:spPr>
      </p:sp>
      <p:sp>
        <p:nvSpPr>
          <p:cNvPr id="8" name="Kreis 8"/>
          <p:cNvSpPr/>
          <p:nvPr/>
        </p:nvSpPr>
        <p:spPr>
          <a:xfrm>
            <a:off x="820080" y="3705000"/>
            <a:ext cx="630000" cy="63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600" b="1" i="0" dirty="0">
                <a:solidFill>
                  <a:srgbClr val="00285A"/>
                </a:solidFill>
                <a:latin typeface="Arial" pitchFamily="34" charset="0"/>
                <a:ea typeface="Arial" pitchFamily="34" charset="-122"/>
                <a:cs typeface="Arial" pitchFamily="34" charset="-120"/>
              </a:rPr>
              <a:t>B</a:t>
            </a:r>
          </a:p>
        </p:txBody>
      </p:sp>
      <p:sp>
        <p:nvSpPr>
          <p:cNvPr id="9" name="Text 9"/>
          <p:cNvSpPr/>
          <p:nvPr/>
        </p:nvSpPr>
        <p:spPr>
          <a:xfrm>
            <a:off x="1690080" y="3530000"/>
            <a:ext cx="9661840" cy="9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600" b="0" i="0" dirty="0">
                <a:solidFill>
                  <a:srgbClr val="1A1A1A"/>
                </a:solidFill>
                <a:latin typeface="Arial" pitchFamily="34" charset="0"/>
                <a:ea typeface="Arial" pitchFamily="34" charset="-122"/>
                <a:cs typeface="Arial" pitchFamily="34" charset="-120"/>
              </a:rPr>
              <a:t>Ich nehme an. Ich kann sie später wieder entfernen.</a:t>
            </a:r>
          </a:p>
        </p:txBody>
      </p:sp>
      <p:sp>
        <p:nvSpPr>
          <p:cNvPr id="10" name="Antwort 10"/>
          <p:cNvSpPr/>
          <p:nvPr/>
        </p:nvSpPr>
        <p:spPr>
          <a:xfrm>
            <a:off x="640080" y="4610000"/>
            <a:ext cx="10911840" cy="980000"/>
          </a:xfrm>
          <a:prstGeom prst="roundRect">
            <a:avLst>
              <a:gd name="adj" fmla="val 10000"/>
            </a:avLst>
          </a:prstGeom>
          <a:solidFill>
            <a:srgbClr val="FFFFFF"/>
          </a:solidFill>
          <a:ln w="25400">
            <a:solidFill>
              <a:srgbClr val="AAD1E3"/>
            </a:solidFill>
            <a:prstDash val="solid"/>
          </a:ln>
          <a:effectLst>
            <a:outerShdw sx="100000" sy="100000" kx="0" ky="0" algn="bl" rotWithShape="0" blurRad="88900" dist="25400" dir="5400000">
              <a:srgbClr val="000000">
                <a:alpha val="14000"/>
              </a:srgbClr>
            </a:outerShdw>
          </a:effectLst>
        </p:spPr>
      </p:sp>
      <p:sp>
        <p:nvSpPr>
          <p:cNvPr id="11" name="Kreis 11"/>
          <p:cNvSpPr/>
          <p:nvPr/>
        </p:nvSpPr>
        <p:spPr>
          <a:xfrm>
            <a:off x="820080" y="4785000"/>
            <a:ext cx="630000" cy="63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600" b="1" i="0" dirty="0">
                <a:solidFill>
                  <a:srgbClr val="00285A"/>
                </a:solidFill>
                <a:latin typeface="Arial" pitchFamily="34" charset="0"/>
                <a:ea typeface="Arial" pitchFamily="34" charset="-122"/>
                <a:cs typeface="Arial" pitchFamily="34" charset="-120"/>
              </a:rPr>
              <a:t>C</a:t>
            </a:r>
          </a:p>
        </p:txBody>
      </p:sp>
      <p:sp>
        <p:nvSpPr>
          <p:cNvPr id="12" name="Text 12"/>
          <p:cNvSpPr/>
          <p:nvPr/>
        </p:nvSpPr>
        <p:spPr>
          <a:xfrm>
            <a:off x="1690080" y="4610000"/>
            <a:ext cx="9661840" cy="9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600" b="0" i="0" dirty="0">
                <a:solidFill>
                  <a:srgbClr val="1A1A1A"/>
                </a:solidFill>
                <a:latin typeface="Arial" pitchFamily="34" charset="0"/>
                <a:ea typeface="Arial" pitchFamily="34" charset="-122"/>
                <a:cs typeface="Arial" pitchFamily="34" charset="-120"/>
              </a:rPr>
              <a:t>Ich lehne ab. Oder ich frage eine vertraute Person.</a:t>
            </a:r>
          </a:p>
        </p:txBody>
      </p:sp>
      <p:sp>
        <p:nvSpPr>
          <p:cNvPr id="13" name="Text 13"/>
          <p:cNvSpPr/>
          <p:nvPr/>
        </p:nvSpPr>
        <p:spPr>
          <a:xfrm>
            <a:off x="640080" y="5780000"/>
            <a:ext cx="10911840" cy="7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000" b="0" i="1" dirty="0">
                <a:solidFill>
                  <a:srgbClr val="48586A"/>
                </a:solidFill>
                <a:latin typeface="Arial" pitchFamily="34" charset="0"/>
                <a:ea typeface="Arial" pitchFamily="34" charset="-122"/>
                <a:cs typeface="Arial" pitchFamily="34" charset="-120"/>
              </a:rPr>
              <a:t>Zeig deine Antwort mit der Karte. Dann sprechen wir darüber.</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Quiz-Gespräch: Frage 3 von 6">
    <p:spTree>
      <p:nvGrpSpPr>
        <p:cNvPr id="1" name=""/>
        <p:cNvGrpSpPr/>
        <p:nvPr/>
      </p:nvGrpSpPr>
      <p:grpSpPr>
        <a:xfrm>
          <a:off x="0" y="0"/>
          <a:ext cx="0" cy="0"/>
          <a:chOff x="0" y="0"/>
          <a:chExt cx="0" cy="0"/>
        </a:xfrm>
      </p:grpSpPr>
      <p:sp>
        <p:nvSpPr>
          <p:cNvPr id="2" name="Text 2"/>
          <p:cNvSpPr/>
          <p:nvPr/>
        </p:nvSpPr>
        <p:spPr>
          <a:xfrm>
            <a:off x="640080" y="300000"/>
            <a:ext cx="10911840" cy="5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000" b="1" i="0" dirty="0">
                <a:solidFill>
                  <a:srgbClr val="3E96BE"/>
                </a:solidFill>
                <a:latin typeface="Arial" pitchFamily="34" charset="0"/>
                <a:ea typeface="Arial" pitchFamily="34" charset="-122"/>
                <a:cs typeface="Arial" pitchFamily="34" charset="-120"/>
              </a:rPr>
              <a:t>Quiz-Gespräch  ·  Frage 3 von 6</a:t>
            </a:r>
          </a:p>
        </p:txBody>
      </p:sp>
      <p:sp>
        <p:nvSpPr>
          <p:cNvPr id="3" name="Text 3"/>
          <p:cNvSpPr/>
          <p:nvPr/>
        </p:nvSpPr>
        <p:spPr>
          <a:xfrm>
            <a:off x="640080" y="800000"/>
            <a:ext cx="10911840" cy="1500000"/>
          </a:xfrm>
          <a:prstGeom prst="rect">
            <a:avLst/>
          </a:prstGeom>
          <a:noFill/>
          <a:ln>
            <a:noFill/>
          </a:ln>
        </p:spPr>
        <p:txBody>
          <a:bodyPr wrap="square" lIns="0" tIns="0" rIns="0" bIns="0" rtlCol="0" anchor="ctr">
            <a:noAutofit/>
          </a:bodyPr>
          <a:lstStyle/>
          <a:p>
            <a:pPr algn="l" indent="0" marL="0">
              <a:lnSpc>
                <a:spcPct val="105000"/>
              </a:lnSpc>
              <a:spcAft>
                <a:spcPts val="0"/>
              </a:spcAft>
              <a:buNone/>
            </a:pPr>
            <a:r>
              <a:rPr lang="de-DE" sz="3000" b="1" i="0" dirty="0">
                <a:solidFill>
                  <a:srgbClr val="00285A"/>
                </a:solidFill>
                <a:latin typeface="Arial" pitchFamily="34" charset="0"/>
                <a:ea typeface="Arial" pitchFamily="34" charset="-122"/>
                <a:cs typeface="Arial" pitchFamily="34" charset="-120"/>
              </a:rPr>
              <a:t>Du machst ein Foto vor deiner Haus-Tür. Fremde sollen nicht wissen, wo du wohnst. Was hilft?</a:t>
            </a:r>
          </a:p>
        </p:txBody>
      </p:sp>
      <p:sp>
        <p:nvSpPr>
          <p:cNvPr id="4" name="Antwort 4"/>
          <p:cNvSpPr/>
          <p:nvPr/>
        </p:nvSpPr>
        <p:spPr>
          <a:xfrm>
            <a:off x="640080" y="2450000"/>
            <a:ext cx="10911840" cy="980000"/>
          </a:xfrm>
          <a:prstGeom prst="roundRect">
            <a:avLst>
              <a:gd name="adj" fmla="val 10000"/>
            </a:avLst>
          </a:prstGeom>
          <a:solidFill>
            <a:srgbClr val="FFFFFF"/>
          </a:solidFill>
          <a:ln w="25400">
            <a:solidFill>
              <a:srgbClr val="AAD1E3"/>
            </a:solidFill>
            <a:prstDash val="solid"/>
          </a:ln>
          <a:effectLst>
            <a:outerShdw sx="100000" sy="100000" kx="0" ky="0" algn="bl" rotWithShape="0" blurRad="88900" dist="25400" dir="5400000">
              <a:srgbClr val="000000">
                <a:alpha val="14000"/>
              </a:srgbClr>
            </a:outerShdw>
          </a:effectLst>
        </p:spPr>
      </p:sp>
      <p:sp>
        <p:nvSpPr>
          <p:cNvPr id="5" name="Kreis 5"/>
          <p:cNvSpPr/>
          <p:nvPr/>
        </p:nvSpPr>
        <p:spPr>
          <a:xfrm>
            <a:off x="820080" y="2625000"/>
            <a:ext cx="630000" cy="63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600" b="1" i="0" dirty="0">
                <a:solidFill>
                  <a:srgbClr val="00285A"/>
                </a:solidFill>
                <a:latin typeface="Arial" pitchFamily="34" charset="0"/>
                <a:ea typeface="Arial" pitchFamily="34" charset="-122"/>
                <a:cs typeface="Arial" pitchFamily="34" charset="-120"/>
              </a:rPr>
              <a:t>A</a:t>
            </a:r>
          </a:p>
        </p:txBody>
      </p:sp>
      <p:sp>
        <p:nvSpPr>
          <p:cNvPr id="6" name="Text 6"/>
          <p:cNvSpPr/>
          <p:nvPr/>
        </p:nvSpPr>
        <p:spPr>
          <a:xfrm>
            <a:off x="1690080" y="2450000"/>
            <a:ext cx="9661840" cy="9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600" b="0" i="0" dirty="0">
                <a:solidFill>
                  <a:srgbClr val="1A1A1A"/>
                </a:solidFill>
                <a:latin typeface="Arial" pitchFamily="34" charset="0"/>
                <a:ea typeface="Arial" pitchFamily="34" charset="-122"/>
                <a:cs typeface="Arial" pitchFamily="34" charset="-120"/>
              </a:rPr>
              <a:t>Ich prüfe: Sieht man die Haus-Nummer oder das Straßen-Schild?</a:t>
            </a:r>
          </a:p>
        </p:txBody>
      </p:sp>
      <p:sp>
        <p:nvSpPr>
          <p:cNvPr id="7" name="Antwort 7"/>
          <p:cNvSpPr/>
          <p:nvPr/>
        </p:nvSpPr>
        <p:spPr>
          <a:xfrm>
            <a:off x="640080" y="3530000"/>
            <a:ext cx="10911840" cy="980000"/>
          </a:xfrm>
          <a:prstGeom prst="roundRect">
            <a:avLst>
              <a:gd name="adj" fmla="val 10000"/>
            </a:avLst>
          </a:prstGeom>
          <a:solidFill>
            <a:srgbClr val="FFFFFF"/>
          </a:solidFill>
          <a:ln w="25400">
            <a:solidFill>
              <a:srgbClr val="AAD1E3"/>
            </a:solidFill>
            <a:prstDash val="solid"/>
          </a:ln>
          <a:effectLst>
            <a:outerShdw sx="100000" sy="100000" kx="0" ky="0" algn="bl" rotWithShape="0" blurRad="88900" dist="25400" dir="5400000">
              <a:srgbClr val="000000">
                <a:alpha val="14000"/>
              </a:srgbClr>
            </a:outerShdw>
          </a:effectLst>
        </p:spPr>
      </p:sp>
      <p:sp>
        <p:nvSpPr>
          <p:cNvPr id="8" name="Kreis 8"/>
          <p:cNvSpPr/>
          <p:nvPr/>
        </p:nvSpPr>
        <p:spPr>
          <a:xfrm>
            <a:off x="820080" y="3705000"/>
            <a:ext cx="630000" cy="63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600" b="1" i="0" dirty="0">
                <a:solidFill>
                  <a:srgbClr val="00285A"/>
                </a:solidFill>
                <a:latin typeface="Arial" pitchFamily="34" charset="0"/>
                <a:ea typeface="Arial" pitchFamily="34" charset="-122"/>
                <a:cs typeface="Arial" pitchFamily="34" charset="-120"/>
              </a:rPr>
              <a:t>B</a:t>
            </a:r>
          </a:p>
        </p:txBody>
      </p:sp>
      <p:sp>
        <p:nvSpPr>
          <p:cNvPr id="9" name="Text 9"/>
          <p:cNvSpPr/>
          <p:nvPr/>
        </p:nvSpPr>
        <p:spPr>
          <a:xfrm>
            <a:off x="1690080" y="3530000"/>
            <a:ext cx="9661840" cy="9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600" b="0" i="0" dirty="0">
                <a:solidFill>
                  <a:srgbClr val="1A1A1A"/>
                </a:solidFill>
                <a:latin typeface="Arial" pitchFamily="34" charset="0"/>
                <a:ea typeface="Arial" pitchFamily="34" charset="-122"/>
                <a:cs typeface="Arial" pitchFamily="34" charset="-120"/>
              </a:rPr>
              <a:t>Ich poste das Foto erst am nächsten Tag.</a:t>
            </a:r>
          </a:p>
        </p:txBody>
      </p:sp>
      <p:sp>
        <p:nvSpPr>
          <p:cNvPr id="10" name="Antwort 10"/>
          <p:cNvSpPr/>
          <p:nvPr/>
        </p:nvSpPr>
        <p:spPr>
          <a:xfrm>
            <a:off x="640080" y="4610000"/>
            <a:ext cx="10911840" cy="980000"/>
          </a:xfrm>
          <a:prstGeom prst="roundRect">
            <a:avLst>
              <a:gd name="adj" fmla="val 10000"/>
            </a:avLst>
          </a:prstGeom>
          <a:solidFill>
            <a:srgbClr val="FFFFFF"/>
          </a:solidFill>
          <a:ln w="25400">
            <a:solidFill>
              <a:srgbClr val="AAD1E3"/>
            </a:solidFill>
            <a:prstDash val="solid"/>
          </a:ln>
          <a:effectLst>
            <a:outerShdw sx="100000" sy="100000" kx="0" ky="0" algn="bl" rotWithShape="0" blurRad="88900" dist="25400" dir="5400000">
              <a:srgbClr val="000000">
                <a:alpha val="14000"/>
              </a:srgbClr>
            </a:outerShdw>
          </a:effectLst>
        </p:spPr>
      </p:sp>
      <p:sp>
        <p:nvSpPr>
          <p:cNvPr id="11" name="Kreis 11"/>
          <p:cNvSpPr/>
          <p:nvPr/>
        </p:nvSpPr>
        <p:spPr>
          <a:xfrm>
            <a:off x="820080" y="4785000"/>
            <a:ext cx="630000" cy="63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600" b="1" i="0" dirty="0">
                <a:solidFill>
                  <a:srgbClr val="00285A"/>
                </a:solidFill>
                <a:latin typeface="Arial" pitchFamily="34" charset="0"/>
                <a:ea typeface="Arial" pitchFamily="34" charset="-122"/>
                <a:cs typeface="Arial" pitchFamily="34" charset="-120"/>
              </a:rPr>
              <a:t>C</a:t>
            </a:r>
          </a:p>
        </p:txBody>
      </p:sp>
      <p:sp>
        <p:nvSpPr>
          <p:cNvPr id="12" name="Text 12"/>
          <p:cNvSpPr/>
          <p:nvPr/>
        </p:nvSpPr>
        <p:spPr>
          <a:xfrm>
            <a:off x="1690080" y="4610000"/>
            <a:ext cx="9661840" cy="9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600" b="0" i="0" dirty="0">
                <a:solidFill>
                  <a:srgbClr val="1A1A1A"/>
                </a:solidFill>
                <a:latin typeface="Arial" pitchFamily="34" charset="0"/>
                <a:ea typeface="Arial" pitchFamily="34" charset="-122"/>
                <a:cs typeface="Arial" pitchFamily="34" charset="-120"/>
              </a:rPr>
              <a:t>Ich mache das Foto schwarz-weiß.</a:t>
            </a:r>
          </a:p>
        </p:txBody>
      </p:sp>
      <p:sp>
        <p:nvSpPr>
          <p:cNvPr id="13" name="Text 13"/>
          <p:cNvSpPr/>
          <p:nvPr/>
        </p:nvSpPr>
        <p:spPr>
          <a:xfrm>
            <a:off x="640080" y="5780000"/>
            <a:ext cx="10911840" cy="7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000" b="0" i="1" dirty="0">
                <a:solidFill>
                  <a:srgbClr val="48586A"/>
                </a:solidFill>
                <a:latin typeface="Arial" pitchFamily="34" charset="0"/>
                <a:ea typeface="Arial" pitchFamily="34" charset="-122"/>
                <a:cs typeface="Arial" pitchFamily="34" charset="-120"/>
              </a:rPr>
              <a:t>Zeig deine Antwort mit der Karte. Dann sprechen wir darüber.</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Quiz-Gespräch: Frage 4 von 6">
    <p:spTree>
      <p:nvGrpSpPr>
        <p:cNvPr id="1" name=""/>
        <p:cNvGrpSpPr/>
        <p:nvPr/>
      </p:nvGrpSpPr>
      <p:grpSpPr>
        <a:xfrm>
          <a:off x="0" y="0"/>
          <a:ext cx="0" cy="0"/>
          <a:chOff x="0" y="0"/>
          <a:chExt cx="0" cy="0"/>
        </a:xfrm>
      </p:grpSpPr>
      <p:sp>
        <p:nvSpPr>
          <p:cNvPr id="2" name="Text 2"/>
          <p:cNvSpPr/>
          <p:nvPr/>
        </p:nvSpPr>
        <p:spPr>
          <a:xfrm>
            <a:off x="640080" y="300000"/>
            <a:ext cx="10911840" cy="5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000" b="1" i="0" dirty="0">
                <a:solidFill>
                  <a:srgbClr val="3E96BE"/>
                </a:solidFill>
                <a:latin typeface="Arial" pitchFamily="34" charset="0"/>
                <a:ea typeface="Arial" pitchFamily="34" charset="-122"/>
                <a:cs typeface="Arial" pitchFamily="34" charset="-120"/>
              </a:rPr>
              <a:t>Quiz-Gespräch  ·  Frage 4 von 6</a:t>
            </a:r>
          </a:p>
        </p:txBody>
      </p:sp>
      <p:sp>
        <p:nvSpPr>
          <p:cNvPr id="3" name="Text 3"/>
          <p:cNvSpPr/>
          <p:nvPr/>
        </p:nvSpPr>
        <p:spPr>
          <a:xfrm>
            <a:off x="640080" y="800000"/>
            <a:ext cx="10911840" cy="1500000"/>
          </a:xfrm>
          <a:prstGeom prst="rect">
            <a:avLst/>
          </a:prstGeom>
          <a:noFill/>
          <a:ln>
            <a:noFill/>
          </a:ln>
        </p:spPr>
        <p:txBody>
          <a:bodyPr wrap="square" lIns="0" tIns="0" rIns="0" bIns="0" rtlCol="0" anchor="ctr">
            <a:noAutofit/>
          </a:bodyPr>
          <a:lstStyle/>
          <a:p>
            <a:pPr algn="l" indent="0" marL="0">
              <a:lnSpc>
                <a:spcPct val="105000"/>
              </a:lnSpc>
              <a:spcAft>
                <a:spcPts val="0"/>
              </a:spcAft>
              <a:buNone/>
            </a:pPr>
            <a:r>
              <a:rPr lang="de-DE" sz="3000" b="1" i="0" dirty="0">
                <a:solidFill>
                  <a:srgbClr val="00285A"/>
                </a:solidFill>
                <a:latin typeface="Arial" pitchFamily="34" charset="0"/>
                <a:ea typeface="Arial" pitchFamily="34" charset="-122"/>
                <a:cs typeface="Arial" pitchFamily="34" charset="-120"/>
              </a:rPr>
              <a:t>Du markierst in deiner Story den Ort. Wer sieht den Ort?</a:t>
            </a:r>
          </a:p>
        </p:txBody>
      </p:sp>
      <p:sp>
        <p:nvSpPr>
          <p:cNvPr id="4" name="Antwort 4"/>
          <p:cNvSpPr/>
          <p:nvPr/>
        </p:nvSpPr>
        <p:spPr>
          <a:xfrm>
            <a:off x="640080" y="2450000"/>
            <a:ext cx="10911840" cy="980000"/>
          </a:xfrm>
          <a:prstGeom prst="roundRect">
            <a:avLst>
              <a:gd name="adj" fmla="val 10000"/>
            </a:avLst>
          </a:prstGeom>
          <a:solidFill>
            <a:srgbClr val="FFFFFF"/>
          </a:solidFill>
          <a:ln w="25400">
            <a:solidFill>
              <a:srgbClr val="AAD1E3"/>
            </a:solidFill>
            <a:prstDash val="solid"/>
          </a:ln>
          <a:effectLst>
            <a:outerShdw sx="100000" sy="100000" kx="0" ky="0" algn="bl" rotWithShape="0" blurRad="88900" dist="25400" dir="5400000">
              <a:srgbClr val="000000">
                <a:alpha val="14000"/>
              </a:srgbClr>
            </a:outerShdw>
          </a:effectLst>
        </p:spPr>
      </p:sp>
      <p:sp>
        <p:nvSpPr>
          <p:cNvPr id="5" name="Kreis 5"/>
          <p:cNvSpPr/>
          <p:nvPr/>
        </p:nvSpPr>
        <p:spPr>
          <a:xfrm>
            <a:off x="820080" y="2625000"/>
            <a:ext cx="630000" cy="63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600" b="1" i="0" dirty="0">
                <a:solidFill>
                  <a:srgbClr val="00285A"/>
                </a:solidFill>
                <a:latin typeface="Arial" pitchFamily="34" charset="0"/>
                <a:ea typeface="Arial" pitchFamily="34" charset="-122"/>
                <a:cs typeface="Arial" pitchFamily="34" charset="-120"/>
              </a:rPr>
              <a:t>A</a:t>
            </a:r>
          </a:p>
        </p:txBody>
      </p:sp>
      <p:sp>
        <p:nvSpPr>
          <p:cNvPr id="6" name="Text 6"/>
          <p:cNvSpPr/>
          <p:nvPr/>
        </p:nvSpPr>
        <p:spPr>
          <a:xfrm>
            <a:off x="1690080" y="2450000"/>
            <a:ext cx="9661840" cy="9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600" b="0" i="0" dirty="0">
                <a:solidFill>
                  <a:srgbClr val="1A1A1A"/>
                </a:solidFill>
                <a:latin typeface="Arial" pitchFamily="34" charset="0"/>
                <a:ea typeface="Arial" pitchFamily="34" charset="-122"/>
                <a:cs typeface="Arial" pitchFamily="34" charset="-120"/>
              </a:rPr>
              <a:t>Nur ich.</a:t>
            </a:r>
          </a:p>
        </p:txBody>
      </p:sp>
      <p:sp>
        <p:nvSpPr>
          <p:cNvPr id="7" name="Antwort 7"/>
          <p:cNvSpPr/>
          <p:nvPr/>
        </p:nvSpPr>
        <p:spPr>
          <a:xfrm>
            <a:off x="640080" y="3530000"/>
            <a:ext cx="10911840" cy="980000"/>
          </a:xfrm>
          <a:prstGeom prst="roundRect">
            <a:avLst>
              <a:gd name="adj" fmla="val 10000"/>
            </a:avLst>
          </a:prstGeom>
          <a:solidFill>
            <a:srgbClr val="FFFFFF"/>
          </a:solidFill>
          <a:ln w="25400">
            <a:solidFill>
              <a:srgbClr val="AAD1E3"/>
            </a:solidFill>
            <a:prstDash val="solid"/>
          </a:ln>
          <a:effectLst>
            <a:outerShdw sx="100000" sy="100000" kx="0" ky="0" algn="bl" rotWithShape="0" blurRad="88900" dist="25400" dir="5400000">
              <a:srgbClr val="000000">
                <a:alpha val="14000"/>
              </a:srgbClr>
            </a:outerShdw>
          </a:effectLst>
        </p:spPr>
      </p:sp>
      <p:sp>
        <p:nvSpPr>
          <p:cNvPr id="8" name="Kreis 8"/>
          <p:cNvSpPr/>
          <p:nvPr/>
        </p:nvSpPr>
        <p:spPr>
          <a:xfrm>
            <a:off x="820080" y="3705000"/>
            <a:ext cx="630000" cy="63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600" b="1" i="0" dirty="0">
                <a:solidFill>
                  <a:srgbClr val="00285A"/>
                </a:solidFill>
                <a:latin typeface="Arial" pitchFamily="34" charset="0"/>
                <a:ea typeface="Arial" pitchFamily="34" charset="-122"/>
                <a:cs typeface="Arial" pitchFamily="34" charset="-120"/>
              </a:rPr>
              <a:t>B</a:t>
            </a:r>
          </a:p>
        </p:txBody>
      </p:sp>
      <p:sp>
        <p:nvSpPr>
          <p:cNvPr id="9" name="Text 9"/>
          <p:cNvSpPr/>
          <p:nvPr/>
        </p:nvSpPr>
        <p:spPr>
          <a:xfrm>
            <a:off x="1690080" y="3530000"/>
            <a:ext cx="9661840" cy="9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600" b="0" i="0" dirty="0">
                <a:solidFill>
                  <a:srgbClr val="1A1A1A"/>
                </a:solidFill>
                <a:latin typeface="Arial" pitchFamily="34" charset="0"/>
                <a:ea typeface="Arial" pitchFamily="34" charset="-122"/>
                <a:cs typeface="Arial" pitchFamily="34" charset="-120"/>
              </a:rPr>
              <a:t>Alle, die die Story sehen.</a:t>
            </a:r>
          </a:p>
        </p:txBody>
      </p:sp>
      <p:sp>
        <p:nvSpPr>
          <p:cNvPr id="10" name="Antwort 10"/>
          <p:cNvSpPr/>
          <p:nvPr/>
        </p:nvSpPr>
        <p:spPr>
          <a:xfrm>
            <a:off x="640080" y="4610000"/>
            <a:ext cx="10911840" cy="980000"/>
          </a:xfrm>
          <a:prstGeom prst="roundRect">
            <a:avLst>
              <a:gd name="adj" fmla="val 10000"/>
            </a:avLst>
          </a:prstGeom>
          <a:solidFill>
            <a:srgbClr val="FFFFFF"/>
          </a:solidFill>
          <a:ln w="25400">
            <a:solidFill>
              <a:srgbClr val="AAD1E3"/>
            </a:solidFill>
            <a:prstDash val="solid"/>
          </a:ln>
          <a:effectLst>
            <a:outerShdw sx="100000" sy="100000" kx="0" ky="0" algn="bl" rotWithShape="0" blurRad="88900" dist="25400" dir="5400000">
              <a:srgbClr val="000000">
                <a:alpha val="14000"/>
              </a:srgbClr>
            </a:outerShdw>
          </a:effectLst>
        </p:spPr>
      </p:sp>
      <p:sp>
        <p:nvSpPr>
          <p:cNvPr id="11" name="Kreis 11"/>
          <p:cNvSpPr/>
          <p:nvPr/>
        </p:nvSpPr>
        <p:spPr>
          <a:xfrm>
            <a:off x="820080" y="4785000"/>
            <a:ext cx="630000" cy="63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600" b="1" i="0" dirty="0">
                <a:solidFill>
                  <a:srgbClr val="00285A"/>
                </a:solidFill>
                <a:latin typeface="Arial" pitchFamily="34" charset="0"/>
                <a:ea typeface="Arial" pitchFamily="34" charset="-122"/>
                <a:cs typeface="Arial" pitchFamily="34" charset="-120"/>
              </a:rPr>
              <a:t>C</a:t>
            </a:r>
          </a:p>
        </p:txBody>
      </p:sp>
      <p:sp>
        <p:nvSpPr>
          <p:cNvPr id="12" name="Text 12"/>
          <p:cNvSpPr/>
          <p:nvPr/>
        </p:nvSpPr>
        <p:spPr>
          <a:xfrm>
            <a:off x="1690080" y="4610000"/>
            <a:ext cx="9661840" cy="9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600" b="0" i="0" dirty="0">
                <a:solidFill>
                  <a:srgbClr val="1A1A1A"/>
                </a:solidFill>
                <a:latin typeface="Arial" pitchFamily="34" charset="0"/>
                <a:ea typeface="Arial" pitchFamily="34" charset="-122"/>
                <a:cs typeface="Arial" pitchFamily="34" charset="-120"/>
              </a:rPr>
              <a:t>Niemand. Die Story ist schnell weg.</a:t>
            </a:r>
          </a:p>
        </p:txBody>
      </p:sp>
      <p:sp>
        <p:nvSpPr>
          <p:cNvPr id="13" name="Text 13"/>
          <p:cNvSpPr/>
          <p:nvPr/>
        </p:nvSpPr>
        <p:spPr>
          <a:xfrm>
            <a:off x="640080" y="5780000"/>
            <a:ext cx="10911840" cy="7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000" b="0" i="1" dirty="0">
                <a:solidFill>
                  <a:srgbClr val="48586A"/>
                </a:solidFill>
                <a:latin typeface="Arial" pitchFamily="34" charset="0"/>
                <a:ea typeface="Arial" pitchFamily="34" charset="-122"/>
                <a:cs typeface="Arial" pitchFamily="34" charset="-120"/>
              </a:rPr>
              <a:t>Zeig deine Antwort mit der Karte. Dann sprechen wir darüber.</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Quiz-Gespräch: Frage 5 von 6">
    <p:spTree>
      <p:nvGrpSpPr>
        <p:cNvPr id="1" name=""/>
        <p:cNvGrpSpPr/>
        <p:nvPr/>
      </p:nvGrpSpPr>
      <p:grpSpPr>
        <a:xfrm>
          <a:off x="0" y="0"/>
          <a:ext cx="0" cy="0"/>
          <a:chOff x="0" y="0"/>
          <a:chExt cx="0" cy="0"/>
        </a:xfrm>
      </p:grpSpPr>
      <p:sp>
        <p:nvSpPr>
          <p:cNvPr id="2" name="Text 2"/>
          <p:cNvSpPr/>
          <p:nvPr/>
        </p:nvSpPr>
        <p:spPr>
          <a:xfrm>
            <a:off x="640080" y="300000"/>
            <a:ext cx="10911840" cy="5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000" b="1" i="0" dirty="0">
                <a:solidFill>
                  <a:srgbClr val="3E96BE"/>
                </a:solidFill>
                <a:latin typeface="Arial" pitchFamily="34" charset="0"/>
                <a:ea typeface="Arial" pitchFamily="34" charset="-122"/>
                <a:cs typeface="Arial" pitchFamily="34" charset="-120"/>
              </a:rPr>
              <a:t>Quiz-Gespräch  ·  Frage 5 von 6</a:t>
            </a:r>
          </a:p>
        </p:txBody>
      </p:sp>
      <p:sp>
        <p:nvSpPr>
          <p:cNvPr id="3" name="Text 3"/>
          <p:cNvSpPr/>
          <p:nvPr/>
        </p:nvSpPr>
        <p:spPr>
          <a:xfrm>
            <a:off x="640080" y="800000"/>
            <a:ext cx="10911840" cy="1500000"/>
          </a:xfrm>
          <a:prstGeom prst="rect">
            <a:avLst/>
          </a:prstGeom>
          <a:noFill/>
          <a:ln>
            <a:noFill/>
          </a:ln>
        </p:spPr>
        <p:txBody>
          <a:bodyPr wrap="square" lIns="0" tIns="0" rIns="0" bIns="0" rtlCol="0" anchor="ctr">
            <a:noAutofit/>
          </a:bodyPr>
          <a:lstStyle/>
          <a:p>
            <a:pPr algn="l" indent="0" marL="0">
              <a:lnSpc>
                <a:spcPct val="105000"/>
              </a:lnSpc>
              <a:spcAft>
                <a:spcPts val="0"/>
              </a:spcAft>
              <a:buNone/>
            </a:pPr>
            <a:r>
              <a:rPr lang="de-DE" sz="3000" b="1" i="0" dirty="0">
                <a:solidFill>
                  <a:srgbClr val="00285A"/>
                </a:solidFill>
                <a:latin typeface="Arial" pitchFamily="34" charset="0"/>
                <a:ea typeface="Arial" pitchFamily="34" charset="-122"/>
                <a:cs typeface="Arial" pitchFamily="34" charset="-120"/>
              </a:rPr>
              <a:t>Eine unbekannte Person schreibt: Dein Konto wird gesperrt! Klick schnell auf diesen Link. Was machst du?</a:t>
            </a:r>
          </a:p>
        </p:txBody>
      </p:sp>
      <p:sp>
        <p:nvSpPr>
          <p:cNvPr id="4" name="Antwort 4"/>
          <p:cNvSpPr/>
          <p:nvPr/>
        </p:nvSpPr>
        <p:spPr>
          <a:xfrm>
            <a:off x="640080" y="2450000"/>
            <a:ext cx="10911840" cy="980000"/>
          </a:xfrm>
          <a:prstGeom prst="roundRect">
            <a:avLst>
              <a:gd name="adj" fmla="val 10000"/>
            </a:avLst>
          </a:prstGeom>
          <a:solidFill>
            <a:srgbClr val="FFFFFF"/>
          </a:solidFill>
          <a:ln w="25400">
            <a:solidFill>
              <a:srgbClr val="AAD1E3"/>
            </a:solidFill>
            <a:prstDash val="solid"/>
          </a:ln>
          <a:effectLst>
            <a:outerShdw sx="100000" sy="100000" kx="0" ky="0" algn="bl" rotWithShape="0" blurRad="88900" dist="25400" dir="5400000">
              <a:srgbClr val="000000">
                <a:alpha val="14000"/>
              </a:srgbClr>
            </a:outerShdw>
          </a:effectLst>
        </p:spPr>
      </p:sp>
      <p:sp>
        <p:nvSpPr>
          <p:cNvPr id="5" name="Kreis 5"/>
          <p:cNvSpPr/>
          <p:nvPr/>
        </p:nvSpPr>
        <p:spPr>
          <a:xfrm>
            <a:off x="820080" y="2625000"/>
            <a:ext cx="630000" cy="63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600" b="1" i="0" dirty="0">
                <a:solidFill>
                  <a:srgbClr val="00285A"/>
                </a:solidFill>
                <a:latin typeface="Arial" pitchFamily="34" charset="0"/>
                <a:ea typeface="Arial" pitchFamily="34" charset="-122"/>
                <a:cs typeface="Arial" pitchFamily="34" charset="-120"/>
              </a:rPr>
              <a:t>A</a:t>
            </a:r>
          </a:p>
        </p:txBody>
      </p:sp>
      <p:sp>
        <p:nvSpPr>
          <p:cNvPr id="6" name="Text 6"/>
          <p:cNvSpPr/>
          <p:nvPr/>
        </p:nvSpPr>
        <p:spPr>
          <a:xfrm>
            <a:off x="1690080" y="2450000"/>
            <a:ext cx="9661840" cy="9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600" b="0" i="0" dirty="0">
                <a:solidFill>
                  <a:srgbClr val="1A1A1A"/>
                </a:solidFill>
                <a:latin typeface="Arial" pitchFamily="34" charset="0"/>
                <a:ea typeface="Arial" pitchFamily="34" charset="-122"/>
                <a:cs typeface="Arial" pitchFamily="34" charset="-120"/>
              </a:rPr>
              <a:t>Stopp machen. Nicht klicken. Einer vertrauten Person zeigen.</a:t>
            </a:r>
          </a:p>
        </p:txBody>
      </p:sp>
      <p:sp>
        <p:nvSpPr>
          <p:cNvPr id="7" name="Antwort 7"/>
          <p:cNvSpPr/>
          <p:nvPr/>
        </p:nvSpPr>
        <p:spPr>
          <a:xfrm>
            <a:off x="640080" y="3530000"/>
            <a:ext cx="10911840" cy="980000"/>
          </a:xfrm>
          <a:prstGeom prst="roundRect">
            <a:avLst>
              <a:gd name="adj" fmla="val 10000"/>
            </a:avLst>
          </a:prstGeom>
          <a:solidFill>
            <a:srgbClr val="FFFFFF"/>
          </a:solidFill>
          <a:ln w="25400">
            <a:solidFill>
              <a:srgbClr val="AAD1E3"/>
            </a:solidFill>
            <a:prstDash val="solid"/>
          </a:ln>
          <a:effectLst>
            <a:outerShdw sx="100000" sy="100000" kx="0" ky="0" algn="bl" rotWithShape="0" blurRad="88900" dist="25400" dir="5400000">
              <a:srgbClr val="000000">
                <a:alpha val="14000"/>
              </a:srgbClr>
            </a:outerShdw>
          </a:effectLst>
        </p:spPr>
      </p:sp>
      <p:sp>
        <p:nvSpPr>
          <p:cNvPr id="8" name="Kreis 8"/>
          <p:cNvSpPr/>
          <p:nvPr/>
        </p:nvSpPr>
        <p:spPr>
          <a:xfrm>
            <a:off x="820080" y="3705000"/>
            <a:ext cx="630000" cy="63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600" b="1" i="0" dirty="0">
                <a:solidFill>
                  <a:srgbClr val="00285A"/>
                </a:solidFill>
                <a:latin typeface="Arial" pitchFamily="34" charset="0"/>
                <a:ea typeface="Arial" pitchFamily="34" charset="-122"/>
                <a:cs typeface="Arial" pitchFamily="34" charset="-120"/>
              </a:rPr>
              <a:t>B</a:t>
            </a:r>
          </a:p>
        </p:txBody>
      </p:sp>
      <p:sp>
        <p:nvSpPr>
          <p:cNvPr id="9" name="Text 9"/>
          <p:cNvSpPr/>
          <p:nvPr/>
        </p:nvSpPr>
        <p:spPr>
          <a:xfrm>
            <a:off x="1690080" y="3530000"/>
            <a:ext cx="9661840" cy="9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600" b="0" i="0" dirty="0">
                <a:solidFill>
                  <a:srgbClr val="1A1A1A"/>
                </a:solidFill>
                <a:latin typeface="Arial" pitchFamily="34" charset="0"/>
                <a:ea typeface="Arial" pitchFamily="34" charset="-122"/>
                <a:cs typeface="Arial" pitchFamily="34" charset="-120"/>
              </a:rPr>
              <a:t>Schnell auf den Link tippen. Ich will mein Konto behalten.</a:t>
            </a:r>
          </a:p>
        </p:txBody>
      </p:sp>
      <p:sp>
        <p:nvSpPr>
          <p:cNvPr id="10" name="Antwort 10"/>
          <p:cNvSpPr/>
          <p:nvPr/>
        </p:nvSpPr>
        <p:spPr>
          <a:xfrm>
            <a:off x="640080" y="4610000"/>
            <a:ext cx="10911840" cy="980000"/>
          </a:xfrm>
          <a:prstGeom prst="roundRect">
            <a:avLst>
              <a:gd name="adj" fmla="val 10000"/>
            </a:avLst>
          </a:prstGeom>
          <a:solidFill>
            <a:srgbClr val="FFFFFF"/>
          </a:solidFill>
          <a:ln w="25400">
            <a:solidFill>
              <a:srgbClr val="AAD1E3"/>
            </a:solidFill>
            <a:prstDash val="solid"/>
          </a:ln>
          <a:effectLst>
            <a:outerShdw sx="100000" sy="100000" kx="0" ky="0" algn="bl" rotWithShape="0" blurRad="88900" dist="25400" dir="5400000">
              <a:srgbClr val="000000">
                <a:alpha val="14000"/>
              </a:srgbClr>
            </a:outerShdw>
          </a:effectLst>
        </p:spPr>
      </p:sp>
      <p:sp>
        <p:nvSpPr>
          <p:cNvPr id="11" name="Kreis 11"/>
          <p:cNvSpPr/>
          <p:nvPr/>
        </p:nvSpPr>
        <p:spPr>
          <a:xfrm>
            <a:off x="820080" y="4785000"/>
            <a:ext cx="630000" cy="63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600" b="1" i="0" dirty="0">
                <a:solidFill>
                  <a:srgbClr val="00285A"/>
                </a:solidFill>
                <a:latin typeface="Arial" pitchFamily="34" charset="0"/>
                <a:ea typeface="Arial" pitchFamily="34" charset="-122"/>
                <a:cs typeface="Arial" pitchFamily="34" charset="-120"/>
              </a:rPr>
              <a:t>C</a:t>
            </a:r>
          </a:p>
        </p:txBody>
      </p:sp>
      <p:sp>
        <p:nvSpPr>
          <p:cNvPr id="12" name="Text 12"/>
          <p:cNvSpPr/>
          <p:nvPr/>
        </p:nvSpPr>
        <p:spPr>
          <a:xfrm>
            <a:off x="1690080" y="4610000"/>
            <a:ext cx="9661840" cy="9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600" b="0" i="0" dirty="0">
                <a:solidFill>
                  <a:srgbClr val="1A1A1A"/>
                </a:solidFill>
                <a:latin typeface="Arial" pitchFamily="34" charset="0"/>
                <a:ea typeface="Arial" pitchFamily="34" charset="-122"/>
                <a:cs typeface="Arial" pitchFamily="34" charset="-120"/>
              </a:rPr>
              <a:t>Zurückschreiben: Stimmt das wirklich?</a:t>
            </a:r>
          </a:p>
        </p:txBody>
      </p:sp>
      <p:sp>
        <p:nvSpPr>
          <p:cNvPr id="13" name="Text 13"/>
          <p:cNvSpPr/>
          <p:nvPr/>
        </p:nvSpPr>
        <p:spPr>
          <a:xfrm>
            <a:off x="640080" y="5780000"/>
            <a:ext cx="10911840" cy="7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000" b="0" i="1" dirty="0">
                <a:solidFill>
                  <a:srgbClr val="48586A"/>
                </a:solidFill>
                <a:latin typeface="Arial" pitchFamily="34" charset="0"/>
                <a:ea typeface="Arial" pitchFamily="34" charset="-122"/>
                <a:cs typeface="Arial" pitchFamily="34" charset="-120"/>
              </a:rPr>
              <a:t>Zeig deine Antwort mit der Karte. Dann sprechen wir darüber.</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Quiz-Gespräch: Frage 6 von 6">
    <p:spTree>
      <p:nvGrpSpPr>
        <p:cNvPr id="1" name=""/>
        <p:cNvGrpSpPr/>
        <p:nvPr/>
      </p:nvGrpSpPr>
      <p:grpSpPr>
        <a:xfrm>
          <a:off x="0" y="0"/>
          <a:ext cx="0" cy="0"/>
          <a:chOff x="0" y="0"/>
          <a:chExt cx="0" cy="0"/>
        </a:xfrm>
      </p:grpSpPr>
      <p:sp>
        <p:nvSpPr>
          <p:cNvPr id="2" name="Text 2"/>
          <p:cNvSpPr/>
          <p:nvPr/>
        </p:nvSpPr>
        <p:spPr>
          <a:xfrm>
            <a:off x="640080" y="300000"/>
            <a:ext cx="10911840" cy="5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000" b="1" i="0" dirty="0">
                <a:solidFill>
                  <a:srgbClr val="3E96BE"/>
                </a:solidFill>
                <a:latin typeface="Arial" pitchFamily="34" charset="0"/>
                <a:ea typeface="Arial" pitchFamily="34" charset="-122"/>
                <a:cs typeface="Arial" pitchFamily="34" charset="-120"/>
              </a:rPr>
              <a:t>Quiz-Gespräch  ·  Frage 6 von 6</a:t>
            </a:r>
          </a:p>
        </p:txBody>
      </p:sp>
      <p:sp>
        <p:nvSpPr>
          <p:cNvPr id="3" name="Text 3"/>
          <p:cNvSpPr/>
          <p:nvPr/>
        </p:nvSpPr>
        <p:spPr>
          <a:xfrm>
            <a:off x="640080" y="800000"/>
            <a:ext cx="10911840" cy="1500000"/>
          </a:xfrm>
          <a:prstGeom prst="rect">
            <a:avLst/>
          </a:prstGeom>
          <a:noFill/>
          <a:ln>
            <a:noFill/>
          </a:ln>
        </p:spPr>
        <p:txBody>
          <a:bodyPr wrap="square" lIns="0" tIns="0" rIns="0" bIns="0" rtlCol="0" anchor="ctr">
            <a:noAutofit/>
          </a:bodyPr>
          <a:lstStyle/>
          <a:p>
            <a:pPr algn="l" indent="0" marL="0">
              <a:lnSpc>
                <a:spcPct val="105000"/>
              </a:lnSpc>
              <a:spcAft>
                <a:spcPts val="0"/>
              </a:spcAft>
              <a:buNone/>
            </a:pPr>
            <a:r>
              <a:rPr lang="de-DE" sz="3000" b="1" i="0" dirty="0">
                <a:solidFill>
                  <a:srgbClr val="00285A"/>
                </a:solidFill>
                <a:latin typeface="Arial" pitchFamily="34" charset="0"/>
                <a:ea typeface="Arial" pitchFamily="34" charset="-122"/>
                <a:cs typeface="Arial" pitchFamily="34" charset="-120"/>
              </a:rPr>
              <a:t>Mehrere Personen schreiben Gemeines unter dein Foto. Was hilft dir?</a:t>
            </a:r>
          </a:p>
        </p:txBody>
      </p:sp>
      <p:sp>
        <p:nvSpPr>
          <p:cNvPr id="4" name="Antwort 4"/>
          <p:cNvSpPr/>
          <p:nvPr/>
        </p:nvSpPr>
        <p:spPr>
          <a:xfrm>
            <a:off x="640080" y="2450000"/>
            <a:ext cx="10911840" cy="980000"/>
          </a:xfrm>
          <a:prstGeom prst="roundRect">
            <a:avLst>
              <a:gd name="adj" fmla="val 10000"/>
            </a:avLst>
          </a:prstGeom>
          <a:solidFill>
            <a:srgbClr val="FFFFFF"/>
          </a:solidFill>
          <a:ln w="25400">
            <a:solidFill>
              <a:srgbClr val="AAD1E3"/>
            </a:solidFill>
            <a:prstDash val="solid"/>
          </a:ln>
          <a:effectLst>
            <a:outerShdw sx="100000" sy="100000" kx="0" ky="0" algn="bl" rotWithShape="0" blurRad="88900" dist="25400" dir="5400000">
              <a:srgbClr val="000000">
                <a:alpha val="14000"/>
              </a:srgbClr>
            </a:outerShdw>
          </a:effectLst>
        </p:spPr>
      </p:sp>
      <p:sp>
        <p:nvSpPr>
          <p:cNvPr id="5" name="Kreis 5"/>
          <p:cNvSpPr/>
          <p:nvPr/>
        </p:nvSpPr>
        <p:spPr>
          <a:xfrm>
            <a:off x="820080" y="2625000"/>
            <a:ext cx="630000" cy="63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600" b="1" i="0" dirty="0">
                <a:solidFill>
                  <a:srgbClr val="00285A"/>
                </a:solidFill>
                <a:latin typeface="Arial" pitchFamily="34" charset="0"/>
                <a:ea typeface="Arial" pitchFamily="34" charset="-122"/>
                <a:cs typeface="Arial" pitchFamily="34" charset="-120"/>
              </a:rPr>
              <a:t>A</a:t>
            </a:r>
          </a:p>
        </p:txBody>
      </p:sp>
      <p:sp>
        <p:nvSpPr>
          <p:cNvPr id="6" name="Text 6"/>
          <p:cNvSpPr/>
          <p:nvPr/>
        </p:nvSpPr>
        <p:spPr>
          <a:xfrm>
            <a:off x="1690080" y="2450000"/>
            <a:ext cx="9661840" cy="9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600" b="0" i="0" dirty="0">
                <a:solidFill>
                  <a:srgbClr val="1A1A1A"/>
                </a:solidFill>
                <a:latin typeface="Arial" pitchFamily="34" charset="0"/>
                <a:ea typeface="Arial" pitchFamily="34" charset="-122"/>
                <a:cs typeface="Arial" pitchFamily="34" charset="-120"/>
              </a:rPr>
              <a:t>Ich schreibe gemein zurück.</a:t>
            </a:r>
          </a:p>
        </p:txBody>
      </p:sp>
      <p:sp>
        <p:nvSpPr>
          <p:cNvPr id="7" name="Antwort 7"/>
          <p:cNvSpPr/>
          <p:nvPr/>
        </p:nvSpPr>
        <p:spPr>
          <a:xfrm>
            <a:off x="640080" y="3530000"/>
            <a:ext cx="10911840" cy="980000"/>
          </a:xfrm>
          <a:prstGeom prst="roundRect">
            <a:avLst>
              <a:gd name="adj" fmla="val 10000"/>
            </a:avLst>
          </a:prstGeom>
          <a:solidFill>
            <a:srgbClr val="FFFFFF"/>
          </a:solidFill>
          <a:ln w="25400">
            <a:solidFill>
              <a:srgbClr val="AAD1E3"/>
            </a:solidFill>
            <a:prstDash val="solid"/>
          </a:ln>
          <a:effectLst>
            <a:outerShdw sx="100000" sy="100000" kx="0" ky="0" algn="bl" rotWithShape="0" blurRad="88900" dist="25400" dir="5400000">
              <a:srgbClr val="000000">
                <a:alpha val="14000"/>
              </a:srgbClr>
            </a:outerShdw>
          </a:effectLst>
        </p:spPr>
      </p:sp>
      <p:sp>
        <p:nvSpPr>
          <p:cNvPr id="8" name="Kreis 8"/>
          <p:cNvSpPr/>
          <p:nvPr/>
        </p:nvSpPr>
        <p:spPr>
          <a:xfrm>
            <a:off x="820080" y="3705000"/>
            <a:ext cx="630000" cy="63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600" b="1" i="0" dirty="0">
                <a:solidFill>
                  <a:srgbClr val="00285A"/>
                </a:solidFill>
                <a:latin typeface="Arial" pitchFamily="34" charset="0"/>
                <a:ea typeface="Arial" pitchFamily="34" charset="-122"/>
                <a:cs typeface="Arial" pitchFamily="34" charset="-120"/>
              </a:rPr>
              <a:t>B</a:t>
            </a:r>
          </a:p>
        </p:txBody>
      </p:sp>
      <p:sp>
        <p:nvSpPr>
          <p:cNvPr id="9" name="Text 9"/>
          <p:cNvSpPr/>
          <p:nvPr/>
        </p:nvSpPr>
        <p:spPr>
          <a:xfrm>
            <a:off x="1690080" y="3530000"/>
            <a:ext cx="9661840" cy="9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600" b="0" i="0" dirty="0">
                <a:solidFill>
                  <a:srgbClr val="1A1A1A"/>
                </a:solidFill>
                <a:latin typeface="Arial" pitchFamily="34" charset="0"/>
                <a:ea typeface="Arial" pitchFamily="34" charset="-122"/>
                <a:cs typeface="Arial" pitchFamily="34" charset="-120"/>
              </a:rPr>
              <a:t>Ich lösche das Foto und sage nichts.</a:t>
            </a:r>
          </a:p>
        </p:txBody>
      </p:sp>
      <p:sp>
        <p:nvSpPr>
          <p:cNvPr id="10" name="Antwort 10"/>
          <p:cNvSpPr/>
          <p:nvPr/>
        </p:nvSpPr>
        <p:spPr>
          <a:xfrm>
            <a:off x="640080" y="4610000"/>
            <a:ext cx="10911840" cy="980000"/>
          </a:xfrm>
          <a:prstGeom prst="roundRect">
            <a:avLst>
              <a:gd name="adj" fmla="val 10000"/>
            </a:avLst>
          </a:prstGeom>
          <a:solidFill>
            <a:srgbClr val="FFFFFF"/>
          </a:solidFill>
          <a:ln w="25400">
            <a:solidFill>
              <a:srgbClr val="AAD1E3"/>
            </a:solidFill>
            <a:prstDash val="solid"/>
          </a:ln>
          <a:effectLst>
            <a:outerShdw sx="100000" sy="100000" kx="0" ky="0" algn="bl" rotWithShape="0" blurRad="88900" dist="25400" dir="5400000">
              <a:srgbClr val="000000">
                <a:alpha val="14000"/>
              </a:srgbClr>
            </a:outerShdw>
          </a:effectLst>
        </p:spPr>
      </p:sp>
      <p:sp>
        <p:nvSpPr>
          <p:cNvPr id="11" name="Kreis 11"/>
          <p:cNvSpPr/>
          <p:nvPr/>
        </p:nvSpPr>
        <p:spPr>
          <a:xfrm>
            <a:off x="820080" y="4785000"/>
            <a:ext cx="630000" cy="63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600" b="1" i="0" dirty="0">
                <a:solidFill>
                  <a:srgbClr val="00285A"/>
                </a:solidFill>
                <a:latin typeface="Arial" pitchFamily="34" charset="0"/>
                <a:ea typeface="Arial" pitchFamily="34" charset="-122"/>
                <a:cs typeface="Arial" pitchFamily="34" charset="-120"/>
              </a:rPr>
              <a:t>C</a:t>
            </a:r>
          </a:p>
        </p:txBody>
      </p:sp>
      <p:sp>
        <p:nvSpPr>
          <p:cNvPr id="12" name="Text 12"/>
          <p:cNvSpPr/>
          <p:nvPr/>
        </p:nvSpPr>
        <p:spPr>
          <a:xfrm>
            <a:off x="1690080" y="4610000"/>
            <a:ext cx="9661840" cy="9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600" b="0" i="0" dirty="0">
                <a:solidFill>
                  <a:srgbClr val="1A1A1A"/>
                </a:solidFill>
                <a:latin typeface="Arial" pitchFamily="34" charset="0"/>
                <a:ea typeface="Arial" pitchFamily="34" charset="-122"/>
                <a:cs typeface="Arial" pitchFamily="34" charset="-120"/>
              </a:rPr>
              <a:t>Zeigen. Blockieren oder melden. Hilfe holen.</a:t>
            </a:r>
          </a:p>
        </p:txBody>
      </p:sp>
      <p:sp>
        <p:nvSpPr>
          <p:cNvPr id="13" name="Text 13"/>
          <p:cNvSpPr/>
          <p:nvPr/>
        </p:nvSpPr>
        <p:spPr>
          <a:xfrm>
            <a:off x="640080" y="5780000"/>
            <a:ext cx="10911840" cy="7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000" b="0" i="1" dirty="0">
                <a:solidFill>
                  <a:srgbClr val="48586A"/>
                </a:solidFill>
                <a:latin typeface="Arial" pitchFamily="34" charset="0"/>
                <a:ea typeface="Arial" pitchFamily="34" charset="-122"/>
                <a:cs typeface="Arial" pitchFamily="34" charset="-120"/>
              </a:rPr>
              <a:t>Zeig deine Antwort mit der Karte. Dann sprechen wir darüber.</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Das haben wir gelernt">
    <p:spTree>
      <p:nvGrpSpPr>
        <p:cNvPr id="1" name=""/>
        <p:cNvGrpSpPr/>
        <p:nvPr/>
      </p:nvGrpSpPr>
      <p:grpSpPr>
        <a:xfrm>
          <a:off x="0" y="0"/>
          <a:ext cx="0" cy="0"/>
          <a:chOff x="0" y="0"/>
          <a:chExt cx="0" cy="0"/>
        </a:xfrm>
      </p:grpSpPr>
      <p:sp>
        <p:nvSpPr>
          <p:cNvPr id="2" name="Titel 2"/>
          <p:cNvSpPr/>
          <p:nvPr/>
        </p:nvSpPr>
        <p:spPr>
          <a:xfrm>
            <a:off x="640080" y="400000"/>
            <a:ext cx="10911840" cy="10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3400" b="1" i="0" dirty="0">
                <a:solidFill>
                  <a:srgbClr val="00285A"/>
                </a:solidFill>
                <a:latin typeface="Arial" pitchFamily="34" charset="0"/>
                <a:ea typeface="Arial" pitchFamily="34" charset="-122"/>
                <a:cs typeface="Arial" pitchFamily="34" charset="-120"/>
              </a:rPr>
              <a:t>Das haben wir gelernt</a:t>
            </a:r>
          </a:p>
        </p:txBody>
      </p:sp>
      <p:sp>
        <p:nvSpPr>
          <p:cNvPr id="3" name="Zeile 3"/>
          <p:cNvSpPr/>
          <p:nvPr/>
        </p:nvSpPr>
        <p:spPr>
          <a:xfrm>
            <a:off x="640080" y="1550000"/>
            <a:ext cx="10911840" cy="780000"/>
          </a:xfrm>
          <a:prstGeom prst="roundRect">
            <a:avLst>
              <a:gd name="adj" fmla="val 12000"/>
            </a:avLst>
          </a:prstGeom>
          <a:solidFill>
            <a:srgbClr val="D8EAF2"/>
          </a:solidFill>
          <a:ln w="12700">
            <a:solidFill>
              <a:srgbClr val="AAD1E3"/>
            </a:solidFill>
            <a:prstDash val="solid"/>
          </a:ln>
        </p:spPr>
      </p:sp>
      <p:sp>
        <p:nvSpPr>
          <p:cNvPr id="4" name="Kreis 4"/>
          <p:cNvSpPr/>
          <p:nvPr/>
        </p:nvSpPr>
        <p:spPr>
          <a:xfrm>
            <a:off x="770080" y="1667000"/>
            <a:ext cx="546000" cy="546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125" b="1" i="0" dirty="0">
                <a:solidFill>
                  <a:srgbClr val="00285A"/>
                </a:solidFill>
                <a:latin typeface="Arial" pitchFamily="34" charset="0"/>
                <a:ea typeface="Arial" pitchFamily="34" charset="-122"/>
                <a:cs typeface="Arial" pitchFamily="34" charset="-120"/>
              </a:rPr>
              <a:t>1</a:t>
            </a:r>
          </a:p>
        </p:txBody>
      </p:sp>
      <p:sp>
        <p:nvSpPr>
          <p:cNvPr id="5" name="Text 5"/>
          <p:cNvSpPr/>
          <p:nvPr/>
        </p:nvSpPr>
        <p:spPr>
          <a:xfrm>
            <a:off x="1496080" y="1550000"/>
            <a:ext cx="9855840" cy="7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500" b="0" i="0" dirty="0">
                <a:solidFill>
                  <a:srgbClr val="1A1A1A"/>
                </a:solidFill>
                <a:latin typeface="Arial" pitchFamily="34" charset="0"/>
                <a:ea typeface="Arial" pitchFamily="34" charset="-122"/>
                <a:cs typeface="Arial" pitchFamily="34" charset="-120"/>
              </a:rPr>
              <a:t>Konto auf privat stellen.</a:t>
            </a:r>
          </a:p>
        </p:txBody>
      </p:sp>
      <p:sp>
        <p:nvSpPr>
          <p:cNvPr id="6" name="Zeile 6"/>
          <p:cNvSpPr/>
          <p:nvPr/>
        </p:nvSpPr>
        <p:spPr>
          <a:xfrm>
            <a:off x="640080" y="2440000"/>
            <a:ext cx="10911840" cy="780000"/>
          </a:xfrm>
          <a:prstGeom prst="roundRect">
            <a:avLst>
              <a:gd name="adj" fmla="val 12000"/>
            </a:avLst>
          </a:prstGeom>
          <a:solidFill>
            <a:srgbClr val="D8EAF2"/>
          </a:solidFill>
          <a:ln w="12700">
            <a:solidFill>
              <a:srgbClr val="AAD1E3"/>
            </a:solidFill>
            <a:prstDash val="solid"/>
          </a:ln>
        </p:spPr>
      </p:sp>
      <p:sp>
        <p:nvSpPr>
          <p:cNvPr id="7" name="Kreis 7"/>
          <p:cNvSpPr/>
          <p:nvPr/>
        </p:nvSpPr>
        <p:spPr>
          <a:xfrm>
            <a:off x="770080" y="2557000"/>
            <a:ext cx="546000" cy="546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125" b="1" i="0" dirty="0">
                <a:solidFill>
                  <a:srgbClr val="00285A"/>
                </a:solidFill>
                <a:latin typeface="Arial" pitchFamily="34" charset="0"/>
                <a:ea typeface="Arial" pitchFamily="34" charset="-122"/>
                <a:cs typeface="Arial" pitchFamily="34" charset="-120"/>
              </a:rPr>
              <a:t>2</a:t>
            </a:r>
          </a:p>
        </p:txBody>
      </p:sp>
      <p:sp>
        <p:nvSpPr>
          <p:cNvPr id="8" name="Text 8"/>
          <p:cNvSpPr/>
          <p:nvPr/>
        </p:nvSpPr>
        <p:spPr>
          <a:xfrm>
            <a:off x="1496080" y="2440000"/>
            <a:ext cx="9855840" cy="7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500" b="0" i="0" dirty="0">
                <a:solidFill>
                  <a:srgbClr val="1A1A1A"/>
                </a:solidFill>
                <a:latin typeface="Arial" pitchFamily="34" charset="0"/>
                <a:ea typeface="Arial" pitchFamily="34" charset="-122"/>
                <a:cs typeface="Arial" pitchFamily="34" charset="-120"/>
              </a:rPr>
              <a:t>Erst prüfen. Dann teilen.</a:t>
            </a:r>
          </a:p>
        </p:txBody>
      </p:sp>
      <p:sp>
        <p:nvSpPr>
          <p:cNvPr id="9" name="Zeile 9"/>
          <p:cNvSpPr/>
          <p:nvPr/>
        </p:nvSpPr>
        <p:spPr>
          <a:xfrm>
            <a:off x="640080" y="3330000"/>
            <a:ext cx="10911840" cy="780000"/>
          </a:xfrm>
          <a:prstGeom prst="roundRect">
            <a:avLst>
              <a:gd name="adj" fmla="val 12000"/>
            </a:avLst>
          </a:prstGeom>
          <a:solidFill>
            <a:srgbClr val="D8EAF2"/>
          </a:solidFill>
          <a:ln w="12700">
            <a:solidFill>
              <a:srgbClr val="AAD1E3"/>
            </a:solidFill>
            <a:prstDash val="solid"/>
          </a:ln>
        </p:spPr>
      </p:sp>
      <p:sp>
        <p:nvSpPr>
          <p:cNvPr id="10" name="Kreis 10"/>
          <p:cNvSpPr/>
          <p:nvPr/>
        </p:nvSpPr>
        <p:spPr>
          <a:xfrm>
            <a:off x="770080" y="3447000"/>
            <a:ext cx="546000" cy="546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125" b="1" i="0" dirty="0">
                <a:solidFill>
                  <a:srgbClr val="00285A"/>
                </a:solidFill>
                <a:latin typeface="Arial" pitchFamily="34" charset="0"/>
                <a:ea typeface="Arial" pitchFamily="34" charset="-122"/>
                <a:cs typeface="Arial" pitchFamily="34" charset="-120"/>
              </a:rPr>
              <a:t>3</a:t>
            </a:r>
          </a:p>
        </p:txBody>
      </p:sp>
      <p:sp>
        <p:nvSpPr>
          <p:cNvPr id="11" name="Text 11"/>
          <p:cNvSpPr/>
          <p:nvPr/>
        </p:nvSpPr>
        <p:spPr>
          <a:xfrm>
            <a:off x="1496080" y="3330000"/>
            <a:ext cx="9855840" cy="7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500" b="0" i="0" dirty="0">
                <a:solidFill>
                  <a:srgbClr val="1A1A1A"/>
                </a:solidFill>
                <a:latin typeface="Arial" pitchFamily="34" charset="0"/>
                <a:ea typeface="Arial" pitchFamily="34" charset="-122"/>
                <a:cs typeface="Arial" pitchFamily="34" charset="-120"/>
              </a:rPr>
              <a:t>Den Ort schützen.</a:t>
            </a:r>
          </a:p>
        </p:txBody>
      </p:sp>
      <p:sp>
        <p:nvSpPr>
          <p:cNvPr id="12" name="Zeile 12"/>
          <p:cNvSpPr/>
          <p:nvPr/>
        </p:nvSpPr>
        <p:spPr>
          <a:xfrm>
            <a:off x="640080" y="4220000"/>
            <a:ext cx="10911840" cy="780000"/>
          </a:xfrm>
          <a:prstGeom prst="roundRect">
            <a:avLst>
              <a:gd name="adj" fmla="val 12000"/>
            </a:avLst>
          </a:prstGeom>
          <a:solidFill>
            <a:srgbClr val="D8EAF2"/>
          </a:solidFill>
          <a:ln w="12700">
            <a:solidFill>
              <a:srgbClr val="AAD1E3"/>
            </a:solidFill>
            <a:prstDash val="solid"/>
          </a:ln>
        </p:spPr>
      </p:sp>
      <p:sp>
        <p:nvSpPr>
          <p:cNvPr id="13" name="Kreis 13"/>
          <p:cNvSpPr/>
          <p:nvPr/>
        </p:nvSpPr>
        <p:spPr>
          <a:xfrm>
            <a:off x="770080" y="4337000"/>
            <a:ext cx="546000" cy="546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125" b="1" i="0" dirty="0">
                <a:solidFill>
                  <a:srgbClr val="00285A"/>
                </a:solidFill>
                <a:latin typeface="Arial" pitchFamily="34" charset="0"/>
                <a:ea typeface="Arial" pitchFamily="34" charset="-122"/>
                <a:cs typeface="Arial" pitchFamily="34" charset="-120"/>
              </a:rPr>
              <a:t>4</a:t>
            </a:r>
          </a:p>
        </p:txBody>
      </p:sp>
      <p:sp>
        <p:nvSpPr>
          <p:cNvPr id="14" name="Text 14"/>
          <p:cNvSpPr/>
          <p:nvPr/>
        </p:nvSpPr>
        <p:spPr>
          <a:xfrm>
            <a:off x="1496080" y="4220000"/>
            <a:ext cx="9855840" cy="7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500" b="0" i="0" dirty="0">
                <a:solidFill>
                  <a:srgbClr val="1A1A1A"/>
                </a:solidFill>
                <a:latin typeface="Arial" pitchFamily="34" charset="0"/>
                <a:ea typeface="Arial" pitchFamily="34" charset="-122"/>
                <a:cs typeface="Arial" pitchFamily="34" charset="-120"/>
              </a:rPr>
              <a:t>Stopp machen. Zeigen.</a:t>
            </a:r>
          </a:p>
        </p:txBody>
      </p:sp>
      <p:sp>
        <p:nvSpPr>
          <p:cNvPr id="15" name="Zeile 15"/>
          <p:cNvSpPr/>
          <p:nvPr/>
        </p:nvSpPr>
        <p:spPr>
          <a:xfrm>
            <a:off x="640080" y="5110000"/>
            <a:ext cx="10911840" cy="780000"/>
          </a:xfrm>
          <a:prstGeom prst="roundRect">
            <a:avLst>
              <a:gd name="adj" fmla="val 12000"/>
            </a:avLst>
          </a:prstGeom>
          <a:solidFill>
            <a:srgbClr val="D8EAF2"/>
          </a:solidFill>
          <a:ln w="12700">
            <a:solidFill>
              <a:srgbClr val="AAD1E3"/>
            </a:solidFill>
            <a:prstDash val="solid"/>
          </a:ln>
        </p:spPr>
      </p:sp>
      <p:sp>
        <p:nvSpPr>
          <p:cNvPr id="16" name="Kreis 16"/>
          <p:cNvSpPr/>
          <p:nvPr/>
        </p:nvSpPr>
        <p:spPr>
          <a:xfrm>
            <a:off x="770080" y="5227000"/>
            <a:ext cx="546000" cy="546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125" b="1" i="0" dirty="0">
                <a:solidFill>
                  <a:srgbClr val="00285A"/>
                </a:solidFill>
                <a:latin typeface="Arial" pitchFamily="34" charset="0"/>
                <a:ea typeface="Arial" pitchFamily="34" charset="-122"/>
                <a:cs typeface="Arial" pitchFamily="34" charset="-120"/>
              </a:rPr>
              <a:t>5</a:t>
            </a:r>
          </a:p>
        </p:txBody>
      </p:sp>
      <p:sp>
        <p:nvSpPr>
          <p:cNvPr id="17" name="Text 17"/>
          <p:cNvSpPr/>
          <p:nvPr/>
        </p:nvSpPr>
        <p:spPr>
          <a:xfrm>
            <a:off x="1496080" y="5110000"/>
            <a:ext cx="9855840" cy="7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500" b="0" i="0" dirty="0">
                <a:solidFill>
                  <a:srgbClr val="1A1A1A"/>
                </a:solidFill>
                <a:latin typeface="Arial" pitchFamily="34" charset="0"/>
                <a:ea typeface="Arial" pitchFamily="34" charset="-122"/>
                <a:cs typeface="Arial" pitchFamily="34" charset="-120"/>
              </a:rPr>
              <a:t>Hilfe holen. Das ist stark.</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Auf der Lernplattform weiter üben">
    <p:spTree>
      <p:nvGrpSpPr>
        <p:cNvPr id="1" name=""/>
        <p:cNvGrpSpPr/>
        <p:nvPr/>
      </p:nvGrpSpPr>
      <p:grpSpPr>
        <a:xfrm>
          <a:off x="0" y="0"/>
          <a:ext cx="0" cy="0"/>
          <a:chOff x="0" y="0"/>
          <a:chExt cx="0" cy="0"/>
        </a:xfrm>
      </p:grpSpPr>
      <p:sp>
        <p:nvSpPr>
          <p:cNvPr id="2" name="Titel 2"/>
          <p:cNvSpPr/>
          <p:nvPr/>
        </p:nvSpPr>
        <p:spPr>
          <a:xfrm>
            <a:off x="640080" y="400000"/>
            <a:ext cx="10911840" cy="10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3400" b="1" i="0" dirty="0">
                <a:solidFill>
                  <a:srgbClr val="00285A"/>
                </a:solidFill>
                <a:latin typeface="Arial" pitchFamily="34" charset="0"/>
                <a:ea typeface="Arial" pitchFamily="34" charset="-122"/>
                <a:cs typeface="Arial" pitchFamily="34" charset="-120"/>
              </a:rPr>
              <a:t>Auf der Lernplattform weiter üben</a:t>
            </a:r>
          </a:p>
        </p:txBody>
      </p:sp>
      <p:sp>
        <p:nvSpPr>
          <p:cNvPr id="3" name="Text 3"/>
          <p:cNvSpPr/>
          <p:nvPr/>
        </p:nvSpPr>
        <p:spPr>
          <a:xfrm>
            <a:off x="640080" y="1500000"/>
            <a:ext cx="3700000" cy="3700000"/>
          </a:xfrm>
          <a:prstGeom prst="roundRect">
            <a:avLst>
              <a:gd name="adj" fmla="val 4000"/>
            </a:avLst>
          </a:prstGeom>
          <a:solidFill>
            <a:srgbClr val="FFFFFF"/>
          </a:solidFill>
          <a:ln w="19050">
            <a:solidFill>
              <a:srgbClr val="AAD1E3"/>
            </a:solidFill>
            <a:prstDash val="solid"/>
          </a:ln>
          <a:effectLst>
            <a:outerShdw sx="100000" sy="100000" kx="0" ky="0" algn="bl" rotWithShape="0" blurRad="88900" dist="25400" dir="5400000">
              <a:srgbClr val="000000">
                <a:alpha val="14000"/>
              </a:srgbClr>
            </a:outerShdw>
          </a:effectLst>
        </p:spPr>
      </p:sp>
      <p:pic>
        <p:nvPicPr>
          <p:cNvPr id="4" name="QR-Code 4" descr="QR-Code zum Thema Instagram auf der Lernplattform"/>
          <p:cNvPicPr>
            <a:picLocks noChangeAspect="1"/>
          </p:cNvPicPr>
          <p:nvPr/>
        </p:nvPicPr>
        <p:blipFill>
          <a:blip r:embed="rId3"/>
          <a:stretch>
            <a:fillRect/>
          </a:stretch>
        </p:blipFill>
        <p:spPr>
          <a:xfrm>
            <a:off x="890080" y="1750000"/>
            <a:ext cx="3200000" cy="3200000"/>
          </a:xfrm>
          <a:prstGeom prst="rect">
            <a:avLst/>
          </a:prstGeom>
        </p:spPr>
      </p:pic>
      <p:sp>
        <p:nvSpPr>
          <p:cNvPr id="5" name="Text 5"/>
          <p:cNvSpPr/>
          <p:nvPr/>
        </p:nvSpPr>
        <p:spPr>
          <a:xfrm>
            <a:off x="640080" y="5250000"/>
            <a:ext cx="3700000" cy="700000"/>
          </a:xfrm>
          <a:prstGeom prst="rect">
            <a:avLst/>
          </a:prstGeom>
          <a:noFill/>
          <a:ln>
            <a:noFill/>
          </a:ln>
        </p:spPr>
        <p:txBody>
          <a:bodyPr wrap="square" lIns="0" tIns="0" rIns="0" bIns="0" rtlCol="0" anchor="t">
            <a:noAutofit/>
          </a:bodyPr>
          <a:lstStyle/>
          <a:p>
            <a:pPr algn="ctr" indent="0" marL="0">
              <a:lnSpc>
                <a:spcPct val="100000"/>
              </a:lnSpc>
              <a:spcAft>
                <a:spcPts val="0"/>
              </a:spcAft>
              <a:buNone/>
            </a:pPr>
            <a:r>
              <a:rPr lang="de-DE" sz="1600" b="1" i="0" dirty="0">
                <a:solidFill>
                  <a:srgbClr val="00285A"/>
                </a:solidFill>
                <a:latin typeface="Arial" pitchFamily="34" charset="0"/>
                <a:ea typeface="Arial" pitchFamily="34" charset="-122"/>
                <a:cs typeface="Arial" pitchFamily="34" charset="-120"/>
              </a:rPr>
              <a:t>Auf der Lernplattform weiterlernen</a:t>
            </a:r>
          </a:p>
        </p:txBody>
      </p:sp>
      <p:sp>
        <p:nvSpPr>
          <p:cNvPr id="6" name="Text 6"/>
          <p:cNvSpPr/>
          <p:nvPr/>
        </p:nvSpPr>
        <p:spPr>
          <a:xfrm>
            <a:off x="4700000" y="1450000"/>
            <a:ext cx="6850000" cy="65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400" b="1" i="0" dirty="0">
                <a:solidFill>
                  <a:srgbClr val="00285A"/>
                </a:solidFill>
                <a:latin typeface="Arial" pitchFamily="34" charset="0"/>
                <a:ea typeface="Arial" pitchFamily="34" charset="-122"/>
                <a:cs typeface="Arial" pitchFamily="34" charset="-120"/>
              </a:rPr>
              <a:t>Dort findest du:</a:t>
            </a:r>
          </a:p>
        </p:txBody>
      </p:sp>
      <p:sp>
        <p:nvSpPr>
          <p:cNvPr id="7" name="Zeile 7"/>
          <p:cNvSpPr/>
          <p:nvPr/>
        </p:nvSpPr>
        <p:spPr>
          <a:xfrm>
            <a:off x="4700000" y="2150000"/>
            <a:ext cx="6850000" cy="680000"/>
          </a:xfrm>
          <a:prstGeom prst="roundRect">
            <a:avLst>
              <a:gd name="adj" fmla="val 12000"/>
            </a:avLst>
          </a:prstGeom>
          <a:solidFill>
            <a:srgbClr val="D8EAF2"/>
          </a:solidFill>
          <a:ln w="12700">
            <a:solidFill>
              <a:srgbClr val="AAD1E3"/>
            </a:solidFill>
            <a:prstDash val="solid"/>
          </a:ln>
        </p:spPr>
      </p:sp>
      <p:sp>
        <p:nvSpPr>
          <p:cNvPr id="8" name="Kreis 8"/>
          <p:cNvSpPr/>
          <p:nvPr/>
        </p:nvSpPr>
        <p:spPr>
          <a:xfrm>
            <a:off x="4830000" y="2252000"/>
            <a:ext cx="475999" cy="475999"/>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1870" b="1" i="0" dirty="0">
                <a:solidFill>
                  <a:srgbClr val="00285A"/>
                </a:solidFill>
                <a:latin typeface="Arial" pitchFamily="34" charset="0"/>
                <a:ea typeface="Arial" pitchFamily="34" charset="-122"/>
                <a:cs typeface="Arial" pitchFamily="34" charset="-120"/>
              </a:rPr>
              <a:t>✓</a:t>
            </a:r>
          </a:p>
        </p:txBody>
      </p:sp>
      <p:sp>
        <p:nvSpPr>
          <p:cNvPr id="9" name="Text 9"/>
          <p:cNvSpPr/>
          <p:nvPr/>
        </p:nvSpPr>
        <p:spPr>
          <a:xfrm>
            <a:off x="5485999" y="2150000"/>
            <a:ext cx="5864001" cy="6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200" b="0" i="0" dirty="0">
                <a:solidFill>
                  <a:srgbClr val="1A1A1A"/>
                </a:solidFill>
                <a:latin typeface="Arial" pitchFamily="34" charset="0"/>
                <a:ea typeface="Arial" pitchFamily="34" charset="-122"/>
                <a:cs typeface="Arial" pitchFamily="34" charset="-120"/>
              </a:rPr>
              <a:t>Das Thema Instagram in deiner Sprache</a:t>
            </a:r>
          </a:p>
        </p:txBody>
      </p:sp>
      <p:sp>
        <p:nvSpPr>
          <p:cNvPr id="10" name="Zeile 10"/>
          <p:cNvSpPr/>
          <p:nvPr/>
        </p:nvSpPr>
        <p:spPr>
          <a:xfrm>
            <a:off x="4700000" y="2940000"/>
            <a:ext cx="6850000" cy="680000"/>
          </a:xfrm>
          <a:prstGeom prst="roundRect">
            <a:avLst>
              <a:gd name="adj" fmla="val 12000"/>
            </a:avLst>
          </a:prstGeom>
          <a:solidFill>
            <a:srgbClr val="D8EAF2"/>
          </a:solidFill>
          <a:ln w="12700">
            <a:solidFill>
              <a:srgbClr val="AAD1E3"/>
            </a:solidFill>
            <a:prstDash val="solid"/>
          </a:ln>
        </p:spPr>
      </p:sp>
      <p:sp>
        <p:nvSpPr>
          <p:cNvPr id="11" name="Kreis 11"/>
          <p:cNvSpPr/>
          <p:nvPr/>
        </p:nvSpPr>
        <p:spPr>
          <a:xfrm>
            <a:off x="4830000" y="3042000"/>
            <a:ext cx="475999" cy="475999"/>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1870" b="1" i="0" dirty="0">
                <a:solidFill>
                  <a:srgbClr val="00285A"/>
                </a:solidFill>
                <a:latin typeface="Arial" pitchFamily="34" charset="0"/>
                <a:ea typeface="Arial" pitchFamily="34" charset="-122"/>
                <a:cs typeface="Arial" pitchFamily="34" charset="-120"/>
              </a:rPr>
              <a:t>✓</a:t>
            </a:r>
          </a:p>
        </p:txBody>
      </p:sp>
      <p:sp>
        <p:nvSpPr>
          <p:cNvPr id="12" name="Text 12"/>
          <p:cNvSpPr/>
          <p:nvPr/>
        </p:nvSpPr>
        <p:spPr>
          <a:xfrm>
            <a:off x="5485999" y="2940000"/>
            <a:ext cx="5864001" cy="6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200" b="0" i="0" dirty="0">
                <a:solidFill>
                  <a:srgbClr val="1A1A1A"/>
                </a:solidFill>
                <a:latin typeface="Arial" pitchFamily="34" charset="0"/>
                <a:ea typeface="Arial" pitchFamily="34" charset="-122"/>
                <a:cs typeface="Arial" pitchFamily="34" charset="-120"/>
              </a:rPr>
              <a:t>Vorlesen</a:t>
            </a:r>
          </a:p>
        </p:txBody>
      </p:sp>
      <p:sp>
        <p:nvSpPr>
          <p:cNvPr id="13" name="Zeile 13"/>
          <p:cNvSpPr/>
          <p:nvPr/>
        </p:nvSpPr>
        <p:spPr>
          <a:xfrm>
            <a:off x="4700000" y="3730000"/>
            <a:ext cx="6850000" cy="680000"/>
          </a:xfrm>
          <a:prstGeom prst="roundRect">
            <a:avLst>
              <a:gd name="adj" fmla="val 12000"/>
            </a:avLst>
          </a:prstGeom>
          <a:solidFill>
            <a:srgbClr val="D8EAF2"/>
          </a:solidFill>
          <a:ln w="12700">
            <a:solidFill>
              <a:srgbClr val="AAD1E3"/>
            </a:solidFill>
            <a:prstDash val="solid"/>
          </a:ln>
        </p:spPr>
      </p:sp>
      <p:sp>
        <p:nvSpPr>
          <p:cNvPr id="14" name="Kreis 14"/>
          <p:cNvSpPr/>
          <p:nvPr/>
        </p:nvSpPr>
        <p:spPr>
          <a:xfrm>
            <a:off x="4830000" y="3832000"/>
            <a:ext cx="475999" cy="475999"/>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1870" b="1" i="0" dirty="0">
                <a:solidFill>
                  <a:srgbClr val="00285A"/>
                </a:solidFill>
                <a:latin typeface="Arial" pitchFamily="34" charset="0"/>
                <a:ea typeface="Arial" pitchFamily="34" charset="-122"/>
                <a:cs typeface="Arial" pitchFamily="34" charset="-120"/>
              </a:rPr>
              <a:t>✓</a:t>
            </a:r>
          </a:p>
        </p:txBody>
      </p:sp>
      <p:sp>
        <p:nvSpPr>
          <p:cNvPr id="15" name="Text 15"/>
          <p:cNvSpPr/>
          <p:nvPr/>
        </p:nvSpPr>
        <p:spPr>
          <a:xfrm>
            <a:off x="5485999" y="3730000"/>
            <a:ext cx="5864001" cy="6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200" b="0" i="0" dirty="0">
                <a:solidFill>
                  <a:srgbClr val="1A1A1A"/>
                </a:solidFill>
                <a:latin typeface="Arial" pitchFamily="34" charset="0"/>
                <a:ea typeface="Arial" pitchFamily="34" charset="-122"/>
                <a:cs typeface="Arial" pitchFamily="34" charset="-120"/>
              </a:rPr>
              <a:t>Übung: Ein Konzert-Foto teilen</a:t>
            </a:r>
          </a:p>
        </p:txBody>
      </p:sp>
      <p:sp>
        <p:nvSpPr>
          <p:cNvPr id="16" name="Zeile 16"/>
          <p:cNvSpPr/>
          <p:nvPr/>
        </p:nvSpPr>
        <p:spPr>
          <a:xfrm>
            <a:off x="4700000" y="4520000"/>
            <a:ext cx="6850000" cy="680000"/>
          </a:xfrm>
          <a:prstGeom prst="roundRect">
            <a:avLst>
              <a:gd name="adj" fmla="val 12000"/>
            </a:avLst>
          </a:prstGeom>
          <a:solidFill>
            <a:srgbClr val="D8EAF2"/>
          </a:solidFill>
          <a:ln w="12700">
            <a:solidFill>
              <a:srgbClr val="AAD1E3"/>
            </a:solidFill>
            <a:prstDash val="solid"/>
          </a:ln>
        </p:spPr>
      </p:sp>
      <p:sp>
        <p:nvSpPr>
          <p:cNvPr id="17" name="Kreis 17"/>
          <p:cNvSpPr/>
          <p:nvPr/>
        </p:nvSpPr>
        <p:spPr>
          <a:xfrm>
            <a:off x="4830000" y="4622000"/>
            <a:ext cx="475999" cy="475999"/>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1870" b="1" i="0" dirty="0">
                <a:solidFill>
                  <a:srgbClr val="00285A"/>
                </a:solidFill>
                <a:latin typeface="Arial" pitchFamily="34" charset="0"/>
                <a:ea typeface="Arial" pitchFamily="34" charset="-122"/>
                <a:cs typeface="Arial" pitchFamily="34" charset="-120"/>
              </a:rPr>
              <a:t>✓</a:t>
            </a:r>
          </a:p>
        </p:txBody>
      </p:sp>
      <p:sp>
        <p:nvSpPr>
          <p:cNvPr id="18" name="Text 18"/>
          <p:cNvSpPr/>
          <p:nvPr/>
        </p:nvSpPr>
        <p:spPr>
          <a:xfrm>
            <a:off x="5485999" y="4520000"/>
            <a:ext cx="5864001" cy="6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200" b="0" i="0" dirty="0">
                <a:solidFill>
                  <a:srgbClr val="1A1A1A"/>
                </a:solidFill>
                <a:latin typeface="Arial" pitchFamily="34" charset="0"/>
                <a:ea typeface="Arial" pitchFamily="34" charset="-122"/>
                <a:cs typeface="Arial" pitchFamily="34" charset="-120"/>
              </a:rPr>
              <a:t>Quiz und Merk-Karte</a:t>
            </a:r>
          </a:p>
        </p:txBody>
      </p:sp>
      <p:sp>
        <p:nvSpPr>
          <p:cNvPr id="19" name="Text 19"/>
          <p:cNvSpPr/>
          <p:nvPr/>
        </p:nvSpPr>
        <p:spPr>
          <a:xfrm>
            <a:off x="4700000" y="5350000"/>
            <a:ext cx="6850000" cy="7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200" b="1" i="0" dirty="0">
                <a:solidFill>
                  <a:srgbClr val="00285A"/>
                </a:solidFill>
                <a:latin typeface="Arial" pitchFamily="34" charset="0"/>
                <a:ea typeface="Arial" pitchFamily="34" charset="-122"/>
                <a:cs typeface="Arial" pitchFamily="34" charset="-120"/>
              </a:rPr>
              <a:t>Allein und in deinem Tempo.</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Eine Sache für heute">
    <p:bg>
      <p:bgPr>
        <a:solidFill>
          <a:srgbClr val="D8EAF2"/>
        </a:solidFill>
        <a:effectLst/>
      </p:bgPr>
    </p:bg>
    <p:spTree>
      <p:nvGrpSpPr>
        <p:cNvPr id="1" name=""/>
        <p:cNvGrpSpPr/>
        <p:nvPr/>
      </p:nvGrpSpPr>
      <p:grpSpPr>
        <a:xfrm>
          <a:off x="0" y="0"/>
          <a:ext cx="0" cy="0"/>
          <a:chOff x="0" y="0"/>
          <a:chExt cx="0" cy="0"/>
        </a:xfrm>
      </p:grpSpPr>
      <p:sp>
        <p:nvSpPr>
          <p:cNvPr id="2" name="Text 2"/>
          <p:cNvSpPr/>
          <p:nvPr/>
        </p:nvSpPr>
        <p:spPr>
          <a:xfrm>
            <a:off x="640080" y="500000"/>
            <a:ext cx="10911840" cy="8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3200" b="1" i="0" dirty="0">
                <a:solidFill>
                  <a:srgbClr val="00285A"/>
                </a:solidFill>
                <a:latin typeface="Arial" pitchFamily="34" charset="0"/>
                <a:ea typeface="Arial" pitchFamily="34" charset="-122"/>
                <a:cs typeface="Arial" pitchFamily="34" charset="-120"/>
              </a:rPr>
              <a:t>Eine Sache für heute</a:t>
            </a:r>
          </a:p>
        </p:txBody>
      </p:sp>
      <p:sp>
        <p:nvSpPr>
          <p:cNvPr id="3" name="Text 3"/>
          <p:cNvSpPr/>
          <p:nvPr/>
        </p:nvSpPr>
        <p:spPr>
          <a:xfrm>
            <a:off x="640080" y="1500000"/>
            <a:ext cx="6500000" cy="4600000"/>
          </a:xfrm>
          <a:prstGeom prst="roundRect">
            <a:avLst>
              <a:gd name="adj" fmla="val 5000"/>
            </a:avLst>
          </a:prstGeom>
          <a:solidFill>
            <a:srgbClr val="FFFFFF"/>
          </a:solidFill>
          <a:ln>
            <a:noFill/>
          </a:ln>
          <a:effectLst>
            <a:outerShdw sx="100000" sy="100000" kx="0" ky="0" algn="bl" rotWithShape="0" blurRad="88900" dist="25400" dir="5400000">
              <a:srgbClr val="000000">
                <a:alpha val="14000"/>
              </a:srgbClr>
            </a:outerShdw>
          </a:effectLst>
        </p:spPr>
      </p:sp>
      <p:sp>
        <p:nvSpPr>
          <p:cNvPr id="4" name="Text 4"/>
          <p:cNvSpPr/>
          <p:nvPr/>
        </p:nvSpPr>
        <p:spPr>
          <a:xfrm>
            <a:off x="1040080" y="1700000"/>
            <a:ext cx="5700000" cy="4200000"/>
          </a:xfrm>
          <a:prstGeom prst="rect">
            <a:avLst/>
          </a:prstGeom>
          <a:noFill/>
          <a:ln>
            <a:noFill/>
          </a:ln>
        </p:spPr>
        <p:txBody>
          <a:bodyPr wrap="square" lIns="0" tIns="0" rIns="0" bIns="0" rtlCol="0" anchor="ctr">
            <a:noAutofit/>
          </a:bodyPr>
          <a:lstStyle/>
          <a:p>
            <a:pPr algn="l" indent="0" marL="0">
              <a:lnSpc>
                <a:spcPct val="100000"/>
              </a:lnSpc>
              <a:spcAft>
                <a:spcPts val="1200"/>
              </a:spcAft>
              <a:buNone/>
            </a:pPr>
            <a:r>
              <a:rPr lang="de-DE" sz="2800" b="0" i="0" dirty="0">
                <a:solidFill>
                  <a:srgbClr val="1A1A1A"/>
                </a:solidFill>
                <a:latin typeface="Arial" pitchFamily="34" charset="0"/>
                <a:ea typeface="Arial" pitchFamily="34" charset="-122"/>
                <a:cs typeface="Arial" pitchFamily="34" charset="-120"/>
              </a:rPr>
              <a:t>Du willst ein Foto posten?</a:t>
            </a:r>
          </a:p>
          <a:p>
            <a:pPr algn="l" indent="0" marL="0">
              <a:lnSpc>
                <a:spcPct val="100000"/>
              </a:lnSpc>
              <a:spcAft>
                <a:spcPts val="1200"/>
              </a:spcAft>
              <a:buNone/>
            </a:pPr>
            <a:r>
              <a:rPr lang="de-DE" sz="3400" b="1" i="0" dirty="0">
                <a:solidFill>
                  <a:srgbClr val="00285A"/>
                </a:solidFill>
                <a:latin typeface="Arial" pitchFamily="34" charset="0"/>
                <a:ea typeface="Arial" pitchFamily="34" charset="-122"/>
                <a:cs typeface="Arial" pitchFamily="34" charset="-120"/>
              </a:rPr>
              <a:t>Mach vorher Stopp.</a:t>
            </a:r>
          </a:p>
          <a:p>
            <a:pPr algn="l" indent="0" marL="0">
              <a:lnSpc>
                <a:spcPct val="100000"/>
              </a:lnSpc>
              <a:spcAft>
                <a:spcPts val="0"/>
              </a:spcAft>
              <a:buNone/>
            </a:pPr>
            <a:r>
              <a:rPr lang="de-DE" sz="3000" b="1" i="0" dirty="0">
                <a:solidFill>
                  <a:srgbClr val="00285A"/>
                </a:solidFill>
                <a:latin typeface="Arial" pitchFamily="34" charset="0"/>
                <a:ea typeface="Arial" pitchFamily="34" charset="-122"/>
                <a:cs typeface="Arial" pitchFamily="34" charset="-120"/>
              </a:rPr>
              <a:t>Schau auf den Hintergrund und den Ort.</a:t>
            </a:r>
          </a:p>
        </p:txBody>
      </p:sp>
      <p:sp>
        <p:nvSpPr>
          <p:cNvPr id="5" name="Bild-Platzhalter 5"/>
          <p:cNvSpPr/>
          <p:nvPr/>
        </p:nvSpPr>
        <p:spPr>
          <a:xfrm>
            <a:off x="7450000" y="1500000"/>
            <a:ext cx="4100000" cy="4600000"/>
          </a:xfrm>
          <a:prstGeom prst="roundRect">
            <a:avLst>
              <a:gd name="adj" fmla="val 4000"/>
            </a:avLst>
          </a:prstGeom>
          <a:solidFill>
            <a:srgbClr val="F3F6F9"/>
          </a:solidFill>
          <a:ln w="19050">
            <a:solidFill>
              <a:srgbClr val="6B7A89"/>
            </a:solidFill>
            <a:prstDash val="dash"/>
          </a:ln>
        </p:spPr>
        <p:txBody>
          <a:bodyPr wrap="square" lIns="137160" tIns="137160" rIns="137160" bIns="137160" rtlCol="0" anchor="ctr">
            <a:noAutofit/>
          </a:bodyPr>
          <a:lstStyle/>
          <a:p>
            <a:pPr algn="ctr" indent="0" marL="0">
              <a:lnSpc>
                <a:spcPct val="100000"/>
              </a:lnSpc>
              <a:spcAft>
                <a:spcPts val="0"/>
              </a:spcAft>
              <a:buNone/>
            </a:pPr>
            <a:r>
              <a:rPr lang="de-DE" sz="1600" b="0" i="1" dirty="0">
                <a:solidFill>
                  <a:srgbClr val="48586A"/>
                </a:solidFill>
                <a:latin typeface="Arial" pitchFamily="34" charset="0"/>
                <a:ea typeface="Arial" pitchFamily="34" charset="-122"/>
                <a:cs typeface="Arial" pitchFamily="34" charset="-120"/>
              </a:rPr>
              <a:t>[BILD: Eine Person schaut vor dem Posten auf den Hintergrund von ihrem Foto.]</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Danke fürs Mitmachen">
    <p:bg>
      <p:bgPr>
        <a:solidFill>
          <a:srgbClr val="00285A"/>
        </a:solidFill>
        <a:effectLst/>
      </p:bgPr>
    </p:bg>
    <p:spTree>
      <p:nvGrpSpPr>
        <p:cNvPr id="1" name=""/>
        <p:cNvGrpSpPr/>
        <p:nvPr/>
      </p:nvGrpSpPr>
      <p:grpSpPr>
        <a:xfrm>
          <a:off x="0" y="0"/>
          <a:ext cx="0" cy="0"/>
          <a:chOff x="0" y="0"/>
          <a:chExt cx="0" cy="0"/>
        </a:xfrm>
      </p:grpSpPr>
      <p:sp>
        <p:nvSpPr>
          <p:cNvPr id="2" name="Text 2"/>
          <p:cNvSpPr/>
          <p:nvPr/>
        </p:nvSpPr>
        <p:spPr>
          <a:xfrm>
            <a:off x="0" y="1900000"/>
            <a:ext cx="12192000" cy="1200000"/>
          </a:xfrm>
          <a:prstGeom prst="rect">
            <a:avLst/>
          </a:prstGeom>
          <a:noFill/>
          <a:ln>
            <a:noFill/>
          </a:ln>
        </p:spPr>
        <p:txBody>
          <a:bodyPr wrap="square" lIns="0" tIns="0" rIns="0" bIns="0" rtlCol="0" anchor="ctr">
            <a:noAutofit/>
          </a:bodyPr>
          <a:lstStyle/>
          <a:p>
            <a:pPr algn="ctr" indent="0" marL="0">
              <a:lnSpc>
                <a:spcPct val="100000"/>
              </a:lnSpc>
              <a:spcAft>
                <a:spcPts val="0"/>
              </a:spcAft>
              <a:buNone/>
            </a:pPr>
            <a:r>
              <a:rPr lang="de-DE" sz="5400" b="1" i="0" dirty="0">
                <a:solidFill>
                  <a:srgbClr val="FFFFFF"/>
                </a:solidFill>
                <a:latin typeface="Arial" pitchFamily="34" charset="0"/>
                <a:ea typeface="Arial" pitchFamily="34" charset="-122"/>
                <a:cs typeface="Arial" pitchFamily="34" charset="-120"/>
              </a:rPr>
              <a:t>Danke fürs Mitmachen.</a:t>
            </a:r>
          </a:p>
        </p:txBody>
      </p:sp>
      <p:sp>
        <p:nvSpPr>
          <p:cNvPr id="3" name="Text 3"/>
          <p:cNvSpPr/>
          <p:nvPr/>
        </p:nvSpPr>
        <p:spPr>
          <a:xfrm>
            <a:off x="0" y="3150000"/>
            <a:ext cx="12192000" cy="800000"/>
          </a:xfrm>
          <a:prstGeom prst="rect">
            <a:avLst/>
          </a:prstGeom>
          <a:noFill/>
          <a:ln>
            <a:noFill/>
          </a:ln>
        </p:spPr>
        <p:txBody>
          <a:bodyPr wrap="square" lIns="0" tIns="0" rIns="0" bIns="0" rtlCol="0" anchor="ctr">
            <a:noAutofit/>
          </a:bodyPr>
          <a:lstStyle/>
          <a:p>
            <a:pPr algn="ctr" indent="0" marL="0">
              <a:lnSpc>
                <a:spcPct val="100000"/>
              </a:lnSpc>
              <a:spcAft>
                <a:spcPts val="0"/>
              </a:spcAft>
              <a:buNone/>
            </a:pPr>
            <a:r>
              <a:rPr lang="de-DE" sz="3000" b="0" i="0" dirty="0">
                <a:solidFill>
                  <a:srgbClr val="AAD1E3"/>
                </a:solidFill>
                <a:latin typeface="Arial" pitchFamily="34" charset="0"/>
                <a:ea typeface="Arial" pitchFamily="34" charset="-122"/>
                <a:cs typeface="Arial" pitchFamily="34" charset="-120"/>
              </a:rPr>
              <a:t>Hast du noch Fragen?</a:t>
            </a:r>
          </a:p>
        </p:txBody>
      </p:sp>
      <p:sp>
        <p:nvSpPr>
          <p:cNvPr id="4" name="Text 4"/>
          <p:cNvSpPr/>
          <p:nvPr/>
        </p:nvSpPr>
        <p:spPr>
          <a:xfrm>
            <a:off x="0" y="4100000"/>
            <a:ext cx="12192000" cy="800000"/>
          </a:xfrm>
          <a:prstGeom prst="rect">
            <a:avLst/>
          </a:prstGeom>
          <a:noFill/>
          <a:ln>
            <a:noFill/>
          </a:ln>
        </p:spPr>
        <p:txBody>
          <a:bodyPr wrap="square" lIns="0" tIns="0" rIns="0" bIns="0" rtlCol="0" anchor="ctr">
            <a:noAutofit/>
          </a:bodyPr>
          <a:lstStyle/>
          <a:p>
            <a:pPr algn="ctr" indent="0" marL="0">
              <a:lnSpc>
                <a:spcPct val="100000"/>
              </a:lnSpc>
              <a:spcAft>
                <a:spcPts val="0"/>
              </a:spcAft>
              <a:buNone/>
            </a:pPr>
            <a:r>
              <a:rPr lang="de-DE" sz="2600" b="1" i="0" dirty="0">
                <a:solidFill>
                  <a:srgbClr val="FFFFFF"/>
                </a:solidFill>
                <a:latin typeface="Arial" pitchFamily="34" charset="0"/>
                <a:ea typeface="Arial" pitchFamily="34" charset="-122"/>
                <a:cs typeface="Arial" pitchFamily="34" charset="-120"/>
              </a:rPr>
              <a:t>Du brauchst Hilfe? Frag eine vertraute Person.</a:t>
            </a:r>
          </a:p>
        </p:txBody>
      </p:sp>
      <p:sp>
        <p:nvSpPr>
          <p:cNvPr id="5" name="Text 5"/>
          <p:cNvSpPr/>
          <p:nvPr/>
        </p:nvSpPr>
        <p:spPr>
          <a:xfrm>
            <a:off x="640080" y="6309360"/>
            <a:ext cx="10972800" cy="36576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1300" b="0" i="0" dirty="0">
                <a:solidFill>
                  <a:srgbClr val="AAD1E3"/>
                </a:solidFill>
                <a:latin typeface="Arial" pitchFamily="34" charset="0"/>
                <a:ea typeface="Arial" pitchFamily="34" charset="-122"/>
                <a:cs typeface="Arial" pitchFamily="34" charset="-120"/>
              </a:rPr>
              <a:t>Alexianer Stift Tilbeck GmbH   ·   Gefördert durch die Sozialstiftung NRW</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Instagram sicher und selbstbestimmt nutzen</dc:title>
  <dc:subject>Pilot nach REFERENZMODUL.md – 90-Minuten-Live-Workshop</dc:subject>
  <dc:creator>Alexianer Stift Tilbeck – Digitale Teilhabe</dc:creator>
  <cp:lastModifiedBy>Alexianer Stift Tilbeck – Digitale Teilhabe</cp:lastModifiedBy>
  <cp:revision>2</cp:revision>
  <dcterms:created xsi:type="dcterms:W3CDTF">2026-06-24T06:27:19Z</dcterms:created>
  <dcterms:modified xsi:type="dcterms:W3CDTF">2026-09-18T09:31:19Z</dcterms:modified>
</cp:coreProperties>
</file>