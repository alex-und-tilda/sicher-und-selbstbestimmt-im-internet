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 id="278" r:id="rIdS23"/>
    <p:sldId id="279" r:id="rIdS24"/>
    <p:sldId id="280" r:id="rIdS25"/>
    <p:sldId id="281" r:id="rIdS26"/>
    <p:sldId id="282" r:id="rIdS27"/>
    <p:sldId id="283" r:id="rIdS28"/>
    <p:sldId id="284" r:id="rIdS29"/>
    <p:sldId id="285" r:id="rIdS30"/>
    <p:sldId id="286" r:id="rIdS31"/>
    <p:sldId id="287" r:id="rIdS32"/>
    <p:sldId id="288" r:id="rIdS33"/>
    <p:sldId id="289" r:id="rIdS34"/>
    <p:sldId id="290" r:id="rIdS35"/>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 Id="rIdS26" Type="http://schemas.openxmlformats.org/officeDocument/2006/relationships/slide" Target="slides/slide26.xml"/><Relationship Id="rIdS27" Type="http://schemas.openxmlformats.org/officeDocument/2006/relationships/slide" Target="slides/slide27.xml"/><Relationship Id="rIdS28" Type="http://schemas.openxmlformats.org/officeDocument/2006/relationships/slide" Target="slides/slide28.xml"/><Relationship Id="rIdS29" Type="http://schemas.openxmlformats.org/officeDocument/2006/relationships/slide" Target="slides/slide29.xml"/><Relationship Id="rIdS30" Type="http://schemas.openxmlformats.org/officeDocument/2006/relationships/slide" Target="slides/slide30.xml"/><Relationship Id="rIdS31" Type="http://schemas.openxmlformats.org/officeDocument/2006/relationships/slide" Target="slides/slide31.xml"/><Relationship Id="rIdS32" Type="http://schemas.openxmlformats.org/officeDocument/2006/relationships/slide" Target="slides/slide32.xml"/><Relationship Id="rIdS33" Type="http://schemas.openxmlformats.org/officeDocument/2006/relationships/slide" Target="slides/slide33.xml"/><Relationship Id="rIdS34" Type="http://schemas.openxmlformats.org/officeDocument/2006/relationships/slide" Target="slides/slide34.xml"/><Relationship Id="rIdS35"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Ankommen; Thema und Ziel des Tages kennen.</a:t>
            </a:r>
          </a:p>
          <a:p>
            <a:r>
              <a:rPr lang="de-DE" b="1" sz="1100"/>
              <a:t>Methode: </a:t>
            </a:r>
            <a:r>
              <a:rPr lang="de-DE" sz="1100"/>
              <a:t>Begrüßung, kurze Vorstellungsrunde mit Name oder Wunschname.</a:t>
            </a:r>
          </a:p>
          <a:p>
            <a:r>
              <a:rPr lang="de-DE" b="1" sz="1100"/>
              <a:t>Sozialform: </a:t>
            </a:r>
            <a:r>
              <a:rPr lang="de-DE" sz="1100"/>
              <a:t>Sitzkreis, Plenum</a:t>
            </a:r>
          </a:p>
          <a:p>
            <a:r>
              <a:rPr lang="de-DE" b="1" sz="1100"/>
              <a:t>Zeit: </a:t>
            </a:r>
            <a:r>
              <a:rPr lang="de-DE" sz="1100"/>
              <a:t>ca. 2 Min</a:t>
            </a:r>
          </a:p>
          <a:p>
            <a:r>
              <a:rPr lang="de-DE" b="1" sz="1100"/>
              <a:t>Material: </a:t>
            </a:r>
            <a:r>
              <a:rPr lang="de-DE" sz="1100"/>
              <a:t>Beamer, Namensschilder</a:t>
            </a:r>
          </a:p>
          <a:p>
            <a:r>
              <a:rPr lang="de-DE" b="1" sz="1100"/>
              <a:t>Hinweis: </a:t>
            </a:r>
            <a:r>
              <a:rPr lang="de-DE" sz="1100"/>
              <a:t>Ruhig starten. Ziel in einem Satz: Heute schützen wir unseren Ort, und wir üben ein klares Nein. Niemand muss etwas Eigenes zeigen oder erzählen. Dieses Modul berührt sensible Themen – das gleich zu Beginn ruhig ankündigen.</a:t>
            </a:r>
          </a:p>
          <a:p>
            <a:r>
              <a:rPr lang="de-DE" b="1" sz="1100"/>
              <a:t>Bildvorschlag: </a:t>
            </a:r>
            <a:r>
              <a:rPr lang="de-DE" sz="1100"/>
              <a:t>Alex und Tilda als eigene Figuren der Lernplattform (Wiedererkennung Workshop – Lernplattform). Keine fremden Piktogramme.</a:t>
            </a:r>
          </a:p>
          <a:p>
            <a:r>
              <a:rPr lang="de-DE" b="1" sz="1100"/>
              <a:t>Über diesen Leitfaden: </a:t>
            </a:r>
            <a:r>
              <a:rPr lang="de-DE" sz="1100"/>
              <a:t>Modul Snapchat nach REFERENZMODUL.md · Stand 18.09.2026 · Fassung 2 mit dem gemeinsamen Standard aus gemeinsam/BEGRIFFE.md und gemeinsam/MATERIAL.md, gebaut nach dem Muster des Instagram-Pilotpakets · 90 Minuten = 86 Minuten Programm + 4 Minuten Puffer. Dieser Leitfaden wird nur hier in den Sprechernotizen gepflegt; die PDF ist ein Export.</a:t>
            </a:r>
          </a:p>
          <a:p>
            <a:r>
              <a:rPr lang="de-DE" b="1" sz="1100"/>
              <a:t>Lernziele des Moduls: </a:t>
            </a:r>
            <a:r>
              <a:rPr lang="de-DE" sz="1100"/>
              <a:t>(1) Die Person sagt, wer ihr schreiben darf und wer ihre Story sieht, und lehnt Anfragen von unbekannten Personen ab. (2) Sie sagt: Ein Snap kann gespeichert werden, und sie schützt ihren Ort mit dem Geist-Modus. (3) Sie erkennt Druck und Geheimhaltung als Warnzeichen und sagt: Ich schicke kein Bild. Ich sage Nein und zeige es. (4) Sie nennt Schritte bei gemeinen Nachrichten und sagt: Das ist nicht meine Schuld.</a:t>
            </a:r>
          </a:p>
          <a:p>
            <a:r>
              <a:rPr lang="de-DE" b="1" sz="1100"/>
              <a:t>Ablauf: </a:t>
            </a:r>
            <a:r>
              <a:rPr lang="de-DE" sz="1100"/>
              <a:t>0–7 Ankommen · 7–13 Aktivierung · 13–22 Thema 1 Mein Konto und meine Freunde · 22–31 Thema 2 Bilder und Ort · 31–40 Thema 3 Druck und sehr private Bilder · 40–49 Thema 4 Wenn etwas verletzt · 49–59 Pause · 59–74 Praxis · 74–81 Quiz-Gespräch · 81–84 Lernplattform · 84–86 Eine Sache für heute · 86–90 Puffer.</a:t>
            </a:r>
          </a:p>
          <a:p>
            <a:r>
              <a:rPr lang="de-DE" b="1" sz="1100"/>
              <a:t>Material gesamt: </a:t>
            </a:r>
            <a:r>
              <a:rPr lang="de-DE" sz="1100"/>
              <a:t>Beamer, Antwortkarten A/B/C, Namensschilder, Plakat mit Ablauf und Regeln, Hilfe-Karte für jede Person (gemeinsam/HILFE-KARTE.md), Stifte, gedruckte Merk-Karte Snapchat der Lernplattform (#thema-snapchat:merk), WLAN-Zugang, Ladekabel, Ersatzgerät.</a:t>
            </a:r>
          </a:p>
          <a:p>
            <a:r>
              <a:rPr lang="de-DE" b="1" sz="1100"/>
              <a:t>Vorbereitung am Vortag: </a:t>
            </a:r>
            <a:r>
              <a:rPr lang="de-DE" sz="1100"/>
              <a:t>Praxis-Seite praxis/snapchat.html an einem aktuellen Handy durchgehen (Stand der Seite: Juni 2026). Beide QR-Codes testen. Vorderseite der Hilfe-Karte mit den Ansprechpersonen vor Ort ausfüllen, Hilfe-Nummern prüfen und die Karten drucken. Schutzkonzept des Trägers und den Weg für ein Einzelgespräch klären. Rollen verteilen: Leitung, Begleitung in der Praxis, Ansprechperson für Einzelgespräche. Vor dem Praxistest sind drei Bilder verpflichtend: Folie 5 und 11 (Bildfolge zum verschwindenden Snap) und Folie 21 (Hilfe-Karte mit ausgefüllter Vorderseite).</a:t>
            </a:r>
          </a:p>
          <a:p>
            <a:r>
              <a:rPr lang="de-DE" b="1" sz="1100"/>
              <a:t>Live oder Lernplattform: </a:t>
            </a:r>
            <a:r>
              <a:rPr lang="de-DE" sz="1100"/>
              <a:t>Live: Geist-Modus einstellen, Nein-Satz gemeinsam sprechen, Warnzeichen besprechen, Schuld-Entlastung. Lernplattform (Thema Snapchat): Bilder verschwinden nicht immer (L1), Bild vom Bildschirm (L2), sehr private Bilder (L3), Standort (L4), Kontakte (L5), Druck erkennen (L6), Plan (L7), Quiz, Merk-Karte, Kurz-Modus – im eigenen Tempo, in drei Sprach-Ebenen, mit Vorlesen. Standardweg ohne Handy oder ohne Konto: Übungs-Handy „Ein Bild und eine Karte“ (#thema-snapchat:uebung). Achtung: Dieses Übungs-Handy enthält eine Szene mit Druck zu einem Bild – nur begleitet und angekündigt öffnen, siehe Sensible Themen.</a:t>
            </a:r>
          </a:p>
          <a:p>
            <a:r>
              <a:rPr lang="de-DE" b="1" sz="1100"/>
              <a:t>Sensible Themen: </a:t>
            </a:r>
            <a:r>
              <a:rPr lang="de-DE" sz="1100"/>
              <a:t>Dieses Modul ist das empfindlichste der App-Module. Thema 3 liegt vor der Pause. Es geht um Druck zu sehr privaten Bildern und um Erpressung. Regeln: ruhiger Ton, sofort die handlungsfähige Botschaft (Das ist nicht deine Schuld. Du kannst Hilfe holen.), keine drastischen Beispiele, keine echten Fälle oder Namen. Kein Rollenspiel, in dem Teilnehmende die drängende Person spielen – die Leitung liest die erfundene Nachricht vor, die Gruppe spricht den Nein-Satz gemeinsam. Bei Erpressung gilt: nicht zahlen, nichts mehr schicken, die Drohungen und Nachrichten sichern, das private Bild selbst nicht speichern und nicht weiterleiten, Hilfe holen, wenn nötig Polizei. Erpressung und Nötigung sind strafbar. Auf Anzeichen von Grooming oder sexueller Belästigung achten; bei Verdacht Schutzauftrag der Einrichtung. Der Standort kann auch zur Kontrolle durch Partner oder Bekannte benutzt werden – das ruhig ansprechen. In der Pause und nach dem Workshop für Einzelgespräche erreichbar sein.</a:t>
            </a:r>
          </a:p>
          <a:p>
            <a:r>
              <a:rPr lang="de-DE" b="1" sz="1100"/>
              <a:t>Quiz und Datenschutz: </a:t>
            </a:r>
            <a:r>
              <a:rPr lang="de-DE" sz="1100"/>
              <a:t>Standard ist das Kartenquiz auf den Folien 26–31 (kein externer Dienst). Die Kahoot-Datei ist nur eine Vorlage im Kahoot-Format und wird nur nach Klärung mit Träger und Datenschutz genutzt. Vorher im eigenen Zugang prüfen, was dort möglich ist: Import der Datei, Teams, langes Zeitlimit, Rangliste ausblenden. Nichts zusagen, was nicht geprüft ist. Grundsatz: möglichst druckarm einstellen, viel Zeit pro Frage, Punkte und Rangliste nicht thematisieren, Teamnamen statt echter Namen, keine Ergebnisse speichern oder exportieren.</a:t>
            </a:r>
          </a:p>
          <a:p>
            <a:r>
              <a:rPr lang="de-DE" b="1" sz="1100"/>
              <a:t>Quiz: Kernfragen und Reservefragen: </a:t>
            </a:r>
            <a:r>
              <a:rPr lang="de-DE" sz="1100"/>
              <a:t>Kernfragen sind die Fragen 1, 3 und 5 (Folien 26, 28 und 30). Sie decken die drei Merksätze ab: Ein Snap kann gespeichert werden, Geheimhaltung ist ein Warnzeichen, Erst prüfen. Dann senden. Diese drei werden immer gestellt. Reservefragen sind 2, 4 und 6 (Folien 27, 29 und 31). Wichtig: Frage 3 ist sensibel. Sie wird nur als Kartenfrage mit Gespräch gestellt, nie als Wettbewerb, und sie steht nicht in der Kahoot-Datei. Wenn Kahoot genutzt wird, stellt die Leitung die Frage 3 vorher oder nachher mit Karten.</a:t>
            </a:r>
          </a:p>
          <a:p>
            <a:r>
              <a:rPr lang="de-DE" b="1" sz="1100"/>
              <a:t>Optionale sensible Gesprächsfrage: </a:t>
            </a:r>
            <a:r>
              <a:rPr lang="de-DE" sz="1100"/>
              <a:t>Nicht im Standard-Quiz und nicht im Kahoot. Nur nutzen, wenn die Gruppe stabil ist und die Begleitung vorbereitet ist. Frage: Eine Person droht: Ich zeige dein Bild allen. Du musst mir Geld schicken. Was machst du? Antworten: A) Ich schicke das Geld. Dann hört es auf. B) Ich schicke noch ein Bild. C) Ich zahle nicht. Ich zeige es einer vertrauten Person und hole Hilfe. Passend: C. Gesprächsimpuls: Zahlen hilft nicht – die Forderungen gehen weiter. Die Drohungen und Nachrichten sichern, das Bild selbst nicht weiterleiten. Das ist nicht deine Schuld. Hilfe holen ist der richtige Weg, wenn nötig mit der Polizei. Lernplattform: Snapchat L3, L6 und L7; Begleit-Ebene Snapchat (Sextortion).</a:t>
            </a:r>
          </a:p>
          <a:p>
            <a:r>
              <a:rPr lang="de-DE" b="1" sz="1100"/>
              <a:t>Bilder: </a:t>
            </a:r>
            <a:r>
              <a:rPr lang="de-DE" sz="1100"/>
              <a:t>Diese Fassung enthält keine Piktogramme und keine fertigen Bilder. Die grau gestrichelten Rahmen sind Platzhalter für eigene oder eigens erstellte Bilder. Jeder Platzhalter ist im Feld Bildvorschlag beschrieben. Verpflichtend vor dem Praxistest: Folie 5 und 11 (dieselbe Bildfolge) und Folie 21 (Hilfe-Karte). Wichtig für alle Bilder: keine nachgebauten App-Oberflächen und kein Geist, der dem Snapchat-Zeichen ähnlich sieht. Nie private oder intime Bilder darstellen.</a:t>
            </a:r>
          </a:p>
          <a:p>
            <a:r>
              <a:rPr lang="de-DE" b="1" sz="1100"/>
              <a:t>Bekannte Widersprüche zur Lernplattform: </a:t>
            </a:r>
            <a:r>
              <a:rPr lang="de-DE" sz="1100"/>
              <a:t>Bekannt und in dieser Fassung bewusst nicht geändert; sie werden später an beiden Stellen geklärt. Die vollständige Liste für alle Module steht in gemeinsam/BEGRIFFE.md, Abschnitt 3. 1. Der Schutz auf der Karte heißt auf der Praxis-Seite „Geist-Modus“, in der Begleit-Ebene „Geistmodus“, in den Lektionen und im Quiz der Lernplattform „Standort ausschalten“ oder „Die Karte ausschalten“; REFERENZMODUL §15 nennt außerdem „Standort-Freigabe“. Der Workshop sagt: Geist-Modus für die Snap-Karte, Standort-Freigabe für die Einstellung am Gerät. 2. Der Kurz-Modus der Lernplattform sagt „Das ist gefährlich“ und nennt als drängende Person nur einen Mann („Er sagt: Schick mir ein Bild!“). Der Workshop bleibt ruhiger und offener. 3. Quizfrage 10 der Lernplattform sagt „Erst denken. Dann senden.“; der Workshop sagt „Erst prüfen. Dann senden.“ – der Merksatz der anderen Module heißt „Erst prüfen. Dann teilen.“ 4. Die Einstiegsfrage im Thema Snapchat ist anders gebaut als in den übrigen Themen: Sie fragt nach Wissen statt nach Sicherheit. Der Workshop übernimmt sie wortgleich. 5. Die Lernplattform sagt „Unterstützung holen“, der Workshop sagt „Hilfe holen“. 6. Die Merk-Karte der Lernplattform ist nicht wortgleich mit Folie 32.</a:t>
            </a:r>
          </a:p>
        </p:txBody>
      </p:sp>
      <p:sp>
        <p:nvSpPr>
          <p:cNvPr id="4" name="Slide Number Placeholder 3"/>
          <p:cNvSpPr>
            <a:spLocks noGrp="1"/>
          </p:cNvSpPr>
          <p:nvPr>
            <p:ph type="sldNum" sz="quarter" idx="10"/>
          </p:nvPr>
        </p:nvSpPr>
        <p:spPr/>
        <p:txBody>
          <a:bodyPr/>
          <a:lstStyle/>
          <a:p>
            <a:fld id="{F7021451-1387-4CA6-816F-3879F97B5CBC}" type="slidenum">
              <a:rPr lang="de-DE"/>
              <a:t>1</a:t>
            </a:fld>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Überblick über den Ablauf; Vorhersehbarkeit.</a:t>
            </a:r>
          </a:p>
          <a:p>
            <a:r>
              <a:rPr lang="de-DE" b="1" sz="1100"/>
              <a:t>Methode: </a:t>
            </a:r>
            <a:r>
              <a:rPr lang="de-DE" sz="1100"/>
              <a:t>Ablauf vorlesen, auf Pause und Praxis hinweisen.</a:t>
            </a:r>
          </a:p>
          <a:p>
            <a:r>
              <a:rPr lang="de-DE" b="1" sz="1100"/>
              <a:t>Sozialform: </a:t>
            </a:r>
            <a:r>
              <a:rPr lang="de-DE" sz="1100"/>
              <a:t>Plenum</a:t>
            </a:r>
          </a:p>
          <a:p>
            <a:r>
              <a:rPr lang="de-DE" b="1" sz="1100"/>
              <a:t>Zeit: </a:t>
            </a:r>
            <a:r>
              <a:rPr lang="de-DE" sz="1100"/>
              <a:t>ca. 2 Min</a:t>
            </a:r>
          </a:p>
          <a:p>
            <a:r>
              <a:rPr lang="de-DE" b="1" sz="1100"/>
              <a:t>Material: </a:t>
            </a:r>
            <a:r>
              <a:rPr lang="de-DE" sz="1100"/>
              <a:t>Beamer, Ablauf als Plakat</a:t>
            </a:r>
          </a:p>
          <a:p>
            <a:r>
              <a:rPr lang="de-DE" b="1" sz="1100"/>
              <a:t>Hinweis: </a:t>
            </a:r>
            <a:r>
              <a:rPr lang="de-DE" sz="1100"/>
              <a:t>Die Nummern 1 bis 4 sind die vier Themen. Sie stehen genauso auf den Trennfolien. Bei Thema 3 ruhig ankündigen: Da geht es um Druck und um sehr private Bilder. Niemand muss etwas Eigenes erzählen. Sagen: Nach der Pause stellen wir Snapchat zusammen am eigenen Handy ein.</a:t>
            </a:r>
          </a:p>
        </p:txBody>
      </p:sp>
      <p:sp>
        <p:nvSpPr>
          <p:cNvPr id="4" name="Slide Number Placeholder 3"/>
          <p:cNvSpPr>
            <a:spLocks noGrp="1"/>
          </p:cNvSpPr>
          <p:nvPr>
            <p:ph type="sldNum" sz="quarter" idx="10"/>
          </p:nvPr>
        </p:nvSpPr>
        <p:spPr/>
        <p:txBody>
          <a:bodyPr/>
          <a:lstStyle/>
          <a:p>
            <a:fld id="{F7021451-1387-4CA6-816F-3879F97B5CBC}" type="slidenum">
              <a:rPr lang="de-DE"/>
              <a:t>2</a:t>
            </a:fld>
            <a:endParaRPr lang="de-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Sichere Lernatmosphäre; Selbstbestimmung erleben.</a:t>
            </a:r>
          </a:p>
          <a:p>
            <a:r>
              <a:rPr lang="de-DE" b="1" sz="1100"/>
              <a:t>Methode: </a:t>
            </a:r>
            <a:r>
              <a:rPr lang="de-DE" sz="1100"/>
              <a:t>Regeln vorlesen, gemeinsam zustimmen.</a:t>
            </a:r>
          </a:p>
          <a:p>
            <a:r>
              <a:rPr lang="de-DE" b="1" sz="1100"/>
              <a:t>Sozialform: </a:t>
            </a:r>
            <a:r>
              <a:rPr lang="de-DE" sz="1100"/>
              <a:t>Plenum</a:t>
            </a:r>
          </a:p>
          <a:p>
            <a:r>
              <a:rPr lang="de-DE" b="1" sz="1100"/>
              <a:t>Zeit: </a:t>
            </a:r>
            <a:r>
              <a:rPr lang="de-DE" sz="1100"/>
              <a:t>ca. 3 Min</a:t>
            </a:r>
          </a:p>
          <a:p>
            <a:r>
              <a:rPr lang="de-DE" b="1" sz="1100"/>
              <a:t>Material: </a:t>
            </a:r>
            <a:r>
              <a:rPr lang="de-DE" sz="1100"/>
              <a:t>Plakat mit Regeln</a:t>
            </a:r>
          </a:p>
          <a:p>
            <a:r>
              <a:rPr lang="de-DE" b="1" sz="1100"/>
              <a:t>Hinweis: </a:t>
            </a:r>
            <a:r>
              <a:rPr lang="de-DE" sz="1100"/>
              <a:t>In diesem Modul ist die vierte Regel besonders wichtig: Du musst nichts erzählen. Das zu Beginn sagen und bei Thema 3 wiederholen. Kernbotschaft bleibt: Fehler sind erlaubt.</a:t>
            </a:r>
          </a:p>
        </p:txBody>
      </p:sp>
      <p:sp>
        <p:nvSpPr>
          <p:cNvPr id="4" name="Slide Number Placeholder 3"/>
          <p:cNvSpPr>
            <a:spLocks noGrp="1"/>
          </p:cNvSpPr>
          <p:nvPr>
            <p:ph type="sldNum" sz="quarter" idx="10"/>
          </p:nvPr>
        </p:nvSpPr>
        <p:spPr/>
        <p:txBody>
          <a:bodyPr/>
          <a:lstStyle/>
          <a:p>
            <a:fld id="{F7021451-1387-4CA6-816F-3879F97B5CBC}" type="slidenum">
              <a:rPr lang="de-DE"/>
              <a:t>3</a:t>
            </a:fld>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Vorwissen einschätzen; das Thema persönlich öffnen.</a:t>
            </a:r>
          </a:p>
          <a:p>
            <a:r>
              <a:rPr lang="de-DE" b="1" sz="1100"/>
              <a:t>Methode: </a:t>
            </a:r>
            <a:r>
              <a:rPr lang="de-DE" sz="1100"/>
              <a:t>Einstiegsfrage mit Handzeichen oder Antwortkarten A/B/C.</a:t>
            </a:r>
          </a:p>
          <a:p>
            <a:r>
              <a:rPr lang="de-DE" b="1" sz="1100"/>
              <a:t>Sozialform: </a:t>
            </a:r>
            <a:r>
              <a:rPr lang="de-DE" sz="1100"/>
              <a:t>Plenum</a:t>
            </a:r>
          </a:p>
          <a:p>
            <a:r>
              <a:rPr lang="de-DE" b="1" sz="1100"/>
              <a:t>Zeit: </a:t>
            </a:r>
            <a:r>
              <a:rPr lang="de-DE" sz="1100"/>
              <a:t>ca. 2 Min</a:t>
            </a:r>
          </a:p>
          <a:p>
            <a:r>
              <a:rPr lang="de-DE" b="1" sz="1100"/>
              <a:t>Material: </a:t>
            </a:r>
            <a:r>
              <a:rPr lang="de-DE" sz="1100"/>
              <a:t>Antwortkarten A/B/C</a:t>
            </a:r>
          </a:p>
          <a:p>
            <a:r>
              <a:rPr lang="de-DE" b="1" sz="1100"/>
              <a:t>Hinweis: </a:t>
            </a:r>
            <a:r>
              <a:rPr lang="de-DE" sz="1100"/>
              <a:t>Nicht nachfragen, nicht bewerten. Die Frage ist wortgleich mit der Einstiegsfrage im Thema Snapchat auf der Lernplattform. Sie fragt dort nach Wissen, nicht nach Sicherheit – das ist ein bekannter Unterschied zu den anderen Themen.</a:t>
            </a:r>
          </a:p>
          <a:p>
            <a:r>
              <a:rPr lang="de-DE" b="1" sz="1100"/>
              <a:t>Lernplattform: </a:t>
            </a:r>
            <a:r>
              <a:rPr lang="de-DE" sz="1100"/>
              <a:t>Einstiegsfrage Thema Snapchat.</a:t>
            </a:r>
          </a:p>
        </p:txBody>
      </p:sp>
      <p:sp>
        <p:nvSpPr>
          <p:cNvPr id="4" name="Slide Number Placeholder 3"/>
          <p:cNvSpPr>
            <a:spLocks noGrp="1"/>
          </p:cNvSpPr>
          <p:nvPr>
            <p:ph type="sldNum" sz="quarter" idx="10"/>
          </p:nvPr>
        </p:nvSpPr>
        <p:spPr/>
        <p:txBody>
          <a:bodyPr/>
          <a:lstStyle/>
          <a:p>
            <a:fld id="{F7021451-1387-4CA6-816F-3879F97B5CBC}" type="slidenum">
              <a:rPr lang="de-DE"/>
              <a:t>4</a:t>
            </a:fld>
            <a:endParaRPr lang="de-D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Aufmerksam werden: Ein Snap ist nicht sicher weg.</a:t>
            </a:r>
          </a:p>
          <a:p>
            <a:r>
              <a:rPr lang="de-DE" b="1" sz="1100"/>
              <a:t>Methode: </a:t>
            </a:r>
            <a:r>
              <a:rPr lang="de-DE" sz="1100"/>
              <a:t>Bildimpuls mit Frage; Handzeichen: Ja oder Nein. Noch keine Auflösung.</a:t>
            </a:r>
          </a:p>
          <a:p>
            <a:r>
              <a:rPr lang="de-DE" b="1" sz="1100"/>
              <a:t>Sozialform: </a:t>
            </a:r>
            <a:r>
              <a:rPr lang="de-DE" sz="1100"/>
              <a:t>Plenum</a:t>
            </a:r>
          </a:p>
          <a:p>
            <a:r>
              <a:rPr lang="de-DE" b="1" sz="1100"/>
              <a:t>Zeit: </a:t>
            </a:r>
            <a:r>
              <a:rPr lang="de-DE" sz="1100"/>
              <a:t>ca. 4 Min</a:t>
            </a:r>
          </a:p>
          <a:p>
            <a:r>
              <a:rPr lang="de-DE" b="1" sz="1100"/>
              <a:t>Material: </a:t>
            </a:r>
            <a:r>
              <a:rPr lang="de-DE" sz="1100"/>
              <a:t>Beamer</a:t>
            </a:r>
          </a:p>
          <a:p>
            <a:r>
              <a:rPr lang="de-DE" b="1" sz="1100"/>
              <a:t>Hinweis: </a:t>
            </a:r>
            <a:r>
              <a:rPr lang="de-DE" sz="1100"/>
              <a:t>Erst sammeln, noch nicht bewerten. Die Auflösung kommt in Thema 2 auf Folie 11. Kein Bild von Teilnehmenden verwenden. Die Idee stammt aus der Begleit-Ebene der Lernplattform.</a:t>
            </a:r>
          </a:p>
          <a:p>
            <a:r>
              <a:rPr lang="de-DE" b="1" sz="1100"/>
              <a:t>Bildvorschlag: </a:t>
            </a:r>
            <a:r>
              <a:rPr lang="de-DE" sz="1100"/>
              <a:t>PFLICHT VOR DEM PRAXISTEST. Eigene Bildfolge in drei Schritten: Bild schicken, Zähler läuft, zweites Handy fotografiert den Bildschirm. Funktion: Die Frage der Aktivierung sichtbar machen; wird auf Folie 11 wieder aufgegriffen.</a:t>
            </a:r>
          </a:p>
          <a:p>
            <a:r>
              <a:rPr lang="de-DE" b="1" sz="1100"/>
              <a:t>Lernplattform: </a:t>
            </a:r>
            <a:r>
              <a:rPr lang="de-DE" sz="1100"/>
              <a:t>Begleit-Ebene Snapchat, Methodik: Was passiert mit dem Bild wirklich?; Lektion L1.</a:t>
            </a:r>
          </a:p>
        </p:txBody>
      </p:sp>
      <p:sp>
        <p:nvSpPr>
          <p:cNvPr id="4" name="Slide Number Placeholder 3"/>
          <p:cNvSpPr>
            <a:spLocks noGrp="1"/>
          </p:cNvSpPr>
          <p:nvPr>
            <p:ph type="sldNum" sz="quarter" idx="10"/>
          </p:nvPr>
        </p:nvSpPr>
        <p:spPr/>
        <p:txBody>
          <a:bodyPr/>
          <a:lstStyle/>
          <a:p>
            <a:fld id="{F7021451-1387-4CA6-816F-3879F97B5CBC}" type="slidenum">
              <a:rPr lang="de-DE"/>
              <a:t>5</a:t>
            </a:fld>
            <a:endParaRPr 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1: Mein Konto und meine Freunde.</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Frage an die Gruppe: Wer darf dir eigentlich schreiben?</a:t>
            </a:r>
          </a:p>
        </p:txBody>
      </p:sp>
      <p:sp>
        <p:nvSpPr>
          <p:cNvPr id="4" name="Slide Number Placeholder 3"/>
          <p:cNvSpPr>
            <a:spLocks noGrp="1"/>
          </p:cNvSpPr>
          <p:nvPr>
            <p:ph type="sldNum" sz="quarter" idx="10"/>
          </p:nvPr>
        </p:nvSpPr>
        <p:spPr/>
        <p:txBody>
          <a:bodyPr/>
          <a:lstStyle/>
          <a:p>
            <a:fld id="{F7021451-1387-4CA6-816F-3879F97B5CBC}" type="slidenum">
              <a:rPr lang="de-DE"/>
              <a:t>6</a:t>
            </a:fld>
            <a:endParaRPr 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Wichtige Begriffe kennen: Snap, Story, Chat, Snap-Karte, Freunde.</a:t>
            </a:r>
          </a:p>
          <a:p>
            <a:r>
              <a:rPr lang="de-DE" b="1" sz="1100"/>
              <a:t>Methode: </a:t>
            </a:r>
            <a:r>
              <a:rPr lang="de-DE" sz="1100"/>
              <a:t>Vorwissen abfragen, Begriffe klären.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Erwachsene kennen die App oft. Erst fragen: Wer nutzt Snapchat? Wer schaut nur? Nicht bewerten. Die Snap-Karte hier nur nennen – sie kommt als eigenes Thema in Thema 2.</a:t>
            </a:r>
          </a:p>
          <a:p>
            <a:r>
              <a:rPr lang="de-DE" b="1" sz="1100"/>
              <a:t>Lernplattform: </a:t>
            </a:r>
            <a:r>
              <a:rPr lang="de-DE" sz="1100"/>
              <a:t>Wörter-Hilfe der Lernplattform; Praxis-Seite Snapchat.</a:t>
            </a:r>
          </a:p>
        </p:txBody>
      </p:sp>
      <p:sp>
        <p:nvSpPr>
          <p:cNvPr id="4" name="Slide Number Placeholder 3"/>
          <p:cNvSpPr>
            <a:spLocks noGrp="1"/>
          </p:cNvSpPr>
          <p:nvPr>
            <p:ph type="sldNum" sz="quarter" idx="10"/>
          </p:nvPr>
        </p:nvSpPr>
        <p:spPr/>
        <p:txBody>
          <a:bodyPr/>
          <a:lstStyle/>
          <a:p>
            <a:fld id="{F7021451-1387-4CA6-816F-3879F97B5CBC}" type="slidenum">
              <a:rPr lang="de-DE"/>
              <a:t>7</a:t>
            </a:fld>
            <a:endParaRPr lang="de-D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Ich entscheide, wer mir schreiben darf und wer meine Story sieht.</a:t>
            </a:r>
          </a:p>
          <a:p>
            <a:r>
              <a:rPr lang="de-DE" b="1" sz="1100"/>
              <a:t>Methode: </a:t>
            </a:r>
            <a:r>
              <a:rPr lang="de-DE" sz="1100"/>
              <a:t>Lehrgespräch mit zwei Prüffragen.</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Beide Einstellungen gehören in die Praxis als freiwillige Aufgaben. Keine Menüwege auf der Folie. Ergänzen: Fremde Snaps muss niemand ansehen oder beantworten. Snapchat kann dich außerdem Fremden vorschlagen; das lässt sich abschalten und steht auf der Praxis-Seite.</a:t>
            </a:r>
          </a:p>
          <a:p>
            <a:r>
              <a:rPr lang="de-DE" b="1" sz="1100"/>
              <a:t>Bildvorschlag: </a:t>
            </a:r>
            <a:r>
              <a:rPr lang="de-DE" sz="1100"/>
              <a:t>Eigenes Bild: Person stellt an ihrem Handy ein, wer schreiben darf. Funktion: Entscheidung als eigene Handlung zeigen.</a:t>
            </a:r>
          </a:p>
          <a:p>
            <a:r>
              <a:rPr lang="de-DE" b="1" sz="1100"/>
              <a:t>Lernplattform: </a:t>
            </a:r>
            <a:r>
              <a:rPr lang="de-DE" sz="1100"/>
              <a:t>Snapchat L5 (Kontakte); Praxis-Seite: Wer darf mich kontaktieren, Wer darf meine Story sehen, Nicht als Vorschlag erscheinen.</a:t>
            </a:r>
          </a:p>
        </p:txBody>
      </p:sp>
      <p:sp>
        <p:nvSpPr>
          <p:cNvPr id="4" name="Slide Number Placeholder 3"/>
          <p:cNvSpPr>
            <a:spLocks noGrp="1"/>
          </p:cNvSpPr>
          <p:nvPr>
            <p:ph type="sldNum" sz="quarter" idx="10"/>
          </p:nvPr>
        </p:nvSpPr>
        <p:spPr/>
        <p:txBody>
          <a:bodyPr/>
          <a:lstStyle/>
          <a:p>
            <a:fld id="{F7021451-1387-4CA6-816F-3879F97B5CBC}" type="slidenum">
              <a:rPr lang="de-DE"/>
              <a:t>8</a:t>
            </a:fld>
            <a:endParaRPr lang="de-D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Eine Anfrage von einer unbekannten Person ablehnen können.</a:t>
            </a:r>
          </a:p>
          <a:p>
            <a:r>
              <a:rPr lang="de-DE" b="1" sz="1100"/>
              <a:t>Methode: </a:t>
            </a:r>
            <a:r>
              <a:rPr lang="de-DE" sz="1100"/>
              <a:t>Lehrgespräch mit Beispiel; Entscheidung an zwei Karten.</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„Nein sagen ist erlaubt.“ Eine Anfrage muss niemand annehmen, auch nicht bei gemeinsamen Freunden. Wer schon viele fremde Kontakte hat, kann sie in Ruhe entfernen – das gehört nicht in den Workshop, sondern in ein Einzelgespräch mit der Begleitung.</a:t>
            </a:r>
          </a:p>
          <a:p>
            <a:r>
              <a:rPr lang="de-DE" b="1" sz="1100"/>
              <a:t>Lernplattform: </a:t>
            </a:r>
            <a:r>
              <a:rPr lang="de-DE" sz="1100"/>
              <a:t>Snapchat L5, Quiz Frage 4 und 9; Kurz-Modus.</a:t>
            </a:r>
          </a:p>
        </p:txBody>
      </p:sp>
      <p:sp>
        <p:nvSpPr>
          <p:cNvPr id="4" name="Slide Number Placeholder 3"/>
          <p:cNvSpPr>
            <a:spLocks noGrp="1"/>
          </p:cNvSpPr>
          <p:nvPr>
            <p:ph type="sldNum" sz="quarter" idx="10"/>
          </p:nvPr>
        </p:nvSpPr>
        <p:spPr/>
        <p:txBody>
          <a:bodyPr/>
          <a:lstStyle/>
          <a:p>
            <a:fld id="{F7021451-1387-4CA6-816F-3879F97B5CBC}" type="slidenum">
              <a:rPr lang="de-DE"/>
              <a:t>9</a:t>
            </a:fld>
            <a:endParaRPr lang="de-D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2: Bilder und Ort.</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Jetzt kommt die Auflösung von der Frage am Anfang: Ist das Bild wirklich weg?</a:t>
            </a:r>
          </a:p>
        </p:txBody>
      </p:sp>
      <p:sp>
        <p:nvSpPr>
          <p:cNvPr id="4" name="Slide Number Placeholder 3"/>
          <p:cNvSpPr>
            <a:spLocks noGrp="1"/>
          </p:cNvSpPr>
          <p:nvPr>
            <p:ph type="sldNum" sz="quarter" idx="10"/>
          </p:nvPr>
        </p:nvSpPr>
        <p:spPr/>
        <p:txBody>
          <a:bodyPr/>
          <a:lstStyle/>
          <a:p>
            <a:fld id="{F7021451-1387-4CA6-816F-3879F97B5CBC}" type="slidenum">
              <a:rPr lang="de-DE"/>
              <a:t>10</a:t>
            </a:fld>
            <a:endParaRPr lang="de-D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Verstehen: Snaps können durch ein Bild vom Bildschirm gespeichert werden.</a:t>
            </a:r>
          </a:p>
          <a:p>
            <a:r>
              <a:rPr lang="de-DE" b="1" sz="1100"/>
              <a:t>Methode: </a:t>
            </a:r>
            <a:r>
              <a:rPr lang="de-DE" sz="1100"/>
              <a:t>Auflösung der Aktivierung; Lehrgespräch.</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Die Bildfolge von Folie 5 wieder zeigen. Begriff „Bild vom Bildschirm“ verwenden, wie auf der Lernplattform. Ruhig bleiben, keine Angst machen: Es geht darum, vorher zu entscheiden. Auch mit einem zweiten Gerät kann man ein Bild abfotografieren – ganz verhindern lässt sich das nicht.</a:t>
            </a:r>
          </a:p>
          <a:p>
            <a:r>
              <a:rPr lang="de-DE" b="1" sz="1100"/>
              <a:t>Bildvorschlag: </a:t>
            </a:r>
            <a:r>
              <a:rPr lang="de-DE" sz="1100"/>
              <a:t>PFLICHT VOR DEM PRAXISTEST. Dieselbe Bildfolge wie auf Folie 5, der letzte Schritt ist farbig markiert. Funktion: Auflösung der Aktivierung.</a:t>
            </a:r>
          </a:p>
          <a:p>
            <a:r>
              <a:rPr lang="de-DE" b="1" sz="1100"/>
              <a:t>Lernplattform: </a:t>
            </a:r>
            <a:r>
              <a:rPr lang="de-DE" sz="1100"/>
              <a:t>Snapchat L1 und L2, Quiz Frage 1 und 8; Kurz-Modus „Bilder verschwinden nicht wirklich“.</a:t>
            </a:r>
          </a:p>
        </p:txBody>
      </p:sp>
      <p:sp>
        <p:nvSpPr>
          <p:cNvPr id="4" name="Slide Number Placeholder 3"/>
          <p:cNvSpPr>
            <a:spLocks noGrp="1"/>
          </p:cNvSpPr>
          <p:nvPr>
            <p:ph type="sldNum" sz="quarter" idx="10"/>
          </p:nvPr>
        </p:nvSpPr>
        <p:spPr/>
        <p:txBody>
          <a:bodyPr/>
          <a:lstStyle/>
          <a:p>
            <a:fld id="{F7021451-1387-4CA6-816F-3879F97B5CBC}" type="slidenum">
              <a:rPr lang="de-DE"/>
              <a:t>11</a:t>
            </a:fld>
            <a:endParaRPr lang="de-D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Die Snap-Karte kann den eigenen Ort zeigen; der Geist-Modus schützt ihn.</a:t>
            </a:r>
          </a:p>
          <a:p>
            <a:r>
              <a:rPr lang="de-DE" b="1" sz="1100"/>
              <a:t>Methode: </a:t>
            </a:r>
            <a:r>
              <a:rPr lang="de-DE" sz="1100"/>
              <a:t>Lehrgespräch; Ziel benennen, nicht den Menüweg.</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Der Geist-Modus macht dich auf der Karte unsichtbar. Das ist die Pflicht-Einstellung in der Praxis. Wichtig und ruhig sagen: Auch Freunde müssen nicht immer wissen, wo du bist – das schützt zum Beispiel, wenn jemand kontrollieren will. Achtung: Snaps, die an die Karte geschickt werden, können trotzdem sichtbar sein. Der Ort ist außerdem oft am Hintergrund eines Bildes zu erkennen.</a:t>
            </a:r>
          </a:p>
          <a:p>
            <a:r>
              <a:rPr lang="de-DE" b="1" sz="1100"/>
              <a:t>Bildvorschlag: </a:t>
            </a:r>
            <a:r>
              <a:rPr lang="de-DE" sz="1100"/>
              <a:t>Eigenes Bild: zwei Karten nebeneinander – mit Figur am Wohnort und ohne Figur. Funktion: Wirkung des Geist-Modus zeigen. Keinen Geist zeichnen, der dem Snapchat-Zeichen ähnlich sieht.</a:t>
            </a:r>
          </a:p>
          <a:p>
            <a:r>
              <a:rPr lang="de-DE" b="1" sz="1100"/>
              <a:t>Lernplattform: </a:t>
            </a:r>
            <a:r>
              <a:rPr lang="de-DE" sz="1100"/>
              <a:t>Snapchat L4 (Standort), Quiz Frage 2 und 6; Praxis-Seite: Geist-Modus auf der Karte.</a:t>
            </a:r>
          </a:p>
        </p:txBody>
      </p:sp>
      <p:sp>
        <p:nvSpPr>
          <p:cNvPr id="4" name="Slide Number Placeholder 3"/>
          <p:cNvSpPr>
            <a:spLocks noGrp="1"/>
          </p:cNvSpPr>
          <p:nvPr>
            <p:ph type="sldNum" sz="quarter" idx="10"/>
          </p:nvPr>
        </p:nvSpPr>
        <p:spPr/>
        <p:txBody>
          <a:bodyPr/>
          <a:lstStyle/>
          <a:p>
            <a:fld id="{F7021451-1387-4CA6-816F-3879F97B5CBC}" type="slidenum">
              <a:rPr lang="de-DE"/>
              <a:t>12</a:t>
            </a:fld>
            <a:endParaRPr lang="de-D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Den Merksatz „Erst prüfen. Dann senden.“ nennen und anwenden.</a:t>
            </a:r>
          </a:p>
          <a:p>
            <a:r>
              <a:rPr lang="de-DE" b="1" sz="1100"/>
              <a:t>Methode: </a:t>
            </a:r>
            <a:r>
              <a:rPr lang="de-DE" sz="1100"/>
              <a:t>Merksatz gemeinsam sprechen.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Merksatz zwei- bis dreimal gemeinsam wiederholen. Die Lernplattform sagt in Quizfrage 10 „Erst denken. Dann senden.“; die anderen Module sagen „Erst prüfen. Dann teilen.“ Inhaltlich ist es dasselbe. Ergänzen: Bilder von anderen Personen erst fragen.</a:t>
            </a:r>
          </a:p>
          <a:p>
            <a:r>
              <a:rPr lang="de-DE" b="1" sz="1100"/>
              <a:t>Bildvorschlag: </a:t>
            </a:r>
            <a:r>
              <a:rPr lang="de-DE" sz="1100"/>
              <a:t>Eigenes Bild: Person schaut ihr Bild noch einmal an und schickt es erst dann. Funktion: die Handlung „erst prüfen“ zeigen.</a:t>
            </a:r>
          </a:p>
          <a:p>
            <a:r>
              <a:rPr lang="de-DE" b="1" sz="1100"/>
              <a:t>Lernplattform: </a:t>
            </a:r>
            <a:r>
              <a:rPr lang="de-DE" sz="1100"/>
              <a:t>Snapchat L2 (Merksatz: Ich denke vor dem Senden nach), Quiz Frage 10; Merk-Karte.</a:t>
            </a:r>
          </a:p>
        </p:txBody>
      </p:sp>
      <p:sp>
        <p:nvSpPr>
          <p:cNvPr id="4" name="Slide Number Placeholder 3"/>
          <p:cNvSpPr>
            <a:spLocks noGrp="1"/>
          </p:cNvSpPr>
          <p:nvPr>
            <p:ph type="sldNum" sz="quarter" idx="10"/>
          </p:nvPr>
        </p:nvSpPr>
        <p:spPr/>
        <p:txBody>
          <a:bodyPr/>
          <a:lstStyle/>
          <a:p>
            <a:fld id="{F7021451-1387-4CA6-816F-3879F97B5CBC}" type="slidenum">
              <a:rPr lang="de-DE"/>
              <a:t>13</a:t>
            </a:fld>
            <a:endParaRPr lang="de-D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3: Druck und sehr private Bilder.</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Behutsam überleiten und ankündigen: Jetzt geht es um Druck. Niemand muss etwas Eigenes erzählen. Wer eine Pause braucht, darf rausgehen; die Begleitung ist ansprechbar.</a:t>
            </a:r>
          </a:p>
        </p:txBody>
      </p:sp>
      <p:sp>
        <p:nvSpPr>
          <p:cNvPr id="4" name="Slide Number Placeholder 3"/>
          <p:cNvSpPr>
            <a:spLocks noGrp="1"/>
          </p:cNvSpPr>
          <p:nvPr>
            <p:ph type="sldNum" sz="quarter" idx="10"/>
          </p:nvPr>
        </p:nvSpPr>
        <p:spPr/>
        <p:txBody>
          <a:bodyPr/>
          <a:lstStyle/>
          <a:p>
            <a:fld id="{F7021451-1387-4CA6-816F-3879F97B5CBC}" type="slidenum">
              <a:rPr lang="de-DE"/>
              <a:t>14</a:t>
            </a:fld>
            <a:endParaRPr lang="de-D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und sagen können: Ich darf Nein sagen. Niemand darf mich drängen.</a:t>
            </a:r>
          </a:p>
          <a:p>
            <a:r>
              <a:rPr lang="de-DE" b="1" sz="1100"/>
              <a:t>Methode: </a:t>
            </a:r>
            <a:r>
              <a:rPr lang="de-DE" sz="1100"/>
              <a:t>Lehrgespräch; danach den Nein-Satz gemeinsam sprechen.</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Sensibel. Ruhiger Ton, keine drastischen Beispiele. Begriff der Lernplattform verwenden: sehr private Bilder. Nein-Satz gemeinsam laut sprechen, zum Beispiel: Nein. Das mache ich nicht. Kein Rollenspiel mit Täter-Rolle: Die Leitung liest die erfundene Nachricht, die Gruppe antwortet gemeinsam. Nie ein privates Bild zeigen, erstellen oder teilen lassen. Bei Hinweisen auf eigene Betroffenheit: nicht in der Gruppe vertiefen, Einzelgespräch, Schutzauftrag der Einrichtung.</a:t>
            </a:r>
          </a:p>
          <a:p>
            <a:r>
              <a:rPr lang="de-DE" b="1" sz="1100"/>
              <a:t>Bildvorschlag: </a:t>
            </a:r>
            <a:r>
              <a:rPr lang="de-DE" sz="1100"/>
              <a:t>Eigenes Bild: Person hält ihr Handy ruhig und schüttelt den Kopf. Funktion: ein klares Nein zeigen – über Körpersprache, ohne Hände im Detail und ohne drastische Darstellung.</a:t>
            </a:r>
          </a:p>
          <a:p>
            <a:r>
              <a:rPr lang="de-DE" b="1" sz="1100"/>
              <a:t>Lernplattform: </a:t>
            </a:r>
            <a:r>
              <a:rPr lang="de-DE" sz="1100"/>
              <a:t>Snapchat L3 (Sehr private Bilder), L6 (Druck erkennen), Quiz Frage 3 und 7; Kurz-Modus „Niemand darf dich zwingen“.</a:t>
            </a:r>
          </a:p>
        </p:txBody>
      </p:sp>
      <p:sp>
        <p:nvSpPr>
          <p:cNvPr id="4" name="Slide Number Placeholder 3"/>
          <p:cNvSpPr>
            <a:spLocks noGrp="1"/>
          </p:cNvSpPr>
          <p:nvPr>
            <p:ph type="sldNum" sz="quarter" idx="10"/>
          </p:nvPr>
        </p:nvSpPr>
        <p:spPr/>
        <p:txBody>
          <a:bodyPr/>
          <a:lstStyle/>
          <a:p>
            <a:fld id="{F7021451-1387-4CA6-816F-3879F97B5CBC}" type="slidenum">
              <a:rPr lang="de-DE"/>
              <a:t>15</a:t>
            </a:fld>
            <a:endParaRPr lang="de-D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Druck und Geheimhaltung als Warnzeichen erkennen.</a:t>
            </a:r>
          </a:p>
          <a:p>
            <a:r>
              <a:rPr lang="de-DE" b="1" sz="1100"/>
              <a:t>Methode: </a:t>
            </a:r>
            <a:r>
              <a:rPr lang="de-DE" sz="1100"/>
              <a:t>Lehrgespräch mit erfundenen Nachrichten; die Leitung liest vor.</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Alle Beispiele sind erfunden. Das stärkste Warnzeichen ist die Geheimhaltung: Sag es niemandem. Beim Punkt Drohung ruhig bleiben und sofort den Weg zeigen: nicht zahlen, nichts mehr schicken, Nachrichten sichern, Hilfe holen – wenn nötig mit der Polizei. Erpressung und Nötigung sind strafbar. Auf Reaktionen achten; Einzelgespräch in der Pause anbieten.</a:t>
            </a:r>
          </a:p>
          <a:p>
            <a:r>
              <a:rPr lang="de-DE" b="1" sz="1100"/>
              <a:t>Lernplattform: </a:t>
            </a:r>
            <a:r>
              <a:rPr lang="de-DE" sz="1100"/>
              <a:t>Snapchat L6 und L7; Thema Hilfe bei Problemen L4 (Druck erkennen); Begleit-Ebene Snapchat.</a:t>
            </a:r>
          </a:p>
        </p:txBody>
      </p:sp>
      <p:sp>
        <p:nvSpPr>
          <p:cNvPr id="4" name="Slide Number Placeholder 3"/>
          <p:cNvSpPr>
            <a:spLocks noGrp="1"/>
          </p:cNvSpPr>
          <p:nvPr>
            <p:ph type="sldNum" sz="quarter" idx="10"/>
          </p:nvPr>
        </p:nvSpPr>
        <p:spPr/>
        <p:txBody>
          <a:bodyPr/>
          <a:lstStyle/>
          <a:p>
            <a:fld id="{F7021451-1387-4CA6-816F-3879F97B5CBC}" type="slidenum">
              <a:rPr lang="de-DE"/>
              <a:t>16</a:t>
            </a:fld>
            <a:endParaRPr lang="de-D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Den eigenen Plan nennen: Stopp machen. Kein Bild senden. Zeigen.</a:t>
            </a:r>
          </a:p>
          <a:p>
            <a:r>
              <a:rPr lang="de-DE" b="1" sz="1100"/>
              <a:t>Methode: </a:t>
            </a:r>
            <a:r>
              <a:rPr lang="de-DE" sz="1100"/>
              <a:t>Merksatz gemeinsam sprechen, kurz vormachen.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Der Plan steht fast wortgleich auf der Lernplattform: Nein sagen. Kein Bild senden. Nachricht zeigen. Unterstützung holen. Ergänzen: Die Nachricht nicht löschen – sie kann ein Beweis sein. Ein sehr privates Bild selbst aber nicht speichern und nicht weiterschicken.</a:t>
            </a:r>
          </a:p>
          <a:p>
            <a:r>
              <a:rPr lang="de-DE" b="1" sz="1100"/>
              <a:t>Bildvorschlag: </a:t>
            </a:r>
            <a:r>
              <a:rPr lang="de-DE" sz="1100"/>
              <a:t>Eigenes Bild: Person zeigt ihr Handy einer vertrauten Person, beide ruhig. Funktion: „Zeigen“ als normale, starke Handlung darstellen.</a:t>
            </a:r>
          </a:p>
          <a:p>
            <a:r>
              <a:rPr lang="de-DE" b="1" sz="1100"/>
              <a:t>Lernplattform: </a:t>
            </a:r>
            <a:r>
              <a:rPr lang="de-DE" sz="1100"/>
              <a:t>Snapchat L7 (Was kann ich tun?), Merksatz: Kein Bild unter Druck. Ich sage Nein.; Thema Hilfe bei Problemen.</a:t>
            </a:r>
          </a:p>
        </p:txBody>
      </p:sp>
      <p:sp>
        <p:nvSpPr>
          <p:cNvPr id="4" name="Slide Number Placeholder 3"/>
          <p:cNvSpPr>
            <a:spLocks noGrp="1"/>
          </p:cNvSpPr>
          <p:nvPr>
            <p:ph type="sldNum" sz="quarter" idx="10"/>
          </p:nvPr>
        </p:nvSpPr>
        <p:spPr/>
        <p:txBody>
          <a:bodyPr/>
          <a:lstStyle/>
          <a:p>
            <a:fld id="{F7021451-1387-4CA6-816F-3879F97B5CBC}" type="slidenum">
              <a:rPr lang="de-DE"/>
              <a:t>17</a:t>
            </a:fld>
            <a:endParaRPr lang="de-D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4: Wenn etwas verletzt.</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Behutsam überleiten: Manchmal tut etwas weh, das andere schreiben.</a:t>
            </a:r>
          </a:p>
        </p:txBody>
      </p:sp>
      <p:sp>
        <p:nvSpPr>
          <p:cNvPr id="4" name="Slide Number Placeholder 3"/>
          <p:cNvSpPr>
            <a:spLocks noGrp="1"/>
          </p:cNvSpPr>
          <p:nvPr>
            <p:ph type="sldNum" sz="quarter" idx="10"/>
          </p:nvPr>
        </p:nvSpPr>
        <p:spPr/>
        <p:txBody>
          <a:bodyPr/>
          <a:lstStyle/>
          <a:p>
            <a:fld id="{F7021451-1387-4CA6-816F-3879F97B5CBC}" type="slidenum">
              <a:rPr lang="de-DE"/>
              <a:t>18</a:t>
            </a:fld>
            <a:endParaRPr lang="de-D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Gemeine Nachrichten sind nicht meine Schuld; ich muss nicht antworten.</a:t>
            </a:r>
          </a:p>
          <a:p>
            <a:r>
              <a:rPr lang="de-DE" b="1" sz="1100"/>
              <a:t>Methode: </a:t>
            </a:r>
            <a:r>
              <a:rPr lang="de-DE" sz="1100"/>
              <a:t>Lehrgespräch, Gefühle anerkennen.</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Wichtigste Botschaft: Das ist nicht deine Schuld. Gefühle ernst nehmen, nicht bewerten. Begriff „gemeine Nachrichten“ oder „verletzende Kommentare“ statt „Mobbing“ – Mobbing heißt: immer wieder und gezielt. Wenn es immer wieder passiert, passt das eigene Modul Cybermobbing.</a:t>
            </a:r>
          </a:p>
          <a:p>
            <a:r>
              <a:rPr lang="de-DE" b="1" sz="1100"/>
              <a:t>Bildvorschlag: </a:t>
            </a:r>
            <a:r>
              <a:rPr lang="de-DE" sz="1100"/>
              <a:t>Eigenes Bild: Person liest eine Nachricht, legt das Handy weg und atmet durch. Funktion: ruhige, selbstbestimmte Reaktion zeigen.</a:t>
            </a:r>
          </a:p>
          <a:p>
            <a:r>
              <a:rPr lang="de-DE" b="1" sz="1100"/>
              <a:t>Lernplattform: </a:t>
            </a:r>
            <a:r>
              <a:rPr lang="de-DE" sz="1100"/>
              <a:t>Thema Hilfe bei Problemen L1 und L5; Modul Cybermobbing.</a:t>
            </a:r>
          </a:p>
        </p:txBody>
      </p:sp>
      <p:sp>
        <p:nvSpPr>
          <p:cNvPr id="4" name="Slide Number Placeholder 3"/>
          <p:cNvSpPr>
            <a:spLocks noGrp="1"/>
          </p:cNvSpPr>
          <p:nvPr>
            <p:ph type="sldNum" sz="quarter" idx="10"/>
          </p:nvPr>
        </p:nvSpPr>
        <p:spPr/>
        <p:txBody>
          <a:bodyPr/>
          <a:lstStyle/>
          <a:p>
            <a:fld id="{F7021451-1387-4CA6-816F-3879F97B5CBC}" type="slidenum">
              <a:rPr lang="de-DE"/>
              <a:t>19</a:t>
            </a:fld>
            <a:endParaRPr lang="de-D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Vier Schritte kennen: zeigen, blockieren, melden, Hilfe holen.</a:t>
            </a:r>
          </a:p>
          <a:p>
            <a:r>
              <a:rPr lang="de-DE" b="1" sz="1100"/>
              <a:t>Methode: </a:t>
            </a:r>
            <a:r>
              <a:rPr lang="de-DE" sz="1100"/>
              <a:t>Lehrgespräch; Blockieren und Melden in der Praxis nur zeigen.</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Zeigen heißt auch: nicht sofort löschen – die Nachricht kann ein Beweis sein. Bei Snapchat ist das besonders wichtig, weil Chats von allein verschwinden: Deshalb früh ein Bild vom Bildschirm von der Nachricht machen – aber nie von einem sehr privaten Bild. Blockieren wirkt nur für dieses Konto. Blockieren und Melden nach der Pause auf der Praxis-Seite zeigen, nicht an echten Kontakten ausprobieren.</a:t>
            </a:r>
          </a:p>
          <a:p>
            <a:r>
              <a:rPr lang="de-DE" b="1" sz="1100"/>
              <a:t>Lernplattform: </a:t>
            </a:r>
            <a:r>
              <a:rPr lang="de-DE" sz="1100"/>
              <a:t>Thema Hilfe bei Problemen L2 (Nicht sofort löschen), L3 (Bild vom Bildschirm), L8; Praxis-Seite: Blockieren, Melden.</a:t>
            </a:r>
          </a:p>
        </p:txBody>
      </p:sp>
      <p:sp>
        <p:nvSpPr>
          <p:cNvPr id="4" name="Slide Number Placeholder 3"/>
          <p:cNvSpPr>
            <a:spLocks noGrp="1"/>
          </p:cNvSpPr>
          <p:nvPr>
            <p:ph type="sldNum" sz="quarter" idx="10"/>
          </p:nvPr>
        </p:nvSpPr>
        <p:spPr/>
        <p:txBody>
          <a:bodyPr/>
          <a:lstStyle/>
          <a:p>
            <a:fld id="{F7021451-1387-4CA6-816F-3879F97B5CBC}" type="slidenum">
              <a:rPr lang="de-DE"/>
              <a:t>20</a:t>
            </a:fld>
            <a:endParaRPr lang="de-D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Eigene vertraute Personen und Ansprechpersonen vor Ort benennen können.</a:t>
            </a:r>
          </a:p>
          <a:p>
            <a:r>
              <a:rPr lang="de-DE" b="1" sz="1100"/>
              <a:t>Methode: </a:t>
            </a:r>
            <a:r>
              <a:rPr lang="de-DE" sz="1100"/>
              <a:t>Sammeln im Plenum; Karte zeigen.</a:t>
            </a:r>
          </a:p>
          <a:p>
            <a:r>
              <a:rPr lang="de-DE" b="1" sz="1100"/>
              <a:t>Sozialform: </a:t>
            </a:r>
            <a:r>
              <a:rPr lang="de-DE" sz="1100"/>
              <a:t>Plenum</a:t>
            </a:r>
          </a:p>
          <a:p>
            <a:r>
              <a:rPr lang="de-DE" b="1" sz="1100"/>
              <a:t>Zeit: </a:t>
            </a:r>
            <a:r>
              <a:rPr lang="de-DE" sz="1100"/>
              <a:t>ca. 2 Min</a:t>
            </a:r>
          </a:p>
          <a:p>
            <a:r>
              <a:rPr lang="de-DE" b="1" sz="1100"/>
              <a:t>Material: </a:t>
            </a:r>
            <a:r>
              <a:rPr lang="de-DE" sz="1100"/>
              <a:t>Hilfe-Karte für jede Person, Stifte</a:t>
            </a:r>
          </a:p>
          <a:p>
            <a:r>
              <a:rPr lang="de-DE" b="1" sz="1100"/>
              <a:t>Hinweis: </a:t>
            </a:r>
            <a:r>
              <a:rPr lang="de-DE" sz="1100"/>
              <a:t>Hilfe holen ist stark, nicht peinlich. Die Hilfe-Karte austeilen: Die Vorderseite mit den Ansprechpersonen vor Ort ist vorher ausgefüllt. Die Rückseite füllt jede Person freiwillig selbst aus – auch später zu Hause. Die Karte bleibt bei der Person. In diesem Modul zusätzlich sagen: Bei Druck oder Erpressung gibt es Beratung; die Nummern stehen auf der Hilfe-Karte und werden vor jedem Workshop geprüft.</a:t>
            </a:r>
          </a:p>
          <a:p>
            <a:r>
              <a:rPr lang="de-DE" b="1" sz="1100"/>
              <a:t>Bildvorschlag: </a:t>
            </a:r>
            <a:r>
              <a:rPr lang="de-DE" sz="1100"/>
              <a:t>PFLICHT VOR DEM PRAXISTEST. Kein Bild, sondern die gemeinsame Hilfe-Karte (gemeinsam/HILFE-KARTE.md) mit ausgefüllter Vorderseite.</a:t>
            </a:r>
          </a:p>
          <a:p>
            <a:r>
              <a:rPr lang="de-DE" b="1" sz="1100"/>
              <a:t>Lernplattform: </a:t>
            </a:r>
            <a:r>
              <a:rPr lang="de-DE" sz="1100"/>
              <a:t>Thema Hilfe bei Problemen: Vertraute Personen (L6), Externe Hilfe (L7).</a:t>
            </a:r>
          </a:p>
        </p:txBody>
      </p:sp>
      <p:sp>
        <p:nvSpPr>
          <p:cNvPr id="4" name="Slide Number Placeholder 3"/>
          <p:cNvSpPr>
            <a:spLocks noGrp="1"/>
          </p:cNvSpPr>
          <p:nvPr>
            <p:ph type="sldNum" sz="quarter" idx="10"/>
          </p:nvPr>
        </p:nvSpPr>
        <p:spPr/>
        <p:txBody>
          <a:bodyPr/>
          <a:lstStyle/>
          <a:p>
            <a:fld id="{F7021451-1387-4CA6-816F-3879F97B5CBC}" type="slidenum">
              <a:rPr lang="de-DE"/>
              <a:t>21</a:t>
            </a:fld>
            <a:endParaRPr lang="de-D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Erholung; Zeit für Einzelgespräche.</a:t>
            </a:r>
          </a:p>
          <a:p>
            <a:r>
              <a:rPr lang="de-DE" b="1" sz="1100"/>
              <a:t>Methode: </a:t>
            </a:r>
            <a:r>
              <a:rPr lang="de-DE" sz="1100"/>
              <a:t>Pause.</a:t>
            </a:r>
          </a:p>
          <a:p>
            <a:r>
              <a:rPr lang="de-DE" b="1" sz="1100"/>
              <a:t>Sozialform: </a:t>
            </a:r>
            <a:r>
              <a:rPr lang="de-DE" sz="1100"/>
              <a:t>–</a:t>
            </a:r>
          </a:p>
          <a:p>
            <a:r>
              <a:rPr lang="de-DE" b="1" sz="1100"/>
              <a:t>Zeit: </a:t>
            </a:r>
            <a:r>
              <a:rPr lang="de-DE" sz="1100"/>
              <a:t>ca. 10 Min</a:t>
            </a:r>
          </a:p>
          <a:p>
            <a:r>
              <a:rPr lang="de-DE" b="1" sz="1100"/>
              <a:t>Material: </a:t>
            </a:r>
            <a:r>
              <a:rPr lang="de-DE" sz="1100"/>
              <a:t>Getränke</a:t>
            </a:r>
          </a:p>
          <a:p>
            <a:r>
              <a:rPr lang="de-DE" b="1" sz="1100"/>
              <a:t>Hinweis: </a:t>
            </a:r>
            <a:r>
              <a:rPr lang="de-DE" sz="1100"/>
              <a:t>Uhrzeit nennen, wann es weitergeht. Nach Thema 3 besonders wichtig: für Einzelgespräche erreichbar sein und das auch ansagen. In der Pause Geräte laden, WLAN klären, Praxis-Seite am Beamer öffnen.</a:t>
            </a:r>
          </a:p>
        </p:txBody>
      </p:sp>
      <p:sp>
        <p:nvSpPr>
          <p:cNvPr id="4" name="Slide Number Placeholder 3"/>
          <p:cNvSpPr>
            <a:spLocks noGrp="1"/>
          </p:cNvSpPr>
          <p:nvPr>
            <p:ph type="sldNum" sz="quarter" idx="10"/>
          </p:nvPr>
        </p:nvSpPr>
        <p:spPr/>
        <p:txBody>
          <a:bodyPr/>
          <a:lstStyle/>
          <a:p>
            <a:fld id="{F7021451-1387-4CA6-816F-3879F97B5CBC}" type="slidenum">
              <a:rPr lang="de-DE"/>
              <a:t>22</a:t>
            </a:fld>
            <a:endParaRPr lang="de-D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in den Praxis-Teil: vom Wissen zum eigenen Tun.</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Ankündigen: Jetzt stellen wir Snapchat zusammen am eigenen Handy ein. Fehler sind erlaubt. Einstellungen lassen sich zurückstellen.</a:t>
            </a:r>
          </a:p>
        </p:txBody>
      </p:sp>
      <p:sp>
        <p:nvSpPr>
          <p:cNvPr id="4" name="Slide Number Placeholder 3"/>
          <p:cNvSpPr>
            <a:spLocks noGrp="1"/>
          </p:cNvSpPr>
          <p:nvPr>
            <p:ph type="sldNum" sz="quarter" idx="10"/>
          </p:nvPr>
        </p:nvSpPr>
        <p:spPr/>
        <p:txBody>
          <a:bodyPr/>
          <a:lstStyle/>
          <a:p>
            <a:fld id="{F7021451-1387-4CA6-816F-3879F97B5CBC}" type="slidenum">
              <a:rPr lang="de-DE"/>
              <a:t>23</a:t>
            </a:fld>
            <a:endParaRPr lang="de-D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Die Praxis-Seite am eigenen Handy öffnen.</a:t>
            </a:r>
          </a:p>
          <a:p>
            <a:r>
              <a:rPr lang="de-DE" b="1" sz="1100"/>
              <a:t>Methode: </a:t>
            </a:r>
            <a:r>
              <a:rPr lang="de-DE" sz="1100"/>
              <a:t>Anleitung, QR-Code scannen.</a:t>
            </a:r>
          </a:p>
          <a:p>
            <a:r>
              <a:rPr lang="de-DE" b="1" sz="1100"/>
              <a:t>Sozialform: </a:t>
            </a:r>
            <a:r>
              <a:rPr lang="de-DE" sz="1100"/>
              <a:t>Einzeln mit Begleitung</a:t>
            </a:r>
          </a:p>
          <a:p>
            <a:r>
              <a:rPr lang="de-DE" b="1" sz="1100"/>
              <a:t>Zeit: </a:t>
            </a:r>
            <a:r>
              <a:rPr lang="de-DE" sz="1100"/>
              <a:t>ca. 2 Min</a:t>
            </a:r>
          </a:p>
          <a:p>
            <a:r>
              <a:rPr lang="de-DE" b="1" sz="1100"/>
              <a:t>Material: </a:t>
            </a:r>
            <a:r>
              <a:rPr lang="de-DE" sz="1100"/>
              <a:t>eigenes Handy, WLAN, QR-Code</a:t>
            </a:r>
          </a:p>
          <a:p>
            <a:r>
              <a:rPr lang="de-DE" b="1" sz="1100"/>
              <a:t>Hinweis: </a:t>
            </a:r>
            <a:r>
              <a:rPr lang="de-DE" sz="1100"/>
              <a:t>Der QR-Code ist der Hauptweg. Er wird vor dem Workshop getestet. Klappt das Scannen nicht: Die Begleitung öffnet die Seite auf dem Handy der Person oder zeigt sie am Beamer. Die volle Adresse steht unten im Feld Lernplattform und im Ausdruck dieses Leitfadens; sie wird nicht zum Abtippen an die Wand geworfen. Kein externer Kurz-Link-Dienst. Ohne Handy oder ohne Konto: Die Begleitung geht mit der Person den Nein-Satz und die Hilfe-Karte durch. Das Übungs-Handy „Ein Bild und eine Karte“ (#thema-snapchat:uebung) enthält eine Szene mit Druck zu einem Bild – nur begleitet und vorher angekündigt öffnen, nicht als stiller Standardweg. Im Workshop kein Konto anlegen.</a:t>
            </a:r>
          </a:p>
          <a:p>
            <a:r>
              <a:rPr lang="de-DE" b="1" sz="1100"/>
              <a:t>Lernplattform: </a:t>
            </a:r>
            <a:r>
              <a:rPr lang="de-DE" sz="1100"/>
              <a:t>Praxis-Seite alex-und-tilda.github.io/sicher-und-selbstbestimmt-im-internet/praxis/snapchat.html (Stand der Seite: Juni 2026 – vor dem Einsatz prüfen).</a:t>
            </a:r>
          </a:p>
        </p:txBody>
      </p:sp>
      <p:sp>
        <p:nvSpPr>
          <p:cNvPr id="4" name="Slide Number Placeholder 3"/>
          <p:cNvSpPr>
            <a:spLocks noGrp="1"/>
          </p:cNvSpPr>
          <p:nvPr>
            <p:ph type="sldNum" sz="quarter" idx="10"/>
          </p:nvPr>
        </p:nvSpPr>
        <p:spPr/>
        <p:txBody>
          <a:bodyPr/>
          <a:lstStyle/>
          <a:p>
            <a:fld id="{F7021451-1387-4CA6-816F-3879F97B5CBC}" type="slidenum">
              <a:rPr lang="de-DE"/>
              <a:t>24</a:t>
            </a:fld>
            <a:endParaRPr lang="de-D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Mindestens eine Einstellung selbst vornehmen: Geist-Modus auf der Snap-Karte anschalten.</a:t>
            </a:r>
          </a:p>
          <a:p>
            <a:r>
              <a:rPr lang="de-DE" b="1" sz="1100"/>
              <a:t>Methode: </a:t>
            </a:r>
            <a:r>
              <a:rPr lang="de-DE" sz="1100"/>
              <a:t>Angeleitete Übung am Gerät; Tandem.</a:t>
            </a:r>
          </a:p>
          <a:p>
            <a:r>
              <a:rPr lang="de-DE" b="1" sz="1100"/>
              <a:t>Sozialform: </a:t>
            </a:r>
            <a:r>
              <a:rPr lang="de-DE" sz="1100"/>
              <a:t>Tandem, einzeln mit Begleitung</a:t>
            </a:r>
          </a:p>
          <a:p>
            <a:r>
              <a:rPr lang="de-DE" b="1" sz="1100"/>
              <a:t>Zeit: </a:t>
            </a:r>
            <a:r>
              <a:rPr lang="de-DE" sz="1100"/>
              <a:t>ca. 12 Min</a:t>
            </a:r>
          </a:p>
          <a:p>
            <a:r>
              <a:rPr lang="de-DE" b="1" sz="1100"/>
              <a:t>Material: </a:t>
            </a:r>
            <a:r>
              <a:rPr lang="de-DE" sz="1100"/>
              <a:t>eigenes Handy, Praxis-Seite, Beamer</a:t>
            </a:r>
          </a:p>
          <a:p>
            <a:r>
              <a:rPr lang="de-DE" b="1" sz="1100"/>
              <a:t>Hinweis: </a:t>
            </a:r>
            <a:r>
              <a:rPr lang="de-DE" sz="1100"/>
              <a:t>Mindestziel ist eine Einstellung: Geist-Modus an. Wer das geschafft hat, ist fertig; das ausdrücklich sagen. Bis zu zwei weitere Einstellungen sind freiwillig: Wer darf mich kontaktieren und Wer darf meine Story sehen – beide auf Meine Freunde. Die Praxis dauert 15 Minuten; die Zeit geht in Ruhe, Wiederholung und Einzelhilfe. Pro Einstellung erst am Beamer auf der Praxis-Seite zeigen, dann machen alle mit. Die Begleitung zeigt, die Person tippt. Keine Passwörter eingeben oder vorlesen. Menüwege stehen nur auf der Praxis-Seite; weicht die App ab: in den Einstellungen nach dem Wort suchen. Beim Geist-Modus die Auswahl „Bis zum Ausschalten“ nehmen. Blockieren und Melden nur zeigen. Erfolge abhaken. Die Praxis-Seite hat außerdem „Nicht als Vorschlag erscheinen“ und „Über die Handynummer nicht gefunden werden“; beides ist nicht Teil dieses Workshops.</a:t>
            </a:r>
          </a:p>
          <a:p>
            <a:r>
              <a:rPr lang="de-DE" b="1" sz="1100"/>
              <a:t>Lernplattform: </a:t>
            </a:r>
            <a:r>
              <a:rPr lang="de-DE" sz="1100"/>
              <a:t>Praxis-Seite Snapchat (Geist-Modus, Wer darf mich kontaktieren, Wer darf meine Story sehen, Blockieren, Melden).</a:t>
            </a:r>
          </a:p>
        </p:txBody>
      </p:sp>
      <p:sp>
        <p:nvSpPr>
          <p:cNvPr id="4" name="Slide Number Placeholder 3"/>
          <p:cNvSpPr>
            <a:spLocks noGrp="1"/>
          </p:cNvSpPr>
          <p:nvPr>
            <p:ph type="sldNum" sz="quarter" idx="10"/>
          </p:nvPr>
        </p:nvSpPr>
        <p:spPr/>
        <p:txBody>
          <a:bodyPr/>
          <a:lstStyle/>
          <a:p>
            <a:fld id="{F7021451-1387-4CA6-816F-3879F97B5CBC}" type="slidenum">
              <a:rPr lang="de-DE"/>
              <a:t>25</a:t>
            </a:fld>
            <a:endParaRPr lang="de-D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2, Snaps können gespeichert werden.</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KERNFRAGE – wird immer gestellt. Passende Antwort: B. Erst fragen: Warum? Dann auflösen. Keine Noten, kein Zeitdruck. Zu Beginn sagen: Es gibt keine Noten. Jede Antwort hilft beim Gespräch. Tatsachen-Frage. Gesprächsimpuls: Was heißt das für die Bilder, die du schickst?</a:t>
            </a:r>
          </a:p>
          <a:p>
            <a:r>
              <a:rPr lang="de-DE" b="1" sz="1100"/>
              <a:t>Lernplattform: </a:t>
            </a:r>
            <a:r>
              <a:rPr lang="de-DE" sz="1100"/>
              <a:t>Snapchat L1 und L2, Quiz Frage 1 und 8; Kurz-Modus „Bilder verschwinden nicht wirklich“.</a:t>
            </a:r>
          </a:p>
        </p:txBody>
      </p:sp>
      <p:sp>
        <p:nvSpPr>
          <p:cNvPr id="4" name="Slide Number Placeholder 3"/>
          <p:cNvSpPr>
            <a:spLocks noGrp="1"/>
          </p:cNvSpPr>
          <p:nvPr>
            <p:ph type="sldNum" sz="quarter" idx="10"/>
          </p:nvPr>
        </p:nvSpPr>
        <p:spPr/>
        <p:txBody>
          <a:bodyPr/>
          <a:lstStyle/>
          <a:p>
            <a:fld id="{F7021451-1387-4CA6-816F-3879F97B5CBC}" type="slidenum">
              <a:rPr lang="de-DE"/>
              <a:t>26</a:t>
            </a:fld>
            <a:endParaRPr lang="de-D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2, Snap-Karte und Geist-Modus.</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RESERVEFRAGE – nur wenn Zeit und Aufmerksamkeit reichen. Passende Antwort: A. Erst fragen: Warum? Dann auflösen. Keine Noten, kein Zeitdruck. Gesprächsimpuls: Auch Freunde müssen nicht immer wissen, wo du bist. Antwort C ändert am Ort nichts.</a:t>
            </a:r>
          </a:p>
          <a:p>
            <a:r>
              <a:rPr lang="de-DE" b="1" sz="1100"/>
              <a:t>Lernplattform: </a:t>
            </a:r>
            <a:r>
              <a:rPr lang="de-DE" sz="1100"/>
              <a:t>Snapchat L4, Quiz Frage 2 und 6; Kurz-Modus „Dein Standort“.</a:t>
            </a:r>
          </a:p>
        </p:txBody>
      </p:sp>
      <p:sp>
        <p:nvSpPr>
          <p:cNvPr id="4" name="Slide Number Placeholder 3"/>
          <p:cNvSpPr>
            <a:spLocks noGrp="1"/>
          </p:cNvSpPr>
          <p:nvPr>
            <p:ph type="sldNum" sz="quarter" idx="10"/>
          </p:nvPr>
        </p:nvSpPr>
        <p:spPr/>
        <p:txBody>
          <a:bodyPr/>
          <a:lstStyle/>
          <a:p>
            <a:fld id="{F7021451-1387-4CA6-816F-3879F97B5CBC}" type="slidenum">
              <a:rPr lang="de-DE"/>
              <a:t>27</a:t>
            </a:fld>
            <a:endParaRPr lang="de-D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3, Druck erkennen.</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2 Min</a:t>
            </a:r>
          </a:p>
          <a:p>
            <a:r>
              <a:rPr lang="de-DE" b="1" sz="1100"/>
              <a:t>Material: </a:t>
            </a:r>
            <a:r>
              <a:rPr lang="de-DE" sz="1100"/>
              <a:t>Antwortkarten A/B/C</a:t>
            </a:r>
          </a:p>
          <a:p>
            <a:r>
              <a:rPr lang="de-DE" b="1" sz="1100"/>
              <a:t>Hinweis: </a:t>
            </a:r>
            <a:r>
              <a:rPr lang="de-DE" sz="1100"/>
              <a:t>KERNFRAGE – wird immer gestellt. NICHT IM KAHOOT: nur als Kartenfrage mit Gespräch, nie als Wettbewerb. Passende Antwort: C. Erst fragen: Warum? Dann auflösen. Keine Noten, kein Zeitdruck. Sensible Frage: nur als Kartenfrage mit Gespräch, nie als Wettbewerb und nicht im Kahoot. Ruhig bleiben. Botschaft: Geheimhaltung ist das Warnzeichen. Du darfst Nein sagen und es zeigen. Niemand muss erzählen, ob ihm das schon passiert ist. Bei Hinweisen auf eigene Betroffenheit: Einzelgespräch, Schutzauftrag der Einrichtung.</a:t>
            </a:r>
          </a:p>
          <a:p>
            <a:r>
              <a:rPr lang="de-DE" b="1" sz="1100"/>
              <a:t>Lernplattform: </a:t>
            </a:r>
            <a:r>
              <a:rPr lang="de-DE" sz="1100"/>
              <a:t>Snapchat L6 (Druck erkennen), L7, Quiz Frage 5 und 7; Thema Hilfe bei Problemen L4.</a:t>
            </a:r>
          </a:p>
        </p:txBody>
      </p:sp>
      <p:sp>
        <p:nvSpPr>
          <p:cNvPr id="4" name="Slide Number Placeholder 3"/>
          <p:cNvSpPr>
            <a:spLocks noGrp="1"/>
          </p:cNvSpPr>
          <p:nvPr>
            <p:ph type="sldNum" sz="quarter" idx="10"/>
          </p:nvPr>
        </p:nvSpPr>
        <p:spPr/>
        <p:txBody>
          <a:bodyPr/>
          <a:lstStyle/>
          <a:p>
            <a:fld id="{F7021451-1387-4CA6-816F-3879F97B5CBC}" type="slidenum">
              <a:rPr lang="de-DE"/>
              <a:t>28</a:t>
            </a:fld>
            <a:endParaRPr lang="de-D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1, Kontakte prüfen.</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RESERVEFRAGE – nur wenn Zeit und Aufmerksamkeit reichen. Passende Antwort: B. Erst fragen: Warum? Dann auflösen. Keine Noten, kein Zeitdruck. Auch Melden ist richtig, und eine vertraute Person fragen. Gesprächsimpuls: Wer darf dir überhaupt schreiben? Das ist eine Einstellung in der Praxis.</a:t>
            </a:r>
          </a:p>
          <a:p>
            <a:r>
              <a:rPr lang="de-DE" b="1" sz="1100"/>
              <a:t>Lernplattform: </a:t>
            </a:r>
            <a:r>
              <a:rPr lang="de-DE" sz="1100"/>
              <a:t>Snapchat L5, Quiz Frage 4 und 9; Praxis-Seite: Wer darf mich kontaktieren.</a:t>
            </a:r>
          </a:p>
        </p:txBody>
      </p:sp>
      <p:sp>
        <p:nvSpPr>
          <p:cNvPr id="4" name="Slide Number Placeholder 3"/>
          <p:cNvSpPr>
            <a:spLocks noGrp="1"/>
          </p:cNvSpPr>
          <p:nvPr>
            <p:ph type="sldNum" sz="quarter" idx="10"/>
          </p:nvPr>
        </p:nvSpPr>
        <p:spPr/>
        <p:txBody>
          <a:bodyPr/>
          <a:lstStyle/>
          <a:p>
            <a:fld id="{F7021451-1387-4CA6-816F-3879F97B5CBC}" type="slidenum">
              <a:rPr lang="de-DE"/>
              <a:t>29</a:t>
            </a:fld>
            <a:endParaRPr lang="de-D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2, andere Personen fragen.</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KERNFRAGE – wird immer gestellt. Passende Antwort: C. Erst fragen: Warum? Dann auflösen. Keine Noten, kein Zeitdruck. Antwort A und B klingen harmlos. Beides ersetzt das Fragen nicht: Auch ein kurzes Bild kann gespeichert werden. Gesprächsimpuls: Wie fragst du jemanden?</a:t>
            </a:r>
          </a:p>
          <a:p>
            <a:r>
              <a:rPr lang="de-DE" b="1" sz="1100"/>
              <a:t>Lernplattform: </a:t>
            </a:r>
            <a:r>
              <a:rPr lang="de-DE" sz="1100"/>
              <a:t>Snapchat L1 und L2, Quiz Frage 10; Merksatz: Erst prüfen. Dann senden.</a:t>
            </a:r>
          </a:p>
        </p:txBody>
      </p:sp>
      <p:sp>
        <p:nvSpPr>
          <p:cNvPr id="4" name="Slide Number Placeholder 3"/>
          <p:cNvSpPr>
            <a:spLocks noGrp="1"/>
          </p:cNvSpPr>
          <p:nvPr>
            <p:ph type="sldNum" sz="quarter" idx="10"/>
          </p:nvPr>
        </p:nvSpPr>
        <p:spPr/>
        <p:txBody>
          <a:bodyPr/>
          <a:lstStyle/>
          <a:p>
            <a:fld id="{F7021451-1387-4CA6-816F-3879F97B5CBC}" type="slidenum">
              <a:rPr lang="de-DE"/>
              <a:t>30</a:t>
            </a:fld>
            <a:endParaRPr lang="de-D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4, gemeine Nachrichten.</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RESERVEFRAGE – nur wenn Zeit und Aufmerksamkeit reichen. Passende Antwort: A. Erst fragen: Warum? Dann auflösen. Keine Noten, kein Zeitdruck. Gesprächsimpuls: Das ist nicht deine Schuld. Zeigen heißt auch: nicht sofort löschen. Diese Reservefrage zuerst nehmen, wenn gemeine Nachrichten in der Gruppe Thema waren.</a:t>
            </a:r>
          </a:p>
          <a:p>
            <a:r>
              <a:rPr lang="de-DE" b="1" sz="1100"/>
              <a:t>Lernplattform: </a:t>
            </a:r>
            <a:r>
              <a:rPr lang="de-DE" sz="1100"/>
              <a:t>Thema Hilfe bei Problemen L2 und L8; Praxis-Seite: Blockieren, Melden.</a:t>
            </a:r>
          </a:p>
        </p:txBody>
      </p:sp>
      <p:sp>
        <p:nvSpPr>
          <p:cNvPr id="4" name="Slide Number Placeholder 3"/>
          <p:cNvSpPr>
            <a:spLocks noGrp="1"/>
          </p:cNvSpPr>
          <p:nvPr>
            <p:ph type="sldNum" sz="quarter" idx="10"/>
          </p:nvPr>
        </p:nvSpPr>
        <p:spPr/>
        <p:txBody>
          <a:bodyPr/>
          <a:lstStyle/>
          <a:p>
            <a:fld id="{F7021451-1387-4CA6-816F-3879F97B5CBC}" type="slidenum">
              <a:rPr lang="de-DE"/>
              <a:t>31</a:t>
            </a:fld>
            <a:endParaRPr lang="de-D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Fünf Merksätze wiederholen.</a:t>
            </a:r>
          </a:p>
          <a:p>
            <a:r>
              <a:rPr lang="de-DE" b="1" sz="1100"/>
              <a:t>Methode: </a:t>
            </a:r>
            <a:r>
              <a:rPr lang="de-DE" sz="1100"/>
              <a:t>Reihum vorlesen.</a:t>
            </a:r>
          </a:p>
          <a:p>
            <a:r>
              <a:rPr lang="de-DE" b="1" sz="1100"/>
              <a:t>Sozialform: </a:t>
            </a:r>
            <a:r>
              <a:rPr lang="de-DE" sz="1100"/>
              <a:t>Plenum</a:t>
            </a:r>
          </a:p>
          <a:p>
            <a:r>
              <a:rPr lang="de-DE" b="1" sz="1100"/>
              <a:t>Zeit: </a:t>
            </a:r>
            <a:r>
              <a:rPr lang="de-DE" sz="1100"/>
              <a:t>ca. 1 Min</a:t>
            </a:r>
          </a:p>
          <a:p>
            <a:r>
              <a:rPr lang="de-DE" b="1" sz="1100"/>
              <a:t>Material: </a:t>
            </a:r>
            <a:r>
              <a:rPr lang="de-DE" sz="1100"/>
              <a:t>gedruckte Merk-Karte Snapchat der Lernplattform</a:t>
            </a:r>
          </a:p>
          <a:p>
            <a:r>
              <a:rPr lang="de-DE" b="1" sz="1100"/>
              <a:t>Hinweis: </a:t>
            </a:r>
            <a:r>
              <a:rPr lang="de-DE" sz="1100"/>
              <a:t>Merk-Karte austeilen. Die Merksätze passen inhaltlich zur Lernplattform (Snapchat: Das merke ich mir), sind aber nicht wortgleich. Beim Austeilen sagen: Auf der Karte stehen die gleichen Regeln in anderen Worten.</a:t>
            </a:r>
          </a:p>
          <a:p>
            <a:r>
              <a:rPr lang="de-DE" b="1" sz="1100"/>
              <a:t>Lernplattform: </a:t>
            </a:r>
            <a:r>
              <a:rPr lang="de-DE" sz="1100"/>
              <a:t>Merk-Karte #thema-snapchat:merk; Snapchat L8.</a:t>
            </a:r>
          </a:p>
        </p:txBody>
      </p:sp>
      <p:sp>
        <p:nvSpPr>
          <p:cNvPr id="4" name="Slide Number Placeholder 3"/>
          <p:cNvSpPr>
            <a:spLocks noGrp="1"/>
          </p:cNvSpPr>
          <p:nvPr>
            <p:ph type="sldNum" sz="quarter" idx="10"/>
          </p:nvPr>
        </p:nvSpPr>
        <p:spPr/>
        <p:txBody>
          <a:bodyPr/>
          <a:lstStyle/>
          <a:p>
            <a:fld id="{F7021451-1387-4CA6-816F-3879F97B5CBC}" type="slidenum">
              <a:rPr lang="de-DE"/>
              <a:t>32</a:t>
            </a:fld>
            <a:endParaRPr lang="de-D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wo das Thema zum Weiterüben liegt; die Seite öffnen können.</a:t>
            </a:r>
          </a:p>
          <a:p>
            <a:r>
              <a:rPr lang="de-DE" b="1" sz="1100"/>
              <a:t>Methode: </a:t>
            </a:r>
            <a:r>
              <a:rPr lang="de-DE" sz="1100"/>
              <a:t>QR-Code scannen, kurz zeigen.</a:t>
            </a:r>
          </a:p>
          <a:p>
            <a:r>
              <a:rPr lang="de-DE" b="1" sz="1100"/>
              <a:t>Sozialform: </a:t>
            </a:r>
            <a:r>
              <a:rPr lang="de-DE" sz="1100"/>
              <a:t>Plenum, einzeln</a:t>
            </a:r>
          </a:p>
          <a:p>
            <a:r>
              <a:rPr lang="de-DE" b="1" sz="1100"/>
              <a:t>Zeit: </a:t>
            </a:r>
            <a:r>
              <a:rPr lang="de-DE" sz="1100"/>
              <a:t>ca. 2 Min</a:t>
            </a:r>
          </a:p>
          <a:p>
            <a:r>
              <a:rPr lang="de-DE" b="1" sz="1100"/>
              <a:t>Material: </a:t>
            </a:r>
            <a:r>
              <a:rPr lang="de-DE" sz="1100"/>
              <a:t>eigenes Handy, QR-Code</a:t>
            </a:r>
          </a:p>
          <a:p>
            <a:r>
              <a:rPr lang="de-DE" b="1" sz="1100"/>
              <a:t>Hinweis: </a:t>
            </a:r>
            <a:r>
              <a:rPr lang="de-DE" sz="1100"/>
              <a:t>Der QR-Code ist der Hauptweg; die volle Adresse steht im Feld Lernplattform und im Ausdruck dieses Leitfadens, nicht klein auf der Folie. Zeigen: Sprache umstellen, Vorlesen, Kurz-Modus, Quiz, Merk-Karte. Vertiefung: Bild vom Bildschirm (L2), Standort (L4), Kontakte (L5). Achtung: Die Lektion L3 (Sehr private Bilder), die Lektion L6 (Druck erkennen), die Quizfragen 3, 5 und 7 und das Übungs-Handy enthalten Inhalte zu Druck und privaten Bildern. Diese Inhalte nur begleitet und angekündigt öffnen, nicht als stillen Standardweg. Die Sprache lässt sich jederzeit umstellen. Vor dem Workshop an einem Gerät ohne gespeicherte Einstellungen testen, was der QR-Code zuerst zeigt. Zum Datenschutz nur das sagen, was auf der Datenschutz-Seite der Lernplattform steht (Stand Juni 2026): Die Seite fragt nicht nach dem Namen, es gibt kein Konto und keine Werbung; der Lernstand bleibt nur nach Zustimmung auf dem Gerät; beim Aufruf verarbeitet der Hoster GitHub Pages technisch nötige Daten wie die IP-Adresse.</a:t>
            </a:r>
          </a:p>
          <a:p>
            <a:r>
              <a:rPr lang="de-DE" b="1" sz="1100"/>
              <a:t>Lernplattform: </a:t>
            </a:r>
            <a:r>
              <a:rPr lang="de-DE" sz="1100"/>
              <a:t>alex-und-tilda.github.io/sicher-und-selbstbestimmt-im-internet/#thema-snapchat; weitere Einstiege: #thema-snapchat:kurz, #thema-snapchat:quiz, #thema-snapchat:merk, #thema-snapchat:uebung (nur begleitet).</a:t>
            </a:r>
          </a:p>
        </p:txBody>
      </p:sp>
      <p:sp>
        <p:nvSpPr>
          <p:cNvPr id="4" name="Slide Number Placeholder 3"/>
          <p:cNvSpPr>
            <a:spLocks noGrp="1"/>
          </p:cNvSpPr>
          <p:nvPr>
            <p:ph type="sldNum" sz="quarter" idx="10"/>
          </p:nvPr>
        </p:nvSpPr>
        <p:spPr/>
        <p:txBody>
          <a:bodyPr/>
          <a:lstStyle/>
          <a:p>
            <a:fld id="{F7021451-1387-4CA6-816F-3879F97B5CBC}" type="slidenum">
              <a:rPr lang="de-DE"/>
              <a:t>33</a:t>
            </a:fld>
            <a:endParaRPr lang="de-D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Einen konkreten Schritt für den Alltag benennen.</a:t>
            </a:r>
          </a:p>
          <a:p>
            <a:r>
              <a:rPr lang="de-DE" b="1" sz="1100"/>
              <a:t>Methode: </a:t>
            </a:r>
            <a:r>
              <a:rPr lang="de-DE" sz="1100"/>
              <a:t>Satz gemeinsam sprechen.</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Nur dieser eine Schritt. Er ist fast wortgleich mit dem Transfer-Satz der Lernplattform: Prüfe heute in Snapchat: Wer kann deinen Standort sehen? Wer im Workshop nichts einstellen konnte: zusätzlich zu Hause mit einer vertrauten Person den Geist-Modus anschalten.</a:t>
            </a:r>
          </a:p>
          <a:p>
            <a:r>
              <a:rPr lang="de-DE" b="1" sz="1100"/>
              <a:t>Bildvorschlag: </a:t>
            </a:r>
            <a:r>
              <a:rPr lang="de-DE" sz="1100"/>
              <a:t>Eigenes Bild: Person schaut auf die Karte, ihr Ort ist geschützt. Funktion: Erinnerungsbild, auch für einen Handzettel.</a:t>
            </a:r>
          </a:p>
          <a:p>
            <a:r>
              <a:rPr lang="de-DE" b="1" sz="1100"/>
              <a:t>Lernplattform: </a:t>
            </a:r>
            <a:r>
              <a:rPr lang="de-DE" sz="1100"/>
              <a:t>Transfer Thema Snapchat: Prüfe heute in Snapchat: Wer kann deinen Standort sehen?</a:t>
            </a:r>
          </a:p>
        </p:txBody>
      </p:sp>
      <p:sp>
        <p:nvSpPr>
          <p:cNvPr id="4" name="Slide Number Placeholder 3"/>
          <p:cNvSpPr>
            <a:spLocks noGrp="1"/>
          </p:cNvSpPr>
          <p:nvPr>
            <p:ph type="sldNum" sz="quarter" idx="10"/>
          </p:nvPr>
        </p:nvSpPr>
        <p:spPr/>
        <p:txBody>
          <a:bodyPr/>
          <a:lstStyle/>
          <a:p>
            <a:fld id="{F7021451-1387-4CA6-816F-3879F97B5CBC}" type="slidenum">
              <a:rPr lang="de-DE"/>
              <a:t>34</a:t>
            </a:fld>
            <a:endParaRPr lang="de-D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Ermutigender Abschluss.</a:t>
            </a:r>
          </a:p>
          <a:p>
            <a:r>
              <a:rPr lang="de-DE" b="1" sz="1100"/>
              <a:t>Methode: </a:t>
            </a:r>
            <a:r>
              <a:rPr lang="de-DE" sz="1100"/>
              <a:t>Fragerunde.</a:t>
            </a:r>
          </a:p>
          <a:p>
            <a:r>
              <a:rPr lang="de-DE" b="1" sz="1100"/>
              <a:t>Sozialform: </a:t>
            </a:r>
            <a:r>
              <a:rPr lang="de-DE" sz="1100"/>
              <a:t>Plenum</a:t>
            </a:r>
          </a:p>
          <a:p>
            <a:r>
              <a:rPr lang="de-DE" b="1" sz="1100"/>
              <a:t>Zeit: </a:t>
            </a:r>
            <a:r>
              <a:rPr lang="de-DE" sz="1100"/>
              <a:t>ca. 1 Min</a:t>
            </a:r>
          </a:p>
          <a:p>
            <a:r>
              <a:rPr lang="de-DE" b="1" sz="1100"/>
              <a:t>Material: </a:t>
            </a:r>
            <a:r>
              <a:rPr lang="de-DE" sz="1100"/>
              <a:t>–</a:t>
            </a:r>
          </a:p>
          <a:p>
            <a:r>
              <a:rPr lang="de-DE" b="1" sz="1100"/>
              <a:t>Hinweis: </a:t>
            </a:r>
            <a:r>
              <a:rPr lang="de-DE" sz="1100"/>
              <a:t>Sachlich-ermutigend abschließen. In diesem Modul ausdrücklich auf Einzelgespräche nach dem Workshop hinweisen und noch einmal sagen: Hilfe holen ist stark. Danach Beobachtungen datensparsam festhalten (Checkliste nach dem Workshop in REFERENZMODUL.md).</a:t>
            </a:r>
          </a:p>
        </p:txBody>
      </p:sp>
      <p:sp>
        <p:nvSpPr>
          <p:cNvPr id="4" name="Slide Number Placeholder 3"/>
          <p:cNvSpPr>
            <a:spLocks noGrp="1"/>
          </p:cNvSpPr>
          <p:nvPr>
            <p:ph type="sldNum" sz="quarter" idx="10"/>
          </p:nvPr>
        </p:nvSpPr>
        <p:spPr/>
        <p:txBody>
          <a:bodyPr/>
          <a:lstStyle/>
          <a:p>
            <a:fld id="{F7021451-1387-4CA6-816F-3879F97B5CBC}" type="slidenum">
              <a:rPr lang="de-DE"/>
              <a:t>35</a:t>
            </a:fld>
            <a:endParaRPr lang="de-D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qr-praxis-snapchat.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qr-lernplattform-snapchat.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napchat sicher und selbstbestimmt nutzen">
    <p:bg>
      <p:bgPr>
        <a:solidFill>
          <a:srgbClr val="00285A"/>
        </a:solidFill>
        <a:effectLst/>
      </p:bgPr>
    </p:bg>
    <p:spTree>
      <p:nvGrpSpPr>
        <p:cNvPr id="1" name=""/>
        <p:cNvGrpSpPr/>
        <p:nvPr/>
      </p:nvGrpSpPr>
      <p:grpSpPr>
        <a:xfrm>
          <a:off x="0" y="0"/>
          <a:ext cx="0" cy="0"/>
          <a:chOff x="0" y="0"/>
          <a:chExt cx="0" cy="0"/>
        </a:xfrm>
      </p:grpSpPr>
      <p:sp>
        <p:nvSpPr>
          <p:cNvPr id="2" name="Bild-Platzhalter 2"/>
          <p:cNvSpPr/>
          <p:nvPr/>
        </p:nvSpPr>
        <p:spPr>
          <a:xfrm>
            <a:off x="640080" y="540000"/>
            <a:ext cx="3200000" cy="1700000"/>
          </a:xfrm>
          <a:prstGeom prst="roundRect">
            <a:avLst>
              <a:gd name="adj" fmla="val 4000"/>
            </a:avLst>
          </a:prstGeom>
          <a:solidFill>
            <a:srgbClr val="0B3A6E"/>
          </a:solidFill>
          <a:ln w="19050">
            <a:solidFill>
              <a:srgbClr val="AAD1E3"/>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500" b="0" i="1" dirty="0">
                <a:solidFill>
                  <a:srgbClr val="AAD1E3"/>
                </a:solidFill>
                <a:latin typeface="Arial" pitchFamily="34" charset="0"/>
                <a:ea typeface="Arial" pitchFamily="34" charset="-122"/>
                <a:cs typeface="Arial" pitchFamily="34" charset="-120"/>
              </a:rPr>
              <a:t>[BILD: Alex und Tilda begrüßen die Gruppe – eigene Figuren der Lernplattform]</a:t>
            </a:r>
          </a:p>
        </p:txBody>
      </p:sp>
      <p:sp>
        <p:nvSpPr>
          <p:cNvPr id="3" name="Text 3"/>
          <p:cNvSpPr/>
          <p:nvPr/>
        </p:nvSpPr>
        <p:spPr>
          <a:xfrm>
            <a:off x="640080" y="2423160"/>
            <a:ext cx="10972800" cy="1900000"/>
          </a:xfrm>
          <a:prstGeom prst="rect">
            <a:avLst/>
          </a:prstGeom>
          <a:noFill/>
          <a:ln>
            <a:noFill/>
          </a:ln>
        </p:spPr>
        <p:txBody>
          <a:bodyPr wrap="square" lIns="0" tIns="0" rIns="0" bIns="0" rtlCol="0" anchor="b">
            <a:noAutofit/>
          </a:bodyPr>
          <a:lstStyle/>
          <a:p>
            <a:pPr algn="l" indent="0" marL="0">
              <a:lnSpc>
                <a:spcPct val="95000"/>
              </a:lnSpc>
              <a:spcAft>
                <a:spcPts val="0"/>
              </a:spcAft>
              <a:buNone/>
            </a:pPr>
            <a:r>
              <a:rPr lang="de-DE" sz="4400" b="1" i="0" dirty="0">
                <a:solidFill>
                  <a:srgbClr val="FFFFFF"/>
                </a:solidFill>
                <a:latin typeface="Arial" pitchFamily="34" charset="0"/>
                <a:ea typeface="Arial" pitchFamily="34" charset="-122"/>
                <a:cs typeface="Arial" pitchFamily="34" charset="-120"/>
              </a:rPr>
              <a:t>Snapchat sicher und selbstbestimmt nutzen</a:t>
            </a:r>
          </a:p>
        </p:txBody>
      </p:sp>
      <p:sp>
        <p:nvSpPr>
          <p:cNvPr id="4" name="Text 4"/>
          <p:cNvSpPr/>
          <p:nvPr/>
        </p:nvSpPr>
        <p:spPr>
          <a:xfrm>
            <a:off x="640080" y="4450000"/>
            <a:ext cx="10972800" cy="7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2800" b="0" i="0" dirty="0">
                <a:solidFill>
                  <a:srgbClr val="AAD1E3"/>
                </a:solidFill>
                <a:latin typeface="Arial" pitchFamily="34" charset="0"/>
                <a:ea typeface="Arial" pitchFamily="34" charset="-122"/>
                <a:cs typeface="Arial" pitchFamily="34" charset="-120"/>
              </a:rPr>
              <a:t>Meine Bilder. Mein Ort. Mein Nein.</a:t>
            </a:r>
          </a:p>
        </p:txBody>
      </p:sp>
      <p:sp>
        <p:nvSpPr>
          <p:cNvPr id="5" name="Text 5"/>
          <p:cNvSpPr/>
          <p:nvPr/>
        </p:nvSpPr>
        <p:spPr>
          <a:xfrm>
            <a:off x="640080" y="5349240"/>
            <a:ext cx="10972800" cy="82296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1900" b="1" i="0" dirty="0">
                <a:solidFill>
                  <a:srgbClr val="FFFFFF"/>
                </a:solidFill>
                <a:latin typeface="Arial" pitchFamily="34" charset="0"/>
                <a:ea typeface="Arial" pitchFamily="34" charset="-122"/>
                <a:cs typeface="Arial" pitchFamily="34" charset="-120"/>
              </a:rPr>
              <a:t>Alex und Tilda</a:t>
            </a:r>
          </a:p>
          <a:p>
            <a:pPr algn="l" indent="0" marL="0">
              <a:lnSpc>
                <a:spcPct val="100000"/>
              </a:lnSpc>
              <a:spcAft>
                <a:spcPts val="0"/>
              </a:spcAft>
              <a:buNone/>
            </a:pPr>
            <a:r>
              <a:rPr lang="de-DE" sz="1800" b="0" i="0" dirty="0">
                <a:solidFill>
                  <a:srgbClr val="AAD1E3"/>
                </a:solidFill>
                <a:latin typeface="Arial" pitchFamily="34" charset="0"/>
                <a:ea typeface="Arial" pitchFamily="34" charset="-122"/>
                <a:cs typeface="Arial" pitchFamily="34" charset="-120"/>
              </a:rPr>
              <a:t>Sicher und selbstbestimmt im Internet</a:t>
            </a:r>
          </a:p>
        </p:txBody>
      </p:sp>
      <p:sp>
        <p:nvSpPr>
          <p:cNvPr id="6" name="Text 6"/>
          <p:cNvSpPr/>
          <p:nvPr/>
        </p:nvSpPr>
        <p:spPr>
          <a:xfrm>
            <a:off x="640080" y="6309360"/>
            <a:ext cx="10972800" cy="36576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1300" b="0" i="0" dirty="0">
                <a:solidFill>
                  <a:srgbClr val="AAD1E3"/>
                </a:solidFill>
                <a:latin typeface="Arial" pitchFamily="34" charset="0"/>
                <a:ea typeface="Arial" pitchFamily="34" charset="-122"/>
                <a:cs typeface="Arial" pitchFamily="34" charset="-120"/>
              </a:rPr>
              <a:t>Alexianer Stift Tilbeck GmbH   ·   Gefördert durch die Sozialstiftung NRW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as machen wir heute">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machen wir heute</a:t>
            </a:r>
          </a:p>
        </p:txBody>
      </p:sp>
      <p:sp>
        <p:nvSpPr>
          <p:cNvPr id="3" name="Zeile 3"/>
          <p:cNvSpPr/>
          <p:nvPr/>
        </p:nvSpPr>
        <p:spPr>
          <a:xfrm>
            <a:off x="640080" y="1600000"/>
            <a:ext cx="5300000" cy="820000"/>
          </a:xfrm>
          <a:prstGeom prst="roundRect">
            <a:avLst>
              <a:gd name="adj" fmla="val 12000"/>
            </a:avLst>
          </a:prstGeom>
          <a:solidFill>
            <a:srgbClr val="D8EAF2"/>
          </a:solidFill>
          <a:ln w="12700">
            <a:solidFill>
              <a:srgbClr val="AAD1E3"/>
            </a:solidFill>
            <a:prstDash val="solid"/>
          </a:ln>
        </p:spPr>
      </p:sp>
      <p:sp>
        <p:nvSpPr>
          <p:cNvPr id="4" name="Kreis 4"/>
          <p:cNvSpPr/>
          <p:nvPr/>
        </p:nvSpPr>
        <p:spPr>
          <a:xfrm>
            <a:off x="770080" y="172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1</a:t>
            </a:r>
          </a:p>
        </p:txBody>
      </p:sp>
      <p:sp>
        <p:nvSpPr>
          <p:cNvPr id="5" name="Text 5"/>
          <p:cNvSpPr/>
          <p:nvPr/>
        </p:nvSpPr>
        <p:spPr>
          <a:xfrm>
            <a:off x="1524080" y="160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Mein Konto und meine Freunde</a:t>
            </a:r>
          </a:p>
        </p:txBody>
      </p:sp>
      <p:sp>
        <p:nvSpPr>
          <p:cNvPr id="6" name="Zeile 6"/>
          <p:cNvSpPr/>
          <p:nvPr/>
        </p:nvSpPr>
        <p:spPr>
          <a:xfrm>
            <a:off x="640080" y="2570000"/>
            <a:ext cx="5300000" cy="82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770080" y="269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2</a:t>
            </a:r>
          </a:p>
        </p:txBody>
      </p:sp>
      <p:sp>
        <p:nvSpPr>
          <p:cNvPr id="8" name="Text 8"/>
          <p:cNvSpPr/>
          <p:nvPr/>
        </p:nvSpPr>
        <p:spPr>
          <a:xfrm>
            <a:off x="1524080" y="257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Bilder und Ort</a:t>
            </a:r>
          </a:p>
        </p:txBody>
      </p:sp>
      <p:sp>
        <p:nvSpPr>
          <p:cNvPr id="9" name="Zeile 9"/>
          <p:cNvSpPr/>
          <p:nvPr/>
        </p:nvSpPr>
        <p:spPr>
          <a:xfrm>
            <a:off x="640080" y="3540000"/>
            <a:ext cx="5300000" cy="82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770080" y="366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3</a:t>
            </a:r>
          </a:p>
        </p:txBody>
      </p:sp>
      <p:sp>
        <p:nvSpPr>
          <p:cNvPr id="11" name="Text 11"/>
          <p:cNvSpPr/>
          <p:nvPr/>
        </p:nvSpPr>
        <p:spPr>
          <a:xfrm>
            <a:off x="1524080" y="354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Druck und sehr private Bilder</a:t>
            </a:r>
          </a:p>
        </p:txBody>
      </p:sp>
      <p:sp>
        <p:nvSpPr>
          <p:cNvPr id="12" name="Zeile 12"/>
          <p:cNvSpPr/>
          <p:nvPr/>
        </p:nvSpPr>
        <p:spPr>
          <a:xfrm>
            <a:off x="640080" y="4510000"/>
            <a:ext cx="5300000" cy="82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770080" y="463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4</a:t>
            </a:r>
          </a:p>
        </p:txBody>
      </p:sp>
      <p:sp>
        <p:nvSpPr>
          <p:cNvPr id="14" name="Text 14"/>
          <p:cNvSpPr/>
          <p:nvPr/>
        </p:nvSpPr>
        <p:spPr>
          <a:xfrm>
            <a:off x="1524080" y="451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Wenn etwas verletzt</a:t>
            </a:r>
          </a:p>
        </p:txBody>
      </p:sp>
      <p:sp>
        <p:nvSpPr>
          <p:cNvPr id="15" name="Text 15"/>
          <p:cNvSpPr/>
          <p:nvPr/>
        </p:nvSpPr>
        <p:spPr>
          <a:xfrm>
            <a:off x="6250000" y="1600000"/>
            <a:ext cx="5300000" cy="820000"/>
          </a:xfrm>
          <a:prstGeom prst="roundRect">
            <a:avLst>
              <a:gd name="adj" fmla="val 12000"/>
            </a:avLst>
          </a:prstGeom>
          <a:solidFill>
            <a:srgbClr val="FFFFFF"/>
          </a:solidFill>
          <a:ln w="19050">
            <a:solidFill>
              <a:srgbClr val="AAD1E3"/>
            </a:solidFill>
            <a:prstDash val="solid"/>
          </a:ln>
        </p:spPr>
      </p:sp>
      <p:sp>
        <p:nvSpPr>
          <p:cNvPr id="16" name="Text 16"/>
          <p:cNvSpPr/>
          <p:nvPr/>
        </p:nvSpPr>
        <p:spPr>
          <a:xfrm>
            <a:off x="6450000" y="160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Pause</a:t>
            </a:r>
          </a:p>
        </p:txBody>
      </p:sp>
      <p:sp>
        <p:nvSpPr>
          <p:cNvPr id="17" name="Text 17"/>
          <p:cNvSpPr/>
          <p:nvPr/>
        </p:nvSpPr>
        <p:spPr>
          <a:xfrm>
            <a:off x="6250000" y="2570000"/>
            <a:ext cx="5300000" cy="820000"/>
          </a:xfrm>
          <a:prstGeom prst="roundRect">
            <a:avLst>
              <a:gd name="adj" fmla="val 12000"/>
            </a:avLst>
          </a:prstGeom>
          <a:solidFill>
            <a:srgbClr val="FFFFFF"/>
          </a:solidFill>
          <a:ln w="19050">
            <a:solidFill>
              <a:srgbClr val="AAD1E3"/>
            </a:solidFill>
            <a:prstDash val="solid"/>
          </a:ln>
        </p:spPr>
      </p:sp>
      <p:sp>
        <p:nvSpPr>
          <p:cNvPr id="18" name="Text 18"/>
          <p:cNvSpPr/>
          <p:nvPr/>
        </p:nvSpPr>
        <p:spPr>
          <a:xfrm>
            <a:off x="6450000" y="257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Praxis: Wir stellen ein</a:t>
            </a:r>
          </a:p>
        </p:txBody>
      </p:sp>
      <p:sp>
        <p:nvSpPr>
          <p:cNvPr id="19" name="Text 19"/>
          <p:cNvSpPr/>
          <p:nvPr/>
        </p:nvSpPr>
        <p:spPr>
          <a:xfrm>
            <a:off x="6250000" y="3540000"/>
            <a:ext cx="5300000" cy="820000"/>
          </a:xfrm>
          <a:prstGeom prst="roundRect">
            <a:avLst>
              <a:gd name="adj" fmla="val 12000"/>
            </a:avLst>
          </a:prstGeom>
          <a:solidFill>
            <a:srgbClr val="FFFFFF"/>
          </a:solidFill>
          <a:ln w="19050">
            <a:solidFill>
              <a:srgbClr val="AAD1E3"/>
            </a:solidFill>
            <a:prstDash val="solid"/>
          </a:ln>
        </p:spPr>
      </p:sp>
      <p:sp>
        <p:nvSpPr>
          <p:cNvPr id="20" name="Text 20"/>
          <p:cNvSpPr/>
          <p:nvPr/>
        </p:nvSpPr>
        <p:spPr>
          <a:xfrm>
            <a:off x="6450000" y="354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Quiz: Wir sprechen darüber</a:t>
            </a:r>
          </a:p>
        </p:txBody>
      </p:sp>
      <p:sp>
        <p:nvSpPr>
          <p:cNvPr id="21" name="Text 21"/>
          <p:cNvSpPr/>
          <p:nvPr/>
        </p:nvSpPr>
        <p:spPr>
          <a:xfrm>
            <a:off x="6250000" y="4510000"/>
            <a:ext cx="5300000" cy="820000"/>
          </a:xfrm>
          <a:prstGeom prst="roundRect">
            <a:avLst>
              <a:gd name="adj" fmla="val 12000"/>
            </a:avLst>
          </a:prstGeom>
          <a:solidFill>
            <a:srgbClr val="FFFFFF"/>
          </a:solidFill>
          <a:ln w="19050">
            <a:solidFill>
              <a:srgbClr val="AAD1E3"/>
            </a:solidFill>
            <a:prstDash val="solid"/>
          </a:ln>
        </p:spPr>
      </p:sp>
      <p:sp>
        <p:nvSpPr>
          <p:cNvPr id="22" name="Text 22"/>
          <p:cNvSpPr/>
          <p:nvPr/>
        </p:nvSpPr>
        <p:spPr>
          <a:xfrm>
            <a:off x="6450000" y="451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Lernplattform und eine Sache für heute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Unsere Regel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Unsere Regeln</a:t>
            </a:r>
          </a:p>
        </p:txBody>
      </p:sp>
      <p:sp>
        <p:nvSpPr>
          <p:cNvPr id="3" name="Text 3"/>
          <p:cNvSpPr/>
          <p:nvPr/>
        </p:nvSpPr>
        <p:spPr>
          <a:xfrm>
            <a:off x="640080" y="160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Jede Frage ist gut.</a:t>
            </a:r>
          </a:p>
        </p:txBody>
      </p:sp>
      <p:sp>
        <p:nvSpPr>
          <p:cNvPr id="4" name="Text 4"/>
          <p:cNvSpPr/>
          <p:nvPr/>
        </p:nvSpPr>
        <p:spPr>
          <a:xfrm>
            <a:off x="6190080" y="160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Fehler sind erlaubt.</a:t>
            </a:r>
          </a:p>
        </p:txBody>
      </p:sp>
      <p:sp>
        <p:nvSpPr>
          <p:cNvPr id="5" name="Text 5"/>
          <p:cNvSpPr/>
          <p:nvPr/>
        </p:nvSpPr>
        <p:spPr>
          <a:xfrm>
            <a:off x="640080" y="395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Wir hören einander zu.</a:t>
            </a:r>
          </a:p>
        </p:txBody>
      </p:sp>
      <p:sp>
        <p:nvSpPr>
          <p:cNvPr id="6" name="Text 6"/>
          <p:cNvSpPr/>
          <p:nvPr/>
        </p:nvSpPr>
        <p:spPr>
          <a:xfrm>
            <a:off x="6190080" y="395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Du musst nichts erzählen.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Was weißt du schon über Snapchat?">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Was weißt du schon über Snapchat?</a:t>
            </a:r>
          </a:p>
        </p:txBody>
      </p:sp>
      <p:sp>
        <p:nvSpPr>
          <p:cNvPr id="3" name="Text 3"/>
          <p:cNvSpPr/>
          <p:nvPr/>
        </p:nvSpPr>
        <p:spPr>
          <a:xfrm>
            <a:off x="640080" y="1800000"/>
            <a:ext cx="3500000" cy="2900000"/>
          </a:xfrm>
          <a:prstGeom prst="roundRect">
            <a:avLst>
              <a:gd name="adj" fmla="val 6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4" name="Kreis 4"/>
          <p:cNvSpPr/>
          <p:nvPr/>
        </p:nvSpPr>
        <p:spPr>
          <a:xfrm>
            <a:off x="1940080" y="2100000"/>
            <a:ext cx="900000" cy="90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A</a:t>
            </a:r>
          </a:p>
        </p:txBody>
      </p:sp>
      <p:sp>
        <p:nvSpPr>
          <p:cNvPr id="5" name="Text 5"/>
          <p:cNvSpPr/>
          <p:nvPr/>
        </p:nvSpPr>
        <p:spPr>
          <a:xfrm>
            <a:off x="790080" y="3200000"/>
            <a:ext cx="3200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Noch nicht so viel</a:t>
            </a:r>
          </a:p>
        </p:txBody>
      </p:sp>
      <p:sp>
        <p:nvSpPr>
          <p:cNvPr id="6" name="Text 6"/>
          <p:cNvSpPr/>
          <p:nvPr/>
        </p:nvSpPr>
        <p:spPr>
          <a:xfrm>
            <a:off x="4340080" y="1800000"/>
            <a:ext cx="3500000" cy="2900000"/>
          </a:xfrm>
          <a:prstGeom prst="roundRect">
            <a:avLst>
              <a:gd name="adj" fmla="val 6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7" name="Kreis 7"/>
          <p:cNvSpPr/>
          <p:nvPr/>
        </p:nvSpPr>
        <p:spPr>
          <a:xfrm>
            <a:off x="5640080" y="2100000"/>
            <a:ext cx="900000" cy="90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B</a:t>
            </a:r>
          </a:p>
        </p:txBody>
      </p:sp>
      <p:sp>
        <p:nvSpPr>
          <p:cNvPr id="8" name="Text 8"/>
          <p:cNvSpPr/>
          <p:nvPr/>
        </p:nvSpPr>
        <p:spPr>
          <a:xfrm>
            <a:off x="4490080" y="3200000"/>
            <a:ext cx="3200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Ein bisschen</a:t>
            </a:r>
          </a:p>
        </p:txBody>
      </p:sp>
      <p:sp>
        <p:nvSpPr>
          <p:cNvPr id="9" name="Text 9"/>
          <p:cNvSpPr/>
          <p:nvPr/>
        </p:nvSpPr>
        <p:spPr>
          <a:xfrm>
            <a:off x="8040080" y="1800000"/>
            <a:ext cx="3500000" cy="2900000"/>
          </a:xfrm>
          <a:prstGeom prst="roundRect">
            <a:avLst>
              <a:gd name="adj" fmla="val 6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0" name="Kreis 10"/>
          <p:cNvSpPr/>
          <p:nvPr/>
        </p:nvSpPr>
        <p:spPr>
          <a:xfrm>
            <a:off x="9340080" y="2100000"/>
            <a:ext cx="900000" cy="90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C</a:t>
            </a:r>
          </a:p>
        </p:txBody>
      </p:sp>
      <p:sp>
        <p:nvSpPr>
          <p:cNvPr id="11" name="Text 11"/>
          <p:cNvSpPr/>
          <p:nvPr/>
        </p:nvSpPr>
        <p:spPr>
          <a:xfrm>
            <a:off x="8190080" y="3200000"/>
            <a:ext cx="3200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Schon einiges</a:t>
            </a:r>
          </a:p>
        </p:txBody>
      </p:sp>
      <p:sp>
        <p:nvSpPr>
          <p:cNvPr id="12" name="Text 12"/>
          <p:cNvSpPr/>
          <p:nvPr/>
        </p:nvSpPr>
        <p:spPr>
          <a:xfrm>
            <a:off x="640080" y="5000000"/>
            <a:ext cx="10911840" cy="1200000"/>
          </a:xfrm>
          <a:prstGeom prst="rect">
            <a:avLst/>
          </a:prstGeom>
          <a:noFill/>
          <a:ln>
            <a:noFill/>
          </a:ln>
        </p:spPr>
        <p:txBody>
          <a:bodyPr wrap="square" lIns="0" tIns="0" rIns="0" bIns="0" rtlCol="0" anchor="ctr">
            <a:noAutofit/>
          </a:bodyPr>
          <a:lstStyle/>
          <a:p>
            <a:pPr algn="ctr" indent="0" marL="0">
              <a:lnSpc>
                <a:spcPct val="100000"/>
              </a:lnSpc>
              <a:spcAft>
                <a:spcPts val="300"/>
              </a:spcAft>
              <a:buNone/>
            </a:pPr>
            <a:r>
              <a:rPr lang="de-DE" sz="2400" b="0" i="0" dirty="0">
                <a:solidFill>
                  <a:srgbClr val="48586A"/>
                </a:solidFill>
                <a:latin typeface="Arial" pitchFamily="34" charset="0"/>
                <a:ea typeface="Arial" pitchFamily="34" charset="-122"/>
                <a:cs typeface="Arial" pitchFamily="34" charset="-120"/>
              </a:rPr>
              <a:t>Zeig es mit der Hand oder mit einer Karte.</a:t>
            </a:r>
          </a:p>
          <a:p>
            <a:pPr algn="ctr" indent="0" marL="0">
              <a:lnSpc>
                <a:spcPct val="100000"/>
              </a:lnSpc>
              <a:spcAft>
                <a:spcPts val="300"/>
              </a:spcAft>
              <a:buNone/>
            </a:pPr>
            <a:r>
              <a:rPr lang="de-DE" sz="2400" b="0" i="0" dirty="0">
                <a:solidFill>
                  <a:srgbClr val="48586A"/>
                </a:solidFill>
                <a:latin typeface="Arial" pitchFamily="34" charset="0"/>
                <a:ea typeface="Arial" pitchFamily="34" charset="-122"/>
                <a:cs typeface="Arial" pitchFamily="34" charset="-120"/>
              </a:rPr>
              <a:t>Es gibt keine falsche Antwort.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Ist das Bild wirklich weg?">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Ist das Bild wirklich weg?</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Du schickst ein Bild.</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Nach 10 Sekunden ist es weg.</a:t>
            </a:r>
          </a:p>
          <a:p>
            <a:pPr algn="l" indent="0" marL="0">
              <a:lnSpc>
                <a:spcPct val="100000"/>
              </a:lnSpc>
              <a:spcAft>
                <a:spcPts val="1300"/>
              </a:spcAft>
              <a:buNone/>
            </a:pPr>
            <a:r>
              <a:rPr lang="de-DE" sz="2500" b="1" i="0" dirty="0">
                <a:solidFill>
                  <a:srgbClr val="1A1A1A"/>
                </a:solidFill>
                <a:latin typeface="Arial" pitchFamily="34" charset="0"/>
                <a:ea typeface="Arial" pitchFamily="34" charset="-122"/>
                <a:cs typeface="Arial" pitchFamily="34" charset="-120"/>
              </a:rPr>
              <a:t>Oder doch nicht?</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Bildfolge in 3 Schritten. 1: Eine Person schickt ein Bild. 2: Beim Empfänger läuft der Zähler. 3: Ein zweites Handy fotografiert den Bildschirm.]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hema 1: Mein Konto und meine Freunde">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1</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1</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Mein Konto und meine Freunde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iese Wörter brauchen wir">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Diese Wörter brauchen wir</a:t>
            </a:r>
          </a:p>
        </p:txBody>
      </p:sp>
      <p:sp>
        <p:nvSpPr>
          <p:cNvPr id="3" name="Zeile 3"/>
          <p:cNvSpPr/>
          <p:nvPr/>
        </p:nvSpPr>
        <p:spPr>
          <a:xfrm>
            <a:off x="640080" y="1550000"/>
            <a:ext cx="10911840" cy="780000"/>
          </a:xfrm>
          <a:prstGeom prst="roundRect">
            <a:avLst>
              <a:gd name="adj" fmla="val 12000"/>
            </a:avLst>
          </a:prstGeom>
          <a:solidFill>
            <a:srgbClr val="D8EAF2"/>
          </a:solidFill>
          <a:ln w="12700">
            <a:solidFill>
              <a:srgbClr val="AAD1E3"/>
            </a:solidFill>
            <a:prstDash val="solid"/>
          </a:ln>
        </p:spPr>
      </p:sp>
      <p:sp>
        <p:nvSpPr>
          <p:cNvPr id="4" name="Text 4"/>
          <p:cNvSpPr/>
          <p:nvPr/>
        </p:nvSpPr>
        <p:spPr>
          <a:xfrm>
            <a:off x="840080" y="155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Snap: </a:t>
            </a:r>
            <a:r>
              <a:rPr lang="de-DE" sz="2400" b="0" i="0" dirty="0">
                <a:solidFill>
                  <a:srgbClr val="1A1A1A"/>
                </a:solidFill>
                <a:latin typeface="Arial" pitchFamily="34" charset="0"/>
                <a:ea typeface="Arial" pitchFamily="34" charset="-122"/>
                <a:cs typeface="Arial" pitchFamily="34" charset="-120"/>
              </a:rPr>
              <a:t>Ein Foto oder Video. Du schickst es an Freunde.</a:t>
            </a:r>
          </a:p>
        </p:txBody>
      </p:sp>
      <p:sp>
        <p:nvSpPr>
          <p:cNvPr id="5" name="Zeile 5"/>
          <p:cNvSpPr/>
          <p:nvPr/>
        </p:nvSpPr>
        <p:spPr>
          <a:xfrm>
            <a:off x="640080" y="2440000"/>
            <a:ext cx="10911840" cy="780000"/>
          </a:xfrm>
          <a:prstGeom prst="roundRect">
            <a:avLst>
              <a:gd name="adj" fmla="val 12000"/>
            </a:avLst>
          </a:prstGeom>
          <a:solidFill>
            <a:srgbClr val="D8EAF2"/>
          </a:solidFill>
          <a:ln w="12700">
            <a:solidFill>
              <a:srgbClr val="AAD1E3"/>
            </a:solidFill>
            <a:prstDash val="solid"/>
          </a:ln>
        </p:spPr>
      </p:sp>
      <p:sp>
        <p:nvSpPr>
          <p:cNvPr id="6" name="Text 6"/>
          <p:cNvSpPr/>
          <p:nvPr/>
        </p:nvSpPr>
        <p:spPr>
          <a:xfrm>
            <a:off x="840080" y="244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Story: </a:t>
            </a:r>
            <a:r>
              <a:rPr lang="de-DE" sz="2400" b="0" i="0" dirty="0">
                <a:solidFill>
                  <a:srgbClr val="1A1A1A"/>
                </a:solidFill>
                <a:latin typeface="Arial" pitchFamily="34" charset="0"/>
                <a:ea typeface="Arial" pitchFamily="34" charset="-122"/>
                <a:cs typeface="Arial" pitchFamily="34" charset="-120"/>
              </a:rPr>
              <a:t>Ein Foto oder Video für kurze Zeit.</a:t>
            </a:r>
          </a:p>
        </p:txBody>
      </p:sp>
      <p:sp>
        <p:nvSpPr>
          <p:cNvPr id="7" name="Zeile 7"/>
          <p:cNvSpPr/>
          <p:nvPr/>
        </p:nvSpPr>
        <p:spPr>
          <a:xfrm>
            <a:off x="640080" y="3330000"/>
            <a:ext cx="10911840" cy="780000"/>
          </a:xfrm>
          <a:prstGeom prst="roundRect">
            <a:avLst>
              <a:gd name="adj" fmla="val 12000"/>
            </a:avLst>
          </a:prstGeom>
          <a:solidFill>
            <a:srgbClr val="D8EAF2"/>
          </a:solidFill>
          <a:ln w="12700">
            <a:solidFill>
              <a:srgbClr val="AAD1E3"/>
            </a:solidFill>
            <a:prstDash val="solid"/>
          </a:ln>
        </p:spPr>
      </p:sp>
      <p:sp>
        <p:nvSpPr>
          <p:cNvPr id="8" name="Text 8"/>
          <p:cNvSpPr/>
          <p:nvPr/>
        </p:nvSpPr>
        <p:spPr>
          <a:xfrm>
            <a:off x="840080" y="333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Chat: </a:t>
            </a:r>
            <a:r>
              <a:rPr lang="de-DE" sz="2400" b="0" i="0" dirty="0">
                <a:solidFill>
                  <a:srgbClr val="1A1A1A"/>
                </a:solidFill>
                <a:latin typeface="Arial" pitchFamily="34" charset="0"/>
                <a:ea typeface="Arial" pitchFamily="34" charset="-122"/>
                <a:cs typeface="Arial" pitchFamily="34" charset="-120"/>
              </a:rPr>
              <a:t>Hier schreibst du mit einer Person oder Gruppe.</a:t>
            </a:r>
          </a:p>
        </p:txBody>
      </p:sp>
      <p:sp>
        <p:nvSpPr>
          <p:cNvPr id="9" name="Zeile 9"/>
          <p:cNvSpPr/>
          <p:nvPr/>
        </p:nvSpPr>
        <p:spPr>
          <a:xfrm>
            <a:off x="640080" y="4220000"/>
            <a:ext cx="10911840" cy="780000"/>
          </a:xfrm>
          <a:prstGeom prst="roundRect">
            <a:avLst>
              <a:gd name="adj" fmla="val 12000"/>
            </a:avLst>
          </a:prstGeom>
          <a:solidFill>
            <a:srgbClr val="D8EAF2"/>
          </a:solidFill>
          <a:ln w="12700">
            <a:solidFill>
              <a:srgbClr val="AAD1E3"/>
            </a:solidFill>
            <a:prstDash val="solid"/>
          </a:ln>
        </p:spPr>
      </p:sp>
      <p:sp>
        <p:nvSpPr>
          <p:cNvPr id="10" name="Text 10"/>
          <p:cNvSpPr/>
          <p:nvPr/>
        </p:nvSpPr>
        <p:spPr>
          <a:xfrm>
            <a:off x="840080" y="422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Snap-Karte: </a:t>
            </a:r>
            <a:r>
              <a:rPr lang="de-DE" sz="2400" b="0" i="0" dirty="0">
                <a:solidFill>
                  <a:srgbClr val="1A1A1A"/>
                </a:solidFill>
                <a:latin typeface="Arial" pitchFamily="34" charset="0"/>
                <a:ea typeface="Arial" pitchFamily="34" charset="-122"/>
                <a:cs typeface="Arial" pitchFamily="34" charset="-120"/>
              </a:rPr>
              <a:t>Eine Karte. Sie kann zeigen, wo du bist.</a:t>
            </a:r>
          </a:p>
        </p:txBody>
      </p:sp>
      <p:sp>
        <p:nvSpPr>
          <p:cNvPr id="11" name="Zeile 11"/>
          <p:cNvSpPr/>
          <p:nvPr/>
        </p:nvSpPr>
        <p:spPr>
          <a:xfrm>
            <a:off x="640080" y="5110000"/>
            <a:ext cx="10911840" cy="780000"/>
          </a:xfrm>
          <a:prstGeom prst="roundRect">
            <a:avLst>
              <a:gd name="adj" fmla="val 12000"/>
            </a:avLst>
          </a:prstGeom>
          <a:solidFill>
            <a:srgbClr val="D8EAF2"/>
          </a:solidFill>
          <a:ln w="12700">
            <a:solidFill>
              <a:srgbClr val="AAD1E3"/>
            </a:solidFill>
            <a:prstDash val="solid"/>
          </a:ln>
        </p:spPr>
      </p:sp>
      <p:sp>
        <p:nvSpPr>
          <p:cNvPr id="12" name="Text 12"/>
          <p:cNvSpPr/>
          <p:nvPr/>
        </p:nvSpPr>
        <p:spPr>
          <a:xfrm>
            <a:off x="840080" y="511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Freunde: </a:t>
            </a:r>
            <a:r>
              <a:rPr lang="de-DE" sz="2400" b="0" i="0" dirty="0">
                <a:solidFill>
                  <a:srgbClr val="1A1A1A"/>
                </a:solidFill>
                <a:latin typeface="Arial" pitchFamily="34" charset="0"/>
                <a:ea typeface="Arial" pitchFamily="34" charset="-122"/>
                <a:cs typeface="Arial" pitchFamily="34" charset="-120"/>
              </a:rPr>
              <a:t>Du hast sie bestätigt. Sie können dir schreiben.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Du entscheidest, wer dabei ist">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Du entscheidest, wer dabei ist</a:t>
            </a:r>
          </a:p>
        </p:txBody>
      </p:sp>
      <p:sp>
        <p:nvSpPr>
          <p:cNvPr id="3" name="Zeile 3"/>
          <p:cNvSpPr/>
          <p:nvPr/>
        </p:nvSpPr>
        <p:spPr>
          <a:xfrm>
            <a:off x="640080" y="1600000"/>
            <a:ext cx="6600000" cy="900000"/>
          </a:xfrm>
          <a:prstGeom prst="roundRect">
            <a:avLst>
              <a:gd name="adj" fmla="val 12000"/>
            </a:avLst>
          </a:prstGeom>
          <a:solidFill>
            <a:srgbClr val="D8EAF2"/>
          </a:solidFill>
          <a:ln w="12700">
            <a:solidFill>
              <a:srgbClr val="AAD1E3"/>
            </a:solidFill>
            <a:prstDash val="solid"/>
          </a:ln>
        </p:spPr>
      </p:sp>
      <p:sp>
        <p:nvSpPr>
          <p:cNvPr id="4" name="Kreis 4"/>
          <p:cNvSpPr/>
          <p:nvPr/>
        </p:nvSpPr>
        <p:spPr>
          <a:xfrm>
            <a:off x="770080" y="173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5" name="Text 5"/>
          <p:cNvSpPr/>
          <p:nvPr/>
        </p:nvSpPr>
        <p:spPr>
          <a:xfrm>
            <a:off x="1580080" y="1600000"/>
            <a:ext cx="54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1" i="0" dirty="0">
                <a:solidFill>
                  <a:srgbClr val="00285A"/>
                </a:solidFill>
                <a:latin typeface="Arial" pitchFamily="34" charset="0"/>
                <a:ea typeface="Arial" pitchFamily="34" charset="-122"/>
                <a:cs typeface="Arial" pitchFamily="34" charset="-120"/>
              </a:rPr>
              <a:t>Wer darf mir schreiben? </a:t>
            </a:r>
            <a:r>
              <a:rPr lang="de-DE" sz="2300" b="0" i="0" dirty="0">
                <a:solidFill>
                  <a:srgbClr val="1A1A1A"/>
                </a:solidFill>
                <a:latin typeface="Arial" pitchFamily="34" charset="0"/>
                <a:ea typeface="Arial" pitchFamily="34" charset="-122"/>
                <a:cs typeface="Arial" pitchFamily="34" charset="-120"/>
              </a:rPr>
              <a:t>Nur meine Freunde.</a:t>
            </a:r>
          </a:p>
        </p:txBody>
      </p:sp>
      <p:sp>
        <p:nvSpPr>
          <p:cNvPr id="6" name="Zeile 6"/>
          <p:cNvSpPr/>
          <p:nvPr/>
        </p:nvSpPr>
        <p:spPr>
          <a:xfrm>
            <a:off x="640080" y="2680000"/>
            <a:ext cx="6600000" cy="90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770080" y="281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8" name="Text 8"/>
          <p:cNvSpPr/>
          <p:nvPr/>
        </p:nvSpPr>
        <p:spPr>
          <a:xfrm>
            <a:off x="1580080" y="2680000"/>
            <a:ext cx="54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1" i="0" dirty="0">
                <a:solidFill>
                  <a:srgbClr val="00285A"/>
                </a:solidFill>
                <a:latin typeface="Arial" pitchFamily="34" charset="0"/>
                <a:ea typeface="Arial" pitchFamily="34" charset="-122"/>
                <a:cs typeface="Arial" pitchFamily="34" charset="-120"/>
              </a:rPr>
              <a:t>Wer sieht meine Story? </a:t>
            </a:r>
            <a:r>
              <a:rPr lang="de-DE" sz="2300" b="0" i="0" dirty="0">
                <a:solidFill>
                  <a:srgbClr val="1A1A1A"/>
                </a:solidFill>
                <a:latin typeface="Arial" pitchFamily="34" charset="0"/>
                <a:ea typeface="Arial" pitchFamily="34" charset="-122"/>
                <a:cs typeface="Arial" pitchFamily="34" charset="-120"/>
              </a:rPr>
              <a:t>Nur meine Freunde.</a:t>
            </a:r>
          </a:p>
        </p:txBody>
      </p:sp>
      <p:sp>
        <p:nvSpPr>
          <p:cNvPr id="9" name="Bild-Platzhalter 9"/>
          <p:cNvSpPr/>
          <p:nvPr/>
        </p:nvSpPr>
        <p:spPr>
          <a:xfrm>
            <a:off x="7550000" y="1600000"/>
            <a:ext cx="4000000" cy="414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stellt an ihrem Handy ein, wer schreiben darf.]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Eine Anfrage von einer fremden Perso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Eine Anfrage von einer fremden Person</a:t>
            </a:r>
          </a:p>
        </p:txBody>
      </p:sp>
      <p:sp>
        <p:nvSpPr>
          <p:cNvPr id="3" name="Text 3"/>
          <p:cNvSpPr/>
          <p:nvPr/>
        </p:nvSpPr>
        <p:spPr>
          <a:xfrm>
            <a:off x="640080" y="2400000"/>
            <a:ext cx="5240000" cy="2600000"/>
          </a:xfrm>
          <a:prstGeom prst="roundRect">
            <a:avLst>
              <a:gd name="adj" fmla="val 5000"/>
            </a:avLst>
          </a:prstGeom>
          <a:solidFill>
            <a:srgbClr val="E7F3EC"/>
          </a:solidFill>
          <a:ln w="19050">
            <a:solidFill>
              <a:srgbClr val="2E7D4F"/>
            </a:solidFill>
            <a:prstDash val="solid"/>
          </a:ln>
          <a:effectLst>
            <a:outerShdw sx="100000" sy="100000" kx="0" ky="0" algn="bl" rotWithShape="0" blurRad="88900" dist="25400" dir="5400000">
              <a:srgbClr val="000000">
                <a:alpha val="14000"/>
              </a:srgbClr>
            </a:outerShdw>
          </a:effectLst>
        </p:spPr>
        <p:txBody>
          <a:bodyPr wrap="square" lIns="180000" tIns="180000" rIns="180000" bIns="180000" rtlCol="0" anchor="ctr">
            <a:noAutofit/>
          </a:bodyPr>
          <a:lstStyle/>
          <a:p>
            <a:pPr algn="ctr" indent="0" marL="0">
              <a:lnSpc>
                <a:spcPct val="100000"/>
              </a:lnSpc>
              <a:spcAft>
                <a:spcPts val="1200"/>
              </a:spcAft>
              <a:buNone/>
            </a:pPr>
            <a:r>
              <a:rPr lang="de-DE" sz="2600" b="1" i="0" dirty="0">
                <a:solidFill>
                  <a:srgbClr val="00285A"/>
                </a:solidFill>
                <a:latin typeface="Arial" pitchFamily="34" charset="0"/>
                <a:ea typeface="Arial" pitchFamily="34" charset="-122"/>
                <a:cs typeface="Arial" pitchFamily="34" charset="-120"/>
              </a:rPr>
              <a:t>Ja, ich kenne die Person.</a:t>
            </a:r>
          </a:p>
          <a:p>
            <a:pPr algn="ctr" indent="0" marL="0">
              <a:lnSpc>
                <a:spcPct val="100000"/>
              </a:lnSpc>
              <a:spcAft>
                <a:spcPts val="400"/>
              </a:spcAft>
              <a:buNone/>
            </a:pPr>
            <a:r>
              <a:rPr lang="de-DE" sz="2400" b="0" i="0" dirty="0">
                <a:solidFill>
                  <a:srgbClr val="1A1A1A"/>
                </a:solidFill>
                <a:latin typeface="Arial" pitchFamily="34" charset="0"/>
                <a:ea typeface="Arial" pitchFamily="34" charset="-122"/>
                <a:cs typeface="Arial" pitchFamily="34" charset="-120"/>
              </a:rPr>
              <a:t>Du kannst die Anfrage annehmen.</a:t>
            </a:r>
          </a:p>
        </p:txBody>
      </p:sp>
      <p:sp>
        <p:nvSpPr>
          <p:cNvPr id="4" name="Text 4"/>
          <p:cNvSpPr/>
          <p:nvPr/>
        </p:nvSpPr>
        <p:spPr>
          <a:xfrm>
            <a:off x="6310080" y="2400000"/>
            <a:ext cx="5240000" cy="2600000"/>
          </a:xfrm>
          <a:prstGeom prst="roundRect">
            <a:avLst>
              <a:gd name="adj" fmla="val 5000"/>
            </a:avLst>
          </a:prstGeom>
          <a:solidFill>
            <a:srgbClr val="D8EAF2"/>
          </a:solidFill>
          <a:ln w="19050">
            <a:solidFill>
              <a:srgbClr val="3E96BE"/>
            </a:solidFill>
            <a:prstDash val="solid"/>
          </a:ln>
          <a:effectLst>
            <a:outerShdw sx="100000" sy="100000" kx="0" ky="0" algn="bl" rotWithShape="0" blurRad="88900" dist="25400" dir="5400000">
              <a:srgbClr val="000000">
                <a:alpha val="14000"/>
              </a:srgbClr>
            </a:outerShdw>
          </a:effectLst>
        </p:spPr>
        <p:txBody>
          <a:bodyPr wrap="square" lIns="180000" tIns="180000" rIns="180000" bIns="180000" rtlCol="0" anchor="ctr">
            <a:noAutofit/>
          </a:bodyPr>
          <a:lstStyle/>
          <a:p>
            <a:pPr algn="ctr" indent="0" marL="0">
              <a:lnSpc>
                <a:spcPct val="100000"/>
              </a:lnSpc>
              <a:spcAft>
                <a:spcPts val="1200"/>
              </a:spcAft>
              <a:buNone/>
            </a:pPr>
            <a:r>
              <a:rPr lang="de-DE" sz="2600" b="1" i="0" dirty="0">
                <a:solidFill>
                  <a:srgbClr val="00285A"/>
                </a:solidFill>
                <a:latin typeface="Arial" pitchFamily="34" charset="0"/>
                <a:ea typeface="Arial" pitchFamily="34" charset="-122"/>
                <a:cs typeface="Arial" pitchFamily="34" charset="-120"/>
              </a:rPr>
              <a:t>Nein, ich kenne sie nicht.</a:t>
            </a:r>
          </a:p>
          <a:p>
            <a:pPr algn="ctr" indent="0" marL="0">
              <a:lnSpc>
                <a:spcPct val="100000"/>
              </a:lnSpc>
              <a:spcAft>
                <a:spcPts val="400"/>
              </a:spcAft>
              <a:buNone/>
            </a:pPr>
            <a:r>
              <a:rPr lang="de-DE" sz="2400" b="0" i="0" dirty="0">
                <a:solidFill>
                  <a:srgbClr val="1A1A1A"/>
                </a:solidFill>
                <a:latin typeface="Arial" pitchFamily="34" charset="0"/>
                <a:ea typeface="Arial" pitchFamily="34" charset="-122"/>
                <a:cs typeface="Arial" pitchFamily="34" charset="-120"/>
              </a:rPr>
              <a:t>Du darfst Nein sagen.</a:t>
            </a:r>
          </a:p>
        </p:txBody>
      </p:sp>
      <p:sp>
        <p:nvSpPr>
          <p:cNvPr id="5" name="Text 5"/>
          <p:cNvSpPr/>
          <p:nvPr/>
        </p:nvSpPr>
        <p:spPr>
          <a:xfrm>
            <a:off x="640080" y="5300000"/>
            <a:ext cx="10911840" cy="6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Du bist unsicher? Frag eine vertraute Person.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Thema 2: Bilder und Ort">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2</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2</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Bilder und Ort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Ein Snap kann gespeichert werd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Ein Snap kann gespeichert werden</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Ein Snap ist nur kurz zu sehen.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Dann verschwindet er bei dir.</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Andere können ein Bild vom Bildschirm machen.</a:t>
            </a:r>
          </a:p>
          <a:p>
            <a:pPr algn="l" indent="0" marL="0">
              <a:lnSpc>
                <a:spcPct val="100000"/>
              </a:lnSpc>
              <a:spcAft>
                <a:spcPts val="1300"/>
              </a:spcAft>
              <a:buNone/>
            </a:pPr>
            <a:r>
              <a:rPr lang="de-DE" sz="2500" b="1" i="0" dirty="0">
                <a:solidFill>
                  <a:srgbClr val="1A1A1A"/>
                </a:solidFill>
                <a:latin typeface="Arial" pitchFamily="34" charset="0"/>
                <a:ea typeface="Arial" pitchFamily="34" charset="-122"/>
                <a:cs typeface="Arial" pitchFamily="34" charset="-120"/>
              </a:rPr>
              <a:t>Dann bleibt dein Bild.</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Dieselbe Bildfolge wie auf Folie 5. Der letzte Schritt ist markiert: Das Bild ist gespeichert.]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Die Snap-Karte zeigt deinen Ort">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Die Snap-Karte zeigt deinen Ort</a:t>
            </a:r>
          </a:p>
        </p:txBody>
      </p:sp>
      <p:sp>
        <p:nvSpPr>
          <p:cNvPr id="3" name="Text 3"/>
          <p:cNvSpPr/>
          <p:nvPr/>
        </p:nvSpPr>
        <p:spPr>
          <a:xfrm>
            <a:off x="640080" y="1700000"/>
            <a:ext cx="5961840" cy="1300000"/>
          </a:xfrm>
          <a:prstGeom prst="rect">
            <a:avLst/>
          </a:prstGeom>
          <a:noFill/>
          <a:ln>
            <a:noFill/>
          </a:ln>
        </p:spPr>
        <p:txBody>
          <a:bodyPr wrap="square" lIns="0" tIns="0" rIns="0" bIns="0" rtlCol="0" anchor="t">
            <a:noAutofit/>
          </a:bodyPr>
          <a:lstStyle/>
          <a:p>
            <a:pPr algn="l" indent="0" marL="0">
              <a:lnSpc>
                <a:spcPct val="100000"/>
              </a:lnSpc>
              <a:spcAft>
                <a:spcPts val="600"/>
              </a:spcAft>
              <a:buNone/>
            </a:pPr>
            <a:r>
              <a:rPr lang="de-DE" sz="2500" b="0" i="0" dirty="0">
                <a:solidFill>
                  <a:srgbClr val="1A1A1A"/>
                </a:solidFill>
                <a:latin typeface="Arial" pitchFamily="34" charset="0"/>
                <a:ea typeface="Arial" pitchFamily="34" charset="-122"/>
                <a:cs typeface="Arial" pitchFamily="34" charset="-120"/>
              </a:rPr>
              <a:t>Snapchat hat eine Karte.</a:t>
            </a:r>
          </a:p>
          <a:p>
            <a:pPr algn="l" indent="0" marL="0">
              <a:lnSpc>
                <a:spcPct val="100000"/>
              </a:lnSpc>
              <a:spcAft>
                <a:spcPts val="600"/>
              </a:spcAft>
              <a:buNone/>
            </a:pPr>
            <a:r>
              <a:rPr lang="de-DE" sz="2500" b="0" i="0" dirty="0">
                <a:solidFill>
                  <a:srgbClr val="1A1A1A"/>
                </a:solidFill>
                <a:latin typeface="Arial" pitchFamily="34" charset="0"/>
                <a:ea typeface="Arial" pitchFamily="34" charset="-122"/>
                <a:cs typeface="Arial" pitchFamily="34" charset="-120"/>
              </a:rPr>
              <a:t>Sie kann zeigen, wo du gerade bist.</a:t>
            </a:r>
          </a:p>
        </p:txBody>
      </p:sp>
      <p:sp>
        <p:nvSpPr>
          <p:cNvPr id="4" name="Text 4"/>
          <p:cNvSpPr/>
          <p:nvPr/>
        </p:nvSpPr>
        <p:spPr>
          <a:xfrm>
            <a:off x="640080" y="3200000"/>
            <a:ext cx="5961840" cy="1300000"/>
          </a:xfrm>
          <a:prstGeom prst="roundRect">
            <a:avLst>
              <a:gd name="adj" fmla="val 10000"/>
            </a:avLst>
          </a:prstGeom>
          <a:solidFill>
            <a:srgbClr val="D8EAF2"/>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Der Geist-Modus schützt deinen Ort.</a:t>
            </a:r>
          </a:p>
        </p:txBody>
      </p:sp>
      <p:sp>
        <p:nvSpPr>
          <p:cNvPr id="5" name="Text 5"/>
          <p:cNvSpPr/>
          <p:nvPr/>
        </p:nvSpPr>
        <p:spPr>
          <a:xfrm>
            <a:off x="640080" y="4750000"/>
            <a:ext cx="596184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1" i="0" dirty="0">
                <a:solidFill>
                  <a:srgbClr val="1A1A1A"/>
                </a:solidFill>
                <a:latin typeface="Arial" pitchFamily="34" charset="0"/>
                <a:ea typeface="Arial" pitchFamily="34" charset="-122"/>
                <a:cs typeface="Arial" pitchFamily="34" charset="-120"/>
              </a:rPr>
              <a:t>Du entscheidest, wer das sieht.</a:t>
            </a:r>
          </a:p>
        </p:txBody>
      </p:sp>
      <p:sp>
        <p:nvSpPr>
          <p:cNvPr id="6" name="Bild-Platzhalter 6"/>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Karte mit einer Figur am Wohnort. Daneben dieselbe Karte ohne Figur.]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Merksatz: Erst prüfen.">
    <p:bg>
      <p:bgPr>
        <a:solidFill>
          <a:srgbClr val="D8EAF2"/>
        </a:solidFill>
        <a:effectLst/>
      </p:bgPr>
    </p:bg>
    <p:spTree>
      <p:nvGrpSpPr>
        <p:cNvPr id="1" name=""/>
        <p:cNvGrpSpPr/>
        <p:nvPr/>
      </p:nvGrpSpPr>
      <p:grpSpPr>
        <a:xfrm>
          <a:off x="0" y="0"/>
          <a:ext cx="0" cy="0"/>
          <a:chOff x="0" y="0"/>
          <a:chExt cx="0" cy="0"/>
        </a:xfrm>
      </p:grpSpPr>
      <p:sp>
        <p:nvSpPr>
          <p:cNvPr id="2" name="Text 2"/>
          <p:cNvSpPr/>
          <p:nvPr/>
        </p:nvSpPr>
        <p:spPr>
          <a:xfrm>
            <a:off x="640080" y="500000"/>
            <a:ext cx="10911840" cy="8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Merksatz</a:t>
            </a:r>
          </a:p>
        </p:txBody>
      </p:sp>
      <p:sp>
        <p:nvSpPr>
          <p:cNvPr id="3" name="Text 3"/>
          <p:cNvSpPr/>
          <p:nvPr/>
        </p:nvSpPr>
        <p:spPr>
          <a:xfrm>
            <a:off x="640080" y="1500000"/>
            <a:ext cx="6500000" cy="4600000"/>
          </a:xfrm>
          <a:prstGeom prst="roundRect">
            <a:avLst>
              <a:gd name="adj" fmla="val 5000"/>
            </a:avLst>
          </a:prstGeom>
          <a:solidFill>
            <a:srgbClr val="FFFFFF"/>
          </a:solidFill>
          <a:ln>
            <a:noFill/>
          </a:ln>
          <a:effectLst>
            <a:outerShdw sx="100000" sy="100000" kx="0" ky="0" algn="bl" rotWithShape="0" blurRad="88900" dist="25400" dir="5400000">
              <a:srgbClr val="000000">
                <a:alpha val="14000"/>
              </a:srgbClr>
            </a:outerShdw>
          </a:effectLst>
        </p:spPr>
      </p:sp>
      <p:sp>
        <p:nvSpPr>
          <p:cNvPr id="4" name="Text 4"/>
          <p:cNvSpPr/>
          <p:nvPr/>
        </p:nvSpPr>
        <p:spPr>
          <a:xfrm>
            <a:off x="1040080" y="1700000"/>
            <a:ext cx="5700000" cy="4200000"/>
          </a:xfrm>
          <a:prstGeom prst="rect">
            <a:avLst/>
          </a:prstGeom>
          <a:noFill/>
          <a:ln>
            <a:noFill/>
          </a:ln>
        </p:spPr>
        <p:txBody>
          <a:bodyPr wrap="square" lIns="0" tIns="0" rIns="0" bIns="0" rtlCol="0" anchor="ctr">
            <a:noAutofit/>
          </a:bodyPr>
          <a:lstStyle/>
          <a:p>
            <a:pPr algn="l" indent="0" marL="0">
              <a:lnSpc>
                <a:spcPct val="100000"/>
              </a:lnSpc>
              <a:spcAft>
                <a:spcPts val="300"/>
              </a:spcAft>
              <a:buNone/>
            </a:pPr>
            <a:r>
              <a:rPr lang="de-DE" sz="4400" b="1" i="0" dirty="0">
                <a:solidFill>
                  <a:srgbClr val="00285A"/>
                </a:solidFill>
                <a:latin typeface="Arial" pitchFamily="34" charset="0"/>
                <a:ea typeface="Arial" pitchFamily="34" charset="-122"/>
                <a:cs typeface="Arial" pitchFamily="34" charset="-120"/>
              </a:rPr>
              <a:t>Erst prüfen.</a:t>
            </a:r>
          </a:p>
          <a:p>
            <a:pPr algn="l" indent="0" marL="0">
              <a:lnSpc>
                <a:spcPct val="100000"/>
              </a:lnSpc>
              <a:spcAft>
                <a:spcPts val="1800"/>
              </a:spcAft>
              <a:buNone/>
            </a:pPr>
            <a:r>
              <a:rPr lang="de-DE" sz="4400" b="1" i="0" dirty="0">
                <a:solidFill>
                  <a:srgbClr val="00285A"/>
                </a:solidFill>
                <a:latin typeface="Arial" pitchFamily="34" charset="0"/>
                <a:ea typeface="Arial" pitchFamily="34" charset="-122"/>
                <a:cs typeface="Arial" pitchFamily="34" charset="-120"/>
              </a:rPr>
              <a:t>Dann senden.</a:t>
            </a:r>
          </a:p>
          <a:p>
            <a:pPr algn="l" indent="0" marL="0">
              <a:lnSpc>
                <a:spcPct val="100000"/>
              </a:lnSpc>
              <a:spcAft>
                <a:spcPts val="600"/>
              </a:spcAft>
              <a:buNone/>
            </a:pPr>
            <a:r>
              <a:rPr lang="de-DE" sz="2400" b="0" i="0" dirty="0">
                <a:solidFill>
                  <a:srgbClr val="1A1A1A"/>
                </a:solidFill>
                <a:latin typeface="Arial" pitchFamily="34" charset="0"/>
                <a:ea typeface="Arial" pitchFamily="34" charset="-122"/>
                <a:cs typeface="Arial" pitchFamily="34" charset="-120"/>
              </a:rPr>
              <a:t>Frag dich:</a:t>
            </a:r>
          </a:p>
          <a:p>
            <a:pPr algn="l" indent="0" marL="0">
              <a:lnSpc>
                <a:spcPct val="100000"/>
              </a:lnSpc>
              <a:spcAft>
                <a:spcPts val="0"/>
              </a:spcAft>
              <a:buNone/>
            </a:pPr>
            <a:r>
              <a:rPr lang="de-DE" sz="2400" b="1" i="0" dirty="0">
                <a:solidFill>
                  <a:srgbClr val="1A1A1A"/>
                </a:solidFill>
                <a:latin typeface="Arial" pitchFamily="34" charset="0"/>
                <a:ea typeface="Arial" pitchFamily="34" charset="-122"/>
                <a:cs typeface="Arial" pitchFamily="34" charset="-120"/>
              </a:rPr>
              <a:t>Ist das okay – für mich und für die anderen?</a:t>
            </a:r>
          </a:p>
        </p:txBody>
      </p:sp>
      <p:sp>
        <p:nvSpPr>
          <p:cNvPr id="5" name="Bild-Platzhalter 5"/>
          <p:cNvSpPr/>
          <p:nvPr/>
        </p:nvSpPr>
        <p:spPr>
          <a:xfrm>
            <a:off x="7450000" y="1500000"/>
            <a:ext cx="4100000" cy="46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schaut ihr Bild noch einmal an. Erst dann schickt sie 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Thema 3: Druck und sehr private Bilder">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3</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3</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Druck und sehr private Bilder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Niemand darf dich dräng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Niemand darf dich drängen</a:t>
            </a:r>
          </a:p>
        </p:txBody>
      </p:sp>
      <p:sp>
        <p:nvSpPr>
          <p:cNvPr id="3" name="Text 3"/>
          <p:cNvSpPr/>
          <p:nvPr/>
        </p:nvSpPr>
        <p:spPr>
          <a:xfrm>
            <a:off x="640080" y="1700000"/>
            <a:ext cx="5961840" cy="1300000"/>
          </a:xfrm>
          <a:prstGeom prst="rect">
            <a:avLst/>
          </a:prstGeom>
          <a:noFill/>
          <a:ln>
            <a:noFill/>
          </a:ln>
        </p:spPr>
        <p:txBody>
          <a:bodyPr wrap="square" lIns="0" tIns="0" rIns="0" bIns="0" rtlCol="0" anchor="t">
            <a:noAutofit/>
          </a:bodyPr>
          <a:lstStyle/>
          <a:p>
            <a:pPr algn="l" indent="0" marL="0">
              <a:lnSpc>
                <a:spcPct val="100000"/>
              </a:lnSpc>
              <a:spcAft>
                <a:spcPts val="600"/>
              </a:spcAft>
              <a:buNone/>
            </a:pPr>
            <a:r>
              <a:rPr lang="de-DE" sz="2500" b="0" i="0" dirty="0">
                <a:solidFill>
                  <a:srgbClr val="1A1A1A"/>
                </a:solidFill>
                <a:latin typeface="Arial" pitchFamily="34" charset="0"/>
                <a:ea typeface="Arial" pitchFamily="34" charset="-122"/>
                <a:cs typeface="Arial" pitchFamily="34" charset="-120"/>
              </a:rPr>
              <a:t>Manche Bilder sind sehr privat.</a:t>
            </a:r>
          </a:p>
          <a:p>
            <a:pPr algn="l" indent="0" marL="0">
              <a:lnSpc>
                <a:spcPct val="100000"/>
              </a:lnSpc>
              <a:spcAft>
                <a:spcPts val="600"/>
              </a:spcAft>
              <a:buNone/>
            </a:pPr>
            <a:r>
              <a:rPr lang="de-DE" sz="2500" b="0" i="0" dirty="0">
                <a:solidFill>
                  <a:srgbClr val="1A1A1A"/>
                </a:solidFill>
                <a:latin typeface="Arial" pitchFamily="34" charset="0"/>
                <a:ea typeface="Arial" pitchFamily="34" charset="-122"/>
                <a:cs typeface="Arial" pitchFamily="34" charset="-120"/>
              </a:rPr>
              <a:t>Niemand darf dich zu solchen Bildern drängen.</a:t>
            </a:r>
          </a:p>
        </p:txBody>
      </p:sp>
      <p:sp>
        <p:nvSpPr>
          <p:cNvPr id="4" name="Text 4"/>
          <p:cNvSpPr/>
          <p:nvPr/>
        </p:nvSpPr>
        <p:spPr>
          <a:xfrm>
            <a:off x="640080" y="3200000"/>
            <a:ext cx="5961840" cy="1300000"/>
          </a:xfrm>
          <a:prstGeom prst="roundRect">
            <a:avLst>
              <a:gd name="adj" fmla="val 10000"/>
            </a:avLst>
          </a:prstGeom>
          <a:solidFill>
            <a:srgbClr val="D8EAF2"/>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Du darfst Nein sagen.</a:t>
            </a:r>
          </a:p>
        </p:txBody>
      </p:sp>
      <p:sp>
        <p:nvSpPr>
          <p:cNvPr id="5" name="Text 5"/>
          <p:cNvSpPr/>
          <p:nvPr/>
        </p:nvSpPr>
        <p:spPr>
          <a:xfrm>
            <a:off x="640080" y="4750000"/>
            <a:ext cx="596184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1" i="0" dirty="0">
                <a:solidFill>
                  <a:srgbClr val="1A1A1A"/>
                </a:solidFill>
                <a:latin typeface="Arial" pitchFamily="34" charset="0"/>
                <a:ea typeface="Arial" pitchFamily="34" charset="-122"/>
                <a:cs typeface="Arial" pitchFamily="34" charset="-120"/>
              </a:rPr>
              <a:t>Du musst niemandem ein Bild schicken.</a:t>
            </a:r>
          </a:p>
        </p:txBody>
      </p:sp>
      <p:sp>
        <p:nvSpPr>
          <p:cNvPr id="6" name="Bild-Platzhalter 6"/>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hält ihr Handy ruhig in der Hand und schüttelt den Kopf.]</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Warnzeich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Warnzeichen</a:t>
            </a:r>
          </a:p>
        </p:txBody>
      </p:sp>
      <p:sp>
        <p:nvSpPr>
          <p:cNvPr id="3" name="Text 3"/>
          <p:cNvSpPr/>
          <p:nvPr/>
        </p:nvSpPr>
        <p:spPr>
          <a:xfrm>
            <a:off x="640080" y="145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Eine Person schreibt dir. Pass auf bei diesen Zeichen:</a:t>
            </a:r>
          </a:p>
        </p:txBody>
      </p:sp>
      <p:sp>
        <p:nvSpPr>
          <p:cNvPr id="4" name="Zeile 4"/>
          <p:cNvSpPr/>
          <p:nvPr/>
        </p:nvSpPr>
        <p:spPr>
          <a:xfrm>
            <a:off x="640080" y="2250000"/>
            <a:ext cx="10911840" cy="720000"/>
          </a:xfrm>
          <a:prstGeom prst="roundRect">
            <a:avLst>
              <a:gd name="adj" fmla="val 12000"/>
            </a:avLst>
          </a:prstGeom>
          <a:solidFill>
            <a:srgbClr val="D8EAF2"/>
          </a:solidFill>
          <a:ln w="12700">
            <a:solidFill>
              <a:srgbClr val="AAD1E3"/>
            </a:solidFill>
            <a:prstDash val="solid"/>
          </a:ln>
        </p:spPr>
      </p:sp>
      <p:sp>
        <p:nvSpPr>
          <p:cNvPr id="5" name="Kreis 5"/>
          <p:cNvSpPr/>
          <p:nvPr/>
        </p:nvSpPr>
        <p:spPr>
          <a:xfrm>
            <a:off x="770080" y="235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6" name="Text 6"/>
          <p:cNvSpPr/>
          <p:nvPr/>
        </p:nvSpPr>
        <p:spPr>
          <a:xfrm>
            <a:off x="1454079" y="225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Sag es niemandem.</a:t>
            </a:r>
          </a:p>
        </p:txBody>
      </p:sp>
      <p:sp>
        <p:nvSpPr>
          <p:cNvPr id="7" name="Zeile 7"/>
          <p:cNvSpPr/>
          <p:nvPr/>
        </p:nvSpPr>
        <p:spPr>
          <a:xfrm>
            <a:off x="640080" y="3070000"/>
            <a:ext cx="10911840" cy="720000"/>
          </a:xfrm>
          <a:prstGeom prst="roundRect">
            <a:avLst>
              <a:gd name="adj" fmla="val 12000"/>
            </a:avLst>
          </a:prstGeom>
          <a:solidFill>
            <a:srgbClr val="D8EAF2"/>
          </a:solidFill>
          <a:ln w="12700">
            <a:solidFill>
              <a:srgbClr val="AAD1E3"/>
            </a:solidFill>
            <a:prstDash val="solid"/>
          </a:ln>
        </p:spPr>
      </p:sp>
      <p:sp>
        <p:nvSpPr>
          <p:cNvPr id="8" name="Kreis 8"/>
          <p:cNvSpPr/>
          <p:nvPr/>
        </p:nvSpPr>
        <p:spPr>
          <a:xfrm>
            <a:off x="770080" y="317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9" name="Text 9"/>
          <p:cNvSpPr/>
          <p:nvPr/>
        </p:nvSpPr>
        <p:spPr>
          <a:xfrm>
            <a:off x="1454079" y="307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Wenn du mich magst, schickst du mir ein Bild.</a:t>
            </a:r>
          </a:p>
        </p:txBody>
      </p:sp>
      <p:sp>
        <p:nvSpPr>
          <p:cNvPr id="10" name="Zeile 10"/>
          <p:cNvSpPr/>
          <p:nvPr/>
        </p:nvSpPr>
        <p:spPr>
          <a:xfrm>
            <a:off x="640080" y="3890000"/>
            <a:ext cx="10911840" cy="720000"/>
          </a:xfrm>
          <a:prstGeom prst="roundRect">
            <a:avLst>
              <a:gd name="adj" fmla="val 12000"/>
            </a:avLst>
          </a:prstGeom>
          <a:solidFill>
            <a:srgbClr val="D8EAF2"/>
          </a:solidFill>
          <a:ln w="12700">
            <a:solidFill>
              <a:srgbClr val="AAD1E3"/>
            </a:solidFill>
            <a:prstDash val="solid"/>
          </a:ln>
        </p:spPr>
      </p:sp>
      <p:sp>
        <p:nvSpPr>
          <p:cNvPr id="11" name="Kreis 11"/>
          <p:cNvSpPr/>
          <p:nvPr/>
        </p:nvSpPr>
        <p:spPr>
          <a:xfrm>
            <a:off x="770080" y="399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12" name="Text 12"/>
          <p:cNvSpPr/>
          <p:nvPr/>
        </p:nvSpPr>
        <p:spPr>
          <a:xfrm>
            <a:off x="1454079" y="389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will Geld oder ein Geschenk.</a:t>
            </a:r>
          </a:p>
        </p:txBody>
      </p:sp>
      <p:sp>
        <p:nvSpPr>
          <p:cNvPr id="13" name="Zeile 13"/>
          <p:cNvSpPr/>
          <p:nvPr/>
        </p:nvSpPr>
        <p:spPr>
          <a:xfrm>
            <a:off x="640080" y="4710000"/>
            <a:ext cx="10911840" cy="720000"/>
          </a:xfrm>
          <a:prstGeom prst="roundRect">
            <a:avLst>
              <a:gd name="adj" fmla="val 12000"/>
            </a:avLst>
          </a:prstGeom>
          <a:solidFill>
            <a:srgbClr val="D8EAF2"/>
          </a:solidFill>
          <a:ln w="12700">
            <a:solidFill>
              <a:srgbClr val="AAD1E3"/>
            </a:solidFill>
            <a:prstDash val="solid"/>
          </a:ln>
        </p:spPr>
      </p:sp>
      <p:sp>
        <p:nvSpPr>
          <p:cNvPr id="14" name="Kreis 14"/>
          <p:cNvSpPr/>
          <p:nvPr/>
        </p:nvSpPr>
        <p:spPr>
          <a:xfrm>
            <a:off x="770080" y="481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15" name="Text 15"/>
          <p:cNvSpPr/>
          <p:nvPr/>
        </p:nvSpPr>
        <p:spPr>
          <a:xfrm>
            <a:off x="1454079" y="471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droht dir.</a:t>
            </a:r>
          </a:p>
        </p:txBody>
      </p:sp>
      <p:sp>
        <p:nvSpPr>
          <p:cNvPr id="16" name="Zeile 16"/>
          <p:cNvSpPr/>
          <p:nvPr/>
        </p:nvSpPr>
        <p:spPr>
          <a:xfrm>
            <a:off x="640080" y="5530000"/>
            <a:ext cx="10911840" cy="720000"/>
          </a:xfrm>
          <a:prstGeom prst="roundRect">
            <a:avLst>
              <a:gd name="adj" fmla="val 12000"/>
            </a:avLst>
          </a:prstGeom>
          <a:solidFill>
            <a:srgbClr val="D8EAF2"/>
          </a:solidFill>
          <a:ln w="12700">
            <a:solidFill>
              <a:srgbClr val="AAD1E3"/>
            </a:solidFill>
            <a:prstDash val="solid"/>
          </a:ln>
        </p:spPr>
      </p:sp>
      <p:sp>
        <p:nvSpPr>
          <p:cNvPr id="17" name="Kreis 17"/>
          <p:cNvSpPr/>
          <p:nvPr/>
        </p:nvSpPr>
        <p:spPr>
          <a:xfrm>
            <a:off x="770080" y="563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18" name="Text 18"/>
          <p:cNvSpPr/>
          <p:nvPr/>
        </p:nvSpPr>
        <p:spPr>
          <a:xfrm>
            <a:off x="1454079" y="553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macht Druck: Schnell!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Dein Plan: Stopp machen.">
    <p:bg>
      <p:bgPr>
        <a:solidFill>
          <a:srgbClr val="D8EAF2"/>
        </a:solidFill>
        <a:effectLst/>
      </p:bgPr>
    </p:bg>
    <p:spTree>
      <p:nvGrpSpPr>
        <p:cNvPr id="1" name=""/>
        <p:cNvGrpSpPr/>
        <p:nvPr/>
      </p:nvGrpSpPr>
      <p:grpSpPr>
        <a:xfrm>
          <a:off x="0" y="0"/>
          <a:ext cx="0" cy="0"/>
          <a:chOff x="0" y="0"/>
          <a:chExt cx="0" cy="0"/>
        </a:xfrm>
      </p:grpSpPr>
      <p:sp>
        <p:nvSpPr>
          <p:cNvPr id="2" name="Text 2"/>
          <p:cNvSpPr/>
          <p:nvPr/>
        </p:nvSpPr>
        <p:spPr>
          <a:xfrm>
            <a:off x="640080" y="500000"/>
            <a:ext cx="10911840" cy="8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Dein Plan</a:t>
            </a:r>
          </a:p>
        </p:txBody>
      </p:sp>
      <p:sp>
        <p:nvSpPr>
          <p:cNvPr id="3" name="Text 3"/>
          <p:cNvSpPr/>
          <p:nvPr/>
        </p:nvSpPr>
        <p:spPr>
          <a:xfrm>
            <a:off x="640080" y="1500000"/>
            <a:ext cx="6500000" cy="4600000"/>
          </a:xfrm>
          <a:prstGeom prst="roundRect">
            <a:avLst>
              <a:gd name="adj" fmla="val 5000"/>
            </a:avLst>
          </a:prstGeom>
          <a:solidFill>
            <a:srgbClr val="FFFFFF"/>
          </a:solidFill>
          <a:ln>
            <a:noFill/>
          </a:ln>
          <a:effectLst>
            <a:outerShdw sx="100000" sy="100000" kx="0" ky="0" algn="bl" rotWithShape="0" blurRad="88900" dist="25400" dir="5400000">
              <a:srgbClr val="000000">
                <a:alpha val="14000"/>
              </a:srgbClr>
            </a:outerShdw>
          </a:effectLst>
        </p:spPr>
      </p:sp>
      <p:sp>
        <p:nvSpPr>
          <p:cNvPr id="4" name="Text 4"/>
          <p:cNvSpPr/>
          <p:nvPr/>
        </p:nvSpPr>
        <p:spPr>
          <a:xfrm>
            <a:off x="1040080" y="1700000"/>
            <a:ext cx="5700000" cy="4200000"/>
          </a:xfrm>
          <a:prstGeom prst="rect">
            <a:avLst/>
          </a:prstGeom>
          <a:noFill/>
          <a:ln>
            <a:noFill/>
          </a:ln>
        </p:spPr>
        <p:txBody>
          <a:bodyPr wrap="square" lIns="0" tIns="0" rIns="0" bIns="0" rtlCol="0" anchor="ctr">
            <a:noAutofit/>
          </a:bodyPr>
          <a:lstStyle/>
          <a:p>
            <a:pPr algn="l" indent="0" marL="0">
              <a:lnSpc>
                <a:spcPct val="100000"/>
              </a:lnSpc>
              <a:spcAft>
                <a:spcPts val="300"/>
              </a:spcAft>
              <a:buNone/>
            </a:pPr>
            <a:r>
              <a:rPr lang="de-DE" sz="3400" b="1" i="0" dirty="0">
                <a:solidFill>
                  <a:srgbClr val="00285A"/>
                </a:solidFill>
                <a:latin typeface="Arial" pitchFamily="34" charset="0"/>
                <a:ea typeface="Arial" pitchFamily="34" charset="-122"/>
                <a:cs typeface="Arial" pitchFamily="34" charset="-120"/>
              </a:rPr>
              <a:t>Stopp machen.</a:t>
            </a:r>
          </a:p>
          <a:p>
            <a:pPr algn="l" indent="0" marL="0">
              <a:lnSpc>
                <a:spcPct val="100000"/>
              </a:lnSpc>
              <a:spcAft>
                <a:spcPts val="300"/>
              </a:spcAft>
              <a:buNone/>
            </a:pPr>
            <a:r>
              <a:rPr lang="de-DE" sz="3400" b="1" i="0" dirty="0">
                <a:solidFill>
                  <a:srgbClr val="00285A"/>
                </a:solidFill>
                <a:latin typeface="Arial" pitchFamily="34" charset="0"/>
                <a:ea typeface="Arial" pitchFamily="34" charset="-122"/>
                <a:cs typeface="Arial" pitchFamily="34" charset="-120"/>
              </a:rPr>
              <a:t>Kein Bild senden.</a:t>
            </a:r>
          </a:p>
          <a:p>
            <a:pPr algn="l" indent="0" marL="0">
              <a:lnSpc>
                <a:spcPct val="100000"/>
              </a:lnSpc>
              <a:spcAft>
                <a:spcPts val="1800"/>
              </a:spcAft>
              <a:buNone/>
            </a:pPr>
            <a:r>
              <a:rPr lang="de-DE" sz="3400" b="1" i="0" dirty="0">
                <a:solidFill>
                  <a:srgbClr val="00285A"/>
                </a:solidFill>
                <a:latin typeface="Arial" pitchFamily="34" charset="0"/>
                <a:ea typeface="Arial" pitchFamily="34" charset="-122"/>
                <a:cs typeface="Arial" pitchFamily="34" charset="-120"/>
              </a:rPr>
              <a:t>Zeigen.</a:t>
            </a:r>
          </a:p>
          <a:p>
            <a:pPr algn="l" indent="0" marL="0">
              <a:lnSpc>
                <a:spcPct val="100000"/>
              </a:lnSpc>
              <a:spcAft>
                <a:spcPts val="600"/>
              </a:spcAft>
              <a:buNone/>
            </a:pPr>
            <a:r>
              <a:rPr lang="de-DE" sz="2400" b="0" i="0" dirty="0">
                <a:solidFill>
                  <a:srgbClr val="1A1A1A"/>
                </a:solidFill>
                <a:latin typeface="Arial" pitchFamily="34" charset="0"/>
                <a:ea typeface="Arial" pitchFamily="34" charset="-122"/>
                <a:cs typeface="Arial" pitchFamily="34" charset="-120"/>
              </a:rPr>
              <a:t>1  Stopp machen. Nicht antworten.</a:t>
            </a:r>
          </a:p>
          <a:p>
            <a:pPr algn="l" indent="0" marL="0">
              <a:lnSpc>
                <a:spcPct val="100000"/>
              </a:lnSpc>
              <a:spcAft>
                <a:spcPts val="600"/>
              </a:spcAft>
              <a:buNone/>
            </a:pPr>
            <a:r>
              <a:rPr lang="de-DE" sz="2400" b="0" i="0" dirty="0">
                <a:solidFill>
                  <a:srgbClr val="1A1A1A"/>
                </a:solidFill>
                <a:latin typeface="Arial" pitchFamily="34" charset="0"/>
                <a:ea typeface="Arial" pitchFamily="34" charset="-122"/>
                <a:cs typeface="Arial" pitchFamily="34" charset="-120"/>
              </a:rPr>
              <a:t>2  Kein Bild senden.</a:t>
            </a:r>
          </a:p>
          <a:p>
            <a:pPr algn="l" indent="0" marL="0">
              <a:lnSpc>
                <a:spcPct val="100000"/>
              </a:lnSpc>
              <a:spcAft>
                <a:spcPts val="0"/>
              </a:spcAft>
              <a:buNone/>
            </a:pPr>
            <a:r>
              <a:rPr lang="de-DE" sz="2400" b="1" i="0" dirty="0">
                <a:solidFill>
                  <a:srgbClr val="1A1A1A"/>
                </a:solidFill>
                <a:latin typeface="Arial" pitchFamily="34" charset="0"/>
                <a:ea typeface="Arial" pitchFamily="34" charset="-122"/>
                <a:cs typeface="Arial" pitchFamily="34" charset="-120"/>
              </a:rPr>
              <a:t>3  Einer vertrauten Person zeigen.</a:t>
            </a:r>
          </a:p>
        </p:txBody>
      </p:sp>
      <p:sp>
        <p:nvSpPr>
          <p:cNvPr id="5" name="Bild-Platzhalter 5"/>
          <p:cNvSpPr/>
          <p:nvPr/>
        </p:nvSpPr>
        <p:spPr>
          <a:xfrm>
            <a:off x="7450000" y="1500000"/>
            <a:ext cx="4100000" cy="46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zeigt ihr Handy einer vertrauten Person. Beide sind ruhig.]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Thema 4: Wenn etwas verletzt">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4</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4</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Wenn etwas verletzt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Gemeine Nachricht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Gemeine Nachrichten</a:t>
            </a:r>
          </a:p>
        </p:txBody>
      </p:sp>
      <p:sp>
        <p:nvSpPr>
          <p:cNvPr id="3" name="Text 3"/>
          <p:cNvSpPr/>
          <p:nvPr/>
        </p:nvSpPr>
        <p:spPr>
          <a:xfrm>
            <a:off x="640080" y="1700000"/>
            <a:ext cx="5961840" cy="1300000"/>
          </a:xfrm>
          <a:prstGeom prst="rect">
            <a:avLst/>
          </a:prstGeom>
          <a:noFill/>
          <a:ln>
            <a:noFill/>
          </a:ln>
        </p:spPr>
        <p:txBody>
          <a:bodyPr wrap="square" lIns="0" tIns="0" rIns="0" bIns="0" rtlCol="0" anchor="t">
            <a:noAutofit/>
          </a:bodyPr>
          <a:lstStyle/>
          <a:p>
            <a:pPr algn="l" indent="0" marL="0">
              <a:lnSpc>
                <a:spcPct val="100000"/>
              </a:lnSpc>
              <a:spcAft>
                <a:spcPts val="600"/>
              </a:spcAft>
              <a:buNone/>
            </a:pPr>
            <a:r>
              <a:rPr lang="de-DE" sz="2500" b="0" i="0" dirty="0">
                <a:solidFill>
                  <a:srgbClr val="1A1A1A"/>
                </a:solidFill>
                <a:latin typeface="Arial" pitchFamily="34" charset="0"/>
                <a:ea typeface="Arial" pitchFamily="34" charset="-122"/>
                <a:cs typeface="Arial" pitchFamily="34" charset="-120"/>
              </a:rPr>
              <a:t>Manche Nachrichten sind gemein.</a:t>
            </a:r>
          </a:p>
          <a:p>
            <a:pPr algn="l" indent="0" marL="0">
              <a:lnSpc>
                <a:spcPct val="100000"/>
              </a:lnSpc>
              <a:spcAft>
                <a:spcPts val="600"/>
              </a:spcAft>
              <a:buNone/>
            </a:pPr>
            <a:r>
              <a:rPr lang="de-DE" sz="2500" b="0" i="0" dirty="0">
                <a:solidFill>
                  <a:srgbClr val="1A1A1A"/>
                </a:solidFill>
                <a:latin typeface="Arial" pitchFamily="34" charset="0"/>
                <a:ea typeface="Arial" pitchFamily="34" charset="-122"/>
                <a:cs typeface="Arial" pitchFamily="34" charset="-120"/>
              </a:rPr>
              <a:t>Sie verletzen.</a:t>
            </a:r>
          </a:p>
        </p:txBody>
      </p:sp>
      <p:sp>
        <p:nvSpPr>
          <p:cNvPr id="4" name="Text 4"/>
          <p:cNvSpPr/>
          <p:nvPr/>
        </p:nvSpPr>
        <p:spPr>
          <a:xfrm>
            <a:off x="640080" y="3200000"/>
            <a:ext cx="5961840" cy="1300000"/>
          </a:xfrm>
          <a:prstGeom prst="roundRect">
            <a:avLst>
              <a:gd name="adj" fmla="val 10000"/>
            </a:avLst>
          </a:prstGeom>
          <a:solidFill>
            <a:srgbClr val="D8EAF2"/>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Das ist nicht deine Schuld.</a:t>
            </a:r>
          </a:p>
        </p:txBody>
      </p:sp>
      <p:sp>
        <p:nvSpPr>
          <p:cNvPr id="5" name="Text 5"/>
          <p:cNvSpPr/>
          <p:nvPr/>
        </p:nvSpPr>
        <p:spPr>
          <a:xfrm>
            <a:off x="640080" y="4750000"/>
            <a:ext cx="596184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1" i="0" dirty="0">
                <a:solidFill>
                  <a:srgbClr val="1A1A1A"/>
                </a:solidFill>
                <a:latin typeface="Arial" pitchFamily="34" charset="0"/>
                <a:ea typeface="Arial" pitchFamily="34" charset="-122"/>
                <a:cs typeface="Arial" pitchFamily="34" charset="-120"/>
              </a:rPr>
              <a:t>Du musst nicht antworten.</a:t>
            </a:r>
          </a:p>
        </p:txBody>
      </p:sp>
      <p:sp>
        <p:nvSpPr>
          <p:cNvPr id="6" name="Bild-Platzhalter 6"/>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liest eine Nachricht. Sie legt das Handy weg und atmet durch.]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Das kannst du tu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kannst du tun</a:t>
            </a:r>
          </a:p>
        </p:txBody>
      </p:sp>
      <p:sp>
        <p:nvSpPr>
          <p:cNvPr id="3" name="Text 3"/>
          <p:cNvSpPr/>
          <p:nvPr/>
        </p:nvSpPr>
        <p:spPr>
          <a:xfrm>
            <a:off x="640080" y="160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Zeigen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Zeig es einer vertrauten Person. Lösch es nicht sofort.</a:t>
            </a:r>
          </a:p>
        </p:txBody>
      </p:sp>
      <p:sp>
        <p:nvSpPr>
          <p:cNvPr id="4" name="Text 4"/>
          <p:cNvSpPr/>
          <p:nvPr/>
        </p:nvSpPr>
        <p:spPr>
          <a:xfrm>
            <a:off x="6190080" y="160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Blockieren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Die Person kann dir nicht mehr schreiben. Mit einem neuen Konto kann sie es wieder versuchen.</a:t>
            </a:r>
          </a:p>
        </p:txBody>
      </p:sp>
      <p:sp>
        <p:nvSpPr>
          <p:cNvPr id="5" name="Text 5"/>
          <p:cNvSpPr/>
          <p:nvPr/>
        </p:nvSpPr>
        <p:spPr>
          <a:xfrm>
            <a:off x="640080" y="395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Melden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Du sagst Snapchat Bescheid.</a:t>
            </a:r>
          </a:p>
        </p:txBody>
      </p:sp>
      <p:sp>
        <p:nvSpPr>
          <p:cNvPr id="6" name="Text 6"/>
          <p:cNvSpPr/>
          <p:nvPr/>
        </p:nvSpPr>
        <p:spPr>
          <a:xfrm>
            <a:off x="6190080" y="395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Hilfe holen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Du musst das nicht allein schaffen.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Hol dir Hilfe">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Hol dir Hilfe</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Du bist nicht allein.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Sprich mit einer vertrauten Person.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Zum Beispiel: Familie, Freundin oder Freund.</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Oder Unterstützerin oder Unterstützer.</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[KARTE: Hilfe-Karte. Vorderseite: Ansprechpersonen vor Ort und Hilfe am Telefon. Rückseite: zum Ausfüllen.]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Pause">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0" y="2400000"/>
            <a:ext cx="12192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6000" b="1" i="0" dirty="0">
                <a:solidFill>
                  <a:srgbClr val="FFFFFF"/>
                </a:solidFill>
                <a:latin typeface="Arial" pitchFamily="34" charset="0"/>
                <a:ea typeface="Arial" pitchFamily="34" charset="-122"/>
                <a:cs typeface="Arial" pitchFamily="34" charset="-120"/>
              </a:rPr>
              <a:t>Pause</a:t>
            </a:r>
          </a:p>
        </p:txBody>
      </p:sp>
      <p:sp>
        <p:nvSpPr>
          <p:cNvPr id="3" name="Text 3"/>
          <p:cNvSpPr/>
          <p:nvPr/>
        </p:nvSpPr>
        <p:spPr>
          <a:xfrm>
            <a:off x="0" y="3750000"/>
            <a:ext cx="12192000" cy="9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3000" b="0" i="0" dirty="0">
                <a:solidFill>
                  <a:srgbClr val="AAD1E3"/>
                </a:solidFill>
                <a:latin typeface="Arial" pitchFamily="34" charset="0"/>
                <a:ea typeface="Arial" pitchFamily="34" charset="-122"/>
                <a:cs typeface="Arial" pitchFamily="34" charset="-120"/>
              </a:rPr>
              <a:t>10 Minuten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raxis">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0" y="2400000"/>
            <a:ext cx="12192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6000" b="1" i="0" dirty="0">
                <a:solidFill>
                  <a:srgbClr val="FFFFFF"/>
                </a:solidFill>
                <a:latin typeface="Arial" pitchFamily="34" charset="0"/>
                <a:ea typeface="Arial" pitchFamily="34" charset="-122"/>
                <a:cs typeface="Arial" pitchFamily="34" charset="-120"/>
              </a:rPr>
              <a:t>Praxis</a:t>
            </a:r>
          </a:p>
        </p:txBody>
      </p:sp>
      <p:sp>
        <p:nvSpPr>
          <p:cNvPr id="3" name="Text 3"/>
          <p:cNvSpPr/>
          <p:nvPr/>
        </p:nvSpPr>
        <p:spPr>
          <a:xfrm>
            <a:off x="0" y="3750000"/>
            <a:ext cx="12192000" cy="9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3000" b="0" i="0" dirty="0">
                <a:solidFill>
                  <a:srgbClr val="AAD1E3"/>
                </a:solidFill>
                <a:latin typeface="Arial" pitchFamily="34" charset="0"/>
                <a:ea typeface="Arial" pitchFamily="34" charset="-122"/>
                <a:cs typeface="Arial" pitchFamily="34" charset="-120"/>
              </a:rPr>
              <a:t>Wir stellen Snapchat zusammen ein.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canne den Code und mach mit">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Scanne den Code und mach mit</a:t>
            </a:r>
          </a:p>
        </p:txBody>
      </p:sp>
      <p:sp>
        <p:nvSpPr>
          <p:cNvPr id="3" name="Text 3"/>
          <p:cNvSpPr/>
          <p:nvPr/>
        </p:nvSpPr>
        <p:spPr>
          <a:xfrm>
            <a:off x="640080" y="1500000"/>
            <a:ext cx="3700000" cy="3700000"/>
          </a:xfrm>
          <a:prstGeom prst="roundRect">
            <a:avLst>
              <a:gd name="adj" fmla="val 4000"/>
            </a:avLst>
          </a:prstGeom>
          <a:solidFill>
            <a:srgbClr val="FFFFFF"/>
          </a:solidFill>
          <a:ln w="19050">
            <a:solidFill>
              <a:srgbClr val="AAD1E3"/>
            </a:solidFill>
            <a:prstDash val="solid"/>
          </a:ln>
          <a:effectLst>
            <a:outerShdw sx="100000" sy="100000" kx="0" ky="0" algn="bl" rotWithShape="0" blurRad="88900" dist="25400" dir="5400000">
              <a:srgbClr val="000000">
                <a:alpha val="14000"/>
              </a:srgbClr>
            </a:outerShdw>
          </a:effectLst>
        </p:spPr>
      </p:sp>
      <p:pic>
        <p:nvPicPr>
          <p:cNvPr id="4" name="QR-Code 4" descr="QR-Code zur Praxis-Seite Snapchat"/>
          <p:cNvPicPr>
            <a:picLocks noChangeAspect="1"/>
          </p:cNvPicPr>
          <p:nvPr/>
        </p:nvPicPr>
        <p:blipFill>
          <a:blip r:embed="rId3"/>
          <a:stretch>
            <a:fillRect/>
          </a:stretch>
        </p:blipFill>
        <p:spPr>
          <a:xfrm>
            <a:off x="890080" y="1750000"/>
            <a:ext cx="3200000" cy="3200000"/>
          </a:xfrm>
          <a:prstGeom prst="rect">
            <a:avLst/>
          </a:prstGeom>
        </p:spPr>
      </p:pic>
      <p:sp>
        <p:nvSpPr>
          <p:cNvPr id="5" name="Text 5"/>
          <p:cNvSpPr/>
          <p:nvPr/>
        </p:nvSpPr>
        <p:spPr>
          <a:xfrm>
            <a:off x="640080" y="5250000"/>
            <a:ext cx="3700000" cy="7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2000" b="1" i="0" dirty="0">
                <a:solidFill>
                  <a:srgbClr val="00285A"/>
                </a:solidFill>
                <a:latin typeface="Arial" pitchFamily="34" charset="0"/>
                <a:ea typeface="Arial" pitchFamily="34" charset="-122"/>
                <a:cs typeface="Arial" pitchFamily="34" charset="-120"/>
              </a:rPr>
              <a:t>Zur Praxis-Seite</a:t>
            </a:r>
          </a:p>
        </p:txBody>
      </p:sp>
      <p:sp>
        <p:nvSpPr>
          <p:cNvPr id="6" name="Zeile 6"/>
          <p:cNvSpPr/>
          <p:nvPr/>
        </p:nvSpPr>
        <p:spPr>
          <a:xfrm>
            <a:off x="4700000" y="1500000"/>
            <a:ext cx="6850000" cy="70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4830000" y="160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1</a:t>
            </a:r>
          </a:p>
        </p:txBody>
      </p:sp>
      <p:sp>
        <p:nvSpPr>
          <p:cNvPr id="8" name="Text 8"/>
          <p:cNvSpPr/>
          <p:nvPr/>
        </p:nvSpPr>
        <p:spPr>
          <a:xfrm>
            <a:off x="5499999" y="150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Öffne die Kamera am Handy.</a:t>
            </a:r>
          </a:p>
        </p:txBody>
      </p:sp>
      <p:sp>
        <p:nvSpPr>
          <p:cNvPr id="9" name="Zeile 9"/>
          <p:cNvSpPr/>
          <p:nvPr/>
        </p:nvSpPr>
        <p:spPr>
          <a:xfrm>
            <a:off x="4700000" y="2320000"/>
            <a:ext cx="6850000" cy="70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4830000" y="242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2</a:t>
            </a:r>
          </a:p>
        </p:txBody>
      </p:sp>
      <p:sp>
        <p:nvSpPr>
          <p:cNvPr id="11" name="Text 11"/>
          <p:cNvSpPr/>
          <p:nvPr/>
        </p:nvSpPr>
        <p:spPr>
          <a:xfrm>
            <a:off x="5499999" y="232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Halte sie auf den Code.</a:t>
            </a:r>
          </a:p>
        </p:txBody>
      </p:sp>
      <p:sp>
        <p:nvSpPr>
          <p:cNvPr id="12" name="Zeile 12"/>
          <p:cNvSpPr/>
          <p:nvPr/>
        </p:nvSpPr>
        <p:spPr>
          <a:xfrm>
            <a:off x="4700000" y="3140000"/>
            <a:ext cx="6850000" cy="70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4830000" y="324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3</a:t>
            </a:r>
          </a:p>
        </p:txBody>
      </p:sp>
      <p:sp>
        <p:nvSpPr>
          <p:cNvPr id="14" name="Text 14"/>
          <p:cNvSpPr/>
          <p:nvPr/>
        </p:nvSpPr>
        <p:spPr>
          <a:xfrm>
            <a:off x="5499999" y="314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Tippe auf den Link.</a:t>
            </a:r>
          </a:p>
        </p:txBody>
      </p:sp>
      <p:sp>
        <p:nvSpPr>
          <p:cNvPr id="15" name="Zeile 15"/>
          <p:cNvSpPr/>
          <p:nvPr/>
        </p:nvSpPr>
        <p:spPr>
          <a:xfrm>
            <a:off x="4700000" y="3960000"/>
            <a:ext cx="6850000" cy="700000"/>
          </a:xfrm>
          <a:prstGeom prst="roundRect">
            <a:avLst>
              <a:gd name="adj" fmla="val 12000"/>
            </a:avLst>
          </a:prstGeom>
          <a:solidFill>
            <a:srgbClr val="D8EAF2"/>
          </a:solidFill>
          <a:ln w="12700">
            <a:solidFill>
              <a:srgbClr val="AAD1E3"/>
            </a:solidFill>
            <a:prstDash val="solid"/>
          </a:ln>
        </p:spPr>
      </p:sp>
      <p:sp>
        <p:nvSpPr>
          <p:cNvPr id="16" name="Kreis 16"/>
          <p:cNvSpPr/>
          <p:nvPr/>
        </p:nvSpPr>
        <p:spPr>
          <a:xfrm>
            <a:off x="4830000" y="406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4</a:t>
            </a:r>
          </a:p>
        </p:txBody>
      </p:sp>
      <p:sp>
        <p:nvSpPr>
          <p:cNvPr id="17" name="Text 17"/>
          <p:cNvSpPr/>
          <p:nvPr/>
        </p:nvSpPr>
        <p:spPr>
          <a:xfrm>
            <a:off x="5499999" y="396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Wir machen es zusammen.</a:t>
            </a:r>
          </a:p>
        </p:txBody>
      </p:sp>
      <p:sp>
        <p:nvSpPr>
          <p:cNvPr id="18" name="Text 18"/>
          <p:cNvSpPr/>
          <p:nvPr/>
        </p:nvSpPr>
        <p:spPr>
          <a:xfrm>
            <a:off x="4700000" y="4900000"/>
            <a:ext cx="6850000" cy="1150000"/>
          </a:xfrm>
          <a:prstGeom prst="roundRect">
            <a:avLst>
              <a:gd name="adj" fmla="val 8000"/>
            </a:avLst>
          </a:prstGeom>
          <a:solidFill>
            <a:srgbClr val="D8EAF2"/>
          </a:solidFill>
          <a:ln>
            <a:noFill/>
          </a:ln>
        </p:spPr>
        <p:txBody>
          <a:bodyPr wrap="square" lIns="200000" tIns="200000" rIns="200000" bIns="200000" rtlCol="0" anchor="ctr">
            <a:noAutofit/>
          </a:bodyPr>
          <a:lstStyle/>
          <a:p>
            <a:pPr algn="l" indent="0" marL="0">
              <a:lnSpc>
                <a:spcPct val="100000"/>
              </a:lnSpc>
              <a:spcAft>
                <a:spcPts val="0"/>
              </a:spcAft>
              <a:buNone/>
            </a:pPr>
            <a:r>
              <a:rPr lang="de-DE" sz="2000" b="0" i="0" dirty="0">
                <a:solidFill>
                  <a:srgbClr val="00285A"/>
                </a:solidFill>
                <a:latin typeface="Arial" pitchFamily="34" charset="0"/>
                <a:ea typeface="Arial" pitchFamily="34" charset="-122"/>
                <a:cs typeface="Arial" pitchFamily="34" charset="-120"/>
              </a:rPr>
              <a:t>Kein Handy oder kein Konto? Schau bei jemandem mit. Die Begleitung hat eine Übung für dich.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Das stellen wir zusammen ei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stellen wir zusammen ein</a:t>
            </a:r>
          </a:p>
        </p:txBody>
      </p:sp>
      <p:sp>
        <p:nvSpPr>
          <p:cNvPr id="3" name="Text 3"/>
          <p:cNvSpPr/>
          <p:nvPr/>
        </p:nvSpPr>
        <p:spPr>
          <a:xfrm>
            <a:off x="640080" y="1450000"/>
            <a:ext cx="6500000" cy="6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Das machen wir zuerst:</a:t>
            </a:r>
          </a:p>
        </p:txBody>
      </p:sp>
      <p:sp>
        <p:nvSpPr>
          <p:cNvPr id="4" name="Zeile 4"/>
          <p:cNvSpPr/>
          <p:nvPr/>
        </p:nvSpPr>
        <p:spPr>
          <a:xfrm>
            <a:off x="640080" y="2100000"/>
            <a:ext cx="6500000" cy="900000"/>
          </a:xfrm>
          <a:prstGeom prst="roundRect">
            <a:avLst>
              <a:gd name="adj" fmla="val 12000"/>
            </a:avLst>
          </a:prstGeom>
          <a:solidFill>
            <a:srgbClr val="D8EAF2"/>
          </a:solidFill>
          <a:ln w="12700">
            <a:solidFill>
              <a:srgbClr val="AAD1E3"/>
            </a:solidFill>
            <a:prstDash val="solid"/>
          </a:ln>
        </p:spPr>
      </p:sp>
      <p:sp>
        <p:nvSpPr>
          <p:cNvPr id="5" name="Kreis 5"/>
          <p:cNvSpPr/>
          <p:nvPr/>
        </p:nvSpPr>
        <p:spPr>
          <a:xfrm>
            <a:off x="770080" y="223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1</a:t>
            </a:r>
          </a:p>
        </p:txBody>
      </p:sp>
      <p:sp>
        <p:nvSpPr>
          <p:cNvPr id="6" name="Text 6"/>
          <p:cNvSpPr/>
          <p:nvPr/>
        </p:nvSpPr>
        <p:spPr>
          <a:xfrm>
            <a:off x="1580080" y="2100000"/>
            <a:ext cx="49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Geist-Modus anschalten</a:t>
            </a:r>
          </a:p>
        </p:txBody>
      </p:sp>
      <p:sp>
        <p:nvSpPr>
          <p:cNvPr id="7" name="Abhaken 7"/>
          <p:cNvSpPr/>
          <p:nvPr/>
        </p:nvSpPr>
        <p:spPr>
          <a:xfrm>
            <a:off x="6620080" y="2345000"/>
            <a:ext cx="410000" cy="410000"/>
          </a:xfrm>
          <a:prstGeom prst="roundRect">
            <a:avLst>
              <a:gd name="adj" fmla="val 12000"/>
            </a:avLst>
          </a:prstGeom>
          <a:solidFill>
            <a:srgbClr val="FFFFFF"/>
          </a:solidFill>
          <a:ln w="25400">
            <a:solidFill>
              <a:srgbClr val="C6C7C8"/>
            </a:solidFill>
            <a:prstDash val="solid"/>
          </a:ln>
        </p:spPr>
      </p:sp>
      <p:sp>
        <p:nvSpPr>
          <p:cNvPr id="8" name="Text 8"/>
          <p:cNvSpPr/>
          <p:nvPr/>
        </p:nvSpPr>
        <p:spPr>
          <a:xfrm>
            <a:off x="640080" y="3250000"/>
            <a:ext cx="6500000" cy="1100000"/>
          </a:xfrm>
          <a:prstGeom prst="roundRect">
            <a:avLst>
              <a:gd name="adj" fmla="val 8000"/>
            </a:avLst>
          </a:prstGeom>
          <a:solidFill>
            <a:srgbClr val="D8EAF2"/>
          </a:solidFill>
          <a:ln>
            <a:noFill/>
          </a:ln>
        </p:spPr>
        <p:txBody>
          <a:bodyPr wrap="square" lIns="250000" tIns="250000" rIns="250000" bIns="250000" rtlCol="0" anchor="ctr">
            <a:noAutofit/>
          </a:bodyPr>
          <a:lstStyle/>
          <a:p>
            <a:pPr algn="l" indent="0" marL="0">
              <a:lnSpc>
                <a:spcPct val="100000"/>
              </a:lnSpc>
              <a:spcAft>
                <a:spcPts val="300"/>
              </a:spcAft>
              <a:buNone/>
            </a:pPr>
            <a:r>
              <a:rPr lang="de-DE" sz="2400" b="1" i="0" dirty="0">
                <a:solidFill>
                  <a:srgbClr val="00285A"/>
                </a:solidFill>
                <a:latin typeface="Arial" pitchFamily="34" charset="0"/>
                <a:ea typeface="Arial" pitchFamily="34" charset="-122"/>
                <a:cs typeface="Arial" pitchFamily="34" charset="-120"/>
              </a:rPr>
              <a:t>Eine Einstellung ist genug.</a:t>
            </a:r>
          </a:p>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Du hast dann schon viel geschafft.</a:t>
            </a:r>
          </a:p>
        </p:txBody>
      </p:sp>
      <p:sp>
        <p:nvSpPr>
          <p:cNvPr id="9" name="Text 9"/>
          <p:cNvSpPr/>
          <p:nvPr/>
        </p:nvSpPr>
        <p:spPr>
          <a:xfrm>
            <a:off x="7400000" y="1450000"/>
            <a:ext cx="4150000" cy="6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Das ist freiwillig:</a:t>
            </a:r>
          </a:p>
        </p:txBody>
      </p:sp>
      <p:sp>
        <p:nvSpPr>
          <p:cNvPr id="10" name="Text 10"/>
          <p:cNvSpPr/>
          <p:nvPr/>
        </p:nvSpPr>
        <p:spPr>
          <a:xfrm>
            <a:off x="7400000" y="2100000"/>
            <a:ext cx="4150000" cy="900000"/>
          </a:xfrm>
          <a:prstGeom prst="roundRect">
            <a:avLst>
              <a:gd name="adj" fmla="val 12000"/>
            </a:avLst>
          </a:prstGeom>
          <a:solidFill>
            <a:srgbClr val="FFFFFF"/>
          </a:solidFill>
          <a:ln w="19050">
            <a:solidFill>
              <a:srgbClr val="AAD1E3"/>
            </a:solidFill>
            <a:prstDash val="solid"/>
          </a:ln>
        </p:spPr>
      </p:sp>
      <p:sp>
        <p:nvSpPr>
          <p:cNvPr id="11" name="Text 11"/>
          <p:cNvSpPr/>
          <p:nvPr/>
        </p:nvSpPr>
        <p:spPr>
          <a:xfrm>
            <a:off x="7600000" y="2100000"/>
            <a:ext cx="325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0" dirty="0">
                <a:solidFill>
                  <a:srgbClr val="1A1A1A"/>
                </a:solidFill>
                <a:latin typeface="Arial" pitchFamily="34" charset="0"/>
                <a:ea typeface="Arial" pitchFamily="34" charset="-122"/>
                <a:cs typeface="Arial" pitchFamily="34" charset="-120"/>
              </a:rPr>
              <a:t>Wer darf mich kontaktieren?</a:t>
            </a:r>
          </a:p>
        </p:txBody>
      </p:sp>
      <p:sp>
        <p:nvSpPr>
          <p:cNvPr id="12" name="Text 12"/>
          <p:cNvSpPr/>
          <p:nvPr/>
        </p:nvSpPr>
        <p:spPr>
          <a:xfrm>
            <a:off x="11030000" y="2345000"/>
            <a:ext cx="410000" cy="410000"/>
          </a:xfrm>
          <a:prstGeom prst="roundRect">
            <a:avLst>
              <a:gd name="adj" fmla="val 12000"/>
            </a:avLst>
          </a:prstGeom>
          <a:solidFill>
            <a:srgbClr val="FFFFFF"/>
          </a:solidFill>
          <a:ln w="25400">
            <a:solidFill>
              <a:srgbClr val="C6C7C8"/>
            </a:solidFill>
            <a:prstDash val="solid"/>
          </a:ln>
        </p:spPr>
      </p:sp>
      <p:sp>
        <p:nvSpPr>
          <p:cNvPr id="13" name="Text 13"/>
          <p:cNvSpPr/>
          <p:nvPr/>
        </p:nvSpPr>
        <p:spPr>
          <a:xfrm>
            <a:off x="7400000" y="3130000"/>
            <a:ext cx="4150000" cy="900000"/>
          </a:xfrm>
          <a:prstGeom prst="roundRect">
            <a:avLst>
              <a:gd name="adj" fmla="val 12000"/>
            </a:avLst>
          </a:prstGeom>
          <a:solidFill>
            <a:srgbClr val="FFFFFF"/>
          </a:solidFill>
          <a:ln w="19050">
            <a:solidFill>
              <a:srgbClr val="AAD1E3"/>
            </a:solidFill>
            <a:prstDash val="solid"/>
          </a:ln>
        </p:spPr>
      </p:sp>
      <p:sp>
        <p:nvSpPr>
          <p:cNvPr id="14" name="Text 14"/>
          <p:cNvSpPr/>
          <p:nvPr/>
        </p:nvSpPr>
        <p:spPr>
          <a:xfrm>
            <a:off x="7600000" y="3130000"/>
            <a:ext cx="325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0" dirty="0">
                <a:solidFill>
                  <a:srgbClr val="1A1A1A"/>
                </a:solidFill>
                <a:latin typeface="Arial" pitchFamily="34" charset="0"/>
                <a:ea typeface="Arial" pitchFamily="34" charset="-122"/>
                <a:cs typeface="Arial" pitchFamily="34" charset="-120"/>
              </a:rPr>
              <a:t>Wer darf meine Story sehen?</a:t>
            </a:r>
          </a:p>
        </p:txBody>
      </p:sp>
      <p:sp>
        <p:nvSpPr>
          <p:cNvPr id="15" name="Text 15"/>
          <p:cNvSpPr/>
          <p:nvPr/>
        </p:nvSpPr>
        <p:spPr>
          <a:xfrm>
            <a:off x="11030000" y="3375000"/>
            <a:ext cx="410000" cy="410000"/>
          </a:xfrm>
          <a:prstGeom prst="roundRect">
            <a:avLst>
              <a:gd name="adj" fmla="val 12000"/>
            </a:avLst>
          </a:prstGeom>
          <a:solidFill>
            <a:srgbClr val="FFFFFF"/>
          </a:solidFill>
          <a:ln w="25400">
            <a:solidFill>
              <a:srgbClr val="C6C7C8"/>
            </a:solidFill>
            <a:prstDash val="solid"/>
          </a:ln>
        </p:spPr>
      </p:sp>
      <p:sp>
        <p:nvSpPr>
          <p:cNvPr id="16" name="Text 16"/>
          <p:cNvSpPr/>
          <p:nvPr/>
        </p:nvSpPr>
        <p:spPr>
          <a:xfrm>
            <a:off x="7400000" y="4160000"/>
            <a:ext cx="4150000" cy="900000"/>
          </a:xfrm>
          <a:prstGeom prst="roundRect">
            <a:avLst>
              <a:gd name="adj" fmla="val 12000"/>
            </a:avLst>
          </a:prstGeom>
          <a:solidFill>
            <a:srgbClr val="D8EAF2"/>
          </a:solidFill>
          <a:ln>
            <a:noFill/>
          </a:ln>
        </p:spPr>
        <p:txBody>
          <a:bodyPr wrap="square" lIns="200000" tIns="200000" rIns="200000" bIns="200000" rtlCol="0" anchor="ctr">
            <a:noAutofit/>
          </a:bodyPr>
          <a:lstStyle/>
          <a:p>
            <a:pPr algn="l" indent="0" marL="0">
              <a:lnSpc>
                <a:spcPct val="100000"/>
              </a:lnSpc>
              <a:spcAft>
                <a:spcPts val="0"/>
              </a:spcAft>
              <a:buNone/>
            </a:pPr>
            <a:r>
              <a:rPr lang="de-DE" sz="2000" b="1" i="0" dirty="0">
                <a:solidFill>
                  <a:srgbClr val="00285A"/>
                </a:solidFill>
                <a:latin typeface="Arial" pitchFamily="34" charset="0"/>
                <a:ea typeface="Arial" pitchFamily="34" charset="-122"/>
                <a:cs typeface="Arial" pitchFamily="34" charset="-120"/>
              </a:rPr>
              <a:t>Nur zeigen: Blockieren und Melden</a:t>
            </a:r>
          </a:p>
        </p:txBody>
      </p:sp>
      <p:sp>
        <p:nvSpPr>
          <p:cNvPr id="17" name="Text 17"/>
          <p:cNvSpPr/>
          <p:nvPr/>
        </p:nvSpPr>
        <p:spPr>
          <a:xfrm>
            <a:off x="640080" y="5350000"/>
            <a:ext cx="10911840" cy="1100000"/>
          </a:xfrm>
          <a:prstGeom prst="rect">
            <a:avLst/>
          </a:prstGeom>
          <a:noFill/>
          <a:ln>
            <a:noFill/>
          </a:ln>
        </p:spPr>
        <p:txBody>
          <a:bodyPr wrap="square" lIns="0" tIns="0" rIns="0" bIns="0" rtlCol="0" anchor="ctr">
            <a:noAutofit/>
          </a:bodyPr>
          <a:lstStyle/>
          <a:p>
            <a:pPr algn="l" indent="0" marL="0">
              <a:lnSpc>
                <a:spcPct val="100000"/>
              </a:lnSpc>
              <a:spcAft>
                <a:spcPts val="400"/>
              </a:spcAft>
              <a:buNone/>
            </a:pPr>
            <a:r>
              <a:rPr lang="de-DE" sz="2200" b="1" i="0" dirty="0">
                <a:solidFill>
                  <a:srgbClr val="00285A"/>
                </a:solidFill>
                <a:latin typeface="Arial" pitchFamily="34" charset="0"/>
                <a:ea typeface="Arial" pitchFamily="34" charset="-122"/>
                <a:cs typeface="Arial" pitchFamily="34" charset="-120"/>
              </a:rPr>
              <a:t>Tipp: Öffne die Einstellungen. Such nach dem Wort.</a:t>
            </a:r>
          </a:p>
          <a:p>
            <a:pPr algn="l" indent="0" marL="0">
              <a:lnSpc>
                <a:spcPct val="100000"/>
              </a:lnSpc>
              <a:spcAft>
                <a:spcPts val="0"/>
              </a:spcAft>
              <a:buNone/>
            </a:pPr>
            <a:r>
              <a:rPr lang="de-DE" sz="2000" b="0" i="0" dirty="0">
                <a:solidFill>
                  <a:srgbClr val="48586A"/>
                </a:solidFill>
                <a:latin typeface="Arial" pitchFamily="34" charset="0"/>
                <a:ea typeface="Arial" pitchFamily="34" charset="-122"/>
                <a:cs typeface="Arial" pitchFamily="34" charset="-120"/>
              </a:rPr>
              <a:t>Die App ändert ihre Menüs oft. Das ist nicht dein Fehler.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Quiz-Gespräch: Frage 1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1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Dein Snap ist nach 10 Sekunden weg. Kann ihn jemand behalten?</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Nein. Dann ist er überall weg.</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Ja. Jemand kann ein Bild vom Bildschirm machen.</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Nur Snapchat kann ihn behalten.</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Quiz-Gespräch: Frage 2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2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Auf der Snap-Karte sehen deine Freunde, wo du wohnst. Was machst du?</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schalte den Geist-Modus an.</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lasse es so. Es sind ja Freunde.</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schicke weniger Snaps.</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Quiz-Gespräch: Frage 3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3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Jemand schreibt: Schick mir ein Bild von dir. Aber sag es niemandem. Was ist das?</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Ein Spaß unter Freunden.</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Ein Geheimnis. Das ist okay.</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Ein Warnzeichen.</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Quiz-Gespräch: Frage 4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4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Eine Person schickt dir viele Snaps. Du kennst sie nicht. Was machst du?</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schicke Snaps zurück.</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blockiere die Person.</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schaue mir alle Snaps an.</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Quiz-Gespräch: Frage 5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5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Du willst ein lustiges Bild von deinem Kollegen verschicken. Was machst du zuerst?</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schicke es. Es ist ja nur kurz zu sehen.</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schicke es nur an eine Person.</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frage den Kollegen zuerst.</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Quiz-Gespräch: Frage 6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6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Jemand schickt dir immer wieder gemeine Nachrichten. Was hilft dir?</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Zeigen. Blockieren oder melden. Hilfe holen.</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schreibe gemein zurück.</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lösche alles sofort.</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Das haben wir gelernt">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haben wir gelernt</a:t>
            </a:r>
          </a:p>
        </p:txBody>
      </p:sp>
      <p:sp>
        <p:nvSpPr>
          <p:cNvPr id="3" name="Zeile 3"/>
          <p:cNvSpPr/>
          <p:nvPr/>
        </p:nvSpPr>
        <p:spPr>
          <a:xfrm>
            <a:off x="640080" y="1550000"/>
            <a:ext cx="10911840" cy="780000"/>
          </a:xfrm>
          <a:prstGeom prst="roundRect">
            <a:avLst>
              <a:gd name="adj" fmla="val 12000"/>
            </a:avLst>
          </a:prstGeom>
          <a:solidFill>
            <a:srgbClr val="D8EAF2"/>
          </a:solidFill>
          <a:ln w="12700">
            <a:solidFill>
              <a:srgbClr val="AAD1E3"/>
            </a:solidFill>
            <a:prstDash val="solid"/>
          </a:ln>
        </p:spPr>
      </p:sp>
      <p:sp>
        <p:nvSpPr>
          <p:cNvPr id="4" name="Kreis 4"/>
          <p:cNvSpPr/>
          <p:nvPr/>
        </p:nvSpPr>
        <p:spPr>
          <a:xfrm>
            <a:off x="770080" y="166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1</a:t>
            </a:r>
          </a:p>
        </p:txBody>
      </p:sp>
      <p:sp>
        <p:nvSpPr>
          <p:cNvPr id="5" name="Text 5"/>
          <p:cNvSpPr/>
          <p:nvPr/>
        </p:nvSpPr>
        <p:spPr>
          <a:xfrm>
            <a:off x="1496080" y="155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Ein Snap kann gespeichert werden.</a:t>
            </a:r>
          </a:p>
        </p:txBody>
      </p:sp>
      <p:sp>
        <p:nvSpPr>
          <p:cNvPr id="6" name="Zeile 6"/>
          <p:cNvSpPr/>
          <p:nvPr/>
        </p:nvSpPr>
        <p:spPr>
          <a:xfrm>
            <a:off x="640080" y="2440000"/>
            <a:ext cx="10911840" cy="78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770080" y="255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2</a:t>
            </a:r>
          </a:p>
        </p:txBody>
      </p:sp>
      <p:sp>
        <p:nvSpPr>
          <p:cNvPr id="8" name="Text 8"/>
          <p:cNvSpPr/>
          <p:nvPr/>
        </p:nvSpPr>
        <p:spPr>
          <a:xfrm>
            <a:off x="1496080" y="244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Den Geist-Modus anschalten.</a:t>
            </a:r>
          </a:p>
        </p:txBody>
      </p:sp>
      <p:sp>
        <p:nvSpPr>
          <p:cNvPr id="9" name="Zeile 9"/>
          <p:cNvSpPr/>
          <p:nvPr/>
        </p:nvSpPr>
        <p:spPr>
          <a:xfrm>
            <a:off x="640080" y="3330000"/>
            <a:ext cx="10911840" cy="78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770080" y="344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3</a:t>
            </a:r>
          </a:p>
        </p:txBody>
      </p:sp>
      <p:sp>
        <p:nvSpPr>
          <p:cNvPr id="11" name="Text 11"/>
          <p:cNvSpPr/>
          <p:nvPr/>
        </p:nvSpPr>
        <p:spPr>
          <a:xfrm>
            <a:off x="1496080" y="333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Erst prüfen. Dann senden.</a:t>
            </a:r>
          </a:p>
        </p:txBody>
      </p:sp>
      <p:sp>
        <p:nvSpPr>
          <p:cNvPr id="12" name="Zeile 12"/>
          <p:cNvSpPr/>
          <p:nvPr/>
        </p:nvSpPr>
        <p:spPr>
          <a:xfrm>
            <a:off x="640080" y="4220000"/>
            <a:ext cx="10911840" cy="78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770080" y="433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4</a:t>
            </a:r>
          </a:p>
        </p:txBody>
      </p:sp>
      <p:sp>
        <p:nvSpPr>
          <p:cNvPr id="14" name="Text 14"/>
          <p:cNvSpPr/>
          <p:nvPr/>
        </p:nvSpPr>
        <p:spPr>
          <a:xfrm>
            <a:off x="1496080" y="422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Kein Bild unter Druck. Ich sage Nein.</a:t>
            </a:r>
          </a:p>
        </p:txBody>
      </p:sp>
      <p:sp>
        <p:nvSpPr>
          <p:cNvPr id="15" name="Zeile 15"/>
          <p:cNvSpPr/>
          <p:nvPr/>
        </p:nvSpPr>
        <p:spPr>
          <a:xfrm>
            <a:off x="640080" y="5110000"/>
            <a:ext cx="10911840" cy="780000"/>
          </a:xfrm>
          <a:prstGeom prst="roundRect">
            <a:avLst>
              <a:gd name="adj" fmla="val 12000"/>
            </a:avLst>
          </a:prstGeom>
          <a:solidFill>
            <a:srgbClr val="D8EAF2"/>
          </a:solidFill>
          <a:ln w="12700">
            <a:solidFill>
              <a:srgbClr val="AAD1E3"/>
            </a:solidFill>
            <a:prstDash val="solid"/>
          </a:ln>
        </p:spPr>
      </p:sp>
      <p:sp>
        <p:nvSpPr>
          <p:cNvPr id="16" name="Kreis 16"/>
          <p:cNvSpPr/>
          <p:nvPr/>
        </p:nvSpPr>
        <p:spPr>
          <a:xfrm>
            <a:off x="770080" y="522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5</a:t>
            </a:r>
          </a:p>
        </p:txBody>
      </p:sp>
      <p:sp>
        <p:nvSpPr>
          <p:cNvPr id="17" name="Text 17"/>
          <p:cNvSpPr/>
          <p:nvPr/>
        </p:nvSpPr>
        <p:spPr>
          <a:xfrm>
            <a:off x="1496080" y="511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Hilfe holen. Das ist stark.</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Auf der Lernplattform weiter üb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Auf der Lernplattform weiter üben</a:t>
            </a:r>
          </a:p>
        </p:txBody>
      </p:sp>
      <p:sp>
        <p:nvSpPr>
          <p:cNvPr id="3" name="Text 3"/>
          <p:cNvSpPr/>
          <p:nvPr/>
        </p:nvSpPr>
        <p:spPr>
          <a:xfrm>
            <a:off x="640080" y="1500000"/>
            <a:ext cx="3700000" cy="3700000"/>
          </a:xfrm>
          <a:prstGeom prst="roundRect">
            <a:avLst>
              <a:gd name="adj" fmla="val 4000"/>
            </a:avLst>
          </a:prstGeom>
          <a:solidFill>
            <a:srgbClr val="FFFFFF"/>
          </a:solidFill>
          <a:ln w="19050">
            <a:solidFill>
              <a:srgbClr val="AAD1E3"/>
            </a:solidFill>
            <a:prstDash val="solid"/>
          </a:ln>
          <a:effectLst>
            <a:outerShdw sx="100000" sy="100000" kx="0" ky="0" algn="bl" rotWithShape="0" blurRad="88900" dist="25400" dir="5400000">
              <a:srgbClr val="000000">
                <a:alpha val="14000"/>
              </a:srgbClr>
            </a:outerShdw>
          </a:effectLst>
        </p:spPr>
      </p:sp>
      <p:pic>
        <p:nvPicPr>
          <p:cNvPr id="4" name="QR-Code 4" descr="QR-Code zum Thema Snapchat auf der Lernplattform"/>
          <p:cNvPicPr>
            <a:picLocks noChangeAspect="1"/>
          </p:cNvPicPr>
          <p:nvPr/>
        </p:nvPicPr>
        <p:blipFill>
          <a:blip r:embed="rId3"/>
          <a:stretch>
            <a:fillRect/>
          </a:stretch>
        </p:blipFill>
        <p:spPr>
          <a:xfrm>
            <a:off x="890080" y="1750000"/>
            <a:ext cx="3200000" cy="3200000"/>
          </a:xfrm>
          <a:prstGeom prst="rect">
            <a:avLst/>
          </a:prstGeom>
        </p:spPr>
      </p:pic>
      <p:sp>
        <p:nvSpPr>
          <p:cNvPr id="5" name="Text 5"/>
          <p:cNvSpPr/>
          <p:nvPr/>
        </p:nvSpPr>
        <p:spPr>
          <a:xfrm>
            <a:off x="640080" y="5250000"/>
            <a:ext cx="3700000" cy="7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1600" b="1" i="0" dirty="0">
                <a:solidFill>
                  <a:srgbClr val="00285A"/>
                </a:solidFill>
                <a:latin typeface="Arial" pitchFamily="34" charset="0"/>
                <a:ea typeface="Arial" pitchFamily="34" charset="-122"/>
                <a:cs typeface="Arial" pitchFamily="34" charset="-120"/>
              </a:rPr>
              <a:t>Auf der Lernplattform weiterlernen</a:t>
            </a:r>
          </a:p>
        </p:txBody>
      </p:sp>
      <p:sp>
        <p:nvSpPr>
          <p:cNvPr id="6" name="Text 6"/>
          <p:cNvSpPr/>
          <p:nvPr/>
        </p:nvSpPr>
        <p:spPr>
          <a:xfrm>
            <a:off x="4700000" y="1450000"/>
            <a:ext cx="6850000" cy="65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Dort findest du:</a:t>
            </a:r>
          </a:p>
        </p:txBody>
      </p:sp>
      <p:sp>
        <p:nvSpPr>
          <p:cNvPr id="7" name="Zeile 7"/>
          <p:cNvSpPr/>
          <p:nvPr/>
        </p:nvSpPr>
        <p:spPr>
          <a:xfrm>
            <a:off x="4700000" y="2150000"/>
            <a:ext cx="6850000" cy="680000"/>
          </a:xfrm>
          <a:prstGeom prst="roundRect">
            <a:avLst>
              <a:gd name="adj" fmla="val 12000"/>
            </a:avLst>
          </a:prstGeom>
          <a:solidFill>
            <a:srgbClr val="D8EAF2"/>
          </a:solidFill>
          <a:ln w="12700">
            <a:solidFill>
              <a:srgbClr val="AAD1E3"/>
            </a:solidFill>
            <a:prstDash val="solid"/>
          </a:ln>
        </p:spPr>
      </p:sp>
      <p:sp>
        <p:nvSpPr>
          <p:cNvPr id="8" name="Kreis 8"/>
          <p:cNvSpPr/>
          <p:nvPr/>
        </p:nvSpPr>
        <p:spPr>
          <a:xfrm>
            <a:off x="4830000" y="225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9" name="Text 9"/>
          <p:cNvSpPr/>
          <p:nvPr/>
        </p:nvSpPr>
        <p:spPr>
          <a:xfrm>
            <a:off x="5485999" y="215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Das Thema Snapchat in deiner Sprache</a:t>
            </a:r>
          </a:p>
        </p:txBody>
      </p:sp>
      <p:sp>
        <p:nvSpPr>
          <p:cNvPr id="10" name="Zeile 10"/>
          <p:cNvSpPr/>
          <p:nvPr/>
        </p:nvSpPr>
        <p:spPr>
          <a:xfrm>
            <a:off x="4700000" y="2940000"/>
            <a:ext cx="6850000" cy="680000"/>
          </a:xfrm>
          <a:prstGeom prst="roundRect">
            <a:avLst>
              <a:gd name="adj" fmla="val 12000"/>
            </a:avLst>
          </a:prstGeom>
          <a:solidFill>
            <a:srgbClr val="D8EAF2"/>
          </a:solidFill>
          <a:ln w="12700">
            <a:solidFill>
              <a:srgbClr val="AAD1E3"/>
            </a:solidFill>
            <a:prstDash val="solid"/>
          </a:ln>
        </p:spPr>
      </p:sp>
      <p:sp>
        <p:nvSpPr>
          <p:cNvPr id="11" name="Kreis 11"/>
          <p:cNvSpPr/>
          <p:nvPr/>
        </p:nvSpPr>
        <p:spPr>
          <a:xfrm>
            <a:off x="4830000" y="304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12" name="Text 12"/>
          <p:cNvSpPr/>
          <p:nvPr/>
        </p:nvSpPr>
        <p:spPr>
          <a:xfrm>
            <a:off x="5485999" y="294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Vorlesen</a:t>
            </a:r>
          </a:p>
        </p:txBody>
      </p:sp>
      <p:sp>
        <p:nvSpPr>
          <p:cNvPr id="13" name="Zeile 13"/>
          <p:cNvSpPr/>
          <p:nvPr/>
        </p:nvSpPr>
        <p:spPr>
          <a:xfrm>
            <a:off x="4700000" y="3730000"/>
            <a:ext cx="6850000" cy="680000"/>
          </a:xfrm>
          <a:prstGeom prst="roundRect">
            <a:avLst>
              <a:gd name="adj" fmla="val 12000"/>
            </a:avLst>
          </a:prstGeom>
          <a:solidFill>
            <a:srgbClr val="D8EAF2"/>
          </a:solidFill>
          <a:ln w="12700">
            <a:solidFill>
              <a:srgbClr val="AAD1E3"/>
            </a:solidFill>
            <a:prstDash val="solid"/>
          </a:ln>
        </p:spPr>
      </p:sp>
      <p:sp>
        <p:nvSpPr>
          <p:cNvPr id="14" name="Kreis 14"/>
          <p:cNvSpPr/>
          <p:nvPr/>
        </p:nvSpPr>
        <p:spPr>
          <a:xfrm>
            <a:off x="4830000" y="383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15" name="Text 15"/>
          <p:cNvSpPr/>
          <p:nvPr/>
        </p:nvSpPr>
        <p:spPr>
          <a:xfrm>
            <a:off x="5485999" y="373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Quiz und Merk-Karte</a:t>
            </a:r>
          </a:p>
        </p:txBody>
      </p:sp>
      <p:sp>
        <p:nvSpPr>
          <p:cNvPr id="16" name="Zeile 16"/>
          <p:cNvSpPr/>
          <p:nvPr/>
        </p:nvSpPr>
        <p:spPr>
          <a:xfrm>
            <a:off x="4700000" y="4520000"/>
            <a:ext cx="6850000" cy="680000"/>
          </a:xfrm>
          <a:prstGeom prst="roundRect">
            <a:avLst>
              <a:gd name="adj" fmla="val 12000"/>
            </a:avLst>
          </a:prstGeom>
          <a:solidFill>
            <a:srgbClr val="D8EAF2"/>
          </a:solidFill>
          <a:ln w="12700">
            <a:solidFill>
              <a:srgbClr val="AAD1E3"/>
            </a:solidFill>
            <a:prstDash val="solid"/>
          </a:ln>
        </p:spPr>
      </p:sp>
      <p:sp>
        <p:nvSpPr>
          <p:cNvPr id="17" name="Kreis 17"/>
          <p:cNvSpPr/>
          <p:nvPr/>
        </p:nvSpPr>
        <p:spPr>
          <a:xfrm>
            <a:off x="4830000" y="462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18" name="Text 18"/>
          <p:cNvSpPr/>
          <p:nvPr/>
        </p:nvSpPr>
        <p:spPr>
          <a:xfrm>
            <a:off x="5485999" y="452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Kurz-Modus in 3 Schritten</a:t>
            </a:r>
          </a:p>
        </p:txBody>
      </p:sp>
      <p:sp>
        <p:nvSpPr>
          <p:cNvPr id="19" name="Text 19"/>
          <p:cNvSpPr/>
          <p:nvPr/>
        </p:nvSpPr>
        <p:spPr>
          <a:xfrm>
            <a:off x="4700000" y="5350000"/>
            <a:ext cx="685000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1" i="0" dirty="0">
                <a:solidFill>
                  <a:srgbClr val="00285A"/>
                </a:solidFill>
                <a:latin typeface="Arial" pitchFamily="34" charset="0"/>
                <a:ea typeface="Arial" pitchFamily="34" charset="-122"/>
                <a:cs typeface="Arial" pitchFamily="34" charset="-120"/>
              </a:rPr>
              <a:t>Allein und in deinem Tempo.</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Eine Sache für heute">
    <p:bg>
      <p:bgPr>
        <a:solidFill>
          <a:srgbClr val="D8EAF2"/>
        </a:solidFill>
        <a:effectLst/>
      </p:bgPr>
    </p:bg>
    <p:spTree>
      <p:nvGrpSpPr>
        <p:cNvPr id="1" name=""/>
        <p:cNvGrpSpPr/>
        <p:nvPr/>
      </p:nvGrpSpPr>
      <p:grpSpPr>
        <a:xfrm>
          <a:off x="0" y="0"/>
          <a:ext cx="0" cy="0"/>
          <a:chOff x="0" y="0"/>
          <a:chExt cx="0" cy="0"/>
        </a:xfrm>
      </p:grpSpPr>
      <p:sp>
        <p:nvSpPr>
          <p:cNvPr id="2" name="Text 2"/>
          <p:cNvSpPr/>
          <p:nvPr/>
        </p:nvSpPr>
        <p:spPr>
          <a:xfrm>
            <a:off x="640080" y="500000"/>
            <a:ext cx="10911840" cy="8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Eine Sache für heute</a:t>
            </a:r>
          </a:p>
        </p:txBody>
      </p:sp>
      <p:sp>
        <p:nvSpPr>
          <p:cNvPr id="3" name="Text 3"/>
          <p:cNvSpPr/>
          <p:nvPr/>
        </p:nvSpPr>
        <p:spPr>
          <a:xfrm>
            <a:off x="640080" y="1500000"/>
            <a:ext cx="6500000" cy="4600000"/>
          </a:xfrm>
          <a:prstGeom prst="roundRect">
            <a:avLst>
              <a:gd name="adj" fmla="val 5000"/>
            </a:avLst>
          </a:prstGeom>
          <a:solidFill>
            <a:srgbClr val="FFFFFF"/>
          </a:solidFill>
          <a:ln>
            <a:noFill/>
          </a:ln>
          <a:effectLst>
            <a:outerShdw sx="100000" sy="100000" kx="0" ky="0" algn="bl" rotWithShape="0" blurRad="88900" dist="25400" dir="5400000">
              <a:srgbClr val="000000">
                <a:alpha val="14000"/>
              </a:srgbClr>
            </a:outerShdw>
          </a:effectLst>
        </p:spPr>
      </p:sp>
      <p:sp>
        <p:nvSpPr>
          <p:cNvPr id="4" name="Text 4"/>
          <p:cNvSpPr/>
          <p:nvPr/>
        </p:nvSpPr>
        <p:spPr>
          <a:xfrm>
            <a:off x="1040080" y="1700000"/>
            <a:ext cx="5700000" cy="4200000"/>
          </a:xfrm>
          <a:prstGeom prst="rect">
            <a:avLst/>
          </a:prstGeom>
          <a:noFill/>
          <a:ln>
            <a:noFill/>
          </a:ln>
        </p:spPr>
        <p:txBody>
          <a:bodyPr wrap="square" lIns="0" tIns="0" rIns="0" bIns="0" rtlCol="0" anchor="ctr">
            <a:noAutofit/>
          </a:bodyPr>
          <a:lstStyle/>
          <a:p>
            <a:pPr algn="l" indent="0" marL="0">
              <a:lnSpc>
                <a:spcPct val="100000"/>
              </a:lnSpc>
              <a:spcAft>
                <a:spcPts val="1200"/>
              </a:spcAft>
              <a:buNone/>
            </a:pPr>
            <a:r>
              <a:rPr lang="de-DE" sz="2800" b="0" i="0" dirty="0">
                <a:solidFill>
                  <a:srgbClr val="1A1A1A"/>
                </a:solidFill>
                <a:latin typeface="Arial" pitchFamily="34" charset="0"/>
                <a:ea typeface="Arial" pitchFamily="34" charset="-122"/>
                <a:cs typeface="Arial" pitchFamily="34" charset="-120"/>
              </a:rPr>
              <a:t>Öffne heute die Snap-Karte.</a:t>
            </a:r>
          </a:p>
          <a:p>
            <a:pPr algn="l" indent="0" marL="0">
              <a:lnSpc>
                <a:spcPct val="100000"/>
              </a:lnSpc>
              <a:spcAft>
                <a:spcPts val="1200"/>
              </a:spcAft>
              <a:buNone/>
            </a:pPr>
            <a:r>
              <a:rPr lang="de-DE" sz="3200" b="1" i="0" dirty="0">
                <a:solidFill>
                  <a:srgbClr val="00285A"/>
                </a:solidFill>
                <a:latin typeface="Arial" pitchFamily="34" charset="0"/>
                <a:ea typeface="Arial" pitchFamily="34" charset="-122"/>
                <a:cs typeface="Arial" pitchFamily="34" charset="-120"/>
              </a:rPr>
              <a:t>Prüfe:</a:t>
            </a:r>
          </a:p>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Wer kann deinen Ort sehen?</a:t>
            </a:r>
          </a:p>
        </p:txBody>
      </p:sp>
      <p:sp>
        <p:nvSpPr>
          <p:cNvPr id="5" name="Bild-Platzhalter 5"/>
          <p:cNvSpPr/>
          <p:nvPr/>
        </p:nvSpPr>
        <p:spPr>
          <a:xfrm>
            <a:off x="7450000" y="1500000"/>
            <a:ext cx="4100000" cy="46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schaut auf die Karte. Ihr Ort ist geschützt.]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Danke fürs Mitmachen.">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0" y="1900000"/>
            <a:ext cx="12192000" cy="12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5400" b="1" i="0" dirty="0">
                <a:solidFill>
                  <a:srgbClr val="FFFFFF"/>
                </a:solidFill>
                <a:latin typeface="Arial" pitchFamily="34" charset="0"/>
                <a:ea typeface="Arial" pitchFamily="34" charset="-122"/>
                <a:cs typeface="Arial" pitchFamily="34" charset="-120"/>
              </a:rPr>
              <a:t>Danke fürs Mitmachen.</a:t>
            </a:r>
          </a:p>
        </p:txBody>
      </p:sp>
      <p:sp>
        <p:nvSpPr>
          <p:cNvPr id="3" name="Text 3"/>
          <p:cNvSpPr/>
          <p:nvPr/>
        </p:nvSpPr>
        <p:spPr>
          <a:xfrm>
            <a:off x="0" y="3150000"/>
            <a:ext cx="12192000" cy="8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3000" b="0" i="0" dirty="0">
                <a:solidFill>
                  <a:srgbClr val="AAD1E3"/>
                </a:solidFill>
                <a:latin typeface="Arial" pitchFamily="34" charset="0"/>
                <a:ea typeface="Arial" pitchFamily="34" charset="-122"/>
                <a:cs typeface="Arial" pitchFamily="34" charset="-120"/>
              </a:rPr>
              <a:t>Hast du noch Fragen?</a:t>
            </a:r>
          </a:p>
        </p:txBody>
      </p:sp>
      <p:sp>
        <p:nvSpPr>
          <p:cNvPr id="4" name="Text 4"/>
          <p:cNvSpPr/>
          <p:nvPr/>
        </p:nvSpPr>
        <p:spPr>
          <a:xfrm>
            <a:off x="0" y="4100000"/>
            <a:ext cx="12192000" cy="8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FFFFFF"/>
                </a:solidFill>
                <a:latin typeface="Arial" pitchFamily="34" charset="0"/>
                <a:ea typeface="Arial" pitchFamily="34" charset="-122"/>
                <a:cs typeface="Arial" pitchFamily="34" charset="-120"/>
              </a:rPr>
              <a:t>Du brauchst Hilfe? Frag eine vertraute Person.</a:t>
            </a:r>
          </a:p>
        </p:txBody>
      </p:sp>
      <p:sp>
        <p:nvSpPr>
          <p:cNvPr id="5" name="Text 5"/>
          <p:cNvSpPr/>
          <p:nvPr/>
        </p:nvSpPr>
        <p:spPr>
          <a:xfrm>
            <a:off x="640080" y="6309360"/>
            <a:ext cx="10972800" cy="36576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1300" b="0" i="0" dirty="0">
                <a:solidFill>
                  <a:srgbClr val="AAD1E3"/>
                </a:solidFill>
                <a:latin typeface="Arial" pitchFamily="34" charset="0"/>
                <a:ea typeface="Arial" pitchFamily="34" charset="-122"/>
                <a:cs typeface="Arial" pitchFamily="34" charset="-120"/>
              </a:rPr>
              <a:t>Alexianer Stift Tilbeck GmbH   ·   Gefördert durch die Sozialstiftung NRW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Snapchat sicher und selbstbestimmt nutzen</dc:title>
  <dc:subject>Modul Snapchat nach REFERENZMODUL.md – 90-Minuten-Live-Workshop</dc:subject>
  <dc:creator>Alexianer Stift Tilbeck – Digitale Teilhabe</dc:creator>
  <cp:lastModifiedBy>Alexianer Stift Tilbeck – Digitale Teilhabe</cp:lastModifiedBy>
  <cp:revision>2</cp:revision>
  <dcterms:created xsi:type="dcterms:W3CDTF">2026-06-24T06:27:18Z</dcterms:created>
  <dcterms:modified xsi:type="dcterms:W3CDTF">2026-09-18T09:31:19Z</dcterms:modified>
</cp:coreProperties>
</file>