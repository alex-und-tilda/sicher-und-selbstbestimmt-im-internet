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Ankommen; Thema behutsam benennen.</a:t>
            </a:r>
          </a:p>
          <a:p>
            <a:r>
              <a:rPr lang="de-DE" b="1" sz="1100"/>
              <a:t>Methode: </a:t>
            </a:r>
            <a:r>
              <a:rPr lang="de-DE" sz="1100"/>
              <a:t>Begrüßung, ruhige Vorstellungsrunde mit Name oder Wunschname.</a:t>
            </a:r>
          </a:p>
          <a:p>
            <a:r>
              <a:rPr lang="de-DE" b="1" sz="1100"/>
              <a:t>Sozialform: </a:t>
            </a:r>
            <a:r>
              <a:rPr lang="de-DE" sz="1100"/>
              <a:t>Sitzkreis, Plenum</a:t>
            </a:r>
          </a:p>
          <a:p>
            <a:r>
              <a:rPr lang="de-DE" b="1" sz="1100"/>
              <a:t>Zeit: </a:t>
            </a:r>
            <a:r>
              <a:rPr lang="de-DE" sz="1100"/>
              <a:t>ca. 2 Min</a:t>
            </a:r>
          </a:p>
          <a:p>
            <a:r>
              <a:rPr lang="de-DE" b="1" sz="1100"/>
              <a:t>Material: </a:t>
            </a:r>
            <a:r>
              <a:rPr lang="de-DE" sz="1100"/>
              <a:t>Beamer, Namensschilder</a:t>
            </a:r>
          </a:p>
          <a:p>
            <a:r>
              <a:rPr lang="de-DE" b="1" sz="1100"/>
              <a:t>Hinweis: </a:t>
            </a:r>
            <a:r>
              <a:rPr lang="de-DE" sz="1100"/>
              <a:t>Achtsam starten. Das Thema kann Betroffene berühren. Ziel in einem Satz: Heute erkennen wir Cybermobbing, und wir üben, wie man Hilfe holt. Ausdrücklich sagen: Niemand muss etwas Eigenes erzählen. Wer eine Pause braucht, darf rausgehen.</a:t>
            </a:r>
          </a:p>
          <a:p>
            <a:r>
              <a:rPr lang="de-DE" b="1" sz="1100"/>
              <a:t>Bildvorschlag: </a:t>
            </a:r>
            <a:r>
              <a:rPr lang="de-DE" sz="1100"/>
              <a:t>Alex und Tilda als eigene Figuren der Lernplattform (Wiedererkennung Workshop – Lernplattform). Keine fremden Piktogramme.</a:t>
            </a:r>
          </a:p>
          <a:p>
            <a:r>
              <a:rPr lang="de-DE" b="1" sz="1100"/>
              <a:t>Über diesen Leitfaden: </a:t>
            </a:r>
            <a:r>
              <a:rPr lang="de-DE" sz="1100"/>
              <a:t>Modul Cybermobbing nach REFERENZMODUL.md · Stand 18.09.2026 · Fassung 2 mit dem gemeinsamen Standard aus gemeinsam/BEGRIFFE.md und gemeinsam/MATERIAL.md, gebaut nach dem Muster des Instagram-Pilotpakets · 90 Minuten = 86 Minuten Programm + 4 Minuten Puffer. Dieser Leitfaden wird nur hier in den Sprechernotizen gepflegt; die PDF ist ein Export.</a:t>
            </a:r>
          </a:p>
          <a:p>
            <a:r>
              <a:rPr lang="de-DE" b="1" sz="1100"/>
              <a:t>Thema ohne App: </a:t>
            </a:r>
            <a:r>
              <a:rPr lang="de-DE" sz="1100"/>
              <a:t>Cybermobbing ist kein App-Modul. Deshalb gibt es keine App-Einstellungen in der Praxis. Nach REFERENZMODUL §18 besteht die Praxis aus Handlungen und Übungen der Lernplattform: Hilfe-Karte ausfüllen, Bild vom Bildschirm üben, Übung am Handy. Der QR-Code für die Praxis führt zur Übung im Thema Hilfe bei Problemen, der zweite QR-Code zum Thema selbst. Hilfe-Wege und Ansprechpersonen haben in diesem Modul mehr Gewicht.</a:t>
            </a:r>
          </a:p>
          <a:p>
            <a:r>
              <a:rPr lang="de-DE" b="1" sz="1100"/>
              <a:t>Lernziele des Moduls: </a:t>
            </a:r>
            <a:r>
              <a:rPr lang="de-DE" sz="1100"/>
              <a:t>(1) Die Person erklärt, was Cybermobbing ist: immer wieder und mit Absicht, im Internet – und unterscheidet es von einem einmaligen Streit. (2) Sie sagt: Es ist nicht meine Schuld, und sie nennt ihre Gefühle als wichtig. (3) Sie nennt drei Schritte: Stopp machen, nicht sofort löschen, zeigen – und sie kann ein Bild vom Bildschirm machen. (4) Sie nennt eine vertraute Person und einen Hilfe-Weg und sagt, was sie tun kann, wenn sie Cybermobbing bei anderen sieht.</a:t>
            </a:r>
          </a:p>
          <a:p>
            <a:r>
              <a:rPr lang="de-DE" b="1" sz="1100"/>
              <a:t>Ablauf: </a:t>
            </a:r>
            <a:r>
              <a:rPr lang="de-DE" sz="1100"/>
              <a:t>0–7 Ankommen · 7–13 Aktivierung · 13–22 Thema 1 Was ist Cybermobbing? · 22–31 Thema 2 Es ist nicht deine Schuld · 31–40 Thema 3 Was kann ich tun? · 40–49 Thema 4 Hilfe holen und anderen helfen · 49–59 Pause · 59–74 Praxis · 74–81 Quiz-Gespräch · 81–84 Lernplattform · 84–86 Eine Sache für heute · 86–90 Puffer.</a:t>
            </a:r>
          </a:p>
          <a:p>
            <a:r>
              <a:rPr lang="de-DE" b="1" sz="1100"/>
              <a:t>Material gesamt: </a:t>
            </a:r>
            <a:r>
              <a:rPr lang="de-DE" sz="1100"/>
              <a:t>Beamer, Antwortkarten A/B/C, Namensschilder, Plakat mit Ablauf und Regeln, 3 Situationskarten für die Aktivierung, Hilfe-Karte für jede Person (gemeinsam/HILFE-KARTE.md: Vorderseite mit Ansprechpersonen vor Ort und geprüften Hilfe-Nummern, Rückseite zum Ausfüllen), gedruckte Merk-Karte Hilfe bei Problemen der Lernplattform (#thema-hilfe:merk), Stifte, WLAN-Zugang, Ersatzgerät.</a:t>
            </a:r>
          </a:p>
          <a:p>
            <a:r>
              <a:rPr lang="de-DE" b="1" sz="1100"/>
              <a:t>Vorbereitung am Vortag: </a:t>
            </a:r>
            <a:r>
              <a:rPr lang="de-DE" sz="1100"/>
              <a:t>Beide QR-Codes testen. Situationskarten ausdrucken. Vorderseite der Hilfe-Karte mit den Ansprechpersonen vor Ort ausfüllen, Hilfe-Nummern prüfen, regionale Beratungsstellen ergänzen und die Karten drucken. Schutzkonzept des Trägers und den Weg für ein Einzelgespräch klären. Am eigenen Gerät nachsehen, wie ein Bild vom Bildschirm gemacht wird – bei Android und bei iPhone unterschiedlich. Rollen verteilen: Leitung, Begleitung in der Praxis, Ansprechperson für Einzelgespräche. Vor dem Praxistest sind zwei Bilder verpflichtend: Folie 5 oder die Situationskarten und Folie 19 (Hilfe-Karte mit ausgefüllter Vorderseite).</a:t>
            </a:r>
          </a:p>
          <a:p>
            <a:r>
              <a:rPr lang="de-DE" b="1" sz="1100"/>
              <a:t>Hilfe-Nummern: </a:t>
            </a:r>
            <a:r>
              <a:rPr lang="de-DE" sz="1100"/>
              <a:t>Die Nummern auf Folie 20 stammen aus dem bisherigen Material und sind vor jedem Workshop zu prüfen: Telefon-Seelsorge 0800 111 0 111 und 0800 111 0 222 (kostenlos, ohne Namen, rund um die Uhr), Weisser Ring 116 006, bei akuter Gefahr 110. Regionale Beratungsstellen und Angebote für Beratung bei digitaler Gewalt ergänzen. Die Lernplattform nennt selbst keine Beratungs-Nummern; sie spricht allgemein von Beratungs-Stellen (Thema Hilfe L7). Deshalb stehen die geprüften Nummern auf der Vorderseite der Hilfe-Karte.</a:t>
            </a:r>
          </a:p>
          <a:p>
            <a:r>
              <a:rPr lang="de-DE" b="1" sz="1100"/>
              <a:t>Live oder Lernplattform: </a:t>
            </a:r>
            <a:r>
              <a:rPr lang="de-DE" sz="1100"/>
              <a:t>Live: Gefühle, Schuld-Entlastung, Rolle der Zuschauenden, Hilfe-Satz üben, Hilfe-Karte, Bild vom Bildschirm am eigenen Handy. Lernplattform (Thema Hilfe bei Problemen): Stopp-Regel (L1), nicht sofort löschen (L2), Bild vom Bildschirm (L3), Druck erkennen (L4), Angst ernst nehmen (L5), vertraute Personen (L6), externe Hilfe (L7), Plan (L8), Quiz, Merk-Karte, Übungs-Handy „Etwas ist passiert“ – im eigenen Tempo, in drei Sprach-Ebenen, mit Vorlesen. Blockieren und Melden sind je App verschieden und stehen auf den Praxis-Seiten der App-Module.</a:t>
            </a:r>
          </a:p>
          <a:p>
            <a:r>
              <a:rPr lang="de-DE" b="1" sz="1100"/>
              <a:t>Sensible Themen: </a:t>
            </a:r>
            <a:r>
              <a:rPr lang="de-DE" sz="1100"/>
              <a:t>Dieses Modul ist durchgehend sensibel. Betroffene und Personen, die selbst mitgemacht haben, können in derselben Gruppe sitzen – zum Beispiel aus einer Wohngruppe oder einer Werkstatt. Regeln: keine echten Fälle, keine Namen, nie Cybermobbing nachspielen. Nur ein Rollenspiel ist vorgesehen: Hilfe holen. Wer selbst mitgemacht hat, bekommt einen Weg heraus statt Beschämung: aufhören, sich entschuldigen, Hilfe holen. Auf Anzeichen für Selbstverletzung oder Suizidgedanken achten: nicht allein lassen, sofort Gespräch anbieten, Krisenhilfe und bei akuter Gefahr 112. Bei sehr privaten Bildern: kein Bild vom Bildschirm davon machen und nichts weiterleiten, sondern Hilfe holen. Auf Reaktionen achten; in der Pause und nach dem Workshop für Einzelgespräche erreichbar sein; Schutzauftrag der Einrichtung.</a:t>
            </a:r>
          </a:p>
          <a:p>
            <a:r>
              <a:rPr lang="de-DE" b="1" sz="1100"/>
              <a:t>Quiz und Datenschutz: </a:t>
            </a:r>
            <a:r>
              <a:rPr lang="de-DE" sz="1100"/>
              <a:t>Standard ist das Kartenquiz auf den Folien 26–31 (kein externer Dienst). Die Kahoot-Datei ist nur eine Vorlage im Kahoot-Format und wird nur nach Klärung mit Träger und Datenschutz genutzt. Vorher im eigenen Zugang prüfen, was dort möglich ist: Import der Datei, Teams, langes Zeitlimit, Rangliste ausblenden. Nichts zusagen, was nicht geprüft ist. Grundsatz: möglichst druckarm einstellen, viel Zeit pro Frage, Punkte und Rangliste nicht thematisieren, Teamnamen statt echter Namen, keine Ergebnisse speichern oder exportieren. In diesem Modul ist das Kartenquiz besonders zu empfehlen, weil die Fragen zum Gespräch gehören.</a:t>
            </a:r>
          </a:p>
          <a:p>
            <a:r>
              <a:rPr lang="de-DE" b="1" sz="1100"/>
              <a:t>Quiz: Kernfragen und Reservefragen: </a:t>
            </a:r>
            <a:r>
              <a:rPr lang="de-DE" sz="1100"/>
              <a:t>Kernfragen sind die Fragen 1, 3 und 5 (Folien 26, 28 und 30). Sie decken die drei Kernbotschaften ab: Cybermobbing ist immer wieder und mit Absicht, Es ist nicht deine Schuld, Stopp machen statt zurückschreiben. Diese drei werden immer gestellt. Reservefragen sind 2, 4 und 6 (Folien 27, 29 und 31). Sie kommen dazu, wenn Zeit und Aufmerksamkeit reichen. Zuerst die Frage 6 nehmen, wenn Angst in der Gruppe Thema war.</a:t>
            </a:r>
          </a:p>
          <a:p>
            <a:r>
              <a:rPr lang="de-DE" b="1" sz="1100"/>
              <a:t>Bilder: </a:t>
            </a:r>
            <a:r>
              <a:rPr lang="de-DE" sz="1100"/>
              <a:t>Diese Fassung enthält keine Piktogramme und keine fertigen Bilder. Die grau gestrichelten Rahmen sind Platzhalter für eigene oder eigens erstellte Bilder. Jeder Platzhalter ist im Feld Bildvorschlag beschrieben. Verpflichtend vor dem Praxistest: die Situationskarten für Folie 5 und die Hilfe-Karte für Folie 19. Wichtig: keine drastischen Darstellungen, keine weinenden Gesichter in Großaufnahme, keine nachgebauten App-Oberflächen.</a:t>
            </a:r>
          </a:p>
          <a:p>
            <a:r>
              <a:rPr lang="de-DE" b="1" sz="1100"/>
              <a:t>Bekannte Widersprüche zur Lernplattform: </a:t>
            </a:r>
            <a:r>
              <a:rPr lang="de-DE" sz="1100"/>
              <a:t>Bekannt und in dieser Fassung bewusst nicht geändert; sie werden später an beiden Stellen geklärt. Die vollständige Liste für alle Module steht in gemeinsam/BEGRIFFE.md, Abschnitt 3. 1. Die Lernplattform hat kein eigenes Thema Cybermobbing. Der Workshop verweist deshalb auf das Thema Hilfe bei Problemen. Die Definition (immer wieder, mit Absicht) und die Rolle der Zuschauenden gibt es dort nicht. 2. Schreibweise: Die Begleit-Ebene schreibt „Cyber-Mobbing“ mit Bindestrich, der Workshop schreibt „Cybermobbing“ ohne Bindestrich; das ist seit 18.09.2026 für alle Module entschieden. 3. Die Lernplattform nennt als Unterstützung „Unterstützerin, Unterstützer, Angehörige oder Freunde“ (Thema Hilfe L6); geklärt am 18.09.2026: Der Workshop nennt ebenfalls Unterstützerin und Unterstützer; der Hauptbegriff bleibt vertraute Person. 4. Die Lernplattform sagt in den Merksätzen „Ich hole Unterstützung“, der Workshop sagt „Hilfe holen“. 5. Die Merk-Karte der Lernplattform ist nicht wortgleich mit Folie 32.</a:t>
            </a:r>
          </a:p>
        </p:txBody>
      </p:sp>
      <p:sp>
        <p:nvSpPr>
          <p:cNvPr id="4" name="Slide Number Placeholder 3"/>
          <p:cNvSpPr>
            <a:spLocks noGrp="1"/>
          </p:cNvSpPr>
          <p:nvPr>
            <p:ph type="sldNum" sz="quarter" idx="10"/>
          </p:nvPr>
        </p:nvSpPr>
        <p:spPr/>
        <p:txBody>
          <a:bodyPr/>
          <a:lstStyle/>
          <a:p>
            <a:fld id="{F7021451-1387-4CA6-816F-3879F97B5CBC}" type="slidenum">
              <a:rPr lang="de-DE"/>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Überblick über den Ablauf; Vorhersehbarkeit.</a:t>
            </a:r>
          </a:p>
          <a:p>
            <a:r>
              <a:rPr lang="de-DE" b="1" sz="1100"/>
              <a:t>Methode: </a:t>
            </a:r>
            <a:r>
              <a:rPr lang="de-DE" sz="1100"/>
              <a:t>Ablauf vorlesen, auf Pause und Praxis hinweisen.</a:t>
            </a:r>
          </a:p>
          <a:p>
            <a:r>
              <a:rPr lang="de-DE" b="1" sz="1100"/>
              <a:t>Sozialform: </a:t>
            </a:r>
            <a:r>
              <a:rPr lang="de-DE" sz="1100"/>
              <a:t>Plenum</a:t>
            </a:r>
          </a:p>
          <a:p>
            <a:r>
              <a:rPr lang="de-DE" b="1" sz="1100"/>
              <a:t>Zeit: </a:t>
            </a:r>
            <a:r>
              <a:rPr lang="de-DE" sz="1100"/>
              <a:t>ca. 2 Min</a:t>
            </a:r>
          </a:p>
          <a:p>
            <a:r>
              <a:rPr lang="de-DE" b="1" sz="1100"/>
              <a:t>Material: </a:t>
            </a:r>
            <a:r>
              <a:rPr lang="de-DE" sz="1100"/>
              <a:t>Beamer, Ablauf als Plakat</a:t>
            </a:r>
          </a:p>
          <a:p>
            <a:r>
              <a:rPr lang="de-DE" b="1" sz="1100"/>
              <a:t>Hinweis: </a:t>
            </a:r>
            <a:r>
              <a:rPr lang="de-DE" sz="1100"/>
              <a:t>Die Nummern 1 bis 4 sind die vier Themen. Sie stehen genauso auf den Trennfolien. Noch einmal sagen: Niemand muss etwas Eigenes erzählen. In der Praxis üben wir Handlungen – wir stellen keine App ein.</a:t>
            </a:r>
          </a:p>
        </p:txBody>
      </p:sp>
      <p:sp>
        <p:nvSpPr>
          <p:cNvPr id="4" name="Slide Number Placeholder 3"/>
          <p:cNvSpPr>
            <a:spLocks noGrp="1"/>
          </p:cNvSpPr>
          <p:nvPr>
            <p:ph type="sldNum" sz="quarter" idx="10"/>
          </p:nvPr>
        </p:nvSpPr>
        <p:spPr/>
        <p:txBody>
          <a:bodyPr/>
          <a:lstStyle/>
          <a:p>
            <a:fld id="{F7021451-1387-4CA6-816F-3879F97B5CBC}" type="slidenum">
              <a:rPr lang="de-DE"/>
              <a:t>2</a:t>
            </a:fld>
            <a:endParaRPr lang="de-D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Sichere Lernatmosphäre; Betroffene schützen.</a:t>
            </a:r>
          </a:p>
          <a:p>
            <a:r>
              <a:rPr lang="de-DE" b="1" sz="1100"/>
              <a:t>Methode: </a:t>
            </a:r>
            <a:r>
              <a:rPr lang="de-DE" sz="1100"/>
              <a:t>Regeln vorlesen, gemeinsam zustimmen.</a:t>
            </a:r>
          </a:p>
          <a:p>
            <a:r>
              <a:rPr lang="de-DE" b="1" sz="1100"/>
              <a:t>Sozialform: </a:t>
            </a:r>
            <a:r>
              <a:rPr lang="de-DE" sz="1100"/>
              <a:t>Plenum</a:t>
            </a:r>
          </a:p>
          <a:p>
            <a:r>
              <a:rPr lang="de-DE" b="1" sz="1100"/>
              <a:t>Zeit: </a:t>
            </a:r>
            <a:r>
              <a:rPr lang="de-DE" sz="1100"/>
              <a:t>ca. 3 Min</a:t>
            </a:r>
          </a:p>
          <a:p>
            <a:r>
              <a:rPr lang="de-DE" b="1" sz="1100"/>
              <a:t>Material: </a:t>
            </a:r>
            <a:r>
              <a:rPr lang="de-DE" sz="1100"/>
              <a:t>Plakat mit Regeln</a:t>
            </a:r>
          </a:p>
          <a:p>
            <a:r>
              <a:rPr lang="de-DE" b="1" sz="1100"/>
              <a:t>Hinweis: </a:t>
            </a:r>
            <a:r>
              <a:rPr lang="de-DE" sz="1100"/>
              <a:t>Besonders wichtig sind hier die zweite und die vierte Regel („Wir lachen niemanden aus“ und „Du musst nichts erzählen“). Beide laut vorlesen lassen und bestätigen. Ergänzen: Was hier erzählt wird, bleibt hier.</a:t>
            </a:r>
          </a:p>
        </p:txBody>
      </p:sp>
      <p:sp>
        <p:nvSpPr>
          <p:cNvPr id="4" name="Slide Number Placeholder 3"/>
          <p:cNvSpPr>
            <a:spLocks noGrp="1"/>
          </p:cNvSpPr>
          <p:nvPr>
            <p:ph type="sldNum" sz="quarter" idx="10"/>
          </p:nvPr>
        </p:nvSpPr>
        <p:spPr/>
        <p:txBody>
          <a:bodyPr/>
          <a:lstStyle/>
          <a:p>
            <a:fld id="{F7021451-1387-4CA6-816F-3879F97B5CBC}" type="slidenum">
              <a:rPr lang="de-DE"/>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Vorwissen einschätzen; das Thema persönlich öffnen.</a:t>
            </a:r>
          </a:p>
          <a:p>
            <a:r>
              <a:rPr lang="de-DE" b="1" sz="1100"/>
              <a:t>Methode: </a:t>
            </a:r>
            <a:r>
              <a:rPr lang="de-DE" sz="1100"/>
              <a:t>Einstiegsfrage mit Handzeichen oder Antwortkarten A/B/C.</a:t>
            </a:r>
          </a:p>
          <a:p>
            <a:r>
              <a:rPr lang="de-DE" b="1" sz="1100"/>
              <a:t>Sozialform: </a:t>
            </a:r>
            <a:r>
              <a:rPr lang="de-DE" sz="1100"/>
              <a:t>Plenum</a:t>
            </a:r>
          </a:p>
          <a:p>
            <a:r>
              <a:rPr lang="de-DE" b="1" sz="1100"/>
              <a:t>Zeit: </a:t>
            </a:r>
            <a:r>
              <a:rPr lang="de-DE" sz="1100"/>
              <a:t>ca. 2 Min</a:t>
            </a:r>
          </a:p>
          <a:p>
            <a:r>
              <a:rPr lang="de-DE" b="1" sz="1100"/>
              <a:t>Material: </a:t>
            </a:r>
            <a:r>
              <a:rPr lang="de-DE" sz="1100"/>
              <a:t>Antwortkarten A/B/C</a:t>
            </a:r>
          </a:p>
          <a:p>
            <a:r>
              <a:rPr lang="de-DE" b="1" sz="1100"/>
              <a:t>Hinweis: </a:t>
            </a:r>
            <a:r>
              <a:rPr lang="de-DE" sz="1100"/>
              <a:t>Nicht nachfragen, nicht bewerten. Die Frage ist wortgleich mit der Einstiegsfrage im Thema Hilfe bei Problemen auf der Lernplattform. Am Ende kann sie noch einmal gestellt werden – dann haben alle einen Plan.</a:t>
            </a:r>
          </a:p>
          <a:p>
            <a:r>
              <a:rPr lang="de-DE" b="1" sz="1100"/>
              <a:t>Lernplattform: </a:t>
            </a:r>
            <a:r>
              <a:rPr lang="de-DE" sz="1100"/>
              <a:t>Einstiegsfrage Thema Hilfe bei Problemen.</a:t>
            </a:r>
          </a:p>
        </p:txBody>
      </p:sp>
      <p:sp>
        <p:nvSpPr>
          <p:cNvPr id="4" name="Slide Number Placeholder 3"/>
          <p:cNvSpPr>
            <a:spLocks noGrp="1"/>
          </p:cNvSpPr>
          <p:nvPr>
            <p:ph type="sldNum" sz="quarter" idx="10"/>
          </p:nvPr>
        </p:nvSpPr>
        <p:spPr/>
        <p:txBody>
          <a:bodyPr/>
          <a:lstStyle/>
          <a:p>
            <a:fld id="{F7021451-1387-4CA6-816F-3879F97B5CBC}" type="slidenum">
              <a:rPr lang="de-DE"/>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Cybermobbing von einem einmaligen Streit unterscheiden.</a:t>
            </a:r>
          </a:p>
          <a:p>
            <a:r>
              <a:rPr lang="de-DE" b="1" sz="1100"/>
              <a:t>Methode: </a:t>
            </a:r>
            <a:r>
              <a:rPr lang="de-DE" sz="1100"/>
              <a:t>Situationskarten auf drei Stapel legen, dann Gespräch.</a:t>
            </a:r>
          </a:p>
          <a:p>
            <a:r>
              <a:rPr lang="de-DE" b="1" sz="1100"/>
              <a:t>Sozialform: </a:t>
            </a:r>
            <a:r>
              <a:rPr lang="de-DE" sz="1100"/>
              <a:t>Plenum oder Paare</a:t>
            </a:r>
          </a:p>
          <a:p>
            <a:r>
              <a:rPr lang="de-DE" b="1" sz="1100"/>
              <a:t>Zeit: </a:t>
            </a:r>
            <a:r>
              <a:rPr lang="de-DE" sz="1100"/>
              <a:t>ca. 4 Min</a:t>
            </a:r>
          </a:p>
          <a:p>
            <a:r>
              <a:rPr lang="de-DE" b="1" sz="1100"/>
              <a:t>Material: </a:t>
            </a:r>
            <a:r>
              <a:rPr lang="de-DE" sz="1100"/>
              <a:t>3 gedruckte Situationskarten</a:t>
            </a:r>
          </a:p>
          <a:p>
            <a:r>
              <a:rPr lang="de-DE" b="1" sz="1100"/>
              <a:t>Hinweis: </a:t>
            </a:r>
            <a:r>
              <a:rPr lang="de-DE" sz="1100"/>
              <a:t>Vorher sagen: Alle Beispiele sind erfunden. Niemand muss etwas Eigenes erzählen. Erst sortieren, dann gemeinsam begründen. Der Stapel „Da bin ich unsicher“ ist ausdrücklich erlaubt. Auflösung in Thema 1: Cybermobbing heißt immer wieder und mit Absicht. Wichtig: Auch ein einmaliger gemeiner Kommentar ist nicht in Ordnung.</a:t>
            </a:r>
          </a:p>
          <a:p>
            <a:r>
              <a:rPr lang="de-DE" b="1" sz="1100"/>
              <a:t>Bildvorschlag: </a:t>
            </a:r>
            <a:r>
              <a:rPr lang="de-DE" sz="1100"/>
              <a:t>PFLICHT VOR DEM PRAXISTEST als Karten. Später möglich: drei eigene Zeichnungen der erfundenen Situationen, ruhig gezeichnet, ohne drastische Darstellung.</a:t>
            </a:r>
          </a:p>
          <a:p>
            <a:r>
              <a:rPr lang="de-DE" b="1" sz="1100"/>
              <a:t>Lernplattform: </a:t>
            </a:r>
            <a:r>
              <a:rPr lang="de-DE" sz="1100"/>
              <a:t>Thema Hilfe bei Problemen L1 und L5; Begleit-Ebene Hilfe: Quer-Thema für alle Themen.</a:t>
            </a:r>
          </a:p>
        </p:txBody>
      </p:sp>
      <p:sp>
        <p:nvSpPr>
          <p:cNvPr id="4" name="Slide Number Placeholder 3"/>
          <p:cNvSpPr>
            <a:spLocks noGrp="1"/>
          </p:cNvSpPr>
          <p:nvPr>
            <p:ph type="sldNum" sz="quarter" idx="10"/>
          </p:nvPr>
        </p:nvSpPr>
        <p:spPr/>
        <p:txBody>
          <a:bodyPr/>
          <a:lstStyle/>
          <a:p>
            <a:fld id="{F7021451-1387-4CA6-816F-3879F97B5CBC}" type="slidenum">
              <a:rPr lang="de-DE"/>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1.</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Hinführen: Woran erkennt man Cybermobbing? Ruhiger Ton.</a:t>
            </a:r>
          </a:p>
        </p:txBody>
      </p:sp>
      <p:sp>
        <p:nvSpPr>
          <p:cNvPr id="4" name="Slide Number Placeholder 3"/>
          <p:cNvSpPr>
            <a:spLocks noGrp="1"/>
          </p:cNvSpPr>
          <p:nvPr>
            <p:ph type="sldNum" sz="quarter" idx="10"/>
          </p:nvPr>
        </p:nvSpPr>
        <p:spPr/>
        <p:txBody>
          <a:bodyPr/>
          <a:lstStyle/>
          <a:p>
            <a:fld id="{F7021451-1387-4CA6-816F-3879F97B5CBC}" type="slidenum">
              <a:rPr lang="de-DE"/>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Verstehen, was Cybermobbing ist: im Internet, immer wieder, mit Absicht.</a:t>
            </a:r>
          </a:p>
          <a:p>
            <a:r>
              <a:rPr lang="de-DE" b="1" sz="1100"/>
              <a:t>Methode: </a:t>
            </a:r>
            <a:r>
              <a:rPr lang="de-DE" sz="1100"/>
              <a:t>Begriffe klären; Auflösung der Aktivierung.</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Die beiden Wörter getrennt erklären, dann zusammensetzen. Wiederholung und Absicht betonen – das unterscheidet Cybermobbing vom einmaligen Streit. Trotzdem klar sagen: Auch ein einzelner gemeiner Kommentar ist nicht in Ordnung. Für einzelne Kommentare benutzen wir das Wort verletzende Kommentare.</a:t>
            </a:r>
          </a:p>
          <a:p>
            <a:r>
              <a:rPr lang="de-DE" b="1" sz="1100"/>
              <a:t>Bildvorschlag: </a:t>
            </a:r>
            <a:r>
              <a:rPr lang="de-DE" sz="1100"/>
              <a:t>Eigenes Bild: Zeitleiste – ein Tag mit einer Nachricht, viele Tage mit vielen Nachrichten. Funktion: Wiederholung sichtbar machen.</a:t>
            </a:r>
          </a:p>
          <a:p>
            <a:r>
              <a:rPr lang="de-DE" b="1" sz="1100"/>
              <a:t>Lernplattform: </a:t>
            </a:r>
            <a:r>
              <a:rPr lang="de-DE" sz="1100"/>
              <a:t>Thema Hilfe bei Problemen; Instagram L6, Facebook L6, TikTok L6 (verletzende Kommentare).</a:t>
            </a:r>
          </a:p>
        </p:txBody>
      </p:sp>
      <p:sp>
        <p:nvSpPr>
          <p:cNvPr id="4" name="Slide Number Placeholder 3"/>
          <p:cNvSpPr>
            <a:spLocks noGrp="1"/>
          </p:cNvSpPr>
          <p:nvPr>
            <p:ph type="sldNum" sz="quarter" idx="10"/>
          </p:nvPr>
        </p:nvSpPr>
        <p:spPr/>
        <p:txBody>
          <a:bodyPr/>
          <a:lstStyle/>
          <a:p>
            <a:fld id="{F7021451-1387-4CA6-816F-3879F97B5CBC}" type="slidenum">
              <a:rPr lang="de-DE"/>
              <a:t>7</a:t>
            </a:fld>
            <a:endParaRPr lang="de-D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Formen von Cybermobbing erkennen.</a:t>
            </a:r>
          </a:p>
          <a:p>
            <a:r>
              <a:rPr lang="de-DE" b="1" sz="1100"/>
              <a:t>Methode: </a:t>
            </a:r>
            <a:r>
              <a:rPr lang="de-DE" sz="1100"/>
              <a:t>Formen vorlesen, Beispiele im Gespräch sammeln.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Beispiele ruhig besprechen. Keine echten Fälle und keine Namen aus der Gruppe. Auf Reaktionen achten: Wer betroffen ist, erkennt sich hier wieder. Dann nicht ansprechen, sondern später ein Einzelgespräch anbieten. Der letzte Punkt ist wichtig: Wenn viele mitmachen, fühlt sich das besonders schwer an.</a:t>
            </a:r>
          </a:p>
          <a:p>
            <a:r>
              <a:rPr lang="de-DE" b="1" sz="1100"/>
              <a:t>Lernplattform: </a:t>
            </a:r>
            <a:r>
              <a:rPr lang="de-DE" sz="1100"/>
              <a:t>Thema Hilfe bei Problemen L4 und L5.</a:t>
            </a:r>
          </a:p>
        </p:txBody>
      </p:sp>
      <p:sp>
        <p:nvSpPr>
          <p:cNvPr id="4" name="Slide Number Placeholder 3"/>
          <p:cNvSpPr>
            <a:spLocks noGrp="1"/>
          </p:cNvSpPr>
          <p:nvPr>
            <p:ph type="sldNum" sz="quarter" idx="10"/>
          </p:nvPr>
        </p:nvSpPr>
        <p:spPr/>
        <p:txBody>
          <a:bodyPr/>
          <a:lstStyle/>
          <a:p>
            <a:fld id="{F7021451-1387-4CA6-816F-3879F97B5CBC}" type="slidenum">
              <a:rPr lang="de-DE"/>
              <a:t>8</a:t>
            </a:fld>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Klare Haltung: Cybermobbing ist nicht in Ordnung.</a:t>
            </a:r>
          </a:p>
          <a:p>
            <a:r>
              <a:rPr lang="de-DE" b="1" sz="1100"/>
              <a:t>Methode: </a:t>
            </a:r>
            <a:r>
              <a:rPr lang="de-DE" sz="1100"/>
              <a:t>Impuls, kurzes Lehrgespräch.</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Klar Position beziehen, ohne Angst zu machen. Sachlich ergänzen: Beleidigung, Bedrohung und das Teilen von Bildern ohne Erlaubnis können strafbar sein. Eine Anzeige ist möglich, aber niemand muss das allein machen – zusammen mit einer vertrauten Person. Keine Rechtsberatung geben.</a:t>
            </a:r>
          </a:p>
          <a:p>
            <a:r>
              <a:rPr lang="de-DE" b="1" sz="1100"/>
              <a:t>Bildvorschlag: </a:t>
            </a:r>
            <a:r>
              <a:rPr lang="de-DE" sz="1100"/>
              <a:t>Eigenes Bild: Person mit Handy, eine zweite Person setzt sich dazu. Funktion: Es bleibt niemand allein.</a:t>
            </a:r>
          </a:p>
          <a:p>
            <a:r>
              <a:rPr lang="de-DE" b="1" sz="1100"/>
              <a:t>Lernplattform: </a:t>
            </a:r>
            <a:r>
              <a:rPr lang="de-DE" sz="1100"/>
              <a:t>Begleit-Ebene Facebook und Snapchat: Rechts-Bezüge; Thema Hilfe bei Problemen.</a:t>
            </a:r>
          </a:p>
        </p:txBody>
      </p:sp>
      <p:sp>
        <p:nvSpPr>
          <p:cNvPr id="4" name="Slide Number Placeholder 3"/>
          <p:cNvSpPr>
            <a:spLocks noGrp="1"/>
          </p:cNvSpPr>
          <p:nvPr>
            <p:ph type="sldNum" sz="quarter" idx="10"/>
          </p:nvPr>
        </p:nvSpPr>
        <p:spPr/>
        <p:txBody>
          <a:bodyPr/>
          <a:lstStyle/>
          <a:p>
            <a:fld id="{F7021451-1387-4CA6-816F-3879F97B5CBC}" type="slidenum">
              <a:rPr lang="de-DE"/>
              <a:t>9</a:t>
            </a:fld>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2.</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Behutsam überleiten: Wie fühlt sich das an? Und wer ist schuld?</a:t>
            </a:r>
          </a:p>
        </p:txBody>
      </p:sp>
      <p:sp>
        <p:nvSpPr>
          <p:cNvPr id="4" name="Slide Number Placeholder 3"/>
          <p:cNvSpPr>
            <a:spLocks noGrp="1"/>
          </p:cNvSpPr>
          <p:nvPr>
            <p:ph type="sldNum" sz="quarter" idx="10"/>
          </p:nvPr>
        </p:nvSpPr>
        <p:spPr/>
        <p:txBody>
          <a:bodyPr/>
          <a:lstStyle/>
          <a:p>
            <a:fld id="{F7021451-1387-4CA6-816F-3879F97B5CBC}" type="slidenum">
              <a:rPr lang="de-DE"/>
              <a:t>10</a:t>
            </a:fld>
            <a:endParaRPr lang="de-D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Gefühle als normal und wichtig anerkennen.</a:t>
            </a:r>
          </a:p>
          <a:p>
            <a:r>
              <a:rPr lang="de-DE" b="1" sz="1100"/>
              <a:t>Methode: </a:t>
            </a:r>
            <a:r>
              <a:rPr lang="de-DE" sz="1100"/>
              <a:t>Gefühle benennen; ruhiges Lehrgespräch.</a:t>
            </a:r>
          </a:p>
          <a:p>
            <a:r>
              <a:rPr lang="de-DE" b="1" sz="1100"/>
              <a:t>Sozialform: </a:t>
            </a:r>
            <a:r>
              <a:rPr lang="de-DE" sz="1100"/>
              <a:t>Plenum</a:t>
            </a:r>
          </a:p>
          <a:p>
            <a:r>
              <a:rPr lang="de-DE" b="1" sz="1100"/>
              <a:t>Zeit: </a:t>
            </a:r>
            <a:r>
              <a:rPr lang="de-DE" sz="1100"/>
              <a:t>ca. 3 Min</a:t>
            </a:r>
          </a:p>
          <a:p>
            <a:r>
              <a:rPr lang="de-DE" b="1" sz="1100"/>
              <a:t>Material: </a:t>
            </a:r>
            <a:r>
              <a:rPr lang="de-DE" sz="1100"/>
              <a:t>Beamer, ggf. Gefühls-Karten</a:t>
            </a:r>
          </a:p>
          <a:p>
            <a:r>
              <a:rPr lang="de-DE" b="1" sz="1100"/>
              <a:t>Hinweis: </a:t>
            </a:r>
            <a:r>
              <a:rPr lang="de-DE" sz="1100"/>
              <a:t>Gefühle bestätigen, nicht bewerten. Niemanden drängen, eigene Gefühle zu zeigen. Ruhiges Tempo, Pausen zulassen. Wer sehr berührt ist, darf rausgehen; die Begleitung geht mit.</a:t>
            </a:r>
          </a:p>
          <a:p>
            <a:r>
              <a:rPr lang="de-DE" b="1" sz="1100"/>
              <a:t>Bildvorschlag: </a:t>
            </a:r>
            <a:r>
              <a:rPr lang="de-DE" sz="1100"/>
              <a:t>Eigenes Bild: dieselbe Person in drei ruhigen Zuständen – traurig, wütend, ängstlich. Funktion: Gefühle benennbar machen. Keine Großaufnahmen und keine drastische Darstellung.</a:t>
            </a:r>
          </a:p>
          <a:p>
            <a:r>
              <a:rPr lang="de-DE" b="1" sz="1100"/>
              <a:t>Lernplattform: </a:t>
            </a:r>
            <a:r>
              <a:rPr lang="de-DE" sz="1100"/>
              <a:t>Thema Hilfe bei Problemen L5 (Angst ernst nehmen), Quiz Frage 6.</a:t>
            </a:r>
          </a:p>
        </p:txBody>
      </p:sp>
      <p:sp>
        <p:nvSpPr>
          <p:cNvPr id="4" name="Slide Number Placeholder 3"/>
          <p:cNvSpPr>
            <a:spLocks noGrp="1"/>
          </p:cNvSpPr>
          <p:nvPr>
            <p:ph type="sldNum" sz="quarter" idx="10"/>
          </p:nvPr>
        </p:nvSpPr>
        <p:spPr/>
        <p:txBody>
          <a:bodyPr/>
          <a:lstStyle/>
          <a:p>
            <a:fld id="{F7021451-1387-4CA6-816F-3879F97B5CBC}" type="slidenum">
              <a:rPr lang="de-DE"/>
              <a:t>11</a:t>
            </a:fld>
            <a:endParaRPr lang="de-D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Verinnerlichen: Cybermobbing ist nicht die Schuld der betroffenen Person.</a:t>
            </a:r>
          </a:p>
          <a:p>
            <a:r>
              <a:rPr lang="de-DE" b="1" sz="1100"/>
              <a:t>Methode: </a:t>
            </a:r>
            <a:r>
              <a:rPr lang="de-DE" sz="1100"/>
              <a:t>Merksatz gemeinsam sprechen, mehrmals.</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Wichtigste Botschaft des Workshops. Zwei- bis dreimal gemeinsam sprechen lassen: Es ist nicht deine Schuld. Danach kurz Stille zulassen. Nicht nach eigenen Erfahrungen fragen.</a:t>
            </a:r>
          </a:p>
          <a:p>
            <a:r>
              <a:rPr lang="de-DE" b="1" sz="1100"/>
              <a:t>Bildvorschlag: </a:t>
            </a:r>
            <a:r>
              <a:rPr lang="de-DE" sz="1100"/>
              <a:t>Eigenes Bild: Person sitzt ruhig, eine vertraute Person hört zu. Funktion: Entlastung zeigen.</a:t>
            </a:r>
          </a:p>
          <a:p>
            <a:r>
              <a:rPr lang="de-DE" b="1" sz="1100"/>
              <a:t>Lernplattform: </a:t>
            </a:r>
            <a:r>
              <a:rPr lang="de-DE" sz="1100"/>
              <a:t>Thema Hilfe bei Problemen L5; Instagram L6 („Das ist nicht deine Schuld“).</a:t>
            </a:r>
          </a:p>
        </p:txBody>
      </p:sp>
      <p:sp>
        <p:nvSpPr>
          <p:cNvPr id="4" name="Slide Number Placeholder 3"/>
          <p:cNvSpPr>
            <a:spLocks noGrp="1"/>
          </p:cNvSpPr>
          <p:nvPr>
            <p:ph type="sldNum" sz="quarter" idx="10"/>
          </p:nvPr>
        </p:nvSpPr>
        <p:spPr/>
        <p:txBody>
          <a:bodyPr/>
          <a:lstStyle/>
          <a:p>
            <a:fld id="{F7021451-1387-4CA6-816F-3879F97B5CBC}" type="slidenum">
              <a:rPr lang="de-DE"/>
              <a:t>12</a:t>
            </a:fld>
            <a:endParaRPr lang="de-D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Ich bin nicht allein und darf Hilfe holen.</a:t>
            </a:r>
          </a:p>
          <a:p>
            <a:r>
              <a:rPr lang="de-DE" b="1" sz="1100"/>
              <a:t>Methode: </a:t>
            </a:r>
            <a:r>
              <a:rPr lang="de-DE" sz="1100"/>
              <a:t>Ermutigendes Lehrgespräch.</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Hilfe holen als Stärke rahmen, nicht als Schwäche. Auf Thema 4 verweisen: Dort sammeln wir konkrete Wege. Die Lernplattform sagt dazu: Andere Menschen haben diese Probleme auch. Du bist nicht die einzige Person.</a:t>
            </a:r>
          </a:p>
          <a:p>
            <a:r>
              <a:rPr lang="de-DE" b="1" sz="1100"/>
              <a:t>Bildvorschlag: </a:t>
            </a:r>
            <a:r>
              <a:rPr lang="de-DE" sz="1100"/>
              <a:t>Eigenes Bild: mehrere Personen stehen zusammen, eine wird gestützt. Funktion: Zugehörigkeit zeigen.</a:t>
            </a:r>
          </a:p>
          <a:p>
            <a:r>
              <a:rPr lang="de-DE" b="1" sz="1100"/>
              <a:t>Lernplattform: </a:t>
            </a:r>
            <a:r>
              <a:rPr lang="de-DE" sz="1100"/>
              <a:t>Thema Hilfe bei Problemen L7; Kurz-Modus „Du bist nicht allein“.</a:t>
            </a:r>
          </a:p>
        </p:txBody>
      </p:sp>
      <p:sp>
        <p:nvSpPr>
          <p:cNvPr id="4" name="Slide Number Placeholder 3"/>
          <p:cNvSpPr>
            <a:spLocks noGrp="1"/>
          </p:cNvSpPr>
          <p:nvPr>
            <p:ph type="sldNum" sz="quarter" idx="10"/>
          </p:nvPr>
        </p:nvSpPr>
        <p:spPr/>
        <p:txBody>
          <a:bodyPr/>
          <a:lstStyle/>
          <a:p>
            <a:fld id="{F7021451-1387-4CA6-816F-3879F97B5CBC}" type="slidenum">
              <a:rPr lang="de-DE"/>
              <a:t>13</a:t>
            </a:fld>
            <a:endParaRPr lang="de-D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3.</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Vom Gefühl zum Handeln: Was kann ich konkret tun? Jetzt wird es praktisch.</a:t>
            </a:r>
          </a:p>
        </p:txBody>
      </p:sp>
      <p:sp>
        <p:nvSpPr>
          <p:cNvPr id="4" name="Slide Number Placeholder 3"/>
          <p:cNvSpPr>
            <a:spLocks noGrp="1"/>
          </p:cNvSpPr>
          <p:nvPr>
            <p:ph type="sldNum" sz="quarter" idx="10"/>
          </p:nvPr>
        </p:nvSpPr>
        <p:spPr/>
        <p:txBody>
          <a:bodyPr/>
          <a:lstStyle/>
          <a:p>
            <a:fld id="{F7021451-1387-4CA6-816F-3879F97B5CBC}" type="slidenum">
              <a:rPr lang="de-DE"/>
              <a:t>14</a:t>
            </a:fld>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Erst Stopp machen, nicht zurückschreiben.</a:t>
            </a:r>
          </a:p>
          <a:p>
            <a:r>
              <a:rPr lang="de-DE" b="1" sz="1100"/>
              <a:t>Methode: </a:t>
            </a:r>
            <a:r>
              <a:rPr lang="de-DE" sz="1100"/>
              <a:t>Lehrgespräch mit erfundenem Beispiel; Merksatz sprechen.</a:t>
            </a:r>
          </a:p>
          <a:p>
            <a:r>
              <a:rPr lang="de-DE" b="1" sz="1100"/>
              <a:t>Sozialform: </a:t>
            </a:r>
            <a:r>
              <a:rPr lang="de-DE" sz="1100"/>
              <a:t>Plenum</a:t>
            </a:r>
          </a:p>
          <a:p>
            <a:r>
              <a:rPr lang="de-DE" b="1" sz="1100"/>
              <a:t>Zeit: </a:t>
            </a:r>
            <a:r>
              <a:rPr lang="de-DE" sz="1100"/>
              <a:t>ca. 3 Min</a:t>
            </a:r>
          </a:p>
          <a:p>
            <a:r>
              <a:rPr lang="de-DE" b="1" sz="1100"/>
              <a:t>Material: </a:t>
            </a:r>
            <a:r>
              <a:rPr lang="de-DE" sz="1100"/>
              <a:t>Beamer</a:t>
            </a:r>
          </a:p>
          <a:p>
            <a:r>
              <a:rPr lang="de-DE" b="1" sz="1100"/>
              <a:t>Hinweis: </a:t>
            </a:r>
            <a:r>
              <a:rPr lang="de-DE" sz="1100"/>
              <a:t>Begründen statt verbieten: Zurückschreiben macht es oft schlimmer und kann selbst Ärger bringen. Auf der Lernplattform heißt das die Stopp-Regel: erst stoppen, dann überlegen. Gesprächsimpuls: Was hilft dir, ruhig zu werden?</a:t>
            </a:r>
          </a:p>
          <a:p>
            <a:r>
              <a:rPr lang="de-DE" b="1" sz="1100"/>
              <a:t>Bildvorschlag: </a:t>
            </a:r>
            <a:r>
              <a:rPr lang="de-DE" sz="1100"/>
              <a:t>Eigenes Bild: Person legt das Handy hin und atmet durch. Funktion: Stopp als Handlung zeigen.</a:t>
            </a:r>
          </a:p>
          <a:p>
            <a:r>
              <a:rPr lang="de-DE" b="1" sz="1100"/>
              <a:t>Lernplattform: </a:t>
            </a:r>
            <a:r>
              <a:rPr lang="de-DE" sz="1100"/>
              <a:t>Thema Hilfe bei Problemen L1 (Stopp-Regel), Quiz Frage 1.</a:t>
            </a:r>
          </a:p>
        </p:txBody>
      </p:sp>
      <p:sp>
        <p:nvSpPr>
          <p:cNvPr id="4" name="Slide Number Placeholder 3"/>
          <p:cNvSpPr>
            <a:spLocks noGrp="1"/>
          </p:cNvSpPr>
          <p:nvPr>
            <p:ph type="sldNum" sz="quarter" idx="10"/>
          </p:nvPr>
        </p:nvSpPr>
        <p:spPr/>
        <p:txBody>
          <a:bodyPr/>
          <a:lstStyle/>
          <a:p>
            <a:fld id="{F7021451-1387-4CA6-816F-3879F97B5CBC}" type="slidenum">
              <a:rPr lang="de-DE"/>
              <a:t>15</a:t>
            </a:fld>
            <a:endParaRPr lang="de-D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Beweise sichern können: Bild vom Bildschirm machen, nicht sofort löschen.</a:t>
            </a:r>
          </a:p>
          <a:p>
            <a:r>
              <a:rPr lang="de-DE" b="1" sz="1100"/>
              <a:t>Methode: </a:t>
            </a:r>
            <a:r>
              <a:rPr lang="de-DE" sz="1100"/>
              <a:t>Kurze Demonstration am eigenen Gerät; in der Praxis wird es geübt.</a:t>
            </a:r>
          </a:p>
          <a:p>
            <a:r>
              <a:rPr lang="de-DE" b="1" sz="1100"/>
              <a:t>Sozialform: </a:t>
            </a:r>
            <a:r>
              <a:rPr lang="de-DE" sz="1100"/>
              <a:t>Plenum</a:t>
            </a:r>
          </a:p>
          <a:p>
            <a:r>
              <a:rPr lang="de-DE" b="1" sz="1100"/>
              <a:t>Zeit: </a:t>
            </a:r>
            <a:r>
              <a:rPr lang="de-DE" sz="1100"/>
              <a:t>ca. 3 Min</a:t>
            </a:r>
          </a:p>
          <a:p>
            <a:r>
              <a:rPr lang="de-DE" b="1" sz="1100"/>
              <a:t>Material: </a:t>
            </a:r>
            <a:r>
              <a:rPr lang="de-DE" sz="1100"/>
              <a:t>eigenes Gerät, Beamer</a:t>
            </a:r>
          </a:p>
          <a:p>
            <a:r>
              <a:rPr lang="de-DE" b="1" sz="1100"/>
              <a:t>Hinweis: </a:t>
            </a:r>
            <a:r>
              <a:rPr lang="de-DE" sz="1100"/>
              <a:t>Wichtig und ehrlich: Ein Bild vom Bildschirm hilft beim Zeigen und beim Melden. Bei Android und iPhone geht es unterschiedlich – die Wege stehen nicht auf der Folie, sondern werden in der Praxis am Gerät gezeigt. Grenze klar sagen: Von sehr privaten oder intimen Bildern macht man kein Bild vom Bildschirm und leitet nichts weiter. Dann gilt: Hilfe holen. Nichts weiterschicken, auch nicht als Beweis in der Gruppe.</a:t>
            </a:r>
          </a:p>
          <a:p>
            <a:r>
              <a:rPr lang="de-DE" b="1" sz="1100"/>
              <a:t>Bildvorschlag: </a:t>
            </a:r>
            <a:r>
              <a:rPr lang="de-DE" sz="1100"/>
              <a:t>Eigenes Bild: Person macht ein Bild vom Bildschirm und zeigt es einer vertrauten Person. Funktion: die Handlung zeigen.</a:t>
            </a:r>
          </a:p>
          <a:p>
            <a:r>
              <a:rPr lang="de-DE" b="1" sz="1100"/>
              <a:t>Lernplattform: </a:t>
            </a:r>
            <a:r>
              <a:rPr lang="de-DE" sz="1100"/>
              <a:t>Thema Hilfe bei Problemen L2 und L3, Quiz Frage 2, 3 und 7.</a:t>
            </a:r>
          </a:p>
        </p:txBody>
      </p:sp>
      <p:sp>
        <p:nvSpPr>
          <p:cNvPr id="4" name="Slide Number Placeholder 3"/>
          <p:cNvSpPr>
            <a:spLocks noGrp="1"/>
          </p:cNvSpPr>
          <p:nvPr>
            <p:ph type="sldNum" sz="quarter" idx="10"/>
          </p:nvPr>
        </p:nvSpPr>
        <p:spPr/>
        <p:txBody>
          <a:bodyPr/>
          <a:lstStyle/>
          <a:p>
            <a:fld id="{F7021451-1387-4CA6-816F-3879F97B5CBC}" type="slidenum">
              <a:rPr lang="de-DE"/>
              <a:t>16</a:t>
            </a:fld>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Vier Schritte kennen: zeigen, blockieren, melden, Hilfe holen.</a:t>
            </a:r>
          </a:p>
          <a:p>
            <a:r>
              <a:rPr lang="de-DE" b="1" sz="1100"/>
              <a:t>Methode: </a:t>
            </a:r>
            <a:r>
              <a:rPr lang="de-DE" sz="1100"/>
              <a:t>Lehrgespräch; Blockieren und Melden nur zeigen.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Reihenfolge erklären: zuerst zeigen, dann blockieren oder melden. Blockieren wirkt nur für dieses Profil; das ehrlich sagen. Wo Blockieren und Melden in der jeweiligen App stehen, zeigt die Begleitung auf den Praxis-Seiten der Lernplattform – nicht an echten Kontakten ausprobieren.</a:t>
            </a:r>
          </a:p>
          <a:p>
            <a:r>
              <a:rPr lang="de-DE" b="1" sz="1100"/>
              <a:t>Lernplattform: </a:t>
            </a:r>
            <a:r>
              <a:rPr lang="de-DE" sz="1100"/>
              <a:t>Thema Hilfe bei Problemen L8; Praxis-Seiten der App-Module: Jemanden blockieren, Etwas melden.</a:t>
            </a:r>
          </a:p>
        </p:txBody>
      </p:sp>
      <p:sp>
        <p:nvSpPr>
          <p:cNvPr id="4" name="Slide Number Placeholder 3"/>
          <p:cNvSpPr>
            <a:spLocks noGrp="1"/>
          </p:cNvSpPr>
          <p:nvPr>
            <p:ph type="sldNum" sz="quarter" idx="10"/>
          </p:nvPr>
        </p:nvSpPr>
        <p:spPr/>
        <p:txBody>
          <a:bodyPr/>
          <a:lstStyle/>
          <a:p>
            <a:fld id="{F7021451-1387-4CA6-816F-3879F97B5CBC}" type="slidenum">
              <a:rPr lang="de-DE"/>
              <a:t>17</a:t>
            </a:fld>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zu Thema 4.</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Hinführen: Wer kann mir helfen? Und was mache ich, wenn ich Cybermobbing bei anderen sehe?</a:t>
            </a:r>
          </a:p>
        </p:txBody>
      </p:sp>
      <p:sp>
        <p:nvSpPr>
          <p:cNvPr id="4" name="Slide Number Placeholder 3"/>
          <p:cNvSpPr>
            <a:spLocks noGrp="1"/>
          </p:cNvSpPr>
          <p:nvPr>
            <p:ph type="sldNum" sz="quarter" idx="10"/>
          </p:nvPr>
        </p:nvSpPr>
        <p:spPr/>
        <p:txBody>
          <a:bodyPr/>
          <a:lstStyle/>
          <a:p>
            <a:fld id="{F7021451-1387-4CA6-816F-3879F97B5CBC}" type="slidenum">
              <a:rPr lang="de-DE"/>
              <a:t>18</a:t>
            </a:fld>
            <a:endParaRPr lang="de-D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Eigene vertraute Personen benennen und um Hilfe bitten können.</a:t>
            </a:r>
          </a:p>
          <a:p>
            <a:r>
              <a:rPr lang="de-DE" b="1" sz="1100"/>
              <a:t>Methode: </a:t>
            </a:r>
            <a:r>
              <a:rPr lang="de-DE" sz="1100"/>
              <a:t>Sammeln im Plenum; den Hilfe-Satz gemeinsam sprechen.</a:t>
            </a:r>
          </a:p>
          <a:p>
            <a:r>
              <a:rPr lang="de-DE" b="1" sz="1100"/>
              <a:t>Sozialform: </a:t>
            </a:r>
            <a:r>
              <a:rPr lang="de-DE" sz="1100"/>
              <a:t>Plenum</a:t>
            </a:r>
          </a:p>
          <a:p>
            <a:r>
              <a:rPr lang="de-DE" b="1" sz="1100"/>
              <a:t>Zeit: </a:t>
            </a:r>
            <a:r>
              <a:rPr lang="de-DE" sz="1100"/>
              <a:t>ca. 3 Min</a:t>
            </a:r>
          </a:p>
          <a:p>
            <a:r>
              <a:rPr lang="de-DE" b="1" sz="1100"/>
              <a:t>Material: </a:t>
            </a:r>
            <a:r>
              <a:rPr lang="de-DE" sz="1100"/>
              <a:t>Hilfe-Karte für jede Person, Stifte</a:t>
            </a:r>
          </a:p>
          <a:p>
            <a:r>
              <a:rPr lang="de-DE" b="1" sz="1100"/>
              <a:t>Hinweis: </a:t>
            </a:r>
            <a:r>
              <a:rPr lang="de-DE" sz="1100"/>
              <a:t>Der letzte Satz ist der Hilfe-Satz. Er wird in der Praxis geübt. Die Hilfe-Karte austeilen: Auf der Vorderseite stehen die Ansprechpersonen vor Ort, die Rückseite wird in der Praxis ausgefüllt. Die Beispiele sind anpassbar; der Hauptbegriff bleibt vertraute Person.</a:t>
            </a:r>
          </a:p>
          <a:p>
            <a:r>
              <a:rPr lang="de-DE" b="1" sz="1100"/>
              <a:t>Bildvorschlag: </a:t>
            </a:r>
            <a:r>
              <a:rPr lang="de-DE" sz="1100"/>
              <a:t>PFLICHT VOR DEM PRAXISTEST. Kein Bild, sondern die gemeinsame Hilfe-Karte (gemeinsam/HILFE-KARTE.md) mit ausgefüllter Vorderseite.</a:t>
            </a:r>
          </a:p>
          <a:p>
            <a:r>
              <a:rPr lang="de-DE" b="1" sz="1100"/>
              <a:t>Lernplattform: </a:t>
            </a:r>
            <a:r>
              <a:rPr lang="de-DE" sz="1100"/>
              <a:t>Thema Hilfe bei Problemen L6 (Vertraute Personen), Quiz Frage 5.</a:t>
            </a:r>
          </a:p>
        </p:txBody>
      </p:sp>
      <p:sp>
        <p:nvSpPr>
          <p:cNvPr id="4" name="Slide Number Placeholder 3"/>
          <p:cNvSpPr>
            <a:spLocks noGrp="1"/>
          </p:cNvSpPr>
          <p:nvPr>
            <p:ph type="sldNum" sz="quarter" idx="10"/>
          </p:nvPr>
        </p:nvSpPr>
        <p:spPr/>
        <p:txBody>
          <a:bodyPr/>
          <a:lstStyle/>
          <a:p>
            <a:fld id="{F7021451-1387-4CA6-816F-3879F97B5CBC}" type="slidenum">
              <a:rPr lang="de-DE"/>
              <a:t>19</a:t>
            </a:fld>
            <a:endParaRPr lang="de-D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Es gibt kostenlose Beratung am Telefon, auch ohne Namen.</a:t>
            </a:r>
          </a:p>
          <a:p>
            <a:r>
              <a:rPr lang="de-DE" b="1" sz="1100"/>
              <a:t>Methode: </a:t>
            </a:r>
            <a:r>
              <a:rPr lang="de-DE" sz="1100"/>
              <a:t>Information; auf die Nummern auf der Hilfe-Karte zeigen.</a:t>
            </a:r>
          </a:p>
          <a:p>
            <a:r>
              <a:rPr lang="de-DE" b="1" sz="1100"/>
              <a:t>Sozialform: </a:t>
            </a:r>
            <a:r>
              <a:rPr lang="de-DE" sz="1100"/>
              <a:t>Plenum</a:t>
            </a:r>
          </a:p>
          <a:p>
            <a:r>
              <a:rPr lang="de-DE" b="1" sz="1100"/>
              <a:t>Zeit: </a:t>
            </a:r>
            <a:r>
              <a:rPr lang="de-DE" sz="1100"/>
              <a:t>ca. 3 Min</a:t>
            </a:r>
          </a:p>
          <a:p>
            <a:r>
              <a:rPr lang="de-DE" b="1" sz="1100"/>
              <a:t>Material: </a:t>
            </a:r>
            <a:r>
              <a:rPr lang="de-DE" sz="1100"/>
              <a:t>Hilfe-Karte (Vorderseite mit den geprüften Hilfe-Nummern)</a:t>
            </a:r>
          </a:p>
          <a:p>
            <a:r>
              <a:rPr lang="de-DE" b="1" sz="1100"/>
              <a:t>Hinweis: </a:t>
            </a:r>
            <a:r>
              <a:rPr lang="de-DE" sz="1100"/>
              <a:t>WICHTIG: Alle Nummern vor jedem Workshop prüfen. Aus dem bisherigen Material: Telefon-Seelsorge 0800 111 0 111 und 0800 111 0 222 (kostenlos, ohne Namen, rund um die Uhr), Weisser Ring 116 006, bei akuter Gefahr 110. Regionale Beratungsstellen und Beratung bei digitaler Gewalt ergänzen. Sagen: Anrufen darf man auch zusammen mit einer vertrauten Person. Bei Hinweisen auf Selbstverletzung oder Suizidgedanken sofort Gespräch anbieten, nicht allein lassen, bei akuter Gefahr 112.</a:t>
            </a:r>
          </a:p>
          <a:p>
            <a:r>
              <a:rPr lang="de-DE" b="1" sz="1100"/>
              <a:t>Bildvorschlag: </a:t>
            </a:r>
            <a:r>
              <a:rPr lang="de-DE" sz="1100"/>
              <a:t>Eigenes Bild: Person telefoniert, eine vertraute Person sitzt daneben. Funktion: Anrufen ist gemeinsam möglich.</a:t>
            </a:r>
          </a:p>
          <a:p>
            <a:r>
              <a:rPr lang="de-DE" b="1" sz="1100"/>
              <a:t>Lernplattform: </a:t>
            </a:r>
            <a:r>
              <a:rPr lang="de-DE" sz="1100"/>
              <a:t>Thema Hilfe bei Problemen L7 (Externe Hilfe). Die Lernplattform nennt keine Nummern; die Hilfe-Karte ergänzt das.</a:t>
            </a:r>
          </a:p>
        </p:txBody>
      </p:sp>
      <p:sp>
        <p:nvSpPr>
          <p:cNvPr id="4" name="Slide Number Placeholder 3"/>
          <p:cNvSpPr>
            <a:spLocks noGrp="1"/>
          </p:cNvSpPr>
          <p:nvPr>
            <p:ph type="sldNum" sz="quarter" idx="10"/>
          </p:nvPr>
        </p:nvSpPr>
        <p:spPr/>
        <p:txBody>
          <a:bodyPr/>
          <a:lstStyle/>
          <a:p>
            <a:fld id="{F7021451-1387-4CA6-816F-3879F97B5CBC}" type="slidenum">
              <a:rPr lang="de-DE"/>
              <a:t>20</a:t>
            </a:fld>
            <a:endParaRPr lang="de-D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Die eigene Rolle als Zuschauende erkennen und handeln können.</a:t>
            </a:r>
          </a:p>
          <a:p>
            <a:r>
              <a:rPr lang="de-DE" b="1" sz="1100"/>
              <a:t>Methode: </a:t>
            </a:r>
            <a:r>
              <a:rPr lang="de-DE" sz="1100"/>
              <a:t>Lehrgespräch mit erfundenen Beispielen.</a:t>
            </a:r>
          </a:p>
          <a:p>
            <a:r>
              <a:rPr lang="de-DE" b="1" sz="1100"/>
              <a:t>Sozialform: </a:t>
            </a:r>
            <a:r>
              <a:rPr lang="de-DE" sz="1100"/>
              <a:t>Plenum</a:t>
            </a:r>
          </a:p>
          <a:p>
            <a:r>
              <a:rPr lang="de-DE" b="1" sz="1100"/>
              <a:t>Zeit: </a:t>
            </a:r>
            <a:r>
              <a:rPr lang="de-DE" sz="1100"/>
              <a:t>ca. 2 Min</a:t>
            </a:r>
          </a:p>
          <a:p>
            <a:r>
              <a:rPr lang="de-DE" b="1" sz="1100"/>
              <a:t>Material: </a:t>
            </a:r>
            <a:r>
              <a:rPr lang="de-DE" sz="1100"/>
              <a:t>Beamer</a:t>
            </a:r>
          </a:p>
          <a:p>
            <a:r>
              <a:rPr lang="de-DE" b="1" sz="1100"/>
              <a:t>Hinweis: </a:t>
            </a:r>
            <a:r>
              <a:rPr lang="de-DE" sz="1100"/>
              <a:t>Zuschauende sind wichtig: Wer nicht mitlacht und nichts weiterschickt, nimmt dem Mobbing die Kraft. Die vierte Karte ist bewusst dabei und ohne Vorwurf: Wer selbst mitgemacht hat, kann aufhören, sich entschuldigen und Hilfe holen. Das ruhig sagen, niemanden in der Gruppe ansprechen oder bloßstellen. Ein Foto von anderen ohne Erlaubnis weiterzuschicken, kann verboten sein.</a:t>
            </a:r>
          </a:p>
          <a:p>
            <a:r>
              <a:rPr lang="de-DE" b="1" sz="1100"/>
              <a:t>Lernplattform: </a:t>
            </a:r>
            <a:r>
              <a:rPr lang="de-DE" sz="1100"/>
              <a:t>Thema Hilfe bei Problemen L6; Facebook L5 (Kommentare schreiben: freundlich bleiben).</a:t>
            </a:r>
          </a:p>
        </p:txBody>
      </p:sp>
      <p:sp>
        <p:nvSpPr>
          <p:cNvPr id="4" name="Slide Number Placeholder 3"/>
          <p:cNvSpPr>
            <a:spLocks noGrp="1"/>
          </p:cNvSpPr>
          <p:nvPr>
            <p:ph type="sldNum" sz="quarter" idx="10"/>
          </p:nvPr>
        </p:nvSpPr>
        <p:spPr/>
        <p:txBody>
          <a:bodyPr/>
          <a:lstStyle/>
          <a:p>
            <a:fld id="{F7021451-1387-4CA6-816F-3879F97B5CBC}" type="slidenum">
              <a:rPr lang="de-DE"/>
              <a:t>21</a:t>
            </a:fld>
            <a:endParaRPr lang="de-D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Erholung; Zeit für Einzelgespräche.</a:t>
            </a:r>
          </a:p>
          <a:p>
            <a:r>
              <a:rPr lang="de-DE" b="1" sz="1100"/>
              <a:t>Methode: </a:t>
            </a:r>
            <a:r>
              <a:rPr lang="de-DE" sz="1100"/>
              <a:t>Pause.</a:t>
            </a:r>
          </a:p>
          <a:p>
            <a:r>
              <a:rPr lang="de-DE" b="1" sz="1100"/>
              <a:t>Sozialform: </a:t>
            </a:r>
            <a:r>
              <a:rPr lang="de-DE" sz="1100"/>
              <a:t>–</a:t>
            </a:r>
          </a:p>
          <a:p>
            <a:r>
              <a:rPr lang="de-DE" b="1" sz="1100"/>
              <a:t>Zeit: </a:t>
            </a:r>
            <a:r>
              <a:rPr lang="de-DE" sz="1100"/>
              <a:t>ca. 10 Min</a:t>
            </a:r>
          </a:p>
          <a:p>
            <a:r>
              <a:rPr lang="de-DE" b="1" sz="1100"/>
              <a:t>Material: </a:t>
            </a:r>
            <a:r>
              <a:rPr lang="de-DE" sz="1100"/>
              <a:t>Getränke</a:t>
            </a:r>
          </a:p>
          <a:p>
            <a:r>
              <a:rPr lang="de-DE" b="1" sz="1100"/>
              <a:t>Hinweis: </a:t>
            </a:r>
            <a:r>
              <a:rPr lang="de-DE" sz="1100"/>
              <a:t>Uhrzeit nennen, wann es weitergeht. In diesem Modul besonders wichtig: ausdrücklich sagen, dass die Begleitung für Einzelgespräche da ist. Für die Praxis Hilfe-Karten und Stifte bereitlegen.</a:t>
            </a:r>
          </a:p>
        </p:txBody>
      </p:sp>
      <p:sp>
        <p:nvSpPr>
          <p:cNvPr id="4" name="Slide Number Placeholder 3"/>
          <p:cNvSpPr>
            <a:spLocks noGrp="1"/>
          </p:cNvSpPr>
          <p:nvPr>
            <p:ph type="sldNum" sz="quarter" idx="10"/>
          </p:nvPr>
        </p:nvSpPr>
        <p:spPr/>
        <p:txBody>
          <a:bodyPr/>
          <a:lstStyle/>
          <a:p>
            <a:fld id="{F7021451-1387-4CA6-816F-3879F97B5CBC}" type="slidenum">
              <a:rPr lang="de-DE"/>
              <a:t>22</a:t>
            </a:fld>
            <a:endParaRPr lang="de-D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Übergang in den Praxis-Teil: vom Wissen zum eigenen Tun.</a:t>
            </a:r>
          </a:p>
          <a:p>
            <a:r>
              <a:rPr lang="de-DE" b="1" sz="1100"/>
              <a:t>Methode: </a:t>
            </a:r>
            <a:r>
              <a:rPr lang="de-DE" sz="1100"/>
              <a:t>Kurzer Impuls.</a:t>
            </a:r>
          </a:p>
          <a:p>
            <a:r>
              <a:rPr lang="de-DE" b="1" sz="1100"/>
              <a:t>Sozialform: </a:t>
            </a:r>
            <a:r>
              <a:rPr lang="de-DE" sz="1100"/>
              <a:t>Plenum</a:t>
            </a:r>
          </a:p>
          <a:p>
            <a:r>
              <a:rPr lang="de-DE" b="1" sz="1100"/>
              <a:t>Zeit: </a:t>
            </a:r>
            <a:r>
              <a:rPr lang="de-DE" sz="1100"/>
              <a:t>ca. 1 Min</a:t>
            </a:r>
          </a:p>
          <a:p>
            <a:r>
              <a:rPr lang="de-DE" b="1" sz="1100"/>
              <a:t>Material: </a:t>
            </a:r>
            <a:r>
              <a:rPr lang="de-DE" sz="1100"/>
              <a:t>Beamer</a:t>
            </a:r>
          </a:p>
          <a:p>
            <a:r>
              <a:rPr lang="de-DE" b="1" sz="1100"/>
              <a:t>Hinweis: </a:t>
            </a:r>
            <a:r>
              <a:rPr lang="de-DE" sz="1100"/>
              <a:t>Ankündigen: Jetzt üben wir drei Dinge. Wir stellen keine App ein. Jede Person füllt ihre eigene Karte aus – die Karte bleibt bei der Person und wird nicht eingesammelt. Fehler sind erlaubt.</a:t>
            </a:r>
          </a:p>
        </p:txBody>
      </p:sp>
      <p:sp>
        <p:nvSpPr>
          <p:cNvPr id="4" name="Slide Number Placeholder 3"/>
          <p:cNvSpPr>
            <a:spLocks noGrp="1"/>
          </p:cNvSpPr>
          <p:nvPr>
            <p:ph type="sldNum" sz="quarter" idx="10"/>
          </p:nvPr>
        </p:nvSpPr>
        <p:spPr/>
        <p:txBody>
          <a:bodyPr/>
          <a:lstStyle/>
          <a:p>
            <a:fld id="{F7021451-1387-4CA6-816F-3879F97B5CBC}" type="slidenum">
              <a:rPr lang="de-DE"/>
              <a:t>23</a:t>
            </a:fld>
            <a:endParaRPr lang="de-D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Die Übung im Thema Hilfe bei Problemen am eigenen Handy öffnen.</a:t>
            </a:r>
          </a:p>
          <a:p>
            <a:r>
              <a:rPr lang="de-DE" b="1" sz="1100"/>
              <a:t>Methode: </a:t>
            </a:r>
            <a:r>
              <a:rPr lang="de-DE" sz="1100"/>
              <a:t>Anleitung, QR-Code scannen.</a:t>
            </a:r>
          </a:p>
          <a:p>
            <a:r>
              <a:rPr lang="de-DE" b="1" sz="1100"/>
              <a:t>Sozialform: </a:t>
            </a:r>
            <a:r>
              <a:rPr lang="de-DE" sz="1100"/>
              <a:t>Einzeln mit Begleitung</a:t>
            </a:r>
          </a:p>
          <a:p>
            <a:r>
              <a:rPr lang="de-DE" b="1" sz="1100"/>
              <a:t>Zeit: </a:t>
            </a:r>
            <a:r>
              <a:rPr lang="de-DE" sz="1100"/>
              <a:t>ca. 2 Min</a:t>
            </a:r>
          </a:p>
          <a:p>
            <a:r>
              <a:rPr lang="de-DE" b="1" sz="1100"/>
              <a:t>Material: </a:t>
            </a:r>
            <a:r>
              <a:rPr lang="de-DE" sz="1100"/>
              <a:t>eigenes Handy, WLAN, QR-Code</a:t>
            </a:r>
          </a:p>
          <a:p>
            <a:r>
              <a:rPr lang="de-DE" b="1" sz="1100"/>
              <a:t>Hinweis: </a:t>
            </a:r>
            <a:r>
              <a:rPr lang="de-DE" sz="1100"/>
              <a:t>Der QR-Code führt zum Übungs-Handy „Etwas ist passiert“ im Thema Hilfe bei Problemen. Er ist der Hauptweg und wird vorher getestet. Klappt das Scannen nicht: Die Begleitung öffnet die Seite auf dem Handy der Person oder zeigt sie am Beamer. Die volle Adresse steht unten im Feld Lernplattform und im Ausdruck dieses Leitfadens; sie wird nicht zum Abtippen an die Wand geworfen. Kein externer Kurz-Link-Dienst. Ohne Handy ist die Hilfe-Karte die Pflicht-Handlung – das reicht.</a:t>
            </a:r>
          </a:p>
          <a:p>
            <a:r>
              <a:rPr lang="de-DE" b="1" sz="1100"/>
              <a:t>Lernplattform: </a:t>
            </a:r>
            <a:r>
              <a:rPr lang="de-DE" sz="1100"/>
              <a:t>Übung: alex-und-tilda.github.io/sicher-und-selbstbestimmt-im-internet/#thema-hilfe:uebung (Übungs-Handy „Etwas ist passiert“ – erfundene Nachrichten, kein Konto nötig).</a:t>
            </a:r>
          </a:p>
        </p:txBody>
      </p:sp>
      <p:sp>
        <p:nvSpPr>
          <p:cNvPr id="4" name="Slide Number Placeholder 3"/>
          <p:cNvSpPr>
            <a:spLocks noGrp="1"/>
          </p:cNvSpPr>
          <p:nvPr>
            <p:ph type="sldNum" sz="quarter" idx="10"/>
          </p:nvPr>
        </p:nvSpPr>
        <p:spPr/>
        <p:txBody>
          <a:bodyPr/>
          <a:lstStyle/>
          <a:p>
            <a:fld id="{F7021451-1387-4CA6-816F-3879F97B5CBC}" type="slidenum">
              <a:rPr lang="de-DE"/>
              <a:t>24</a:t>
            </a:fld>
            <a:endParaRPr lang="de-D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Mindestens eine Handlung selbst ausführen: die Rückseite der eigenen Hilfe-Karte ausfüllen.</a:t>
            </a:r>
          </a:p>
          <a:p>
            <a:r>
              <a:rPr lang="de-DE" b="1" sz="1100"/>
              <a:t>Methode: </a:t>
            </a:r>
            <a:r>
              <a:rPr lang="de-DE" sz="1100"/>
              <a:t>Drei Stationen im Tandem; die Leitung zeigt jede Station zuerst.</a:t>
            </a:r>
          </a:p>
          <a:p>
            <a:r>
              <a:rPr lang="de-DE" b="1" sz="1100"/>
              <a:t>Sozialform: </a:t>
            </a:r>
            <a:r>
              <a:rPr lang="de-DE" sz="1100"/>
              <a:t>Tandem, einzeln mit Begleitung</a:t>
            </a:r>
          </a:p>
          <a:p>
            <a:r>
              <a:rPr lang="de-DE" b="1" sz="1100"/>
              <a:t>Zeit: </a:t>
            </a:r>
            <a:r>
              <a:rPr lang="de-DE" sz="1100"/>
              <a:t>ca. 12 Min</a:t>
            </a:r>
          </a:p>
          <a:p>
            <a:r>
              <a:rPr lang="de-DE" b="1" sz="1100"/>
              <a:t>Material: </a:t>
            </a:r>
            <a:r>
              <a:rPr lang="de-DE" sz="1100"/>
              <a:t>Hilfe-Karten, Stifte, eigenes Handy, Beamer, Praxis-Seiten der App-Module</a:t>
            </a:r>
          </a:p>
          <a:p>
            <a:r>
              <a:rPr lang="de-DE" b="1" sz="1100"/>
              <a:t>Hinweis: </a:t>
            </a:r>
            <a:r>
              <a:rPr lang="de-DE" sz="1100"/>
              <a:t>Mindestziel ist eine Handlung: die Rückseite der Hilfe-Karte ausfüllen – Name und Telefon von einer vertrauten Person. Die Beratungs-Nummern stehen schon auf der Vorderseite. Die Karte bleibt bei der Person; sie wird nicht eingesammelt, nicht abgeschrieben und nicht fotografiert. Bis zu zwei weitere Aufgaben sind freiwillig: (1) Ein Bild vom Bildschirm üben – an einem neutralen Bildschirm, zum Beispiel an der Lernplattform, nicht an echten Nachrichten. Bei Android und iPhone unterschiedlich; die Begleitung zeigt es am eigenen Gerät. (2) Die Übung am Handy machen: Übungs-Handy „Etwas ist passiert“. Wer möchte, übt zusätzlich den Hilfe-Satz von Folie 19 mit der Begleitung: Ich brauche Hilfe. Schaust du dir das mit mir an? Kein Rollenspiel, in dem jemand die mobbende Person spielt. Blockieren und Melden zeigt die Begleitung auf den Praxis-Seiten der App-Module. Die Praxis dauert 15 Minuten; die Zeit geht in Ruhe, Wiederholung und Einzelhilfe.</a:t>
            </a:r>
          </a:p>
          <a:p>
            <a:r>
              <a:rPr lang="de-DE" b="1" sz="1100"/>
              <a:t>Lernplattform: </a:t>
            </a:r>
            <a:r>
              <a:rPr lang="de-DE" sz="1100"/>
              <a:t>Übungs-Handy „Etwas ist passiert“ (#thema-hilfe:uebung); Alltags-Übung „Einen Kontakt blockieren“ (#alltag:kontakt:start) als weitere Möglichkeit; Praxis-Seiten der App-Module für Blockieren und Melden.</a:t>
            </a:r>
          </a:p>
        </p:txBody>
      </p:sp>
      <p:sp>
        <p:nvSpPr>
          <p:cNvPr id="4" name="Slide Number Placeholder 3"/>
          <p:cNvSpPr>
            <a:spLocks noGrp="1"/>
          </p:cNvSpPr>
          <p:nvPr>
            <p:ph type="sldNum" sz="quarter" idx="10"/>
          </p:nvPr>
        </p:nvSpPr>
        <p:spPr/>
        <p:txBody>
          <a:bodyPr/>
          <a:lstStyle/>
          <a:p>
            <a:fld id="{F7021451-1387-4CA6-816F-3879F97B5CBC}" type="slidenum">
              <a:rPr lang="de-DE"/>
              <a:t>25</a:t>
            </a:fld>
            <a:endParaRPr lang="de-D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1, was Cybermobbing ist.</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B. Erst fragen: Warum? Dann auflösen. Keine Noten, kein Zeitdruck. Zu Beginn sagen: Es gibt keine Noten. Jede Antwort hilft beim Gespräch. Wichtig: Ein Streit ist nicht schön, aber noch kein Cybermobbing. Beides ist nicht in Ordnung, wenn es verletzt.</a:t>
            </a:r>
          </a:p>
          <a:p>
            <a:r>
              <a:rPr lang="de-DE" b="1" sz="1100"/>
              <a:t>Lernplattform: </a:t>
            </a:r>
            <a:r>
              <a:rPr lang="de-DE" sz="1100"/>
              <a:t>Die Lernplattform hat kein eigenes Thema Cybermobbing; passend sind Thema Hilfe bei Problemen und die Lektionen zu verletzenden Kommentaren in den App-Themen.</a:t>
            </a:r>
          </a:p>
        </p:txBody>
      </p:sp>
      <p:sp>
        <p:nvSpPr>
          <p:cNvPr id="4" name="Slide Number Placeholder 3"/>
          <p:cNvSpPr>
            <a:spLocks noGrp="1"/>
          </p:cNvSpPr>
          <p:nvPr>
            <p:ph type="sldNum" sz="quarter" idx="10"/>
          </p:nvPr>
        </p:nvSpPr>
        <p:spPr/>
        <p:txBody>
          <a:bodyPr/>
          <a:lstStyle/>
          <a:p>
            <a:fld id="{F7021451-1387-4CA6-816F-3879F97B5CBC}" type="slidenum">
              <a:rPr lang="de-DE"/>
              <a:t>26</a:t>
            </a:fld>
            <a:endParaRPr lang="de-D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Beweise sichern.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A. Erst fragen: Warum? Dann auflösen. Keine Noten, kein Zeitdruck. Ergänzen: Ein Bild vom Bildschirm hilft beim Zeigen und beim Melden. Weiter-schicken ist keine Hilfe und kann selbst verletzen. Sehr private Bilder nie speichern und nie weiterschicken.</a:t>
            </a:r>
          </a:p>
          <a:p>
            <a:r>
              <a:rPr lang="de-DE" b="1" sz="1100"/>
              <a:t>Lernplattform: </a:t>
            </a:r>
            <a:r>
              <a:rPr lang="de-DE" sz="1100"/>
              <a:t>Thema Hilfe bei Problemen L2 und L3, Quiz Frage 3 und 7.</a:t>
            </a:r>
          </a:p>
        </p:txBody>
      </p:sp>
      <p:sp>
        <p:nvSpPr>
          <p:cNvPr id="4" name="Slide Number Placeholder 3"/>
          <p:cNvSpPr>
            <a:spLocks noGrp="1"/>
          </p:cNvSpPr>
          <p:nvPr>
            <p:ph type="sldNum" sz="quarter" idx="10"/>
          </p:nvPr>
        </p:nvSpPr>
        <p:spPr/>
        <p:txBody>
          <a:bodyPr/>
          <a:lstStyle/>
          <a:p>
            <a:fld id="{F7021451-1387-4CA6-816F-3879F97B5CBC}" type="slidenum">
              <a:rPr lang="de-DE"/>
              <a:t>27</a:t>
            </a:fld>
            <a:endParaRPr lang="de-D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2, es ist nicht deine Schuld.</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KERNFRAGE – wird immer gestellt. Passende Antwort: C. Erst fragen: Warum? Dann auflösen. Keine Noten, kein Zeitdruck. Wichtigste Botschaft des Workshops. Antwort A ist ein Gedanke, den viele Betroffene haben – deshalb ruhig und deutlich auflösen: Die Schuld liegt bei den Personen, die mobben. Niemand muss erzählen, ob ihm das passiert ist.</a:t>
            </a:r>
          </a:p>
          <a:p>
            <a:r>
              <a:rPr lang="de-DE" b="1" sz="1100"/>
              <a:t>Lernplattform: </a:t>
            </a:r>
            <a:r>
              <a:rPr lang="de-DE" sz="1100"/>
              <a:t>Thema Hilfe bei Problemen L5; Instagram L6, Facebook L6, TikTok L6.</a:t>
            </a:r>
          </a:p>
        </p:txBody>
      </p:sp>
      <p:sp>
        <p:nvSpPr>
          <p:cNvPr id="4" name="Slide Number Placeholder 3"/>
          <p:cNvSpPr>
            <a:spLocks noGrp="1"/>
          </p:cNvSpPr>
          <p:nvPr>
            <p:ph type="sldNum" sz="quarter" idx="10"/>
          </p:nvPr>
        </p:nvSpPr>
        <p:spPr/>
        <p:txBody>
          <a:bodyPr/>
          <a:lstStyle/>
          <a:p>
            <a:fld id="{F7021451-1387-4CA6-816F-3879F97B5CBC}" type="slidenum">
              <a:rPr lang="de-DE"/>
              <a:t>28</a:t>
            </a:fld>
            <a:endParaRPr lang="de-D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4, anderen helfen.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A. Erst fragen: Warum? Dann auflösen. Keine Noten, kein Zeitdruck. Gruppendruck ernst nehmen: Antwort B ist verständlich, macht aber mit. Ergänzen: Du kannst der Person auch schreiben: Du bist nicht allein. Ein Foto von anderen ohne Erlaubnis zu teilen, kann verboten sein.</a:t>
            </a:r>
          </a:p>
          <a:p>
            <a:r>
              <a:rPr lang="de-DE" b="1" sz="1100"/>
              <a:t>Lernplattform: </a:t>
            </a:r>
            <a:r>
              <a:rPr lang="de-DE" sz="1100"/>
              <a:t>Thema Hilfe bei Problemen L6; Instagram L2 und Facebook L7 (Fotos mit anderen Personen).</a:t>
            </a:r>
          </a:p>
        </p:txBody>
      </p:sp>
      <p:sp>
        <p:nvSpPr>
          <p:cNvPr id="4" name="Slide Number Placeholder 3"/>
          <p:cNvSpPr>
            <a:spLocks noGrp="1"/>
          </p:cNvSpPr>
          <p:nvPr>
            <p:ph type="sldNum" sz="quarter" idx="10"/>
          </p:nvPr>
        </p:nvSpPr>
        <p:spPr/>
        <p:txBody>
          <a:bodyPr/>
          <a:lstStyle/>
          <a:p>
            <a:fld id="{F7021451-1387-4CA6-816F-3879F97B5CBC}" type="slidenum">
              <a:rPr lang="de-DE"/>
              <a:t>29</a:t>
            </a:fld>
            <a:endParaRPr lang="de-D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3, Stopp machen.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2 Min</a:t>
            </a:r>
          </a:p>
          <a:p>
            <a:r>
              <a:rPr lang="de-DE" b="1" sz="1100"/>
              <a:t>Material: </a:t>
            </a:r>
            <a:r>
              <a:rPr lang="de-DE" sz="1100"/>
              <a:t>Antwortkarten A/B/C</a:t>
            </a:r>
          </a:p>
          <a:p>
            <a:r>
              <a:rPr lang="de-DE" b="1" sz="1100"/>
              <a:t>Hinweis: </a:t>
            </a:r>
            <a:r>
              <a:rPr lang="de-DE" sz="1100"/>
              <a:t>KERNFRAGE – wird immer gestellt. Passende Antwort: B. Erst fragen: Warum? Dann auflösen. Keine Noten, kein Zeitdruck. Beide falschen Antworten sind verständlich. Zurückschreiben macht es oft schlimmer und kann selbst Ärger bringen. Sofort löschen nimmt dir den Beweis. Gesprächsimpuls: Was hilft dir, ruhig zu werden?</a:t>
            </a:r>
          </a:p>
          <a:p>
            <a:r>
              <a:rPr lang="de-DE" b="1" sz="1100"/>
              <a:t>Lernplattform: </a:t>
            </a:r>
            <a:r>
              <a:rPr lang="de-DE" sz="1100"/>
              <a:t>Thema Hilfe bei Problemen L1 und L2, Quiz Frage 1 und 2.</a:t>
            </a:r>
          </a:p>
        </p:txBody>
      </p:sp>
      <p:sp>
        <p:nvSpPr>
          <p:cNvPr id="4" name="Slide Number Placeholder 3"/>
          <p:cNvSpPr>
            <a:spLocks noGrp="1"/>
          </p:cNvSpPr>
          <p:nvPr>
            <p:ph type="sldNum" sz="quarter" idx="10"/>
          </p:nvPr>
        </p:nvSpPr>
        <p:spPr/>
        <p:txBody>
          <a:bodyPr/>
          <a:lstStyle/>
          <a:p>
            <a:fld id="{F7021451-1387-4CA6-816F-3879F97B5CBC}" type="slidenum">
              <a:rPr lang="de-DE"/>
              <a:t>30</a:t>
            </a:fld>
            <a:endParaRPr lang="de-D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Wiederholung und Gespräch: Thema 4, Hilfe holen.</a:t>
            </a:r>
          </a:p>
          <a:p>
            <a:r>
              <a:rPr lang="de-DE" b="1" sz="1100"/>
              <a:t>Methode: </a:t>
            </a:r>
            <a:r>
              <a:rPr lang="de-DE" sz="1100"/>
              <a:t>Quiz als Gespräch: Antwortkarten A/B/C (Variante A, Standard) oder Kahoot in Teams (Variante B).</a:t>
            </a:r>
          </a:p>
          <a:p>
            <a:r>
              <a:rPr lang="de-DE" b="1" sz="1100"/>
              <a:t>Sozialform: </a:t>
            </a:r>
            <a:r>
              <a:rPr lang="de-DE" sz="1100"/>
              <a:t>Plenum oder Teams</a:t>
            </a:r>
          </a:p>
          <a:p>
            <a:r>
              <a:rPr lang="de-DE" b="1" sz="1100"/>
              <a:t>Zeit: </a:t>
            </a:r>
            <a:r>
              <a:rPr lang="de-DE" sz="1100"/>
              <a:t>ca. 1 Min</a:t>
            </a:r>
          </a:p>
          <a:p>
            <a:r>
              <a:rPr lang="de-DE" b="1" sz="1100"/>
              <a:t>Material: </a:t>
            </a:r>
            <a:r>
              <a:rPr lang="de-DE" sz="1100"/>
              <a:t>Antwortkarten A/B/C</a:t>
            </a:r>
          </a:p>
          <a:p>
            <a:r>
              <a:rPr lang="de-DE" b="1" sz="1100"/>
              <a:t>Hinweis: </a:t>
            </a:r>
            <a:r>
              <a:rPr lang="de-DE" sz="1100"/>
              <a:t>RESERVEFRAGE – nur wenn Zeit und Aufmerksamkeit reichen. Passende Antwort: C. Erst fragen: Warum? Dann auflösen. Keine Noten, kein Zeitdruck. Auf die Karte mit den Ansprechpersonen und die Hilfe-Nummern zeigen. Ergänzen: Hilfe holen geht auch am Telefon, kostenlos und ohne Namen. Diese Reservefrage zuerst nehmen, wenn Angst in der Gruppe Thema war.</a:t>
            </a:r>
          </a:p>
          <a:p>
            <a:r>
              <a:rPr lang="de-DE" b="1" sz="1100"/>
              <a:t>Lernplattform: </a:t>
            </a:r>
            <a:r>
              <a:rPr lang="de-DE" sz="1100"/>
              <a:t>Thema Hilfe bei Problemen L6 und L7, Quiz Frage 5 und 6.</a:t>
            </a:r>
          </a:p>
        </p:txBody>
      </p:sp>
      <p:sp>
        <p:nvSpPr>
          <p:cNvPr id="4" name="Slide Number Placeholder 3"/>
          <p:cNvSpPr>
            <a:spLocks noGrp="1"/>
          </p:cNvSpPr>
          <p:nvPr>
            <p:ph type="sldNum" sz="quarter" idx="10"/>
          </p:nvPr>
        </p:nvSpPr>
        <p:spPr/>
        <p:txBody>
          <a:bodyPr/>
          <a:lstStyle/>
          <a:p>
            <a:fld id="{F7021451-1387-4CA6-816F-3879F97B5CBC}" type="slidenum">
              <a:rPr lang="de-DE"/>
              <a:t>31</a:t>
            </a:fld>
            <a:endParaRPr lang="de-D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Fünf Merksätze wiederholen.</a:t>
            </a:r>
          </a:p>
          <a:p>
            <a:r>
              <a:rPr lang="de-DE" b="1" sz="1100"/>
              <a:t>Methode: </a:t>
            </a:r>
            <a:r>
              <a:rPr lang="de-DE" sz="1100"/>
              <a:t>Reihum vorlesen.</a:t>
            </a:r>
          </a:p>
          <a:p>
            <a:r>
              <a:rPr lang="de-DE" b="1" sz="1100"/>
              <a:t>Sozialform: </a:t>
            </a:r>
            <a:r>
              <a:rPr lang="de-DE" sz="1100"/>
              <a:t>Plenum</a:t>
            </a:r>
          </a:p>
          <a:p>
            <a:r>
              <a:rPr lang="de-DE" b="1" sz="1100"/>
              <a:t>Zeit: </a:t>
            </a:r>
            <a:r>
              <a:rPr lang="de-DE" sz="1100"/>
              <a:t>ca. 1 Min</a:t>
            </a:r>
          </a:p>
          <a:p>
            <a:r>
              <a:rPr lang="de-DE" b="1" sz="1100"/>
              <a:t>Material: </a:t>
            </a:r>
            <a:r>
              <a:rPr lang="de-DE" sz="1100"/>
              <a:t>gedruckte Merk-Karte Hilfe bei Problemen der Lernplattform</a:t>
            </a:r>
          </a:p>
          <a:p>
            <a:r>
              <a:rPr lang="de-DE" b="1" sz="1100"/>
              <a:t>Hinweis: </a:t>
            </a:r>
            <a:r>
              <a:rPr lang="de-DE" sz="1100"/>
              <a:t>Merk-Karte austeilen. Die Merksätze passen inhaltlich zum Thema Hilfe bei Problemen, sind aber nicht wortgleich. Beim Austeilen sagen: Auf der Karte stehen die gleichen Regeln in anderen Worten. Zusätzlich die Hilfe-Karte aus der Praxis erwähnen.</a:t>
            </a:r>
          </a:p>
          <a:p>
            <a:r>
              <a:rPr lang="de-DE" b="1" sz="1100"/>
              <a:t>Lernplattform: </a:t>
            </a:r>
            <a:r>
              <a:rPr lang="de-DE" sz="1100"/>
              <a:t>Merk-Karte #thema-hilfe:merk; Thema Hilfe bei Problemen L9.</a:t>
            </a:r>
          </a:p>
        </p:txBody>
      </p:sp>
      <p:sp>
        <p:nvSpPr>
          <p:cNvPr id="4" name="Slide Number Placeholder 3"/>
          <p:cNvSpPr>
            <a:spLocks noGrp="1"/>
          </p:cNvSpPr>
          <p:nvPr>
            <p:ph type="sldNum" sz="quarter" idx="10"/>
          </p:nvPr>
        </p:nvSpPr>
        <p:spPr/>
        <p:txBody>
          <a:bodyPr/>
          <a:lstStyle/>
          <a:p>
            <a:fld id="{F7021451-1387-4CA6-816F-3879F97B5CBC}" type="slidenum">
              <a:rPr lang="de-DE"/>
              <a:t>32</a:t>
            </a:fld>
            <a:endParaRPr lang="de-D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Wissen, wo es weitergeht; die Seite öffnen können.</a:t>
            </a:r>
          </a:p>
          <a:p>
            <a:r>
              <a:rPr lang="de-DE" b="1" sz="1100"/>
              <a:t>Methode: </a:t>
            </a:r>
            <a:r>
              <a:rPr lang="de-DE" sz="1100"/>
              <a:t>QR-Code scannen, kurz zeigen.</a:t>
            </a:r>
          </a:p>
          <a:p>
            <a:r>
              <a:rPr lang="de-DE" b="1" sz="1100"/>
              <a:t>Sozialform: </a:t>
            </a:r>
            <a:r>
              <a:rPr lang="de-DE" sz="1100"/>
              <a:t>Plenum, einzeln</a:t>
            </a:r>
          </a:p>
          <a:p>
            <a:r>
              <a:rPr lang="de-DE" b="1" sz="1100"/>
              <a:t>Zeit: </a:t>
            </a:r>
            <a:r>
              <a:rPr lang="de-DE" sz="1100"/>
              <a:t>ca. 2 Min</a:t>
            </a:r>
          </a:p>
          <a:p>
            <a:r>
              <a:rPr lang="de-DE" b="1" sz="1100"/>
              <a:t>Material: </a:t>
            </a:r>
            <a:r>
              <a:rPr lang="de-DE" sz="1100"/>
              <a:t>eigenes Handy, QR-Code</a:t>
            </a:r>
          </a:p>
          <a:p>
            <a:r>
              <a:rPr lang="de-DE" b="1" sz="1100"/>
              <a:t>Hinweis: </a:t>
            </a:r>
            <a:r>
              <a:rPr lang="de-DE" sz="1100"/>
              <a:t>Der QR-Code ist der Hauptweg; die volle Adresse steht im Feld Lernplattform und im Ausdruck dieses Leitfadens, nicht klein auf der Folie. Wichtig und ehrlich sagen: Zu Cybermobbing gibt es auf der Lernplattform kein eigenes Thema. Passend ist das Thema Hilfe bei Problemen – dort steht der ganze Plan. Verletzende Kommentare stehen außerdem in den App-Themen: Instagram L6, Facebook L6, TikTok L6. Blockieren und Melden stehen auf den Praxis-Seiten der Apps. Die Sprache lässt sich jederzeit umstellen. Vor dem Workshop an einem Gerät ohne gespeicherte Einstellungen testen, was der QR-Code zuerst zeigt. Zum Datenschutz nur das sagen, was auf der Datenschutz-Seite der Lernplattform steht (Stand Juni 2026): Die Seite fragt nicht nach dem Namen, es gibt kein Konto und keine Werbung; der Lernstand bleibt nur nach Zustimmung auf dem Gerät; beim Aufruf verarbeitet der Hoster GitHub Pages technisch nötige Daten wie die IP-Adresse.</a:t>
            </a:r>
          </a:p>
          <a:p>
            <a:r>
              <a:rPr lang="de-DE" b="1" sz="1100"/>
              <a:t>Lernplattform: </a:t>
            </a:r>
            <a:r>
              <a:rPr lang="de-DE" sz="1100"/>
              <a:t>alex-und-tilda.github.io/sicher-und-selbstbestimmt-im-internet/#thema-hilfe; weitere Einstiege: #thema-hilfe:kurz, #thema-hilfe:quiz, #thema-hilfe:merk, #thema-hilfe:uebung.</a:t>
            </a:r>
          </a:p>
        </p:txBody>
      </p:sp>
      <p:sp>
        <p:nvSpPr>
          <p:cNvPr id="4" name="Slide Number Placeholder 3"/>
          <p:cNvSpPr>
            <a:spLocks noGrp="1"/>
          </p:cNvSpPr>
          <p:nvPr>
            <p:ph type="sldNum" sz="quarter" idx="10"/>
          </p:nvPr>
        </p:nvSpPr>
        <p:spPr/>
        <p:txBody>
          <a:bodyPr/>
          <a:lstStyle/>
          <a:p>
            <a:fld id="{F7021451-1387-4CA6-816F-3879F97B5CBC}" type="slidenum">
              <a:rPr lang="de-DE"/>
              <a:t>33</a:t>
            </a:fld>
            <a:endParaRPr lang="de-D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Einen konkreten Schritt für den Alltag benennen.</a:t>
            </a:r>
          </a:p>
          <a:p>
            <a:r>
              <a:rPr lang="de-DE" b="1" sz="1100"/>
              <a:t>Methode: </a:t>
            </a:r>
            <a:r>
              <a:rPr lang="de-DE" sz="1100"/>
              <a:t>Satz gemeinsam sprechen; freiwillig sagen, wen man fragen will.</a:t>
            </a:r>
          </a:p>
          <a:p>
            <a:r>
              <a:rPr lang="de-DE" b="1" sz="1100"/>
              <a:t>Sozialform: </a:t>
            </a:r>
            <a:r>
              <a:rPr lang="de-DE" sz="1100"/>
              <a:t>Plenum</a:t>
            </a:r>
          </a:p>
          <a:p>
            <a:r>
              <a:rPr lang="de-DE" b="1" sz="1100"/>
              <a:t>Zeit: </a:t>
            </a:r>
            <a:r>
              <a:rPr lang="de-DE" sz="1100"/>
              <a:t>ca. 1 Min</a:t>
            </a:r>
          </a:p>
          <a:p>
            <a:r>
              <a:rPr lang="de-DE" b="1" sz="1100"/>
              <a:t>Material: </a:t>
            </a:r>
            <a:r>
              <a:rPr lang="de-DE" sz="1100"/>
              <a:t>Beamer, Hilfe-Karte</a:t>
            </a:r>
          </a:p>
          <a:p>
            <a:r>
              <a:rPr lang="de-DE" b="1" sz="1100"/>
              <a:t>Hinweis: </a:t>
            </a:r>
            <a:r>
              <a:rPr lang="de-DE" sz="1100"/>
              <a:t>Nur dieser eine Schritt. Er passt zum Transfer-Satz der Lernplattform: Überlege dir heute eine vertraute Person. Etwas passiert? Dann fragst du diese Person. Niemand muss den Namen in der Gruppe sagen. Wer mag, schreibt ihn auf die Rückseite der Hilfe-Karte.</a:t>
            </a:r>
          </a:p>
          <a:p>
            <a:r>
              <a:rPr lang="de-DE" b="1" sz="1100"/>
              <a:t>Bildvorschlag: </a:t>
            </a:r>
            <a:r>
              <a:rPr lang="de-DE" sz="1100"/>
              <a:t>Eigenes Bild: Person spricht mit einer vertrauten Person, beide sitzen ruhig. Funktion: Erinnerungsbild, auch für einen Handzettel.</a:t>
            </a:r>
          </a:p>
          <a:p>
            <a:r>
              <a:rPr lang="de-DE" b="1" sz="1100"/>
              <a:t>Lernplattform: </a:t>
            </a:r>
            <a:r>
              <a:rPr lang="de-DE" sz="1100"/>
              <a:t>Transfer Thema Hilfe bei Problemen: Überlege dir heute eine vertraute Person.</a:t>
            </a:r>
          </a:p>
        </p:txBody>
      </p:sp>
      <p:sp>
        <p:nvSpPr>
          <p:cNvPr id="4" name="Slide Number Placeholder 3"/>
          <p:cNvSpPr>
            <a:spLocks noGrp="1"/>
          </p:cNvSpPr>
          <p:nvPr>
            <p:ph type="sldNum" sz="quarter" idx="10"/>
          </p:nvPr>
        </p:nvSpPr>
        <p:spPr/>
        <p:txBody>
          <a:bodyPr/>
          <a:lstStyle/>
          <a:p>
            <a:fld id="{F7021451-1387-4CA6-816F-3879F97B5CBC}" type="slidenum">
              <a:rPr lang="de-DE"/>
              <a:t>34</a:t>
            </a:fld>
            <a:endParaRPr lang="de-D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sz="1100"/>
              <a:t>Lernziel: </a:t>
            </a:r>
            <a:r>
              <a:rPr lang="de-DE" sz="1100"/>
              <a:t>Ermutigender Abschluss.</a:t>
            </a:r>
          </a:p>
          <a:p>
            <a:r>
              <a:rPr lang="de-DE" b="1" sz="1100"/>
              <a:t>Methode: </a:t>
            </a:r>
            <a:r>
              <a:rPr lang="de-DE" sz="1100"/>
              <a:t>Fragerunde.</a:t>
            </a:r>
          </a:p>
          <a:p>
            <a:r>
              <a:rPr lang="de-DE" b="1" sz="1100"/>
              <a:t>Sozialform: </a:t>
            </a:r>
            <a:r>
              <a:rPr lang="de-DE" sz="1100"/>
              <a:t>Plenum</a:t>
            </a:r>
          </a:p>
          <a:p>
            <a:r>
              <a:rPr lang="de-DE" b="1" sz="1100"/>
              <a:t>Zeit: </a:t>
            </a:r>
            <a:r>
              <a:rPr lang="de-DE" sz="1100"/>
              <a:t>ca. 1 Min</a:t>
            </a:r>
          </a:p>
          <a:p>
            <a:r>
              <a:rPr lang="de-DE" b="1" sz="1100"/>
              <a:t>Material: </a:t>
            </a:r>
            <a:r>
              <a:rPr lang="de-DE" sz="1100"/>
              <a:t>–</a:t>
            </a:r>
          </a:p>
          <a:p>
            <a:r>
              <a:rPr lang="de-DE" b="1" sz="1100"/>
              <a:t>Hinweis: </a:t>
            </a:r>
            <a:r>
              <a:rPr lang="de-DE" sz="1100"/>
              <a:t>Mit Stärke abschließen: Du bist nicht allein. Ausdrücklich sagen, dass die Begleitung nach dem Workshop noch da ist. Optional: Einstiegsfrage von Folie 4 noch einmal stellen – jetzt haben alle einen Plan. Danach Beobachtungen datensparsam festhalten (Checkliste nach dem Workshop in REFERENZMODUL.md). Bei Verdacht auf Grooming, Belästigung oder Erpressung: Schutzauftrag der Einrichtung umsetzen und dokumentieren.</a:t>
            </a:r>
          </a:p>
        </p:txBody>
      </p:sp>
      <p:sp>
        <p:nvSpPr>
          <p:cNvPr id="4" name="Slide Number Placeholder 3"/>
          <p:cNvSpPr>
            <a:spLocks noGrp="1"/>
          </p:cNvSpPr>
          <p:nvPr>
            <p:ph type="sldNum" sz="quarter" idx="10"/>
          </p:nvPr>
        </p:nvSpPr>
        <p:spPr/>
        <p:txBody>
          <a:bodyPr/>
          <a:lstStyle/>
          <a:p>
            <a:fld id="{F7021451-1387-4CA6-816F-3879F97B5CBC}" type="slidenum">
              <a:rPr lang="de-DE"/>
              <a:t>35</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qr-uebung-hilfe.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qr-lernplattform-hilfe.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Cybermobbing: Was ist das? Was kann ich tun?">
    <p:bg>
      <p:bgPr>
        <a:solidFill>
          <a:srgbClr val="00285A"/>
        </a:solidFill>
        <a:effectLst/>
      </p:bgPr>
    </p:bg>
    <p:spTree>
      <p:nvGrpSpPr>
        <p:cNvPr id="1" name=""/>
        <p:cNvGrpSpPr/>
        <p:nvPr/>
      </p:nvGrpSpPr>
      <p:grpSpPr>
        <a:xfrm>
          <a:off x="0" y="0"/>
          <a:ext cx="0" cy="0"/>
          <a:chOff x="0" y="0"/>
          <a:chExt cx="0" cy="0"/>
        </a:xfrm>
      </p:grpSpPr>
      <p:sp>
        <p:nvSpPr>
          <p:cNvPr id="2" name="Bild-Platzhalter 2"/>
          <p:cNvSpPr/>
          <p:nvPr/>
        </p:nvSpPr>
        <p:spPr>
          <a:xfrm>
            <a:off x="640080" y="540000"/>
            <a:ext cx="3200000" cy="1700000"/>
          </a:xfrm>
          <a:prstGeom prst="roundRect">
            <a:avLst>
              <a:gd name="adj" fmla="val 4000"/>
            </a:avLst>
          </a:prstGeom>
          <a:solidFill>
            <a:srgbClr val="0B3A6E"/>
          </a:solidFill>
          <a:ln w="19050">
            <a:solidFill>
              <a:srgbClr val="AAD1E3"/>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500" b="0" i="1" dirty="0">
                <a:solidFill>
                  <a:srgbClr val="AAD1E3"/>
                </a:solidFill>
                <a:latin typeface="Arial" pitchFamily="34" charset="0"/>
                <a:ea typeface="Arial" pitchFamily="34" charset="-122"/>
                <a:cs typeface="Arial" pitchFamily="34" charset="-120"/>
              </a:rPr>
              <a:t>[BILD: Alex und Tilda begrüßen die Gruppe – eigene Figuren der Lernplattform]</a:t>
            </a:r>
          </a:p>
        </p:txBody>
      </p:sp>
      <p:sp>
        <p:nvSpPr>
          <p:cNvPr id="3" name="Text 3"/>
          <p:cNvSpPr/>
          <p:nvPr/>
        </p:nvSpPr>
        <p:spPr>
          <a:xfrm>
            <a:off x="640080" y="2423160"/>
            <a:ext cx="10972800" cy="1900000"/>
          </a:xfrm>
          <a:prstGeom prst="rect">
            <a:avLst/>
          </a:prstGeom>
          <a:noFill/>
          <a:ln>
            <a:noFill/>
          </a:ln>
        </p:spPr>
        <p:txBody>
          <a:bodyPr wrap="square" lIns="0" tIns="0" rIns="0" bIns="0" rtlCol="0" anchor="b">
            <a:noAutofit/>
          </a:bodyPr>
          <a:lstStyle/>
          <a:p>
            <a:pPr algn="l" indent="0" marL="0">
              <a:lnSpc>
                <a:spcPct val="95000"/>
              </a:lnSpc>
              <a:spcAft>
                <a:spcPts val="0"/>
              </a:spcAft>
              <a:buNone/>
            </a:pPr>
            <a:r>
              <a:rPr lang="de-DE" sz="4400" b="1" i="0" dirty="0">
                <a:solidFill>
                  <a:srgbClr val="FFFFFF"/>
                </a:solidFill>
                <a:latin typeface="Arial" pitchFamily="34" charset="0"/>
                <a:ea typeface="Arial" pitchFamily="34" charset="-122"/>
                <a:cs typeface="Arial" pitchFamily="34" charset="-120"/>
              </a:rPr>
              <a:t>Cybermobbing: Was ist das? Was kann ich tun?</a:t>
            </a:r>
          </a:p>
        </p:txBody>
      </p:sp>
      <p:sp>
        <p:nvSpPr>
          <p:cNvPr id="4" name="Text 4"/>
          <p:cNvSpPr/>
          <p:nvPr/>
        </p:nvSpPr>
        <p:spPr>
          <a:xfrm>
            <a:off x="640080" y="4450000"/>
            <a:ext cx="10972800" cy="7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2800" b="0" i="0" dirty="0">
                <a:solidFill>
                  <a:srgbClr val="AAD1E3"/>
                </a:solidFill>
                <a:latin typeface="Arial" pitchFamily="34" charset="0"/>
                <a:ea typeface="Arial" pitchFamily="34" charset="-122"/>
                <a:cs typeface="Arial" pitchFamily="34" charset="-120"/>
              </a:rPr>
              <a:t>Erkennen. Nicht allein bleiben. Hilfe holen.</a:t>
            </a:r>
          </a:p>
        </p:txBody>
      </p:sp>
      <p:sp>
        <p:nvSpPr>
          <p:cNvPr id="5" name="Text 5"/>
          <p:cNvSpPr/>
          <p:nvPr/>
        </p:nvSpPr>
        <p:spPr>
          <a:xfrm>
            <a:off x="640080" y="5349240"/>
            <a:ext cx="10972800" cy="82296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1900" b="1" i="0" dirty="0">
                <a:solidFill>
                  <a:srgbClr val="FFFFFF"/>
                </a:solidFill>
                <a:latin typeface="Arial" pitchFamily="34" charset="0"/>
                <a:ea typeface="Arial" pitchFamily="34" charset="-122"/>
                <a:cs typeface="Arial" pitchFamily="34" charset="-120"/>
              </a:rPr>
              <a:t>Alex und Tilda</a:t>
            </a:r>
          </a:p>
          <a:p>
            <a:pPr algn="l" indent="0" marL="0">
              <a:lnSpc>
                <a:spcPct val="100000"/>
              </a:lnSpc>
              <a:spcAft>
                <a:spcPts val="0"/>
              </a:spcAft>
              <a:buNone/>
            </a:pPr>
            <a:r>
              <a:rPr lang="de-DE" sz="1800" b="0" i="0" dirty="0">
                <a:solidFill>
                  <a:srgbClr val="AAD1E3"/>
                </a:solidFill>
                <a:latin typeface="Arial" pitchFamily="34" charset="0"/>
                <a:ea typeface="Arial" pitchFamily="34" charset="-122"/>
                <a:cs typeface="Arial" pitchFamily="34" charset="-120"/>
              </a:rPr>
              <a:t>Sicher und selbstbestimmt im Internet</a:t>
            </a:r>
          </a:p>
        </p:txBody>
      </p:sp>
      <p:sp>
        <p:nvSpPr>
          <p:cNvPr id="6" name="Text 6"/>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as machen wir heute">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machen wir heute</a:t>
            </a:r>
          </a:p>
        </p:txBody>
      </p:sp>
      <p:sp>
        <p:nvSpPr>
          <p:cNvPr id="3" name="Zeile 3"/>
          <p:cNvSpPr/>
          <p:nvPr/>
        </p:nvSpPr>
        <p:spPr>
          <a:xfrm>
            <a:off x="640080" y="1600000"/>
            <a:ext cx="5300000" cy="82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2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524080" y="160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Was ist Cybermobbing?</a:t>
            </a:r>
          </a:p>
        </p:txBody>
      </p:sp>
      <p:sp>
        <p:nvSpPr>
          <p:cNvPr id="6" name="Zeile 6"/>
          <p:cNvSpPr/>
          <p:nvPr/>
        </p:nvSpPr>
        <p:spPr>
          <a:xfrm>
            <a:off x="640080" y="2570000"/>
            <a:ext cx="5300000" cy="82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69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524080" y="257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Es ist nicht deine Schuld</a:t>
            </a:r>
          </a:p>
        </p:txBody>
      </p:sp>
      <p:sp>
        <p:nvSpPr>
          <p:cNvPr id="9" name="Zeile 9"/>
          <p:cNvSpPr/>
          <p:nvPr/>
        </p:nvSpPr>
        <p:spPr>
          <a:xfrm>
            <a:off x="640080" y="3540000"/>
            <a:ext cx="5300000" cy="82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66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524080" y="354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Was kann ich tun?</a:t>
            </a:r>
          </a:p>
        </p:txBody>
      </p:sp>
      <p:sp>
        <p:nvSpPr>
          <p:cNvPr id="12" name="Zeile 12"/>
          <p:cNvSpPr/>
          <p:nvPr/>
        </p:nvSpPr>
        <p:spPr>
          <a:xfrm>
            <a:off x="640080" y="4510000"/>
            <a:ext cx="5300000" cy="82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633000"/>
            <a:ext cx="574000" cy="574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210"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524080" y="4510000"/>
            <a:ext cx="4216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Hilfe holen und anderen helfen</a:t>
            </a:r>
          </a:p>
        </p:txBody>
      </p:sp>
      <p:sp>
        <p:nvSpPr>
          <p:cNvPr id="15" name="Text 15"/>
          <p:cNvSpPr/>
          <p:nvPr/>
        </p:nvSpPr>
        <p:spPr>
          <a:xfrm>
            <a:off x="6250000" y="1600000"/>
            <a:ext cx="5300000" cy="820000"/>
          </a:xfrm>
          <a:prstGeom prst="roundRect">
            <a:avLst>
              <a:gd name="adj" fmla="val 12000"/>
            </a:avLst>
          </a:prstGeom>
          <a:solidFill>
            <a:srgbClr val="FFFFFF"/>
          </a:solidFill>
          <a:ln w="19050">
            <a:solidFill>
              <a:srgbClr val="AAD1E3"/>
            </a:solidFill>
            <a:prstDash val="solid"/>
          </a:ln>
        </p:spPr>
      </p:sp>
      <p:sp>
        <p:nvSpPr>
          <p:cNvPr id="16" name="Text 16"/>
          <p:cNvSpPr/>
          <p:nvPr/>
        </p:nvSpPr>
        <p:spPr>
          <a:xfrm>
            <a:off x="6450000" y="160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Pause</a:t>
            </a:r>
          </a:p>
        </p:txBody>
      </p:sp>
      <p:sp>
        <p:nvSpPr>
          <p:cNvPr id="17" name="Text 17"/>
          <p:cNvSpPr/>
          <p:nvPr/>
        </p:nvSpPr>
        <p:spPr>
          <a:xfrm>
            <a:off x="6250000" y="2570000"/>
            <a:ext cx="5300000" cy="820000"/>
          </a:xfrm>
          <a:prstGeom prst="roundRect">
            <a:avLst>
              <a:gd name="adj" fmla="val 12000"/>
            </a:avLst>
          </a:prstGeom>
          <a:solidFill>
            <a:srgbClr val="FFFFFF"/>
          </a:solidFill>
          <a:ln w="19050">
            <a:solidFill>
              <a:srgbClr val="AAD1E3"/>
            </a:solidFill>
            <a:prstDash val="solid"/>
          </a:ln>
        </p:spPr>
      </p:sp>
      <p:sp>
        <p:nvSpPr>
          <p:cNvPr id="18" name="Text 18"/>
          <p:cNvSpPr/>
          <p:nvPr/>
        </p:nvSpPr>
        <p:spPr>
          <a:xfrm>
            <a:off x="6450000" y="257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Praxis: Wir üben zusammen</a:t>
            </a:r>
          </a:p>
        </p:txBody>
      </p:sp>
      <p:sp>
        <p:nvSpPr>
          <p:cNvPr id="19" name="Text 19"/>
          <p:cNvSpPr/>
          <p:nvPr/>
        </p:nvSpPr>
        <p:spPr>
          <a:xfrm>
            <a:off x="6250000" y="3540000"/>
            <a:ext cx="5300000" cy="820000"/>
          </a:xfrm>
          <a:prstGeom prst="roundRect">
            <a:avLst>
              <a:gd name="adj" fmla="val 12000"/>
            </a:avLst>
          </a:prstGeom>
          <a:solidFill>
            <a:srgbClr val="FFFFFF"/>
          </a:solidFill>
          <a:ln w="19050">
            <a:solidFill>
              <a:srgbClr val="AAD1E3"/>
            </a:solidFill>
            <a:prstDash val="solid"/>
          </a:ln>
        </p:spPr>
      </p:sp>
      <p:sp>
        <p:nvSpPr>
          <p:cNvPr id="20" name="Text 20"/>
          <p:cNvSpPr/>
          <p:nvPr/>
        </p:nvSpPr>
        <p:spPr>
          <a:xfrm>
            <a:off x="6450000" y="354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Quiz: Wir sprechen darüber</a:t>
            </a:r>
          </a:p>
        </p:txBody>
      </p:sp>
      <p:sp>
        <p:nvSpPr>
          <p:cNvPr id="21" name="Text 21"/>
          <p:cNvSpPr/>
          <p:nvPr/>
        </p:nvSpPr>
        <p:spPr>
          <a:xfrm>
            <a:off x="6250000" y="4510000"/>
            <a:ext cx="5300000" cy="820000"/>
          </a:xfrm>
          <a:prstGeom prst="roundRect">
            <a:avLst>
              <a:gd name="adj" fmla="val 12000"/>
            </a:avLst>
          </a:prstGeom>
          <a:solidFill>
            <a:srgbClr val="FFFFFF"/>
          </a:solidFill>
          <a:ln w="19050">
            <a:solidFill>
              <a:srgbClr val="AAD1E3"/>
            </a:solidFill>
            <a:prstDash val="solid"/>
          </a:ln>
        </p:spPr>
      </p:sp>
      <p:sp>
        <p:nvSpPr>
          <p:cNvPr id="22" name="Text 22"/>
          <p:cNvSpPr/>
          <p:nvPr/>
        </p:nvSpPr>
        <p:spPr>
          <a:xfrm>
            <a:off x="6450000" y="4510000"/>
            <a:ext cx="4900000" cy="8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Lernplattform und eine Sache für heute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nsere Regel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Unsere Regeln</a:t>
            </a:r>
          </a:p>
        </p:txBody>
      </p:sp>
      <p:sp>
        <p:nvSpPr>
          <p:cNvPr id="3" name="Text 3"/>
          <p:cNvSpPr/>
          <p:nvPr/>
        </p:nvSpPr>
        <p:spPr>
          <a:xfrm>
            <a:off x="64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Jede Frage ist gut.</a:t>
            </a:r>
          </a:p>
        </p:txBody>
      </p:sp>
      <p:sp>
        <p:nvSpPr>
          <p:cNvPr id="4" name="Text 4"/>
          <p:cNvSpPr/>
          <p:nvPr/>
        </p:nvSpPr>
        <p:spPr>
          <a:xfrm>
            <a:off x="6190080" y="160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Wir lachen niemanden aus.</a:t>
            </a:r>
          </a:p>
        </p:txBody>
      </p:sp>
      <p:sp>
        <p:nvSpPr>
          <p:cNvPr id="5" name="Text 5"/>
          <p:cNvSpPr/>
          <p:nvPr/>
        </p:nvSpPr>
        <p:spPr>
          <a:xfrm>
            <a:off x="64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Wir hören einander zu.</a:t>
            </a:r>
          </a:p>
        </p:txBody>
      </p:sp>
      <p:sp>
        <p:nvSpPr>
          <p:cNvPr id="6" name="Text 6"/>
          <p:cNvSpPr/>
          <p:nvPr/>
        </p:nvSpPr>
        <p:spPr>
          <a:xfrm>
            <a:off x="6190080" y="3950000"/>
            <a:ext cx="5360000" cy="2000000"/>
          </a:xfrm>
          <a:prstGeom prst="roundRect">
            <a:avLst>
              <a:gd name="adj" fmla="val 8000"/>
            </a:avLst>
          </a:prstGeom>
          <a:solidFill>
            <a:srgbClr val="D8EAF2"/>
          </a:solidFill>
          <a:ln w="12700">
            <a:solidFill>
              <a:srgbClr val="AAD1E3"/>
            </a:solidFill>
            <a:prstDash val="solid"/>
          </a:ln>
        </p:spPr>
        <p:txBody>
          <a:bodyPr wrap="square" lIns="180000" tIns="180000" rIns="180000" bIns="180000" rtlCol="0" anchor="ctr">
            <a:noAutofit/>
          </a:bodyPr>
          <a:lstStyle/>
          <a:p>
            <a:pPr algn="ctr" indent="0" marL="0">
              <a:lnSpc>
                <a:spcPct val="100000"/>
              </a:lnSpc>
              <a:spcAft>
                <a:spcPts val="0"/>
              </a:spcAft>
              <a:buNone/>
            </a:pPr>
            <a:r>
              <a:rPr lang="de-DE" sz="3000" b="1" i="0" dirty="0">
                <a:solidFill>
                  <a:srgbClr val="00285A"/>
                </a:solidFill>
                <a:latin typeface="Arial" pitchFamily="34" charset="0"/>
                <a:ea typeface="Arial" pitchFamily="34" charset="-122"/>
                <a:cs typeface="Arial" pitchFamily="34" charset="-120"/>
              </a:rPr>
              <a:t>Du musst nichts erzählen.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Etwas passiert im Internet. Hast du einen Pla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Etwas passiert im Internet. Hast du einen Plan?</a:t>
            </a:r>
          </a:p>
        </p:txBody>
      </p:sp>
      <p:sp>
        <p:nvSpPr>
          <p:cNvPr id="3" name="Text 3"/>
          <p:cNvSpPr/>
          <p:nvPr/>
        </p:nvSpPr>
        <p:spPr>
          <a:xfrm>
            <a:off x="6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4" name="Kreis 4"/>
          <p:cNvSpPr/>
          <p:nvPr/>
        </p:nvSpPr>
        <p:spPr>
          <a:xfrm>
            <a:off x="19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A</a:t>
            </a:r>
          </a:p>
        </p:txBody>
      </p:sp>
      <p:sp>
        <p:nvSpPr>
          <p:cNvPr id="5" name="Text 5"/>
          <p:cNvSpPr/>
          <p:nvPr/>
        </p:nvSpPr>
        <p:spPr>
          <a:xfrm>
            <a:off x="7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Noch nicht so genau</a:t>
            </a:r>
          </a:p>
        </p:txBody>
      </p:sp>
      <p:sp>
        <p:nvSpPr>
          <p:cNvPr id="6" name="Text 6"/>
          <p:cNvSpPr/>
          <p:nvPr/>
        </p:nvSpPr>
        <p:spPr>
          <a:xfrm>
            <a:off x="43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7" name="Kreis 7"/>
          <p:cNvSpPr/>
          <p:nvPr/>
        </p:nvSpPr>
        <p:spPr>
          <a:xfrm>
            <a:off x="56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B</a:t>
            </a:r>
          </a:p>
        </p:txBody>
      </p:sp>
      <p:sp>
        <p:nvSpPr>
          <p:cNvPr id="8" name="Text 8"/>
          <p:cNvSpPr/>
          <p:nvPr/>
        </p:nvSpPr>
        <p:spPr>
          <a:xfrm>
            <a:off x="44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Ein bisschen</a:t>
            </a:r>
          </a:p>
        </p:txBody>
      </p:sp>
      <p:sp>
        <p:nvSpPr>
          <p:cNvPr id="9" name="Text 9"/>
          <p:cNvSpPr/>
          <p:nvPr/>
        </p:nvSpPr>
        <p:spPr>
          <a:xfrm>
            <a:off x="8040080" y="1800000"/>
            <a:ext cx="3500000" cy="2900000"/>
          </a:xfrm>
          <a:prstGeom prst="roundRect">
            <a:avLst>
              <a:gd name="adj" fmla="val 6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0" name="Kreis 10"/>
          <p:cNvSpPr/>
          <p:nvPr/>
        </p:nvSpPr>
        <p:spPr>
          <a:xfrm>
            <a:off x="9340080" y="2100000"/>
            <a:ext cx="900000" cy="90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C</a:t>
            </a:r>
          </a:p>
        </p:txBody>
      </p:sp>
      <p:sp>
        <p:nvSpPr>
          <p:cNvPr id="11" name="Text 11"/>
          <p:cNvSpPr/>
          <p:nvPr/>
        </p:nvSpPr>
        <p:spPr>
          <a:xfrm>
            <a:off x="8190080" y="3200000"/>
            <a:ext cx="3200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Schon ziemlich gut</a:t>
            </a:r>
          </a:p>
        </p:txBody>
      </p:sp>
      <p:sp>
        <p:nvSpPr>
          <p:cNvPr id="12" name="Text 12"/>
          <p:cNvSpPr/>
          <p:nvPr/>
        </p:nvSpPr>
        <p:spPr>
          <a:xfrm>
            <a:off x="640080" y="5000000"/>
            <a:ext cx="10911840" cy="1200000"/>
          </a:xfrm>
          <a:prstGeom prst="rect">
            <a:avLst/>
          </a:prstGeom>
          <a:noFill/>
          <a:ln>
            <a:noFill/>
          </a:ln>
        </p:spPr>
        <p:txBody>
          <a:bodyPr wrap="square" lIns="0" tIns="0" rIns="0" bIns="0" rtlCol="0" anchor="ctr">
            <a:noAutofit/>
          </a:bodyPr>
          <a:lstStyle/>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Zeig es mit der Hand oder mit einer Karte.</a:t>
            </a:r>
          </a:p>
          <a:p>
            <a:pPr algn="ctr" indent="0" marL="0">
              <a:lnSpc>
                <a:spcPct val="100000"/>
              </a:lnSpc>
              <a:spcAft>
                <a:spcPts val="300"/>
              </a:spcAft>
              <a:buNone/>
            </a:pPr>
            <a:r>
              <a:rPr lang="de-DE" sz="2400" b="0" i="0" dirty="0">
                <a:solidFill>
                  <a:srgbClr val="48586A"/>
                </a:solidFill>
                <a:latin typeface="Arial" pitchFamily="34" charset="0"/>
                <a:ea typeface="Arial" pitchFamily="34" charset="-122"/>
                <a:cs typeface="Arial" pitchFamily="34" charset="-120"/>
              </a:rPr>
              <a:t>Es gibt keine falsche Antwort.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treit oder Cybermobbing?">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Streit oder Cybermobbing?</a:t>
            </a:r>
          </a:p>
        </p:txBody>
      </p:sp>
      <p:sp>
        <p:nvSpPr>
          <p:cNvPr id="3" name="Bild-Platzhalter 3"/>
          <p:cNvSpPr/>
          <p:nvPr/>
        </p:nvSpPr>
        <p:spPr>
          <a:xfrm>
            <a:off x="640080" y="1600000"/>
            <a:ext cx="46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[KARTE: 3 Situationskarten mit erfundenen Beispielen. 1: Zwei Personen streiten einmal und vertragen sich. 2: Eine Person bekommt jeden Tag gemeine Nachrichten von mehreren. 3: In einer Gruppe lachen alle über ein peinliches Foto.]</a:t>
            </a:r>
          </a:p>
        </p:txBody>
      </p:sp>
      <p:sp>
        <p:nvSpPr>
          <p:cNvPr id="4" name="Text 4"/>
          <p:cNvSpPr/>
          <p:nvPr/>
        </p:nvSpPr>
        <p:spPr>
          <a:xfrm>
            <a:off x="5550000" y="170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Das ist ein Streit.</a:t>
            </a:r>
          </a:p>
        </p:txBody>
      </p:sp>
      <p:sp>
        <p:nvSpPr>
          <p:cNvPr id="5" name="Text 5"/>
          <p:cNvSpPr/>
          <p:nvPr/>
        </p:nvSpPr>
        <p:spPr>
          <a:xfrm>
            <a:off x="5550000" y="285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Das ist Cybermobbing.</a:t>
            </a:r>
          </a:p>
        </p:txBody>
      </p:sp>
      <p:sp>
        <p:nvSpPr>
          <p:cNvPr id="6" name="Text 6"/>
          <p:cNvSpPr/>
          <p:nvPr/>
        </p:nvSpPr>
        <p:spPr>
          <a:xfrm>
            <a:off x="5550000" y="4000000"/>
            <a:ext cx="6000000" cy="1000000"/>
          </a:xfrm>
          <a:prstGeom prst="roundRect">
            <a:avLst>
              <a:gd name="adj" fmla="val 8000"/>
            </a:avLst>
          </a:prstGeom>
          <a:solidFill>
            <a:srgbClr val="D8EAF2"/>
          </a:solidFill>
          <a:ln w="12700">
            <a:solidFill>
              <a:srgbClr val="AAD1E3"/>
            </a:solidFill>
            <a:prstDash val="solid"/>
          </a:ln>
        </p:spPr>
        <p:txBody>
          <a:bodyPr wrap="square" lIns="250000" tIns="250000" rIns="250000" bIns="250000" rtlCol="0" anchor="ctr">
            <a:noAutofit/>
          </a:bodyPr>
          <a:lstStyle/>
          <a:p>
            <a:pPr algn="l"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Da bin ich unsicher.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ma 1: Was ist Cybermobbing?">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1</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1</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Was ist Cybermobbing?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as ist Cybermobbing">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ist Cybermobbing</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Cyber heißt: im Internet.</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Mobbing heißt: Jemand ist immer wieder gemein.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Cybermobbing heißt: Jemand ist im Internet immer wieder gemein zu dir.</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Und das mit Absicht.</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Zeitleiste. An einem Tag kommt eine gemeine Nachricht. An vielen Tagen kommen viele.]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o sieht Cybermobbing aus">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So sieht Cybermobbing aus</a:t>
            </a:r>
          </a:p>
        </p:txBody>
      </p:sp>
      <p:sp>
        <p:nvSpPr>
          <p:cNvPr id="3" name="Zeile 3"/>
          <p:cNvSpPr/>
          <p:nvPr/>
        </p:nvSpPr>
        <p:spPr>
          <a:xfrm>
            <a:off x="640080" y="1600000"/>
            <a:ext cx="10911840" cy="72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70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5" name="Text 5"/>
          <p:cNvSpPr/>
          <p:nvPr/>
        </p:nvSpPr>
        <p:spPr>
          <a:xfrm>
            <a:off x="1454079" y="160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Gemeine Nachrichten</a:t>
            </a:r>
          </a:p>
        </p:txBody>
      </p:sp>
      <p:sp>
        <p:nvSpPr>
          <p:cNvPr id="6" name="Zeile 6"/>
          <p:cNvSpPr/>
          <p:nvPr/>
        </p:nvSpPr>
        <p:spPr>
          <a:xfrm>
            <a:off x="640080" y="2420000"/>
            <a:ext cx="10911840" cy="72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52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8" name="Text 8"/>
          <p:cNvSpPr/>
          <p:nvPr/>
        </p:nvSpPr>
        <p:spPr>
          <a:xfrm>
            <a:off x="1454079" y="242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Lügen über dich</a:t>
            </a:r>
          </a:p>
        </p:txBody>
      </p:sp>
      <p:sp>
        <p:nvSpPr>
          <p:cNvPr id="9" name="Zeile 9"/>
          <p:cNvSpPr/>
          <p:nvPr/>
        </p:nvSpPr>
        <p:spPr>
          <a:xfrm>
            <a:off x="640080" y="3240000"/>
            <a:ext cx="10911840" cy="72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34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1" name="Text 11"/>
          <p:cNvSpPr/>
          <p:nvPr/>
        </p:nvSpPr>
        <p:spPr>
          <a:xfrm>
            <a:off x="1454079" y="324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Peinliche Bilder teilen</a:t>
            </a:r>
          </a:p>
        </p:txBody>
      </p:sp>
      <p:sp>
        <p:nvSpPr>
          <p:cNvPr id="12" name="Zeile 12"/>
          <p:cNvSpPr/>
          <p:nvPr/>
        </p:nvSpPr>
        <p:spPr>
          <a:xfrm>
            <a:off x="640080" y="4060000"/>
            <a:ext cx="10911840" cy="72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16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4" name="Text 14"/>
          <p:cNvSpPr/>
          <p:nvPr/>
        </p:nvSpPr>
        <p:spPr>
          <a:xfrm>
            <a:off x="1454079" y="406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Aus Gruppen ausschließen</a:t>
            </a:r>
          </a:p>
        </p:txBody>
      </p:sp>
      <p:sp>
        <p:nvSpPr>
          <p:cNvPr id="15" name="Zeile 15"/>
          <p:cNvSpPr/>
          <p:nvPr/>
        </p:nvSpPr>
        <p:spPr>
          <a:xfrm>
            <a:off x="640080" y="4880000"/>
            <a:ext cx="10911840" cy="72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770080" y="4988000"/>
            <a:ext cx="503999" cy="503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a:t>
            </a:r>
          </a:p>
        </p:txBody>
      </p:sp>
      <p:sp>
        <p:nvSpPr>
          <p:cNvPr id="17" name="Text 17"/>
          <p:cNvSpPr/>
          <p:nvPr/>
        </p:nvSpPr>
        <p:spPr>
          <a:xfrm>
            <a:off x="1454079" y="4880000"/>
            <a:ext cx="9897841" cy="72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0" i="0" dirty="0">
                <a:solidFill>
                  <a:srgbClr val="1A1A1A"/>
                </a:solidFill>
                <a:latin typeface="Arial" pitchFamily="34" charset="0"/>
                <a:ea typeface="Arial" pitchFamily="34" charset="-122"/>
                <a:cs typeface="Arial" pitchFamily="34" charset="-120"/>
              </a:rPr>
              <a:t>Viele machen mit. Es hört nicht auf.</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as ist nicht okay">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ist nicht okay</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Cybermobbing tut weh.</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Cybermobbing ist nicht erlaubt.</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Manchmal ist es sogar verboten.</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schaut auf ihr Handy. Eine zweite Person setzt sich dazu.]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hema 2: Es ist nicht deine Schuld">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2</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2</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Es ist nicht deine Schuld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eine Gefühle sind wichtig">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Deine Gefühle sind wichtig</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Cybermobbing macht traurig.</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Oder wütend. Oder ängstlich.</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Das ist normal.</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Deine Gefühle sind wichtig.</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Drei ruhige Bilder von einer Person: traurig, wütend, ängstlich.]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Wichtig: Es ist nicht">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Wichtig</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300"/>
              </a:spcAft>
              <a:buNone/>
            </a:pPr>
            <a:r>
              <a:rPr lang="de-DE" sz="4400" b="1" i="0" dirty="0">
                <a:solidFill>
                  <a:srgbClr val="00285A"/>
                </a:solidFill>
                <a:latin typeface="Arial" pitchFamily="34" charset="0"/>
                <a:ea typeface="Arial" pitchFamily="34" charset="-122"/>
                <a:cs typeface="Arial" pitchFamily="34" charset="-120"/>
              </a:rPr>
              <a:t>Es ist nicht</a:t>
            </a:r>
          </a:p>
          <a:p>
            <a:pPr algn="l" indent="0" marL="0">
              <a:lnSpc>
                <a:spcPct val="100000"/>
              </a:lnSpc>
              <a:spcAft>
                <a:spcPts val="1800"/>
              </a:spcAft>
              <a:buNone/>
            </a:pPr>
            <a:r>
              <a:rPr lang="de-DE" sz="4400" b="1" i="0" dirty="0">
                <a:solidFill>
                  <a:srgbClr val="00285A"/>
                </a:solidFill>
                <a:latin typeface="Arial" pitchFamily="34" charset="0"/>
                <a:ea typeface="Arial" pitchFamily="34" charset="-122"/>
                <a:cs typeface="Arial" pitchFamily="34" charset="-120"/>
              </a:rPr>
              <a:t>deine Schuld.</a:t>
            </a:r>
          </a:p>
          <a:p>
            <a:pPr algn="l" indent="0" marL="0">
              <a:lnSpc>
                <a:spcPct val="100000"/>
              </a:lnSpc>
              <a:spcAft>
                <a:spcPts val="600"/>
              </a:spcAft>
              <a:buNone/>
            </a:pPr>
            <a:r>
              <a:rPr lang="de-DE" sz="2400" b="0" i="0" dirty="0">
                <a:solidFill>
                  <a:srgbClr val="1A1A1A"/>
                </a:solidFill>
                <a:latin typeface="Arial" pitchFamily="34" charset="0"/>
                <a:ea typeface="Arial" pitchFamily="34" charset="-122"/>
                <a:cs typeface="Arial" pitchFamily="34" charset="-120"/>
              </a:rPr>
              <a:t>Du hast nichts falsch gemacht.</a:t>
            </a:r>
          </a:p>
          <a:p>
            <a:pPr algn="l" indent="0" marL="0">
              <a:lnSpc>
                <a:spcPct val="100000"/>
              </a:lnSpc>
              <a:spcAft>
                <a:spcPts val="0"/>
              </a:spcAft>
              <a:buNone/>
            </a:pPr>
            <a:r>
              <a:rPr lang="de-DE" sz="2400" b="1" i="0" dirty="0">
                <a:solidFill>
                  <a:srgbClr val="1A1A1A"/>
                </a:solidFill>
                <a:latin typeface="Arial" pitchFamily="34" charset="0"/>
                <a:ea typeface="Arial" pitchFamily="34" charset="-122"/>
                <a:cs typeface="Arial" pitchFamily="34" charset="-120"/>
              </a:rPr>
              <a:t>Schuld ist die andere Person.</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sitzt ruhig da. Eine vertraute Person hört ihr zu.]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u bist nicht allei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Du bist nicht allein</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Viele Menschen erleben Cybermobbing.</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darfst dir Hilfe holen.</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Hilfe holen ist stark.</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Mehrere Personen stehen zusammen. Eine Person in der Mitte wird gestützt.]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Thema 3: Was kann ich tun?">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3</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3</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Was kann ich tun?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topp mac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Stopp machen</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bekommst eine gemeine Nachricht.</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bist wütend oder traurig.</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Schreib nichts Gemeines zurück.</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Atme erst durch. Du musst nicht sofort antworten.</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legt das Handy hin und atmet durch.]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Nicht sofort lösch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Nicht sofort löschen</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willst die Nachricht weghaben.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Mach vorher ein Bild vom Bildschirm.</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So kannst du sie später zeigen.</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Sehr private Bilder speicherst du nicht. Hol dafür Hilfe.</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macht ein Bild vom Bildschirm und zeigt es einer vertrauten Person.]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Das kannst du tu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kannst du tun</a:t>
            </a:r>
          </a:p>
        </p:txBody>
      </p:sp>
      <p:sp>
        <p:nvSpPr>
          <p:cNvPr id="3" name="Text 3"/>
          <p:cNvSpPr/>
          <p:nvPr/>
        </p:nvSpPr>
        <p:spPr>
          <a:xfrm>
            <a:off x="64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Zeigen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Zeig es einer vertrauten Person.</a:t>
            </a:r>
          </a:p>
        </p:txBody>
      </p:sp>
      <p:sp>
        <p:nvSpPr>
          <p:cNvPr id="4" name="Text 4"/>
          <p:cNvSpPr/>
          <p:nvPr/>
        </p:nvSpPr>
        <p:spPr>
          <a:xfrm>
            <a:off x="619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Blockieren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Die Person kann dir nicht mehr schreiben. Mit einem neuen Profil kann sie es wieder versuchen.</a:t>
            </a:r>
          </a:p>
        </p:txBody>
      </p:sp>
      <p:sp>
        <p:nvSpPr>
          <p:cNvPr id="5" name="Text 5"/>
          <p:cNvSpPr/>
          <p:nvPr/>
        </p:nvSpPr>
        <p:spPr>
          <a:xfrm>
            <a:off x="64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Melden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sagst der App Bescheid.</a:t>
            </a:r>
          </a:p>
        </p:txBody>
      </p:sp>
      <p:sp>
        <p:nvSpPr>
          <p:cNvPr id="6" name="Text 6"/>
          <p:cNvSpPr/>
          <p:nvPr/>
        </p:nvSpPr>
        <p:spPr>
          <a:xfrm>
            <a:off x="619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Hilfe holen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musst das nicht allein schaffen.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Thema 4: Hilfe holen und anderen helfen">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640080" y="1737360"/>
            <a:ext cx="2743200" cy="310896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0000" b="1" i="0" dirty="0">
                <a:solidFill>
                  <a:srgbClr val="57A3C7"/>
                </a:solidFill>
                <a:latin typeface="Arial" pitchFamily="34" charset="0"/>
                <a:ea typeface="Arial" pitchFamily="34" charset="-122"/>
                <a:cs typeface="Arial" pitchFamily="34" charset="-120"/>
              </a:rPr>
              <a:t>4</a:t>
            </a:r>
          </a:p>
        </p:txBody>
      </p:sp>
      <p:sp>
        <p:nvSpPr>
          <p:cNvPr id="3" name="Text 3"/>
          <p:cNvSpPr/>
          <p:nvPr/>
        </p:nvSpPr>
        <p:spPr>
          <a:xfrm>
            <a:off x="3657600" y="2148840"/>
            <a:ext cx="7680960" cy="731520"/>
          </a:xfrm>
          <a:prstGeom prst="rect">
            <a:avLst/>
          </a:prstGeom>
          <a:noFill/>
          <a:ln>
            <a:noFill/>
          </a:ln>
        </p:spPr>
        <p:txBody>
          <a:bodyPr wrap="square" lIns="0" tIns="0" rIns="0" bIns="0" rtlCol="0" anchor="b">
            <a:noAutofit/>
          </a:bodyPr>
          <a:lstStyle/>
          <a:p>
            <a:pPr algn="l" indent="0" marL="0">
              <a:lnSpc>
                <a:spcPct val="100000"/>
              </a:lnSpc>
              <a:spcAft>
                <a:spcPts val="0"/>
              </a:spcAft>
              <a:buNone/>
            </a:pPr>
            <a:r>
              <a:rPr lang="de-DE" sz="2600" b="1" i="0" dirty="0">
                <a:solidFill>
                  <a:srgbClr val="AAD1E3"/>
                </a:solidFill>
                <a:latin typeface="Arial" pitchFamily="34" charset="0"/>
                <a:ea typeface="Arial" pitchFamily="34" charset="-122"/>
                <a:cs typeface="Arial" pitchFamily="34" charset="-120"/>
              </a:rPr>
              <a:t>Thema 4</a:t>
            </a:r>
          </a:p>
        </p:txBody>
      </p:sp>
      <p:sp>
        <p:nvSpPr>
          <p:cNvPr id="4" name="Text 4"/>
          <p:cNvSpPr/>
          <p:nvPr/>
        </p:nvSpPr>
        <p:spPr>
          <a:xfrm>
            <a:off x="3657600" y="2880000"/>
            <a:ext cx="7680960" cy="1900000"/>
          </a:xfrm>
          <a:prstGeom prst="rect">
            <a:avLst/>
          </a:prstGeom>
          <a:noFill/>
          <a:ln>
            <a:noFill/>
          </a:ln>
        </p:spPr>
        <p:txBody>
          <a:bodyPr wrap="square" lIns="0" tIns="0" rIns="0" bIns="0" rtlCol="0" anchor="t">
            <a:noAutofit/>
          </a:bodyPr>
          <a:lstStyle/>
          <a:p>
            <a:pPr algn="l" indent="0" marL="0">
              <a:lnSpc>
                <a:spcPct val="100000"/>
              </a:lnSpc>
              <a:spcAft>
                <a:spcPts val="0"/>
              </a:spcAft>
              <a:buNone/>
            </a:pPr>
            <a:r>
              <a:rPr lang="de-DE" sz="4400" b="1" i="0" dirty="0">
                <a:solidFill>
                  <a:srgbClr val="FFFFFF"/>
                </a:solidFill>
                <a:latin typeface="Arial" pitchFamily="34" charset="0"/>
                <a:ea typeface="Arial" pitchFamily="34" charset="-122"/>
                <a:cs typeface="Arial" pitchFamily="34" charset="-120"/>
              </a:rPr>
              <a:t>Hilfe holen und anderen helfen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prich mit einer vertrauten Perso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Sprich mit einer vertrauten Person</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kannst alles erzählen.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Zum Beispiel: Familie, Freundin oder Freund.</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Oder Unterstützerin oder Unterstützer.</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Sag: Ich brauche Hilfe. Schaust du dir das mit mir an?</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[KARTE: Hilfe-Karte. Vorderseite: Ansprechpersonen vor Ort und Hilfe am Telefon. Rückseite: zum Ausfüllen.]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Hilfe am Telefo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Hilfe am Telefon</a:t>
            </a:r>
          </a:p>
        </p:txBody>
      </p:sp>
      <p:sp>
        <p:nvSpPr>
          <p:cNvPr id="3" name="Text 3"/>
          <p:cNvSpPr/>
          <p:nvPr/>
        </p:nvSpPr>
        <p:spPr>
          <a:xfrm>
            <a:off x="640080" y="1700000"/>
            <a:ext cx="5961840" cy="4400000"/>
          </a:xfrm>
          <a:prstGeom prst="rect">
            <a:avLst/>
          </a:prstGeom>
          <a:noFill/>
          <a:ln>
            <a:noFill/>
          </a:ln>
        </p:spPr>
        <p:txBody>
          <a:bodyPr wrap="square" lIns="0" tIns="0" rIns="0" bIns="0" rtlCol="0" anchor="t">
            <a:noAutofit/>
          </a:bodyPr>
          <a:lstStyle/>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Es gibt auch Hilfe am Telefon.</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Die Hilfe ist kostenlos.</a:t>
            </a:r>
          </a:p>
          <a:p>
            <a:pPr algn="l" indent="0" marL="0">
              <a:lnSpc>
                <a:spcPct val="100000"/>
              </a:lnSpc>
              <a:spcAft>
                <a:spcPts val="1300"/>
              </a:spcAft>
              <a:buNone/>
            </a:pPr>
            <a:r>
              <a:rPr lang="de-DE" sz="2500" b="0" i="0" dirty="0">
                <a:solidFill>
                  <a:srgbClr val="1A1A1A"/>
                </a:solidFill>
                <a:latin typeface="Arial" pitchFamily="34" charset="0"/>
                <a:ea typeface="Arial" pitchFamily="34" charset="-122"/>
                <a:cs typeface="Arial" pitchFamily="34" charset="-120"/>
              </a:rPr>
              <a:t>Du musst deinen Namen nicht sagen.</a:t>
            </a:r>
          </a:p>
          <a:p>
            <a:pPr algn="l" indent="0" marL="0">
              <a:lnSpc>
                <a:spcPct val="100000"/>
              </a:lnSpc>
              <a:spcAft>
                <a:spcPts val="1300"/>
              </a:spcAft>
              <a:buNone/>
            </a:pPr>
            <a:r>
              <a:rPr lang="de-DE" sz="2500" b="1" i="0" dirty="0">
                <a:solidFill>
                  <a:srgbClr val="1A1A1A"/>
                </a:solidFill>
                <a:latin typeface="Arial" pitchFamily="34" charset="0"/>
                <a:ea typeface="Arial" pitchFamily="34" charset="-122"/>
                <a:cs typeface="Arial" pitchFamily="34" charset="-120"/>
              </a:rPr>
              <a:t>Telefon-Seelsorge: 0800 111 0 111</a:t>
            </a:r>
          </a:p>
        </p:txBody>
      </p:sp>
      <p:sp>
        <p:nvSpPr>
          <p:cNvPr id="4" name="Bild-Platzhalter 4"/>
          <p:cNvSpPr/>
          <p:nvPr/>
        </p:nvSpPr>
        <p:spPr>
          <a:xfrm>
            <a:off x="7251920" y="1700000"/>
            <a:ext cx="4300000" cy="43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telefoniert. Eine vertraute Person sitzt daneben.]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u siehst Cybermobbing bei ander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Du siehst Cybermobbing bei anderen?</a:t>
            </a:r>
          </a:p>
        </p:txBody>
      </p:sp>
      <p:sp>
        <p:nvSpPr>
          <p:cNvPr id="3" name="Text 3"/>
          <p:cNvSpPr/>
          <p:nvPr/>
        </p:nvSpPr>
        <p:spPr>
          <a:xfrm>
            <a:off x="64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Nicht mitmachen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Lach nicht mit. Schick nichts weiter.</a:t>
            </a:r>
          </a:p>
        </p:txBody>
      </p:sp>
      <p:sp>
        <p:nvSpPr>
          <p:cNvPr id="4" name="Text 4"/>
          <p:cNvSpPr/>
          <p:nvPr/>
        </p:nvSpPr>
        <p:spPr>
          <a:xfrm>
            <a:off x="6190080" y="160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Beistehen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Sag der Person: Du bist nicht allein.</a:t>
            </a:r>
          </a:p>
        </p:txBody>
      </p:sp>
      <p:sp>
        <p:nvSpPr>
          <p:cNvPr id="5" name="Text 5"/>
          <p:cNvSpPr/>
          <p:nvPr/>
        </p:nvSpPr>
        <p:spPr>
          <a:xfrm>
            <a:off x="64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Bescheid sagen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Sag es einer vertrauten Person.</a:t>
            </a:r>
          </a:p>
        </p:txBody>
      </p:sp>
      <p:sp>
        <p:nvSpPr>
          <p:cNvPr id="6" name="Text 6"/>
          <p:cNvSpPr/>
          <p:nvPr/>
        </p:nvSpPr>
        <p:spPr>
          <a:xfrm>
            <a:off x="6190080" y="3950000"/>
            <a:ext cx="5360000" cy="2150000"/>
          </a:xfrm>
          <a:prstGeom prst="roundRect">
            <a:avLst>
              <a:gd name="adj" fmla="val 6000"/>
            </a:avLst>
          </a:prstGeom>
          <a:solidFill>
            <a:srgbClr val="D8EAF2"/>
          </a:solidFill>
          <a:ln w="12700">
            <a:solidFill>
              <a:srgbClr val="AAD1E3"/>
            </a:solidFill>
            <a:prstDash val="solid"/>
          </a:ln>
        </p:spPr>
        <p:txBody>
          <a:bodyPr wrap="square" lIns="280000" tIns="280000" rIns="280000" bIns="280000" rtlCol="0" anchor="ctr">
            <a:noAutofit/>
          </a:bodyPr>
          <a:lstStyle/>
          <a:p>
            <a:pPr algn="l" indent="0" marL="0">
              <a:lnSpc>
                <a:spcPct val="100000"/>
              </a:lnSpc>
              <a:spcAft>
                <a:spcPts val="800"/>
              </a:spcAft>
              <a:buNone/>
            </a:pPr>
            <a:r>
              <a:rPr lang="de-DE" sz="3000" b="1" i="0" dirty="0">
                <a:solidFill>
                  <a:srgbClr val="00285A"/>
                </a:solidFill>
                <a:latin typeface="Arial" pitchFamily="34" charset="0"/>
                <a:ea typeface="Arial" pitchFamily="34" charset="-122"/>
                <a:cs typeface="Arial" pitchFamily="34" charset="-120"/>
              </a:rPr>
              <a:t>Aufhören</a:t>
            </a:r>
          </a:p>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Du hast mitgemacht? Du kannst aufhören.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Pause">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Pause</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10 Minuten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Praxis">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2400000"/>
            <a:ext cx="12192000" cy="13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6000" b="1" i="0" dirty="0">
                <a:solidFill>
                  <a:srgbClr val="FFFFFF"/>
                </a:solidFill>
                <a:latin typeface="Arial" pitchFamily="34" charset="0"/>
                <a:ea typeface="Arial" pitchFamily="34" charset="-122"/>
                <a:cs typeface="Arial" pitchFamily="34" charset="-120"/>
              </a:rPr>
              <a:t>Praxis</a:t>
            </a:r>
          </a:p>
        </p:txBody>
      </p:sp>
      <p:sp>
        <p:nvSpPr>
          <p:cNvPr id="3" name="Text 3"/>
          <p:cNvSpPr/>
          <p:nvPr/>
        </p:nvSpPr>
        <p:spPr>
          <a:xfrm>
            <a:off x="0" y="3750000"/>
            <a:ext cx="12192000" cy="9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Wir üben zusammen.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canne den Code und mach mi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Scanne den Code und mach mit</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r Übung im Thema Hilfe bei Problemen"/>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Zur Übung</a:t>
            </a:r>
          </a:p>
        </p:txBody>
      </p:sp>
      <p:sp>
        <p:nvSpPr>
          <p:cNvPr id="6" name="Zeile 6"/>
          <p:cNvSpPr/>
          <p:nvPr/>
        </p:nvSpPr>
        <p:spPr>
          <a:xfrm>
            <a:off x="4700000" y="1500000"/>
            <a:ext cx="6850000" cy="70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4830000" y="160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1</a:t>
            </a:r>
          </a:p>
        </p:txBody>
      </p:sp>
      <p:sp>
        <p:nvSpPr>
          <p:cNvPr id="8" name="Text 8"/>
          <p:cNvSpPr/>
          <p:nvPr/>
        </p:nvSpPr>
        <p:spPr>
          <a:xfrm>
            <a:off x="5499999" y="150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Öffne die Kamera am Handy.</a:t>
            </a:r>
          </a:p>
        </p:txBody>
      </p:sp>
      <p:sp>
        <p:nvSpPr>
          <p:cNvPr id="9" name="Zeile 9"/>
          <p:cNvSpPr/>
          <p:nvPr/>
        </p:nvSpPr>
        <p:spPr>
          <a:xfrm>
            <a:off x="4700000" y="2320000"/>
            <a:ext cx="6850000" cy="70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4830000" y="242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2</a:t>
            </a:r>
          </a:p>
        </p:txBody>
      </p:sp>
      <p:sp>
        <p:nvSpPr>
          <p:cNvPr id="11" name="Text 11"/>
          <p:cNvSpPr/>
          <p:nvPr/>
        </p:nvSpPr>
        <p:spPr>
          <a:xfrm>
            <a:off x="5499999" y="232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Halte sie auf den Code.</a:t>
            </a:r>
          </a:p>
        </p:txBody>
      </p:sp>
      <p:sp>
        <p:nvSpPr>
          <p:cNvPr id="12" name="Zeile 12"/>
          <p:cNvSpPr/>
          <p:nvPr/>
        </p:nvSpPr>
        <p:spPr>
          <a:xfrm>
            <a:off x="4700000" y="3140000"/>
            <a:ext cx="6850000" cy="70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4830000" y="324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3</a:t>
            </a:r>
          </a:p>
        </p:txBody>
      </p:sp>
      <p:sp>
        <p:nvSpPr>
          <p:cNvPr id="14" name="Text 14"/>
          <p:cNvSpPr/>
          <p:nvPr/>
        </p:nvSpPr>
        <p:spPr>
          <a:xfrm>
            <a:off x="5499999" y="314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Tippe auf den Link.</a:t>
            </a:r>
          </a:p>
        </p:txBody>
      </p:sp>
      <p:sp>
        <p:nvSpPr>
          <p:cNvPr id="15" name="Zeile 15"/>
          <p:cNvSpPr/>
          <p:nvPr/>
        </p:nvSpPr>
        <p:spPr>
          <a:xfrm>
            <a:off x="4700000" y="3960000"/>
            <a:ext cx="6850000" cy="70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4830000" y="4065000"/>
            <a:ext cx="489999" cy="489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955" b="1" i="0" dirty="0">
                <a:solidFill>
                  <a:srgbClr val="00285A"/>
                </a:solidFill>
                <a:latin typeface="Arial" pitchFamily="34" charset="0"/>
                <a:ea typeface="Arial" pitchFamily="34" charset="-122"/>
                <a:cs typeface="Arial" pitchFamily="34" charset="-120"/>
              </a:rPr>
              <a:t>4</a:t>
            </a:r>
          </a:p>
        </p:txBody>
      </p:sp>
      <p:sp>
        <p:nvSpPr>
          <p:cNvPr id="17" name="Text 17"/>
          <p:cNvSpPr/>
          <p:nvPr/>
        </p:nvSpPr>
        <p:spPr>
          <a:xfrm>
            <a:off x="5499999" y="3960000"/>
            <a:ext cx="5850001"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300" b="0" i="0" dirty="0">
                <a:solidFill>
                  <a:srgbClr val="1A1A1A"/>
                </a:solidFill>
                <a:latin typeface="Arial" pitchFamily="34" charset="0"/>
                <a:ea typeface="Arial" pitchFamily="34" charset="-122"/>
                <a:cs typeface="Arial" pitchFamily="34" charset="-120"/>
              </a:rPr>
              <a:t>Wir machen es zusammen.</a:t>
            </a:r>
          </a:p>
        </p:txBody>
      </p:sp>
      <p:sp>
        <p:nvSpPr>
          <p:cNvPr id="18" name="Text 18"/>
          <p:cNvSpPr/>
          <p:nvPr/>
        </p:nvSpPr>
        <p:spPr>
          <a:xfrm>
            <a:off x="4700000" y="4900000"/>
            <a:ext cx="6850000" cy="1150000"/>
          </a:xfrm>
          <a:prstGeom prst="roundRect">
            <a:avLst>
              <a:gd name="adj" fmla="val 8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0" i="0" dirty="0">
                <a:solidFill>
                  <a:srgbClr val="00285A"/>
                </a:solidFill>
                <a:latin typeface="Arial" pitchFamily="34" charset="0"/>
                <a:ea typeface="Arial" pitchFamily="34" charset="-122"/>
                <a:cs typeface="Arial" pitchFamily="34" charset="-120"/>
              </a:rPr>
              <a:t>Kein Handy? Du füllst die Hilfe-Karte aus. Das ist das Wichtigste.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as machen wir zusamm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machen wir zusammen</a:t>
            </a:r>
          </a:p>
        </p:txBody>
      </p:sp>
      <p:sp>
        <p:nvSpPr>
          <p:cNvPr id="3" name="Text 3"/>
          <p:cNvSpPr/>
          <p:nvPr/>
        </p:nvSpPr>
        <p:spPr>
          <a:xfrm>
            <a:off x="640080" y="1450000"/>
            <a:ext cx="650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machen wir zuerst:</a:t>
            </a:r>
          </a:p>
        </p:txBody>
      </p:sp>
      <p:sp>
        <p:nvSpPr>
          <p:cNvPr id="4" name="Zeile 4"/>
          <p:cNvSpPr/>
          <p:nvPr/>
        </p:nvSpPr>
        <p:spPr>
          <a:xfrm>
            <a:off x="640080" y="2100000"/>
            <a:ext cx="6500000" cy="900000"/>
          </a:xfrm>
          <a:prstGeom prst="roundRect">
            <a:avLst>
              <a:gd name="adj" fmla="val 12000"/>
            </a:avLst>
          </a:prstGeom>
          <a:solidFill>
            <a:srgbClr val="D8EAF2"/>
          </a:solidFill>
          <a:ln w="12700">
            <a:solidFill>
              <a:srgbClr val="AAD1E3"/>
            </a:solidFill>
            <a:prstDash val="solid"/>
          </a:ln>
        </p:spPr>
      </p:sp>
      <p:sp>
        <p:nvSpPr>
          <p:cNvPr id="5" name="Kreis 5"/>
          <p:cNvSpPr/>
          <p:nvPr/>
        </p:nvSpPr>
        <p:spPr>
          <a:xfrm>
            <a:off x="770080" y="223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1</a:t>
            </a:r>
          </a:p>
        </p:txBody>
      </p:sp>
      <p:sp>
        <p:nvSpPr>
          <p:cNvPr id="6" name="Text 6"/>
          <p:cNvSpPr/>
          <p:nvPr/>
        </p:nvSpPr>
        <p:spPr>
          <a:xfrm>
            <a:off x="1580080" y="2100000"/>
            <a:ext cx="496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Deine Hilfe-Karte ausfüllen</a:t>
            </a:r>
          </a:p>
        </p:txBody>
      </p:sp>
      <p:sp>
        <p:nvSpPr>
          <p:cNvPr id="7" name="Abhaken 7"/>
          <p:cNvSpPr/>
          <p:nvPr/>
        </p:nvSpPr>
        <p:spPr>
          <a:xfrm>
            <a:off x="6620080" y="2345000"/>
            <a:ext cx="410000" cy="410000"/>
          </a:xfrm>
          <a:prstGeom prst="roundRect">
            <a:avLst>
              <a:gd name="adj" fmla="val 12000"/>
            </a:avLst>
          </a:prstGeom>
          <a:solidFill>
            <a:srgbClr val="FFFFFF"/>
          </a:solidFill>
          <a:ln w="25400">
            <a:solidFill>
              <a:srgbClr val="C6C7C8"/>
            </a:solidFill>
            <a:prstDash val="solid"/>
          </a:ln>
        </p:spPr>
      </p:sp>
      <p:sp>
        <p:nvSpPr>
          <p:cNvPr id="8" name="Text 8"/>
          <p:cNvSpPr/>
          <p:nvPr/>
        </p:nvSpPr>
        <p:spPr>
          <a:xfrm>
            <a:off x="640080" y="3250000"/>
            <a:ext cx="6500000" cy="1100000"/>
          </a:xfrm>
          <a:prstGeom prst="roundRect">
            <a:avLst>
              <a:gd name="adj" fmla="val 8000"/>
            </a:avLst>
          </a:prstGeom>
          <a:solidFill>
            <a:srgbClr val="D8EAF2"/>
          </a:solidFill>
          <a:ln>
            <a:noFill/>
          </a:ln>
        </p:spPr>
        <p:txBody>
          <a:bodyPr wrap="square" lIns="250000" tIns="250000" rIns="250000" bIns="250000" rtlCol="0" anchor="ctr">
            <a:noAutofit/>
          </a:bodyPr>
          <a:lstStyle/>
          <a:p>
            <a:pPr algn="l" indent="0" marL="0">
              <a:lnSpc>
                <a:spcPct val="100000"/>
              </a:lnSpc>
              <a:spcAft>
                <a:spcPts val="300"/>
              </a:spcAft>
              <a:buNone/>
            </a:pPr>
            <a:r>
              <a:rPr lang="de-DE" sz="2400" b="1" i="0" dirty="0">
                <a:solidFill>
                  <a:srgbClr val="00285A"/>
                </a:solidFill>
                <a:latin typeface="Arial" pitchFamily="34" charset="0"/>
                <a:ea typeface="Arial" pitchFamily="34" charset="-122"/>
                <a:cs typeface="Arial" pitchFamily="34" charset="-120"/>
              </a:rPr>
              <a:t>Eine Karte reicht.</a:t>
            </a:r>
          </a:p>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Du hast dann schon viel geschafft.</a:t>
            </a:r>
          </a:p>
        </p:txBody>
      </p:sp>
      <p:sp>
        <p:nvSpPr>
          <p:cNvPr id="9" name="Text 9"/>
          <p:cNvSpPr/>
          <p:nvPr/>
        </p:nvSpPr>
        <p:spPr>
          <a:xfrm>
            <a:off x="7400000" y="1450000"/>
            <a:ext cx="4150000" cy="6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Das ist freiwillig:</a:t>
            </a:r>
          </a:p>
        </p:txBody>
      </p:sp>
      <p:sp>
        <p:nvSpPr>
          <p:cNvPr id="10" name="Text 10"/>
          <p:cNvSpPr/>
          <p:nvPr/>
        </p:nvSpPr>
        <p:spPr>
          <a:xfrm>
            <a:off x="7400000" y="2100000"/>
            <a:ext cx="4150000" cy="900000"/>
          </a:xfrm>
          <a:prstGeom prst="roundRect">
            <a:avLst>
              <a:gd name="adj" fmla="val 12000"/>
            </a:avLst>
          </a:prstGeom>
          <a:solidFill>
            <a:srgbClr val="FFFFFF"/>
          </a:solidFill>
          <a:ln w="19050">
            <a:solidFill>
              <a:srgbClr val="AAD1E3"/>
            </a:solidFill>
            <a:prstDash val="solid"/>
          </a:ln>
        </p:spPr>
      </p:sp>
      <p:sp>
        <p:nvSpPr>
          <p:cNvPr id="11" name="Text 11"/>
          <p:cNvSpPr/>
          <p:nvPr/>
        </p:nvSpPr>
        <p:spPr>
          <a:xfrm>
            <a:off x="7600000" y="210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Ein Bild vom Bildschirm üben</a:t>
            </a:r>
          </a:p>
        </p:txBody>
      </p:sp>
      <p:sp>
        <p:nvSpPr>
          <p:cNvPr id="12" name="Text 12"/>
          <p:cNvSpPr/>
          <p:nvPr/>
        </p:nvSpPr>
        <p:spPr>
          <a:xfrm>
            <a:off x="11030000" y="2345000"/>
            <a:ext cx="410000" cy="410000"/>
          </a:xfrm>
          <a:prstGeom prst="roundRect">
            <a:avLst>
              <a:gd name="adj" fmla="val 12000"/>
            </a:avLst>
          </a:prstGeom>
          <a:solidFill>
            <a:srgbClr val="FFFFFF"/>
          </a:solidFill>
          <a:ln w="25400">
            <a:solidFill>
              <a:srgbClr val="C6C7C8"/>
            </a:solidFill>
            <a:prstDash val="solid"/>
          </a:ln>
        </p:spPr>
      </p:sp>
      <p:sp>
        <p:nvSpPr>
          <p:cNvPr id="13" name="Text 13"/>
          <p:cNvSpPr/>
          <p:nvPr/>
        </p:nvSpPr>
        <p:spPr>
          <a:xfrm>
            <a:off x="7400000" y="3130000"/>
            <a:ext cx="4150000" cy="900000"/>
          </a:xfrm>
          <a:prstGeom prst="roundRect">
            <a:avLst>
              <a:gd name="adj" fmla="val 12000"/>
            </a:avLst>
          </a:prstGeom>
          <a:solidFill>
            <a:srgbClr val="FFFFFF"/>
          </a:solidFill>
          <a:ln w="19050">
            <a:solidFill>
              <a:srgbClr val="AAD1E3"/>
            </a:solidFill>
            <a:prstDash val="solid"/>
          </a:ln>
        </p:spPr>
      </p:sp>
      <p:sp>
        <p:nvSpPr>
          <p:cNvPr id="14" name="Text 14"/>
          <p:cNvSpPr/>
          <p:nvPr/>
        </p:nvSpPr>
        <p:spPr>
          <a:xfrm>
            <a:off x="7600000" y="3130000"/>
            <a:ext cx="3250000" cy="9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0" dirty="0">
                <a:solidFill>
                  <a:srgbClr val="1A1A1A"/>
                </a:solidFill>
                <a:latin typeface="Arial" pitchFamily="34" charset="0"/>
                <a:ea typeface="Arial" pitchFamily="34" charset="-122"/>
                <a:cs typeface="Arial" pitchFamily="34" charset="-120"/>
              </a:rPr>
              <a:t>Die Übung am Handy machen</a:t>
            </a:r>
          </a:p>
        </p:txBody>
      </p:sp>
      <p:sp>
        <p:nvSpPr>
          <p:cNvPr id="15" name="Text 15"/>
          <p:cNvSpPr/>
          <p:nvPr/>
        </p:nvSpPr>
        <p:spPr>
          <a:xfrm>
            <a:off x="11030000" y="3375000"/>
            <a:ext cx="410000" cy="410000"/>
          </a:xfrm>
          <a:prstGeom prst="roundRect">
            <a:avLst>
              <a:gd name="adj" fmla="val 12000"/>
            </a:avLst>
          </a:prstGeom>
          <a:solidFill>
            <a:srgbClr val="FFFFFF"/>
          </a:solidFill>
          <a:ln w="25400">
            <a:solidFill>
              <a:srgbClr val="C6C7C8"/>
            </a:solidFill>
            <a:prstDash val="solid"/>
          </a:ln>
        </p:spPr>
      </p:sp>
      <p:sp>
        <p:nvSpPr>
          <p:cNvPr id="16" name="Text 16"/>
          <p:cNvSpPr/>
          <p:nvPr/>
        </p:nvSpPr>
        <p:spPr>
          <a:xfrm>
            <a:off x="7400000" y="4160000"/>
            <a:ext cx="4150000" cy="900000"/>
          </a:xfrm>
          <a:prstGeom prst="roundRect">
            <a:avLst>
              <a:gd name="adj" fmla="val 12000"/>
            </a:avLst>
          </a:prstGeom>
          <a:solidFill>
            <a:srgbClr val="D8EAF2"/>
          </a:solidFill>
          <a:ln>
            <a:noFill/>
          </a:ln>
        </p:spPr>
        <p:txBody>
          <a:bodyPr wrap="square" lIns="200000" tIns="200000" rIns="200000" bIns="200000" rtlCol="0" anchor="ctr">
            <a:noAutofit/>
          </a:bodyPr>
          <a:lstStyle/>
          <a:p>
            <a:pPr algn="l" indent="0" marL="0">
              <a:lnSpc>
                <a:spcPct val="100000"/>
              </a:lnSpc>
              <a:spcAft>
                <a:spcPts val="0"/>
              </a:spcAft>
              <a:buNone/>
            </a:pPr>
            <a:r>
              <a:rPr lang="de-DE" sz="2000" b="1" i="0" dirty="0">
                <a:solidFill>
                  <a:srgbClr val="00285A"/>
                </a:solidFill>
                <a:latin typeface="Arial" pitchFamily="34" charset="0"/>
                <a:ea typeface="Arial" pitchFamily="34" charset="-122"/>
                <a:cs typeface="Arial" pitchFamily="34" charset="-120"/>
              </a:rPr>
              <a:t>Nur zeigen: Blockieren und Melden</a:t>
            </a:r>
          </a:p>
        </p:txBody>
      </p:sp>
      <p:sp>
        <p:nvSpPr>
          <p:cNvPr id="17" name="Text 17"/>
          <p:cNvSpPr/>
          <p:nvPr/>
        </p:nvSpPr>
        <p:spPr>
          <a:xfrm>
            <a:off x="640080" y="5350000"/>
            <a:ext cx="10911840" cy="1100000"/>
          </a:xfrm>
          <a:prstGeom prst="rect">
            <a:avLst/>
          </a:prstGeom>
          <a:noFill/>
          <a:ln>
            <a:noFill/>
          </a:ln>
        </p:spPr>
        <p:txBody>
          <a:bodyPr wrap="square" lIns="0" tIns="0" rIns="0" bIns="0" rtlCol="0" anchor="ctr">
            <a:noAutofit/>
          </a:bodyPr>
          <a:lstStyle/>
          <a:p>
            <a:pPr algn="l" indent="0" marL="0">
              <a:lnSpc>
                <a:spcPct val="100000"/>
              </a:lnSpc>
              <a:spcAft>
                <a:spcPts val="400"/>
              </a:spcAft>
              <a:buNone/>
            </a:pPr>
            <a:r>
              <a:rPr lang="de-DE" sz="2200" b="1" i="0" dirty="0">
                <a:solidFill>
                  <a:srgbClr val="00285A"/>
                </a:solidFill>
                <a:latin typeface="Arial" pitchFamily="34" charset="0"/>
                <a:ea typeface="Arial" pitchFamily="34" charset="-122"/>
                <a:cs typeface="Arial" pitchFamily="34" charset="-120"/>
              </a:rPr>
              <a:t>Tipp: Die Karte kommt in deine Tasche.</a:t>
            </a:r>
          </a:p>
          <a:p>
            <a:pPr algn="l" indent="0" marL="0">
              <a:lnSpc>
                <a:spcPct val="100000"/>
              </a:lnSpc>
              <a:spcAft>
                <a:spcPts val="0"/>
              </a:spcAft>
              <a:buNone/>
            </a:pPr>
            <a:r>
              <a:rPr lang="de-DE" sz="2000" b="0" i="0" dirty="0">
                <a:solidFill>
                  <a:srgbClr val="48586A"/>
                </a:solidFill>
                <a:latin typeface="Arial" pitchFamily="34" charset="0"/>
                <a:ea typeface="Arial" pitchFamily="34" charset="-122"/>
                <a:cs typeface="Arial" pitchFamily="34" charset="-120"/>
              </a:rPr>
              <a:t>Du entscheidest, wer sie sieht.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Quiz-Gespräch: Frage 1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1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Eine Freundin schreibt einmal etwas Gemeines. Am nächsten Tag entschuldigt sie sich. Ist das Cybermobbing?</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Ja. Jeder Streit im Internet ist Cybermobbing.</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Nein. Cybermobbing passiert immer wieder und mit Absicht.</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Ja. Es war ja im Internet.</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Quiz-Gespräch: Frage 2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2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Warum machst du ein Bild vom Bildschirm von gemeinen Nachrichten?</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kann es später zeigen.</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kann es weiter-schicken.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Die Nachrichten verschwinden dann.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Quiz-Gespräch: Frage 3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3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Jeden Tag schreiben dir mehrere Personen gemeine Sachen. Wer ist schuld?</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Ich habe etwas falsch gemacht.</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Niemand. Das ist im Internet normal.</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Die anderen Personen sind schuld.</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Quiz-Gespräch: Frage 4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4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In deiner Chat-Gruppe teilen alle ein peinliches Foto von einer Person. Was machst du?</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teile es nicht. Ich sage einer vertrauten Person Bescheid.</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teile es auch. Sonst lachen alle über mich.</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sage nichts. Das geht mich nichts an.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Quiz-Gespräch: Frage 5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5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Du bekommst eine gemeine Nachricht. Du bist wütend. Was machst du zuerst?</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schreibe sofort gemein zurück.</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Stopp machen. Nicht sofort antworten.</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lösche die Nachricht sofort.</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Quiz-Gespräch: Frage 6 von 6">
    <p:spTree>
      <p:nvGrpSpPr>
        <p:cNvPr id="1" name=""/>
        <p:cNvGrpSpPr/>
        <p:nvPr/>
      </p:nvGrpSpPr>
      <p:grpSpPr>
        <a:xfrm>
          <a:off x="0" y="0"/>
          <a:ext cx="0" cy="0"/>
          <a:chOff x="0" y="0"/>
          <a:chExt cx="0" cy="0"/>
        </a:xfrm>
      </p:grpSpPr>
      <p:sp>
        <p:nvSpPr>
          <p:cNvPr id="2" name="Text 2"/>
          <p:cNvSpPr/>
          <p:nvPr/>
        </p:nvSpPr>
        <p:spPr>
          <a:xfrm>
            <a:off x="640080" y="300000"/>
            <a:ext cx="10911840" cy="5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1" i="0" dirty="0">
                <a:solidFill>
                  <a:srgbClr val="3E96BE"/>
                </a:solidFill>
                <a:latin typeface="Arial" pitchFamily="34" charset="0"/>
                <a:ea typeface="Arial" pitchFamily="34" charset="-122"/>
                <a:cs typeface="Arial" pitchFamily="34" charset="-120"/>
              </a:rPr>
              <a:t>Quiz-Gespräch  ·  Frage 6 von 6</a:t>
            </a:r>
          </a:p>
        </p:txBody>
      </p:sp>
      <p:sp>
        <p:nvSpPr>
          <p:cNvPr id="3" name="Text 3"/>
          <p:cNvSpPr/>
          <p:nvPr/>
        </p:nvSpPr>
        <p:spPr>
          <a:xfrm>
            <a:off x="640080" y="800000"/>
            <a:ext cx="10911840" cy="1500000"/>
          </a:xfrm>
          <a:prstGeom prst="rect">
            <a:avLst/>
          </a:prstGeom>
          <a:noFill/>
          <a:ln>
            <a:noFill/>
          </a:ln>
        </p:spPr>
        <p:txBody>
          <a:bodyPr wrap="square" lIns="0" tIns="0" rIns="0" bIns="0" rtlCol="0" anchor="ctr">
            <a:noAutofit/>
          </a:bodyPr>
          <a:lstStyle/>
          <a:p>
            <a:pPr algn="l" indent="0" marL="0">
              <a:lnSpc>
                <a:spcPct val="105000"/>
              </a:lnSpc>
              <a:spcAft>
                <a:spcPts val="0"/>
              </a:spcAft>
              <a:buNone/>
            </a:pPr>
            <a:r>
              <a:rPr lang="de-DE" sz="3000" b="1" i="0" dirty="0">
                <a:solidFill>
                  <a:srgbClr val="00285A"/>
                </a:solidFill>
                <a:latin typeface="Arial" pitchFamily="34" charset="0"/>
                <a:ea typeface="Arial" pitchFamily="34" charset="-122"/>
                <a:cs typeface="Arial" pitchFamily="34" charset="-120"/>
              </a:rPr>
              <a:t>Deine vertraute Person ist heute nicht da. Die Nachrichten machen dir Angst. Was kannst du tun?</a:t>
            </a:r>
          </a:p>
        </p:txBody>
      </p:sp>
      <p:sp>
        <p:nvSpPr>
          <p:cNvPr id="4" name="Antwort 4"/>
          <p:cNvSpPr/>
          <p:nvPr/>
        </p:nvSpPr>
        <p:spPr>
          <a:xfrm>
            <a:off x="640080" y="245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5" name="Kreis 5"/>
          <p:cNvSpPr/>
          <p:nvPr/>
        </p:nvSpPr>
        <p:spPr>
          <a:xfrm>
            <a:off x="820080" y="262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A</a:t>
            </a:r>
          </a:p>
        </p:txBody>
      </p:sp>
      <p:sp>
        <p:nvSpPr>
          <p:cNvPr id="6" name="Text 6"/>
          <p:cNvSpPr/>
          <p:nvPr/>
        </p:nvSpPr>
        <p:spPr>
          <a:xfrm>
            <a:off x="1690080" y="245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Warten, bis es von allein aufhört.</a:t>
            </a:r>
          </a:p>
        </p:txBody>
      </p:sp>
      <p:sp>
        <p:nvSpPr>
          <p:cNvPr id="7" name="Antwort 7"/>
          <p:cNvSpPr/>
          <p:nvPr/>
        </p:nvSpPr>
        <p:spPr>
          <a:xfrm>
            <a:off x="640080" y="353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8" name="Kreis 8"/>
          <p:cNvSpPr/>
          <p:nvPr/>
        </p:nvSpPr>
        <p:spPr>
          <a:xfrm>
            <a:off x="820080" y="370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B</a:t>
            </a:r>
          </a:p>
        </p:txBody>
      </p:sp>
      <p:sp>
        <p:nvSpPr>
          <p:cNvPr id="9" name="Text 9"/>
          <p:cNvSpPr/>
          <p:nvPr/>
        </p:nvSpPr>
        <p:spPr>
          <a:xfrm>
            <a:off x="1690080" y="353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Ich sage niemandem etwas.</a:t>
            </a:r>
          </a:p>
        </p:txBody>
      </p:sp>
      <p:sp>
        <p:nvSpPr>
          <p:cNvPr id="10" name="Antwort 10"/>
          <p:cNvSpPr/>
          <p:nvPr/>
        </p:nvSpPr>
        <p:spPr>
          <a:xfrm>
            <a:off x="640080" y="4610000"/>
            <a:ext cx="10911840" cy="980000"/>
          </a:xfrm>
          <a:prstGeom prst="roundRect">
            <a:avLst>
              <a:gd name="adj" fmla="val 10000"/>
            </a:avLst>
          </a:prstGeom>
          <a:solidFill>
            <a:srgbClr val="FFFFFF"/>
          </a:solidFill>
          <a:ln w="25400">
            <a:solidFill>
              <a:srgbClr val="AAD1E3"/>
            </a:solidFill>
            <a:prstDash val="solid"/>
          </a:ln>
          <a:effectLst>
            <a:outerShdw sx="100000" sy="100000" kx="0" ky="0" algn="bl" rotWithShape="0" blurRad="88900" dist="25400" dir="5400000">
              <a:srgbClr val="000000">
                <a:alpha val="14000"/>
              </a:srgbClr>
            </a:outerShdw>
          </a:effectLst>
        </p:spPr>
      </p:sp>
      <p:sp>
        <p:nvSpPr>
          <p:cNvPr id="11" name="Kreis 11"/>
          <p:cNvSpPr/>
          <p:nvPr/>
        </p:nvSpPr>
        <p:spPr>
          <a:xfrm>
            <a:off x="820080" y="4785000"/>
            <a:ext cx="630000" cy="630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600" b="1" i="0" dirty="0">
                <a:solidFill>
                  <a:srgbClr val="00285A"/>
                </a:solidFill>
                <a:latin typeface="Arial" pitchFamily="34" charset="0"/>
                <a:ea typeface="Arial" pitchFamily="34" charset="-122"/>
                <a:cs typeface="Arial" pitchFamily="34" charset="-120"/>
              </a:rPr>
              <a:t>C</a:t>
            </a:r>
          </a:p>
        </p:txBody>
      </p:sp>
      <p:sp>
        <p:nvSpPr>
          <p:cNvPr id="12" name="Text 12"/>
          <p:cNvSpPr/>
          <p:nvPr/>
        </p:nvSpPr>
        <p:spPr>
          <a:xfrm>
            <a:off x="1690080" y="4610000"/>
            <a:ext cx="9661840" cy="9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600" b="0" i="0" dirty="0">
                <a:solidFill>
                  <a:srgbClr val="1A1A1A"/>
                </a:solidFill>
                <a:latin typeface="Arial" pitchFamily="34" charset="0"/>
                <a:ea typeface="Arial" pitchFamily="34" charset="-122"/>
                <a:cs typeface="Arial" pitchFamily="34" charset="-120"/>
              </a:rPr>
              <a:t>Eine andere vertraute Person fragen. Oder eine Beratungs-Stelle anrufen.</a:t>
            </a:r>
          </a:p>
        </p:txBody>
      </p:sp>
      <p:sp>
        <p:nvSpPr>
          <p:cNvPr id="13" name="Text 13"/>
          <p:cNvSpPr/>
          <p:nvPr/>
        </p:nvSpPr>
        <p:spPr>
          <a:xfrm>
            <a:off x="640080" y="5780000"/>
            <a:ext cx="1091184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000" b="0" i="1" dirty="0">
                <a:solidFill>
                  <a:srgbClr val="48586A"/>
                </a:solidFill>
                <a:latin typeface="Arial" pitchFamily="34" charset="0"/>
                <a:ea typeface="Arial" pitchFamily="34" charset="-122"/>
                <a:cs typeface="Arial" pitchFamily="34" charset="-120"/>
              </a:rPr>
              <a:t>Zeig deine Antwort mit der Karte. Dann sprechen wir darüber.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as haben wir gelernt">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Das haben wir gelernt</a:t>
            </a:r>
          </a:p>
        </p:txBody>
      </p:sp>
      <p:sp>
        <p:nvSpPr>
          <p:cNvPr id="3" name="Zeile 3"/>
          <p:cNvSpPr/>
          <p:nvPr/>
        </p:nvSpPr>
        <p:spPr>
          <a:xfrm>
            <a:off x="640080" y="1550000"/>
            <a:ext cx="10911840" cy="780000"/>
          </a:xfrm>
          <a:prstGeom prst="roundRect">
            <a:avLst>
              <a:gd name="adj" fmla="val 12000"/>
            </a:avLst>
          </a:prstGeom>
          <a:solidFill>
            <a:srgbClr val="D8EAF2"/>
          </a:solidFill>
          <a:ln w="12700">
            <a:solidFill>
              <a:srgbClr val="AAD1E3"/>
            </a:solidFill>
            <a:prstDash val="solid"/>
          </a:ln>
        </p:spPr>
      </p:sp>
      <p:sp>
        <p:nvSpPr>
          <p:cNvPr id="4" name="Kreis 4"/>
          <p:cNvSpPr/>
          <p:nvPr/>
        </p:nvSpPr>
        <p:spPr>
          <a:xfrm>
            <a:off x="770080" y="166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1</a:t>
            </a:r>
          </a:p>
        </p:txBody>
      </p:sp>
      <p:sp>
        <p:nvSpPr>
          <p:cNvPr id="5" name="Text 5"/>
          <p:cNvSpPr/>
          <p:nvPr/>
        </p:nvSpPr>
        <p:spPr>
          <a:xfrm>
            <a:off x="1496080" y="155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Cybermobbing ist immer wieder und mit Absicht.</a:t>
            </a:r>
          </a:p>
        </p:txBody>
      </p:sp>
      <p:sp>
        <p:nvSpPr>
          <p:cNvPr id="6" name="Zeile 6"/>
          <p:cNvSpPr/>
          <p:nvPr/>
        </p:nvSpPr>
        <p:spPr>
          <a:xfrm>
            <a:off x="640080" y="2440000"/>
            <a:ext cx="10911840" cy="780000"/>
          </a:xfrm>
          <a:prstGeom prst="roundRect">
            <a:avLst>
              <a:gd name="adj" fmla="val 12000"/>
            </a:avLst>
          </a:prstGeom>
          <a:solidFill>
            <a:srgbClr val="D8EAF2"/>
          </a:solidFill>
          <a:ln w="12700">
            <a:solidFill>
              <a:srgbClr val="AAD1E3"/>
            </a:solidFill>
            <a:prstDash val="solid"/>
          </a:ln>
        </p:spPr>
      </p:sp>
      <p:sp>
        <p:nvSpPr>
          <p:cNvPr id="7" name="Kreis 7"/>
          <p:cNvSpPr/>
          <p:nvPr/>
        </p:nvSpPr>
        <p:spPr>
          <a:xfrm>
            <a:off x="770080" y="255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2</a:t>
            </a:r>
          </a:p>
        </p:txBody>
      </p:sp>
      <p:sp>
        <p:nvSpPr>
          <p:cNvPr id="8" name="Text 8"/>
          <p:cNvSpPr/>
          <p:nvPr/>
        </p:nvSpPr>
        <p:spPr>
          <a:xfrm>
            <a:off x="1496080" y="244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Es ist nicht deine Schuld.</a:t>
            </a:r>
          </a:p>
        </p:txBody>
      </p:sp>
      <p:sp>
        <p:nvSpPr>
          <p:cNvPr id="9" name="Zeile 9"/>
          <p:cNvSpPr/>
          <p:nvPr/>
        </p:nvSpPr>
        <p:spPr>
          <a:xfrm>
            <a:off x="640080" y="3330000"/>
            <a:ext cx="10911840" cy="780000"/>
          </a:xfrm>
          <a:prstGeom prst="roundRect">
            <a:avLst>
              <a:gd name="adj" fmla="val 12000"/>
            </a:avLst>
          </a:prstGeom>
          <a:solidFill>
            <a:srgbClr val="D8EAF2"/>
          </a:solidFill>
          <a:ln w="12700">
            <a:solidFill>
              <a:srgbClr val="AAD1E3"/>
            </a:solidFill>
            <a:prstDash val="solid"/>
          </a:ln>
        </p:spPr>
      </p:sp>
      <p:sp>
        <p:nvSpPr>
          <p:cNvPr id="10" name="Kreis 10"/>
          <p:cNvSpPr/>
          <p:nvPr/>
        </p:nvSpPr>
        <p:spPr>
          <a:xfrm>
            <a:off x="770080" y="344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3</a:t>
            </a:r>
          </a:p>
        </p:txBody>
      </p:sp>
      <p:sp>
        <p:nvSpPr>
          <p:cNvPr id="11" name="Text 11"/>
          <p:cNvSpPr/>
          <p:nvPr/>
        </p:nvSpPr>
        <p:spPr>
          <a:xfrm>
            <a:off x="1496080" y="333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Stopp machen. Nicht zurückschreiben.</a:t>
            </a:r>
          </a:p>
        </p:txBody>
      </p:sp>
      <p:sp>
        <p:nvSpPr>
          <p:cNvPr id="12" name="Zeile 12"/>
          <p:cNvSpPr/>
          <p:nvPr/>
        </p:nvSpPr>
        <p:spPr>
          <a:xfrm>
            <a:off x="640080" y="4220000"/>
            <a:ext cx="10911840" cy="780000"/>
          </a:xfrm>
          <a:prstGeom prst="roundRect">
            <a:avLst>
              <a:gd name="adj" fmla="val 12000"/>
            </a:avLst>
          </a:prstGeom>
          <a:solidFill>
            <a:srgbClr val="D8EAF2"/>
          </a:solidFill>
          <a:ln w="12700">
            <a:solidFill>
              <a:srgbClr val="AAD1E3"/>
            </a:solidFill>
            <a:prstDash val="solid"/>
          </a:ln>
        </p:spPr>
      </p:sp>
      <p:sp>
        <p:nvSpPr>
          <p:cNvPr id="13" name="Kreis 13"/>
          <p:cNvSpPr/>
          <p:nvPr/>
        </p:nvSpPr>
        <p:spPr>
          <a:xfrm>
            <a:off x="770080" y="433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4</a:t>
            </a:r>
          </a:p>
        </p:txBody>
      </p:sp>
      <p:sp>
        <p:nvSpPr>
          <p:cNvPr id="14" name="Text 14"/>
          <p:cNvSpPr/>
          <p:nvPr/>
        </p:nvSpPr>
        <p:spPr>
          <a:xfrm>
            <a:off x="1496080" y="422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Zeigen. Blockieren. Melden.</a:t>
            </a:r>
          </a:p>
        </p:txBody>
      </p:sp>
      <p:sp>
        <p:nvSpPr>
          <p:cNvPr id="15" name="Zeile 15"/>
          <p:cNvSpPr/>
          <p:nvPr/>
        </p:nvSpPr>
        <p:spPr>
          <a:xfrm>
            <a:off x="640080" y="5110000"/>
            <a:ext cx="10911840" cy="780000"/>
          </a:xfrm>
          <a:prstGeom prst="roundRect">
            <a:avLst>
              <a:gd name="adj" fmla="val 12000"/>
            </a:avLst>
          </a:prstGeom>
          <a:solidFill>
            <a:srgbClr val="D8EAF2"/>
          </a:solidFill>
          <a:ln w="12700">
            <a:solidFill>
              <a:srgbClr val="AAD1E3"/>
            </a:solidFill>
            <a:prstDash val="solid"/>
          </a:ln>
        </p:spPr>
      </p:sp>
      <p:sp>
        <p:nvSpPr>
          <p:cNvPr id="16" name="Kreis 16"/>
          <p:cNvSpPr/>
          <p:nvPr/>
        </p:nvSpPr>
        <p:spPr>
          <a:xfrm>
            <a:off x="770080" y="5227000"/>
            <a:ext cx="546000" cy="546000"/>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2125" b="1" i="0" dirty="0">
                <a:solidFill>
                  <a:srgbClr val="00285A"/>
                </a:solidFill>
                <a:latin typeface="Arial" pitchFamily="34" charset="0"/>
                <a:ea typeface="Arial" pitchFamily="34" charset="-122"/>
                <a:cs typeface="Arial" pitchFamily="34" charset="-120"/>
              </a:rPr>
              <a:t>5</a:t>
            </a:r>
          </a:p>
        </p:txBody>
      </p:sp>
      <p:sp>
        <p:nvSpPr>
          <p:cNvPr id="17" name="Text 17"/>
          <p:cNvSpPr/>
          <p:nvPr/>
        </p:nvSpPr>
        <p:spPr>
          <a:xfrm>
            <a:off x="1496080" y="5110000"/>
            <a:ext cx="9855840" cy="7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500" b="0" i="0" dirty="0">
                <a:solidFill>
                  <a:srgbClr val="1A1A1A"/>
                </a:solidFill>
                <a:latin typeface="Arial" pitchFamily="34" charset="0"/>
                <a:ea typeface="Arial" pitchFamily="34" charset="-122"/>
                <a:cs typeface="Arial" pitchFamily="34" charset="-120"/>
              </a:rPr>
              <a:t>Hilfe holen. Das ist stark.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Auf der Lernplattform weiter üben">
    <p:spTree>
      <p:nvGrpSpPr>
        <p:cNvPr id="1" name=""/>
        <p:cNvGrpSpPr/>
        <p:nvPr/>
      </p:nvGrpSpPr>
      <p:grpSpPr>
        <a:xfrm>
          <a:off x="0" y="0"/>
          <a:ext cx="0" cy="0"/>
          <a:chOff x="0" y="0"/>
          <a:chExt cx="0" cy="0"/>
        </a:xfrm>
      </p:grpSpPr>
      <p:sp>
        <p:nvSpPr>
          <p:cNvPr id="2" name="Titel 2"/>
          <p:cNvSpPr/>
          <p:nvPr/>
        </p:nvSpPr>
        <p:spPr>
          <a:xfrm>
            <a:off x="640080" y="400000"/>
            <a:ext cx="10911840" cy="10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400" b="1" i="0" dirty="0">
                <a:solidFill>
                  <a:srgbClr val="00285A"/>
                </a:solidFill>
                <a:latin typeface="Arial" pitchFamily="34" charset="0"/>
                <a:ea typeface="Arial" pitchFamily="34" charset="-122"/>
                <a:cs typeface="Arial" pitchFamily="34" charset="-120"/>
              </a:rPr>
              <a:t>Auf der Lernplattform weiter üben</a:t>
            </a:r>
          </a:p>
        </p:txBody>
      </p:sp>
      <p:sp>
        <p:nvSpPr>
          <p:cNvPr id="3" name="Text 3"/>
          <p:cNvSpPr/>
          <p:nvPr/>
        </p:nvSpPr>
        <p:spPr>
          <a:xfrm>
            <a:off x="640080" y="1500000"/>
            <a:ext cx="3700000" cy="3700000"/>
          </a:xfrm>
          <a:prstGeom prst="roundRect">
            <a:avLst>
              <a:gd name="adj" fmla="val 4000"/>
            </a:avLst>
          </a:prstGeom>
          <a:solidFill>
            <a:srgbClr val="FFFFFF"/>
          </a:solidFill>
          <a:ln w="19050">
            <a:solidFill>
              <a:srgbClr val="AAD1E3"/>
            </a:solidFill>
            <a:prstDash val="solid"/>
          </a:ln>
          <a:effectLst>
            <a:outerShdw sx="100000" sy="100000" kx="0" ky="0" algn="bl" rotWithShape="0" blurRad="88900" dist="25400" dir="5400000">
              <a:srgbClr val="000000">
                <a:alpha val="14000"/>
              </a:srgbClr>
            </a:outerShdw>
          </a:effectLst>
        </p:spPr>
      </p:sp>
      <p:pic>
        <p:nvPicPr>
          <p:cNvPr id="4" name="QR-Code 4" descr="QR-Code zum Thema Hilfe bei Problemen auf der Lernplattform"/>
          <p:cNvPicPr>
            <a:picLocks noChangeAspect="1"/>
          </p:cNvPicPr>
          <p:nvPr/>
        </p:nvPicPr>
        <p:blipFill>
          <a:blip r:embed="rId3"/>
          <a:stretch>
            <a:fillRect/>
          </a:stretch>
        </p:blipFill>
        <p:spPr>
          <a:xfrm>
            <a:off x="890080" y="1750000"/>
            <a:ext cx="3200000" cy="3200000"/>
          </a:xfrm>
          <a:prstGeom prst="rect">
            <a:avLst/>
          </a:prstGeom>
        </p:spPr>
      </p:pic>
      <p:sp>
        <p:nvSpPr>
          <p:cNvPr id="5" name="Text 5"/>
          <p:cNvSpPr/>
          <p:nvPr/>
        </p:nvSpPr>
        <p:spPr>
          <a:xfrm>
            <a:off x="640080" y="5250000"/>
            <a:ext cx="3700000" cy="700000"/>
          </a:xfrm>
          <a:prstGeom prst="rect">
            <a:avLst/>
          </a:prstGeom>
          <a:noFill/>
          <a:ln>
            <a:noFill/>
          </a:ln>
        </p:spPr>
        <p:txBody>
          <a:bodyPr wrap="square" lIns="0" tIns="0" rIns="0" bIns="0" rtlCol="0" anchor="t">
            <a:noAutofit/>
          </a:bodyPr>
          <a:lstStyle/>
          <a:p>
            <a:pPr algn="ctr" indent="0" marL="0">
              <a:lnSpc>
                <a:spcPct val="100000"/>
              </a:lnSpc>
              <a:spcAft>
                <a:spcPts val="0"/>
              </a:spcAft>
              <a:buNone/>
            </a:pPr>
            <a:r>
              <a:rPr lang="de-DE" sz="1600" b="1" i="0" dirty="0">
                <a:solidFill>
                  <a:srgbClr val="00285A"/>
                </a:solidFill>
                <a:latin typeface="Arial" pitchFamily="34" charset="0"/>
                <a:ea typeface="Arial" pitchFamily="34" charset="-122"/>
                <a:cs typeface="Arial" pitchFamily="34" charset="-120"/>
              </a:rPr>
              <a:t>Auf der Lernplattform weiterlernen</a:t>
            </a:r>
          </a:p>
        </p:txBody>
      </p:sp>
      <p:sp>
        <p:nvSpPr>
          <p:cNvPr id="6" name="Text 6"/>
          <p:cNvSpPr/>
          <p:nvPr/>
        </p:nvSpPr>
        <p:spPr>
          <a:xfrm>
            <a:off x="4700000" y="1450000"/>
            <a:ext cx="6850000" cy="65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400" b="1" i="0" dirty="0">
                <a:solidFill>
                  <a:srgbClr val="00285A"/>
                </a:solidFill>
                <a:latin typeface="Arial" pitchFamily="34" charset="0"/>
                <a:ea typeface="Arial" pitchFamily="34" charset="-122"/>
                <a:cs typeface="Arial" pitchFamily="34" charset="-120"/>
              </a:rPr>
              <a:t>Dort findest du:</a:t>
            </a:r>
          </a:p>
        </p:txBody>
      </p:sp>
      <p:sp>
        <p:nvSpPr>
          <p:cNvPr id="7" name="Zeile 7"/>
          <p:cNvSpPr/>
          <p:nvPr/>
        </p:nvSpPr>
        <p:spPr>
          <a:xfrm>
            <a:off x="4700000" y="2150000"/>
            <a:ext cx="6850000" cy="680000"/>
          </a:xfrm>
          <a:prstGeom prst="roundRect">
            <a:avLst>
              <a:gd name="adj" fmla="val 12000"/>
            </a:avLst>
          </a:prstGeom>
          <a:solidFill>
            <a:srgbClr val="D8EAF2"/>
          </a:solidFill>
          <a:ln w="12700">
            <a:solidFill>
              <a:srgbClr val="AAD1E3"/>
            </a:solidFill>
            <a:prstDash val="solid"/>
          </a:ln>
        </p:spPr>
      </p:sp>
      <p:sp>
        <p:nvSpPr>
          <p:cNvPr id="8" name="Kreis 8"/>
          <p:cNvSpPr/>
          <p:nvPr/>
        </p:nvSpPr>
        <p:spPr>
          <a:xfrm>
            <a:off x="4830000" y="225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9" name="Text 9"/>
          <p:cNvSpPr/>
          <p:nvPr/>
        </p:nvSpPr>
        <p:spPr>
          <a:xfrm>
            <a:off x="5485999" y="215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Das Thema Hilfe in deiner Sprache</a:t>
            </a:r>
          </a:p>
        </p:txBody>
      </p:sp>
      <p:sp>
        <p:nvSpPr>
          <p:cNvPr id="10" name="Zeile 10"/>
          <p:cNvSpPr/>
          <p:nvPr/>
        </p:nvSpPr>
        <p:spPr>
          <a:xfrm>
            <a:off x="4700000" y="2940000"/>
            <a:ext cx="6850000" cy="680000"/>
          </a:xfrm>
          <a:prstGeom prst="roundRect">
            <a:avLst>
              <a:gd name="adj" fmla="val 12000"/>
            </a:avLst>
          </a:prstGeom>
          <a:solidFill>
            <a:srgbClr val="D8EAF2"/>
          </a:solidFill>
          <a:ln w="12700">
            <a:solidFill>
              <a:srgbClr val="AAD1E3"/>
            </a:solidFill>
            <a:prstDash val="solid"/>
          </a:ln>
        </p:spPr>
      </p:sp>
      <p:sp>
        <p:nvSpPr>
          <p:cNvPr id="11" name="Kreis 11"/>
          <p:cNvSpPr/>
          <p:nvPr/>
        </p:nvSpPr>
        <p:spPr>
          <a:xfrm>
            <a:off x="4830000" y="304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2" name="Text 12"/>
          <p:cNvSpPr/>
          <p:nvPr/>
        </p:nvSpPr>
        <p:spPr>
          <a:xfrm>
            <a:off x="5485999" y="294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Vorlesen</a:t>
            </a:r>
          </a:p>
        </p:txBody>
      </p:sp>
      <p:sp>
        <p:nvSpPr>
          <p:cNvPr id="13" name="Zeile 13"/>
          <p:cNvSpPr/>
          <p:nvPr/>
        </p:nvSpPr>
        <p:spPr>
          <a:xfrm>
            <a:off x="4700000" y="3730000"/>
            <a:ext cx="6850000" cy="680000"/>
          </a:xfrm>
          <a:prstGeom prst="roundRect">
            <a:avLst>
              <a:gd name="adj" fmla="val 12000"/>
            </a:avLst>
          </a:prstGeom>
          <a:solidFill>
            <a:srgbClr val="D8EAF2"/>
          </a:solidFill>
          <a:ln w="12700">
            <a:solidFill>
              <a:srgbClr val="AAD1E3"/>
            </a:solidFill>
            <a:prstDash val="solid"/>
          </a:ln>
        </p:spPr>
      </p:sp>
      <p:sp>
        <p:nvSpPr>
          <p:cNvPr id="14" name="Kreis 14"/>
          <p:cNvSpPr/>
          <p:nvPr/>
        </p:nvSpPr>
        <p:spPr>
          <a:xfrm>
            <a:off x="4830000" y="383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5" name="Text 15"/>
          <p:cNvSpPr/>
          <p:nvPr/>
        </p:nvSpPr>
        <p:spPr>
          <a:xfrm>
            <a:off x="5485999" y="373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Übungs-Handy: Etwas ist passiert</a:t>
            </a:r>
          </a:p>
        </p:txBody>
      </p:sp>
      <p:sp>
        <p:nvSpPr>
          <p:cNvPr id="16" name="Zeile 16"/>
          <p:cNvSpPr/>
          <p:nvPr/>
        </p:nvSpPr>
        <p:spPr>
          <a:xfrm>
            <a:off x="4700000" y="4520000"/>
            <a:ext cx="6850000" cy="680000"/>
          </a:xfrm>
          <a:prstGeom prst="roundRect">
            <a:avLst>
              <a:gd name="adj" fmla="val 12000"/>
            </a:avLst>
          </a:prstGeom>
          <a:solidFill>
            <a:srgbClr val="D8EAF2"/>
          </a:solidFill>
          <a:ln w="12700">
            <a:solidFill>
              <a:srgbClr val="AAD1E3"/>
            </a:solidFill>
            <a:prstDash val="solid"/>
          </a:ln>
        </p:spPr>
      </p:sp>
      <p:sp>
        <p:nvSpPr>
          <p:cNvPr id="17" name="Kreis 17"/>
          <p:cNvSpPr/>
          <p:nvPr/>
        </p:nvSpPr>
        <p:spPr>
          <a:xfrm>
            <a:off x="4830000" y="4622000"/>
            <a:ext cx="475999" cy="475999"/>
          </a:xfrm>
          <a:prstGeom prst="ellipse">
            <a:avLst/>
          </a:prstGeom>
          <a:solidFill>
            <a:srgbClr val="FFFFFF"/>
          </a:solidFill>
          <a:ln w="25400">
            <a:solidFill>
              <a:srgbClr val="3E96BE"/>
            </a:solidFill>
            <a:prstDash val="solid"/>
          </a:ln>
        </p:spPr>
        <p:txBody>
          <a:bodyPr wrap="square" lIns="0" tIns="0" rIns="0" bIns="0" rtlCol="0" anchor="ctr">
            <a:noAutofit/>
          </a:bodyPr>
          <a:lstStyle/>
          <a:p>
            <a:pPr algn="ctr" indent="0" marL="0">
              <a:lnSpc>
                <a:spcPct val="100000"/>
              </a:lnSpc>
              <a:spcAft>
                <a:spcPts val="0"/>
              </a:spcAft>
              <a:buNone/>
            </a:pPr>
            <a:r>
              <a:rPr lang="de-DE" sz="1870" b="1" i="0" dirty="0">
                <a:solidFill>
                  <a:srgbClr val="00285A"/>
                </a:solidFill>
                <a:latin typeface="Arial" pitchFamily="34" charset="0"/>
                <a:ea typeface="Arial" pitchFamily="34" charset="-122"/>
                <a:cs typeface="Arial" pitchFamily="34" charset="-120"/>
              </a:rPr>
              <a:t>✓</a:t>
            </a:r>
          </a:p>
        </p:txBody>
      </p:sp>
      <p:sp>
        <p:nvSpPr>
          <p:cNvPr id="18" name="Text 18"/>
          <p:cNvSpPr/>
          <p:nvPr/>
        </p:nvSpPr>
        <p:spPr>
          <a:xfrm>
            <a:off x="5485999" y="4520000"/>
            <a:ext cx="5864001" cy="68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0" i="0" dirty="0">
                <a:solidFill>
                  <a:srgbClr val="1A1A1A"/>
                </a:solidFill>
                <a:latin typeface="Arial" pitchFamily="34" charset="0"/>
                <a:ea typeface="Arial" pitchFamily="34" charset="-122"/>
                <a:cs typeface="Arial" pitchFamily="34" charset="-120"/>
              </a:rPr>
              <a:t>Quiz und Merk-Karte</a:t>
            </a:r>
          </a:p>
        </p:txBody>
      </p:sp>
      <p:sp>
        <p:nvSpPr>
          <p:cNvPr id="19" name="Text 19"/>
          <p:cNvSpPr/>
          <p:nvPr/>
        </p:nvSpPr>
        <p:spPr>
          <a:xfrm>
            <a:off x="4700000" y="5350000"/>
            <a:ext cx="6850000" cy="7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2200" b="1" i="0" dirty="0">
                <a:solidFill>
                  <a:srgbClr val="00285A"/>
                </a:solidFill>
                <a:latin typeface="Arial" pitchFamily="34" charset="0"/>
                <a:ea typeface="Arial" pitchFamily="34" charset="-122"/>
                <a:cs typeface="Arial" pitchFamily="34" charset="-120"/>
              </a:rPr>
              <a:t>Allein und in deinem Tempo.</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Eine Sache für heute">
    <p:bg>
      <p:bgPr>
        <a:solidFill>
          <a:srgbClr val="D8EAF2"/>
        </a:solidFill>
        <a:effectLst/>
      </p:bgPr>
    </p:bg>
    <p:spTree>
      <p:nvGrpSpPr>
        <p:cNvPr id="1" name=""/>
        <p:cNvGrpSpPr/>
        <p:nvPr/>
      </p:nvGrpSpPr>
      <p:grpSpPr>
        <a:xfrm>
          <a:off x="0" y="0"/>
          <a:ext cx="0" cy="0"/>
          <a:chOff x="0" y="0"/>
          <a:chExt cx="0" cy="0"/>
        </a:xfrm>
      </p:grpSpPr>
      <p:sp>
        <p:nvSpPr>
          <p:cNvPr id="2" name="Text 2"/>
          <p:cNvSpPr/>
          <p:nvPr/>
        </p:nvSpPr>
        <p:spPr>
          <a:xfrm>
            <a:off x="640080" y="500000"/>
            <a:ext cx="10911840" cy="80000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Eine Sache für heute</a:t>
            </a:r>
          </a:p>
        </p:txBody>
      </p:sp>
      <p:sp>
        <p:nvSpPr>
          <p:cNvPr id="3" name="Text 3"/>
          <p:cNvSpPr/>
          <p:nvPr/>
        </p:nvSpPr>
        <p:spPr>
          <a:xfrm>
            <a:off x="640080" y="1500000"/>
            <a:ext cx="6500000" cy="4600000"/>
          </a:xfrm>
          <a:prstGeom prst="roundRect">
            <a:avLst>
              <a:gd name="adj" fmla="val 5000"/>
            </a:avLst>
          </a:prstGeom>
          <a:solidFill>
            <a:srgbClr val="FFFFFF"/>
          </a:solidFill>
          <a:ln>
            <a:noFill/>
          </a:ln>
          <a:effectLst>
            <a:outerShdw sx="100000" sy="100000" kx="0" ky="0" algn="bl" rotWithShape="0" blurRad="88900" dist="25400" dir="5400000">
              <a:srgbClr val="000000">
                <a:alpha val="14000"/>
              </a:srgbClr>
            </a:outerShdw>
          </a:effectLst>
        </p:spPr>
      </p:sp>
      <p:sp>
        <p:nvSpPr>
          <p:cNvPr id="4" name="Text 4"/>
          <p:cNvSpPr/>
          <p:nvPr/>
        </p:nvSpPr>
        <p:spPr>
          <a:xfrm>
            <a:off x="1040080" y="1700000"/>
            <a:ext cx="5700000" cy="4200000"/>
          </a:xfrm>
          <a:prstGeom prst="rect">
            <a:avLst/>
          </a:prstGeom>
          <a:noFill/>
          <a:ln>
            <a:noFill/>
          </a:ln>
        </p:spPr>
        <p:txBody>
          <a:bodyPr wrap="square" lIns="0" tIns="0" rIns="0" bIns="0" rtlCol="0" anchor="ctr">
            <a:noAutofit/>
          </a:bodyPr>
          <a:lstStyle/>
          <a:p>
            <a:pPr algn="l" indent="0" marL="0">
              <a:lnSpc>
                <a:spcPct val="100000"/>
              </a:lnSpc>
              <a:spcAft>
                <a:spcPts val="1200"/>
              </a:spcAft>
              <a:buNone/>
            </a:pPr>
            <a:r>
              <a:rPr lang="de-DE" sz="2800" b="0" i="0" dirty="0">
                <a:solidFill>
                  <a:srgbClr val="1A1A1A"/>
                </a:solidFill>
                <a:latin typeface="Arial" pitchFamily="34" charset="0"/>
                <a:ea typeface="Arial" pitchFamily="34" charset="-122"/>
                <a:cs typeface="Arial" pitchFamily="34" charset="-120"/>
              </a:rPr>
              <a:t>Denk heute an eine vertraute Person.</a:t>
            </a:r>
          </a:p>
          <a:p>
            <a:pPr algn="l" indent="0" marL="0">
              <a:lnSpc>
                <a:spcPct val="100000"/>
              </a:lnSpc>
              <a:spcAft>
                <a:spcPts val="1200"/>
              </a:spcAft>
              <a:buNone/>
            </a:pPr>
            <a:r>
              <a:rPr lang="de-DE" sz="3200" b="1" i="0" dirty="0">
                <a:solidFill>
                  <a:srgbClr val="00285A"/>
                </a:solidFill>
                <a:latin typeface="Arial" pitchFamily="34" charset="0"/>
                <a:ea typeface="Arial" pitchFamily="34" charset="-122"/>
                <a:cs typeface="Arial" pitchFamily="34" charset="-120"/>
              </a:rPr>
              <a:t>Sag ihr:</a:t>
            </a:r>
          </a:p>
          <a:p>
            <a:pPr algn="l" indent="0" marL="0">
              <a:lnSpc>
                <a:spcPct val="100000"/>
              </a:lnSpc>
              <a:spcAft>
                <a:spcPts val="0"/>
              </a:spcAft>
              <a:buNone/>
            </a:pPr>
            <a:r>
              <a:rPr lang="de-DE" sz="3200" b="1" i="0" dirty="0">
                <a:solidFill>
                  <a:srgbClr val="00285A"/>
                </a:solidFill>
                <a:latin typeface="Arial" pitchFamily="34" charset="0"/>
                <a:ea typeface="Arial" pitchFamily="34" charset="-122"/>
                <a:cs typeface="Arial" pitchFamily="34" charset="-120"/>
              </a:rPr>
              <a:t>Ich komme zu dir. Auch bei Problemen im Internet.</a:t>
            </a:r>
          </a:p>
        </p:txBody>
      </p:sp>
      <p:sp>
        <p:nvSpPr>
          <p:cNvPr id="5" name="Bild-Platzhalter 5"/>
          <p:cNvSpPr/>
          <p:nvPr/>
        </p:nvSpPr>
        <p:spPr>
          <a:xfrm>
            <a:off x="7450000" y="1500000"/>
            <a:ext cx="4100000" cy="4600000"/>
          </a:xfrm>
          <a:prstGeom prst="roundRect">
            <a:avLst>
              <a:gd name="adj" fmla="val 4000"/>
            </a:avLst>
          </a:prstGeom>
          <a:solidFill>
            <a:srgbClr val="F3F6F9"/>
          </a:solidFill>
          <a:ln w="19050">
            <a:solidFill>
              <a:srgbClr val="6B7A89"/>
            </a:solidFill>
            <a:prstDash val="dash"/>
          </a:ln>
        </p:spPr>
        <p:txBody>
          <a:bodyPr wrap="square" lIns="137160" tIns="137160" rIns="137160" bIns="137160" rtlCol="0" anchor="ctr">
            <a:noAutofit/>
          </a:bodyPr>
          <a:lstStyle/>
          <a:p>
            <a:pPr algn="ctr" indent="0" marL="0">
              <a:lnSpc>
                <a:spcPct val="100000"/>
              </a:lnSpc>
              <a:spcAft>
                <a:spcPts val="0"/>
              </a:spcAft>
              <a:buNone/>
            </a:pPr>
            <a:r>
              <a:rPr lang="de-DE" sz="1600" b="0" i="1" dirty="0">
                <a:solidFill>
                  <a:srgbClr val="48586A"/>
                </a:solidFill>
                <a:latin typeface="Arial" pitchFamily="34" charset="0"/>
                <a:ea typeface="Arial" pitchFamily="34" charset="-122"/>
                <a:cs typeface="Arial" pitchFamily="34" charset="-120"/>
              </a:rPr>
              <a:t>[BILD: Eine Person spricht mit einer vertrauten Person. Beide sitzen ruhig.]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Du bist nicht allein.">
    <p:bg>
      <p:bgPr>
        <a:solidFill>
          <a:srgbClr val="00285A"/>
        </a:solidFill>
        <a:effectLst/>
      </p:bgPr>
    </p:bg>
    <p:spTree>
      <p:nvGrpSpPr>
        <p:cNvPr id="1" name=""/>
        <p:cNvGrpSpPr/>
        <p:nvPr/>
      </p:nvGrpSpPr>
      <p:grpSpPr>
        <a:xfrm>
          <a:off x="0" y="0"/>
          <a:ext cx="0" cy="0"/>
          <a:chOff x="0" y="0"/>
          <a:chExt cx="0" cy="0"/>
        </a:xfrm>
      </p:grpSpPr>
      <p:sp>
        <p:nvSpPr>
          <p:cNvPr id="2" name="Text 2"/>
          <p:cNvSpPr/>
          <p:nvPr/>
        </p:nvSpPr>
        <p:spPr>
          <a:xfrm>
            <a:off x="0" y="1900000"/>
            <a:ext cx="12192000" cy="12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5400" b="1" i="0" dirty="0">
                <a:solidFill>
                  <a:srgbClr val="FFFFFF"/>
                </a:solidFill>
                <a:latin typeface="Arial" pitchFamily="34" charset="0"/>
                <a:ea typeface="Arial" pitchFamily="34" charset="-122"/>
                <a:cs typeface="Arial" pitchFamily="34" charset="-120"/>
              </a:rPr>
              <a:t>Du bist nicht allein.</a:t>
            </a:r>
          </a:p>
        </p:txBody>
      </p:sp>
      <p:sp>
        <p:nvSpPr>
          <p:cNvPr id="3" name="Text 3"/>
          <p:cNvSpPr/>
          <p:nvPr/>
        </p:nvSpPr>
        <p:spPr>
          <a:xfrm>
            <a:off x="0" y="315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3000" b="0" i="0" dirty="0">
                <a:solidFill>
                  <a:srgbClr val="AAD1E3"/>
                </a:solidFill>
                <a:latin typeface="Arial" pitchFamily="34" charset="0"/>
                <a:ea typeface="Arial" pitchFamily="34" charset="-122"/>
                <a:cs typeface="Arial" pitchFamily="34" charset="-120"/>
              </a:rPr>
              <a:t>Hast du noch Fragen?</a:t>
            </a:r>
          </a:p>
        </p:txBody>
      </p:sp>
      <p:sp>
        <p:nvSpPr>
          <p:cNvPr id="4" name="Text 4"/>
          <p:cNvSpPr/>
          <p:nvPr/>
        </p:nvSpPr>
        <p:spPr>
          <a:xfrm>
            <a:off x="0" y="4100000"/>
            <a:ext cx="12192000" cy="800000"/>
          </a:xfrm>
          <a:prstGeom prst="rect">
            <a:avLst/>
          </a:prstGeom>
          <a:noFill/>
          <a:ln>
            <a:noFill/>
          </a:ln>
        </p:spPr>
        <p:txBody>
          <a:bodyPr wrap="square" lIns="0" tIns="0" rIns="0" bIns="0" rtlCol="0" anchor="ctr">
            <a:noAutofit/>
          </a:bodyPr>
          <a:lstStyle/>
          <a:p>
            <a:pPr algn="ctr" indent="0" marL="0">
              <a:lnSpc>
                <a:spcPct val="100000"/>
              </a:lnSpc>
              <a:spcAft>
                <a:spcPts val="0"/>
              </a:spcAft>
              <a:buNone/>
            </a:pPr>
            <a:r>
              <a:rPr lang="de-DE" sz="2600" b="1" i="0" dirty="0">
                <a:solidFill>
                  <a:srgbClr val="FFFFFF"/>
                </a:solidFill>
                <a:latin typeface="Arial" pitchFamily="34" charset="0"/>
                <a:ea typeface="Arial" pitchFamily="34" charset="-122"/>
                <a:cs typeface="Arial" pitchFamily="34" charset="-120"/>
              </a:rPr>
              <a:t>Hol dir Hilfe. Das ist stark.</a:t>
            </a:r>
          </a:p>
        </p:txBody>
      </p:sp>
      <p:sp>
        <p:nvSpPr>
          <p:cNvPr id="5" name="Text 5"/>
          <p:cNvSpPr/>
          <p:nvPr/>
        </p:nvSpPr>
        <p:spPr>
          <a:xfrm>
            <a:off x="640080" y="6309360"/>
            <a:ext cx="10972800" cy="365760"/>
          </a:xfrm>
          <a:prstGeom prst="rect">
            <a:avLst/>
          </a:prstGeom>
          <a:noFill/>
          <a:ln>
            <a:noFill/>
          </a:ln>
        </p:spPr>
        <p:txBody>
          <a:bodyPr wrap="square" lIns="0" tIns="0" rIns="0" bIns="0" rtlCol="0" anchor="ctr">
            <a:noAutofit/>
          </a:bodyPr>
          <a:lstStyle/>
          <a:p>
            <a:pPr algn="l" indent="0" marL="0">
              <a:lnSpc>
                <a:spcPct val="100000"/>
              </a:lnSpc>
              <a:spcAft>
                <a:spcPts val="0"/>
              </a:spcAft>
              <a:buNone/>
            </a:pPr>
            <a:r>
              <a:rPr lang="de-DE" sz="1300" b="0" i="0" dirty="0">
                <a:solidFill>
                  <a:srgbClr val="AAD1E3"/>
                </a:solidFill>
                <a:latin typeface="Arial" pitchFamily="34" charset="0"/>
                <a:ea typeface="Arial" pitchFamily="34" charset="-122"/>
                <a:cs typeface="Arial" pitchFamily="34" charset="-120"/>
              </a:rPr>
              <a:t>Alexianer Stift Tilbeck GmbH   ·   Gefördert durch die Sozialstiftung NRW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Cybermobbing – Was ist das? Was kann ich tun?</dc:title>
  <dc:subject>Modul Cybermobbing nach REFERENZMODUL.md – 90-Minuten-Live-Workshop</dc:subject>
  <dc:creator>Alexianer Stift Tilbeck – Digitale Teilhabe</dc:creator>
  <cp:lastModifiedBy>Alexianer Stift Tilbeck – Digitale Teilhabe</cp:lastModifiedBy>
  <cp:revision>2</cp:revision>
  <dcterms:created xsi:type="dcterms:W3CDTF">2026-06-24T06:39:29Z</dcterms:created>
  <dcterms:modified xsi:type="dcterms:W3CDTF">2026-09-18T09:31:19Z</dcterms:modified>
</cp:coreProperties>
</file>