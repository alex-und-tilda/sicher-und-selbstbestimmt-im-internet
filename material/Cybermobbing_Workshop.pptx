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Ankommen, Vertrauen aufbauen, Thema behutsam benennen.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Begrüßung, ruhige Namensrunde.</a:t>
            </a:r>
          </a:p>
          <a:p>
            <a:r>
              <a:rPr b="1" sz="1100"/>
              <a:t>Sozialform: </a:t>
            </a:r>
            <a:r>
              <a:rPr sz="1100"/>
              <a:t>Plenum / Sitzkreis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Beamer, Namensschilder</a:t>
            </a:r>
          </a:p>
          <a:p>
            <a:r>
              <a:rPr b="1" sz="1100"/>
              <a:t>Hinweis: </a:t>
            </a:r>
            <a:r>
              <a:rPr sz="1100"/>
              <a:t>Achtsam starten. Thema kann Betroffene berühren. Sichere Atmosphäre betonen. Leichte Sprache – vor Logo-Nutzung Prüfgruppe.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Überblick über den Ablauf des Tages gewinnen.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Impuls, Ablauf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2 Min</a:t>
            </a:r>
          </a:p>
          <a:p>
            <a:r>
              <a:rPr b="1" sz="1100"/>
              <a:t>Material: </a:t>
            </a:r>
            <a:r>
              <a:rPr sz="1100"/>
              <a:t>Beamer, Ablauf als Ausdruck</a:t>
            </a:r>
          </a:p>
          <a:p>
            <a:r>
              <a:rPr b="1" sz="1100"/>
              <a:t>Hinweis: </a:t>
            </a:r>
            <a:r>
              <a:rPr sz="1100"/>
              <a:t>Auf die Pause hinweisen (Punkt 5). Sagen: Niemand muss etwas Eigenes erzählen.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Sichere Lernatmosphäre; Selbstbestimmung erleben.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gemeinsame Vereinbarung.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ggf. Plakat mit Regeln</a:t>
            </a:r>
          </a:p>
          <a:p>
            <a:r>
              <a:rPr b="1" sz="1100"/>
              <a:t>Hinweis: </a:t>
            </a:r>
            <a:r>
              <a:rPr sz="1100"/>
              <a:t>Besonders wichtig: 'Niemand wird ausgelacht' und 'Du musst nichts erzählen, was du nicht magst.' Betroffene schützen.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Verstehen, was Cybermobbing ist.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Begriffe klären,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Cyber = im Internet. Mobbing = jemanden immer wieder ärgern. Wiederholung und Absicht betonen, nicht der einmalige Streit.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Klare Haltung: Cybermobbing ist nicht in Ordnung.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Impuls,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Klar Position beziehen. Cybermobbing kann auch strafbar sein (z. B. Beleidigung, Bedrohung). Sachlich, ohne Angst zu machen.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 den Erscheinungsformen.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Hinführen: Woran erkennt man Cybermobbing?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Formen von Cybermobbing erkennen.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Bildimpuls, Beispiele sammeln.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Beamer, ggf. Karten</a:t>
            </a:r>
          </a:p>
          <a:p>
            <a:r>
              <a:rPr b="1" sz="1100"/>
              <a:t>Hinweis: </a:t>
            </a:r>
            <a:r>
              <a:rPr sz="1100"/>
              <a:t>Beispiele ruhig besprechen. Keine echten Fälle/Namen aus der Gruppe verwenden. Bei Betroffenheit sensibel bleiben.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Erkennen: Cybermobbing ist wiederholt und gezielt.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achtsam.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Nicht zu drastisch werden. Auf Reaktionen achten. Betonen: Es gibt immer einen Ausweg, dazu kommen wir gleich.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Gefühle und Schuld.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Behutsam überleiten: Wie fühlt sich das an? Und wer ist schuld?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Eigene Gefühle als normal und wichtig anerkennen.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Gefühle benennen.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ggf. Gefühls-Karten</a:t>
            </a:r>
          </a:p>
          <a:p>
            <a:r>
              <a:rPr b="1" sz="1100"/>
              <a:t>Hinweis: </a:t>
            </a:r>
            <a:r>
              <a:rPr sz="1100"/>
              <a:t>Gefühle validieren, nicht bewerten. Niemanden drängen, eigene Gefühle zu teilen. Ruhiges Tempo.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Verinnerlichen: Cybermobbing ist nicht die Schuld der betroffenen Person.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Merksatz,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Wichtigste Botschaft des Workshops. Mehrmals wiederholen lassen: 'Es ist nicht deine Schuld.' Schuld trägt, wer mobbt.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Wissen: Ich bin nicht allein und darf Hilfe holen.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ermutigend.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Hilfe holen als Stärke rahmen, nicht als Schwäche. Auf das spätere Hilfe-Thema verweisen.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 konkreten Handlungsschritten.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Vom Gefühl zum Handeln: Was kann ich konkret tun?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Wissen: Nicht mit gemeinen Worten zurückschreiben.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Beispiel.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Begründen: Zurück-Mobben verschlimmert oft und kann selbst Ärger machen. 'Stopp – erst durchatmen.'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Beweise sichern können (Screenshot).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 am Gerät.</a:t>
            </a:r>
          </a:p>
          <a:p>
            <a:r>
              <a:rPr b="1" sz="1100"/>
              <a:t>Sozialform: </a:t>
            </a:r>
            <a:r>
              <a:rPr sz="1100"/>
              <a:t>Plenum / Einzeln mit Begleitung</a:t>
            </a:r>
          </a:p>
          <a:p>
            <a:r>
              <a:rPr b="1" sz="1100"/>
              <a:t>Zeit: </a:t>
            </a:r>
            <a:r>
              <a:rPr sz="1100"/>
              <a:t>ca. 5 Min</a:t>
            </a:r>
          </a:p>
          <a:p>
            <a:r>
              <a:rPr b="1" sz="1100"/>
              <a:t>Material: </a:t>
            </a:r>
            <a:r>
              <a:rPr sz="1100"/>
              <a:t>Gerät</a:t>
            </a:r>
          </a:p>
          <a:p>
            <a:r>
              <a:rPr b="1" sz="1100"/>
              <a:t>Hinweis: </a:t>
            </a:r>
            <a:r>
              <a:rPr sz="1100"/>
              <a:t>Screenshot je nach Gerät zeigen. Beweise helfen beim Melden und bei der Vertrauensperson. Nichts löschen.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Erholung; Aufnahmefähigkeit erhalten.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Pause.</a:t>
            </a:r>
          </a:p>
          <a:p>
            <a:r>
              <a:rPr b="1" sz="1100"/>
              <a:t>Sozialform: </a:t>
            </a:r>
            <a:r>
              <a:rPr sz="1100"/>
              <a:t>—</a:t>
            </a:r>
          </a:p>
          <a:p>
            <a:r>
              <a:rPr b="1" sz="1100"/>
              <a:t>Zeit: </a:t>
            </a:r>
            <a:r>
              <a:rPr sz="1100"/>
              <a:t>ca. 10 Min</a:t>
            </a:r>
          </a:p>
          <a:p>
            <a:r>
              <a:rPr b="1" sz="1100"/>
              <a:t>Material: </a:t>
            </a:r>
            <a:r>
              <a:rPr sz="1100"/>
              <a:t>Getränke</a:t>
            </a:r>
          </a:p>
          <a:p>
            <a:r>
              <a:rPr b="1" sz="1100"/>
              <a:t>Hinweis: </a:t>
            </a:r>
            <a:r>
              <a:rPr sz="1100"/>
              <a:t>Pause klar ansagen. Für Einzelgespräche offen sein, falls jemand betroffen 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Blockieren und Melden als Handlungsschritte kennen.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Demonstration, ggf. Übung am Gerät.</a:t>
            </a:r>
          </a:p>
          <a:p>
            <a:r>
              <a:rPr b="1" sz="1100"/>
              <a:t>Sozialform: </a:t>
            </a:r>
            <a:r>
              <a:rPr sz="1100"/>
              <a:t>Plenum / Einzeln mit Begleitung</a:t>
            </a:r>
          </a:p>
          <a:p>
            <a:r>
              <a:rPr b="1" sz="1100"/>
              <a:t>Zeit: </a:t>
            </a:r>
            <a:r>
              <a:rPr sz="1100"/>
              <a:t>ca. 5 Min</a:t>
            </a:r>
          </a:p>
          <a:p>
            <a:r>
              <a:rPr b="1" sz="1100"/>
              <a:t>Material: </a:t>
            </a:r>
            <a:r>
              <a:rPr sz="1100"/>
              <a:t>Gerät</a:t>
            </a:r>
          </a:p>
          <a:p>
            <a:r>
              <a:rPr b="1" sz="1100"/>
              <a:t>Hinweis: </a:t>
            </a:r>
            <a:r>
              <a:rPr sz="1100"/>
              <a:t>Verweis auf die App-Praxis-Seiten (Blockieren/Melden). Wenn möglich an einer App zeigen.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Hilfe holen als mutige, starke Entscheidung verstehen.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Merksatz, Ermutigung.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Merksatz: 'Hol dir Hilfe. Das ist mutig und stark.'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Hilfe holen.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Hinführen: Wer kann mir helfen?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Eigene Vertrauenspersonen benennen können.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Sammeln im Plenum.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Karte mit Ansprechpersonen</a:t>
            </a:r>
          </a:p>
          <a:p>
            <a:r>
              <a:rPr b="1" sz="1100"/>
              <a:t>Hinweis: </a:t>
            </a:r>
            <a:r>
              <a:rPr sz="1100"/>
              <a:t>Konkrete Ansprechpersonen vor Ort nennen (Name, Telefon). Begleitung/Bezugsperson aktiv anbieten.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Wissen: Es gibt anonyme, kostenlose Hilfe am Telefon.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Information,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Karte mit Hilfe-Nummern</a:t>
            </a:r>
          </a:p>
          <a:p>
            <a:r>
              <a:rPr b="1" sz="1100"/>
              <a:t>Hinweis: </a:t>
            </a:r>
            <a:r>
              <a:rPr sz="1100"/>
              <a:t>WICHTIG: Telefon-Seelsorge 0800 111 0 111 / 0800 111 0 222 (kostenlos, anonym, rund um die Uhr). Aktuelle und lokale/regionale Hilfe-Angebote vor dem Workshop prüfen und ergänzen (z. B. Weisser Ring 116 006). Bei akuter Gefahr: 110.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Überleitung zum Thema Mitverantwortung.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Kurzer Impuls.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&lt; 1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Hinführen: Was kann ich tun, wenn ich Cybermobbing bei anderen sehe?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Zivilcourage: nicht mitmachen, helfen, Bescheid sagen.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Lehrgespräch, Beispiele.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4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Zuschauer sind wichtig. Nicht mitlachen, nicht weiterleiten. Der betroffenen Person beistehen und Hilfe holen.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Eigenes faires Verhalten im Internet stärken.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Merksatz, Lehrgespräch.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'Denk nach, bevor du etwas schickst.' Respekt im Netz wie im echten Leben.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Inhalte sichern und Verständnis prüfen.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Quiz, Abstimmung (Daumen/Karten).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5 Min</a:t>
            </a:r>
          </a:p>
          <a:p>
            <a:r>
              <a:rPr b="1" sz="1100"/>
              <a:t>Material: </a:t>
            </a:r>
            <a:r>
              <a:rPr sz="1100"/>
              <a:t>Daumen oder Ja/Nein-Karten</a:t>
            </a:r>
          </a:p>
          <a:p>
            <a:r>
              <a:rPr b="1" sz="1100"/>
              <a:t>Hinweis: </a:t>
            </a:r>
            <a:r>
              <a:rPr sz="1100"/>
              <a:t>Jede Aussage vorlesen, abstimmen lassen, erst danach auflösen.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Wissen festigen, Fehlannahmen klären.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Auflösung mit kurzer Begründung.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Beamer</a:t>
            </a:r>
          </a:p>
          <a:p>
            <a:r>
              <a:rPr b="1" sz="1100"/>
              <a:t>Hinweis: </a:t>
            </a:r>
            <a:r>
              <a:rPr sz="1100"/>
              <a:t>Besonders Aussage 1 betonen: Es ist nicht deine Schuld. Und: nicht zurück-mobben.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Fünf Merksätze als Mitnahme verankern.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Wiederholung, reihum vorlesen.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Merkblatt (Leichte Sprache)</a:t>
            </a:r>
          </a:p>
          <a:p>
            <a:r>
              <a:rPr b="1" sz="1100"/>
              <a:t>Hinweis: </a:t>
            </a:r>
            <a:r>
              <a:rPr sz="1100"/>
              <a:t>Teilnehmende vorlesen lassen. Merkblatt mit Hilfe-Nummern mitgeben.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sz="1100"/>
              <a:t>Lernziel: </a:t>
            </a:r>
            <a:r>
              <a:rPr sz="1100"/>
              <a:t>Positiver, ermutigender Abschluss.</a:t>
            </a:r>
            <a:endParaRPr lang="en-US" dirty="0"/>
          </a:p>
          <a:p>
            <a:r>
              <a:rPr b="1" sz="1100"/>
              <a:t>Methode: </a:t>
            </a:r>
            <a:r>
              <a:rPr sz="1100"/>
              <a:t>Fragerunde, Ausblick.</a:t>
            </a:r>
          </a:p>
          <a:p>
            <a:r>
              <a:rPr b="1" sz="1100"/>
              <a:t>Sozialform: </a:t>
            </a:r>
            <a:r>
              <a:rPr sz="1100"/>
              <a:t>Plenum</a:t>
            </a:r>
          </a:p>
          <a:p>
            <a:r>
              <a:rPr b="1" sz="1100"/>
              <a:t>Zeit: </a:t>
            </a:r>
            <a:r>
              <a:rPr sz="1100"/>
              <a:t>ca. 3 Min</a:t>
            </a:r>
          </a:p>
          <a:p>
            <a:r>
              <a:rPr b="1" sz="1100"/>
              <a:t>Material: </a:t>
            </a:r>
            <a:r>
              <a:rPr sz="1100"/>
              <a:t>—</a:t>
            </a:r>
          </a:p>
          <a:p>
            <a:r>
              <a:rPr b="1" sz="1100"/>
              <a:t>Hinweis: </a:t>
            </a:r>
            <a:r>
              <a:rPr sz="1100"/>
              <a:t>Mit Stärke abschließen: 'Du bist nicht allein.' Nach dem Workshop für Einzelgespräche bereitstehen.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85800"/>
            <a:ext cx="1737360" cy="1737360"/>
          </a:xfrm>
          <a:prstGeom prst="ellipse">
            <a:avLst/>
          </a:prstGeom>
          <a:solidFill>
            <a:srgbClr val="FFFFFF"/>
          </a:solidFill>
          <a:ln w="45847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8058" y="963778"/>
            <a:ext cx="1181405" cy="1181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6517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640080" y="39319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das? Was kann ich tun?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50749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und Tilda</a:t>
            </a:r>
            <a:endParaRPr lang="en-US" sz="1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 und selbstbestimmt im Internet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machen wir heute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0876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Cybermobbing?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008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0876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sieht es aus?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64008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50876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ist nicht deine Schuld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64008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0876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 ich tun?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6309360" y="1920240"/>
            <a:ext cx="640080" cy="640080"/>
          </a:xfrm>
          <a:prstGeom prst="ellipse">
            <a:avLst/>
          </a:prstGeom>
          <a:solidFill>
            <a:srgbClr val="B5152B"/>
          </a:solidFill>
          <a:ln/>
        </p:spPr>
      </p:sp>
      <p:sp>
        <p:nvSpPr>
          <p:cNvPr id="18" name="Text 15"/>
          <p:cNvSpPr/>
          <p:nvPr/>
        </p:nvSpPr>
        <p:spPr>
          <a:xfrm>
            <a:off x="630936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7178040" y="192024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6309360" y="2999232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1" name="Text 18"/>
          <p:cNvSpPr/>
          <p:nvPr/>
        </p:nvSpPr>
        <p:spPr>
          <a:xfrm>
            <a:off x="6309360" y="29992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19"/>
          <p:cNvSpPr/>
          <p:nvPr/>
        </p:nvSpPr>
        <p:spPr>
          <a:xfrm>
            <a:off x="7178040" y="2999232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 holen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6309360" y="4078224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4" name="Text 21"/>
          <p:cNvSpPr/>
          <p:nvPr/>
        </p:nvSpPr>
        <p:spPr>
          <a:xfrm>
            <a:off x="6309360" y="40782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7178040" y="4078224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Anderen helfen und fair sein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6309360" y="5157216"/>
            <a:ext cx="640080" cy="640080"/>
          </a:xfrm>
          <a:prstGeom prst="ellipse">
            <a:avLst/>
          </a:prstGeom>
          <a:solidFill>
            <a:srgbClr val="3E96BE"/>
          </a:solidFill>
          <a:ln/>
        </p:spPr>
      </p:sp>
      <p:sp>
        <p:nvSpPr>
          <p:cNvPr id="27" name="Text 24"/>
          <p:cNvSpPr/>
          <p:nvPr/>
        </p:nvSpPr>
        <p:spPr>
          <a:xfrm>
            <a:off x="6309360" y="515721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7178040" y="5157216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und Abschluss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Regeln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57400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18058" y="2152498"/>
            <a:ext cx="404165" cy="40416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192024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Frage ist gut.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640080" y="294436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22960" y="3081528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8058" y="3176626"/>
            <a:ext cx="404165" cy="40416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91640" y="2944368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Niemand wird ausgelacht.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640080" y="3968496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22960" y="4105656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18058" y="4200754"/>
            <a:ext cx="404165" cy="40416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691640" y="3968496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 hören einander zu.</a:t>
            </a:r>
            <a:endParaRPr lang="en-US" sz="2200" dirty="0"/>
          </a:p>
        </p:txBody>
      </p:sp>
      <p:sp>
        <p:nvSpPr>
          <p:cNvPr id="17" name="Shape 11"/>
          <p:cNvSpPr/>
          <p:nvPr/>
        </p:nvSpPr>
        <p:spPr>
          <a:xfrm>
            <a:off x="640080" y="4992624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822960" y="5129784"/>
            <a:ext cx="594360" cy="5943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18058" y="5224882"/>
            <a:ext cx="404165" cy="40416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91640" y="4992624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nichts erzählen, was du nicht magst.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ist Cybermobbing?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76809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 heißt: im Internet.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Mobbing heißt: jemanden immer wieder ärgern.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ist: Jemand ärgert dich im Internet. Immer wieder.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gemein. Und nicht erlaubt.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052560" y="2468880"/>
            <a:ext cx="2194560" cy="2194560"/>
          </a:xfrm>
          <a:prstGeom prst="ellipse">
            <a:avLst/>
          </a:prstGeom>
          <a:solidFill>
            <a:srgbClr val="FFFFFF"/>
          </a:solidFill>
          <a:ln w="5791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03690" y="2820010"/>
            <a:ext cx="1492301" cy="14923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E9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Wichtig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tut weh.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ist nicht okay.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Manchmal ist es sogar verboten.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sieht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aus?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sieht Cybermobbing aus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96012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106424" y="2386584"/>
            <a:ext cx="621792" cy="621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5740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Gemeine Nachrichten</a:t>
            </a:r>
            <a:endParaRPr lang="en-US" sz="2100" dirty="0"/>
          </a:p>
        </p:txBody>
      </p:sp>
      <p:sp>
        <p:nvSpPr>
          <p:cNvPr id="9" name="Shape 5"/>
          <p:cNvSpPr/>
          <p:nvPr/>
        </p:nvSpPr>
        <p:spPr>
          <a:xfrm>
            <a:off x="6309360" y="192024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629400" y="224028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775704" y="2386584"/>
            <a:ext cx="621792" cy="6217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26680" y="221284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Lügen über dich</a:t>
            </a:r>
            <a:endParaRPr lang="en-US" sz="2100" dirty="0"/>
          </a:p>
        </p:txBody>
      </p:sp>
      <p:sp>
        <p:nvSpPr>
          <p:cNvPr id="13" name="Shape 8"/>
          <p:cNvSpPr/>
          <p:nvPr/>
        </p:nvSpPr>
        <p:spPr>
          <a:xfrm>
            <a:off x="64008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96012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106424" y="4489704"/>
            <a:ext cx="621792" cy="6217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05740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Peinliche Bilder teilen</a:t>
            </a:r>
            <a:endParaRPr lang="en-US" sz="2100" dirty="0"/>
          </a:p>
        </p:txBody>
      </p:sp>
      <p:sp>
        <p:nvSpPr>
          <p:cNvPr id="17" name="Shape 11"/>
          <p:cNvSpPr/>
          <p:nvPr/>
        </p:nvSpPr>
        <p:spPr>
          <a:xfrm>
            <a:off x="6309360" y="4023360"/>
            <a:ext cx="52120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6629400" y="4343400"/>
            <a:ext cx="914400" cy="914400"/>
          </a:xfrm>
          <a:prstGeom prst="ellipse">
            <a:avLst/>
          </a:prstGeom>
          <a:solidFill>
            <a:srgbClr val="FFFFFF"/>
          </a:solidFill>
          <a:ln w="2413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775704" y="4489704"/>
            <a:ext cx="621792" cy="6217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726680" y="4315968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 Gruppen ausschließen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kann auch so sein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Jemand droht dir.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Jemand lacht dich aus.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Menschen machen mit.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hört nicht auf.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ist nicht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Schuld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Gefühle sind okay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macht traurig.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Oder wütend. Oder ängstlich.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ganz normal.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Deine Gefühle sind wichtig.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Wichtig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ist nicht deine Schuld.</a:t>
            </a:r>
            <a:endParaRPr lang="en-US" sz="2900" dirty="0"/>
          </a:p>
          <a:p>
            <a:pPr indent="0" marL="0">
              <a:lnSpc>
                <a:spcPct val="105000"/>
              </a:lnSpc>
              <a:spcAft>
                <a:spcPts val="1600"/>
              </a:spcAft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hast nichts falsch gemacht.</a:t>
            </a:r>
            <a:endParaRPr lang="en-US" sz="2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Schuld ist die Person, die mobbt.</a:t>
            </a:r>
            <a:endParaRPr lang="en-US" sz="2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bist nicht allein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Viele Menschen sind für dich da.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darfst dir Hilfe holen.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 holen ist mutig und stark.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ist nicht peinlich.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kann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tun?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 nichts Gemeines zurück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Antworte nicht mit gemeinen Worten.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macht es oft schlimmer.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Atme erst tief durch.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nicht sofort reagieren.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Sichere Beweise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 ein Foto vom Bildschirm.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heißt Screenshot.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hast du einen Beweis.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Zeig den Beweis einer Vertrauensperson.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1371600"/>
            <a:ext cx="2011680" cy="2011680"/>
          </a:xfrm>
          <a:prstGeom prst="ellipse">
            <a:avLst/>
          </a:prstGeom>
          <a:solidFill>
            <a:srgbClr val="FFFFFF"/>
          </a:solidFill>
          <a:ln w="53086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96789" y="1693469"/>
            <a:ext cx="1367942" cy="13679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6576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0" y="48463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Minuten</a:t>
            </a:r>
            <a:endParaRPr lang="en-US" sz="3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 und melden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60604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10866" y="2490826"/>
            <a:ext cx="870509" cy="87050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4400" y="3749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005840" y="4297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Person kann dich nicht mehr erreichen.</a:t>
            </a:r>
            <a:endParaRPr lang="en-US" sz="1800" dirty="0"/>
          </a:p>
        </p:txBody>
      </p:sp>
      <p:sp>
        <p:nvSpPr>
          <p:cNvPr id="10" name="Shape 6"/>
          <p:cNvSpPr/>
          <p:nvPr/>
        </p:nvSpPr>
        <p:spPr>
          <a:xfrm>
            <a:off x="6309360" y="1920240"/>
            <a:ext cx="52120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6C7C8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275320" y="228600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480146" y="2490826"/>
            <a:ext cx="870509" cy="87050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83680" y="37490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Melden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6675120" y="429768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sagst der App Bescheid. Die App schaut es sich an.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D8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44906" y="844906"/>
            <a:ext cx="870509" cy="8705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286000" y="6400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Tipp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640080" y="2286000"/>
            <a:ext cx="108813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1280160" y="2651760"/>
            <a:ext cx="9601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3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das nicht allein lösen.</a:t>
            </a:r>
            <a:endParaRPr lang="en-US" sz="3000" dirty="0"/>
          </a:p>
          <a:p>
            <a:pPr indent="0" marL="0">
              <a:lnSpc>
                <a:spcPct val="105000"/>
              </a:lnSpc>
              <a:spcAft>
                <a:spcPts val="1800"/>
              </a:spcAft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Hilfe.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ist mutig und stark.</a:t>
            </a:r>
            <a:endParaRPr lang="en-US" sz="3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holen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Vertrauensperson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Sprich mit einer Person, der du vertraust.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Beispiel: Familie oder Freund.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Oder deine Betreuerin oder dein Betreuer.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kannst alles erzählen.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Hilfe am Telefon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gibt auch Hilfe am Telefon.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Hilfe ist kostenlos.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2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musst deinen Namen nicht sagen.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4297680"/>
            <a:ext cx="10881360" cy="1097280"/>
          </a:xfrm>
          <a:prstGeom prst="roundRect">
            <a:avLst>
              <a:gd name="adj" fmla="val 10000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4297680"/>
            <a:ext cx="10149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Telefon-Seelsorge:  </a:t>
            </a:r>
            <a:pPr indent="0" marL="0">
              <a:buNone/>
            </a:pPr>
            <a:r>
              <a:rPr lang="en-US" sz="26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0800 111 0 111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9966960" y="2286000"/>
            <a:ext cx="1554480" cy="1554480"/>
          </a:xfrm>
          <a:prstGeom prst="ellipse">
            <a:avLst/>
          </a:prstGeom>
          <a:solidFill>
            <a:srgbClr val="FFFFFF"/>
          </a:solidFill>
          <a:ln w="41021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215677" y="2534717"/>
            <a:ext cx="1057046" cy="10570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274320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57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3657600" y="21488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0" y="2788920"/>
            <a:ext cx="7680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Anderen helfen</a:t>
            </a:r>
            <a:endParaRPr lang="en-US" sz="38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 fair sein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10149840" y="640080"/>
            <a:ext cx="1280160" cy="1280160"/>
          </a:xfrm>
          <a:prstGeom prst="ellipse">
            <a:avLst/>
          </a:prstGeom>
          <a:solidFill>
            <a:srgbClr val="FFFFFF"/>
          </a:solidFill>
          <a:ln w="33782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354666" y="844906"/>
            <a:ext cx="870509" cy="87050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ein guter Freund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siehst Cybermobbing bei anderen?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 nicht mit.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Hilf der Person.</a:t>
            </a:r>
            <a:endParaRPr lang="en-US" sz="2400" dirty="0"/>
          </a:p>
          <a:p>
            <a:pPr algn="l" indent="0" marL="0">
              <a:lnSpc>
                <a:spcPct val="105000"/>
              </a:lnSpc>
              <a:spcAft>
                <a:spcPts val="1400"/>
              </a:spcAft>
              <a:buNone/>
            </a:pPr>
            <a:r>
              <a:rPr lang="en-US" sz="2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 einer Person Bescheid, der du vertraust.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fair im Internet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40080" y="1920240"/>
            <a:ext cx="8412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Schreib nichts Gemeines über andere.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Denk nach, bevor du etwas schickst.</a:t>
            </a:r>
            <a:endParaRPr lang="en-US" sz="2500" dirty="0"/>
          </a:p>
          <a:p>
            <a:pPr algn="l" indent="0" marL="0">
              <a:lnSpc>
                <a:spcPct val="105000"/>
              </a:lnSpc>
              <a:spcAft>
                <a:spcPts val="1500"/>
              </a:spcAft>
              <a:buNone/>
            </a:pPr>
            <a:r>
              <a:rPr lang="en-US" sz="2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nett. So wie im echten Leben.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9692640" y="24688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985248" y="2761488"/>
            <a:ext cx="1243584" cy="124358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Quiz: Richtig oder Falsch?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22960" y="207568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00200" y="192024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ist nicht meine Schuld.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312724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31272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600200" y="297180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Cybermobbing schreibe ich gemein zurück.</a:t>
            </a:r>
            <a:endParaRPr lang="en-US" sz="2100" dirty="0"/>
          </a:p>
        </p:txBody>
      </p:sp>
      <p:sp>
        <p:nvSpPr>
          <p:cNvPr id="13" name="Shape 10"/>
          <p:cNvSpPr/>
          <p:nvPr/>
        </p:nvSpPr>
        <p:spPr>
          <a:xfrm>
            <a:off x="640080" y="4023360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D8EAF2"/>
          </a:solidFill>
          <a:ln w="12700">
            <a:solidFill>
              <a:srgbClr val="AAD1E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960" y="4178808"/>
            <a:ext cx="548640" cy="548640"/>
          </a:xfrm>
          <a:prstGeom prst="ellipse">
            <a:avLst/>
          </a:prstGeom>
          <a:solidFill>
            <a:srgbClr val="57A3C7"/>
          </a:solidFill>
          <a:ln/>
        </p:spPr>
      </p:sp>
      <p:sp>
        <p:nvSpPr>
          <p:cNvPr id="15" name="Text 12"/>
          <p:cNvSpPr/>
          <p:nvPr/>
        </p:nvSpPr>
        <p:spPr>
          <a:xfrm>
            <a:off x="822960" y="4178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00200" y="40233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darf mir Hilfe holen.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meinst du? Richtig oder Falsch?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Antworten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212140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1093" y="2223821"/>
            <a:ext cx="435254" cy="43525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192024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ist nicht meine Schuld.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  <p:sp>
        <p:nvSpPr>
          <p:cNvPr id="9" name="Shape 5"/>
          <p:cNvSpPr/>
          <p:nvPr/>
        </p:nvSpPr>
        <p:spPr>
          <a:xfrm>
            <a:off x="640080" y="31546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BE9EC"/>
          </a:solidFill>
          <a:ln w="12700">
            <a:solidFill>
              <a:srgbClr val="B5152B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68680" y="335584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1093" y="3458261"/>
            <a:ext cx="435254" cy="43525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737360" y="315468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 Cybermobbing schreibe ich gemein zurück.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B515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Falsch – nicht zurück-schreiben.</a:t>
            </a:r>
            <a:endParaRPr lang="en-US" sz="2000" dirty="0"/>
          </a:p>
        </p:txBody>
      </p:sp>
      <p:sp>
        <p:nvSpPr>
          <p:cNvPr id="13" name="Shape 8"/>
          <p:cNvSpPr/>
          <p:nvPr/>
        </p:nvSpPr>
        <p:spPr>
          <a:xfrm>
            <a:off x="640080" y="438912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7F3EC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45902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4F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71093" y="4692701"/>
            <a:ext cx="435254" cy="43525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4389120"/>
            <a:ext cx="9555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Ich darf mir Hilfe holen.  </a:t>
            </a:r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2E7D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Richtig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051560" cy="1051560"/>
          </a:xfrm>
          <a:prstGeom prst="ellipse">
            <a:avLst/>
          </a:prstGeom>
          <a:solidFill>
            <a:srgbClr val="FFFFFF"/>
          </a:solidFill>
          <a:ln w="27749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8330" y="625450"/>
            <a:ext cx="715061" cy="7150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11680" y="457200"/>
            <a:ext cx="9509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0028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haben wir gelernt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40080" y="19202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2493" y="2022653"/>
            <a:ext cx="435254" cy="4352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54480" y="19202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Cybermobbing ist gemein und nicht okay.</a:t>
            </a:r>
            <a:endParaRPr lang="en-US" sz="2200" dirty="0"/>
          </a:p>
        </p:txBody>
      </p:sp>
      <p:sp>
        <p:nvSpPr>
          <p:cNvPr id="8" name="Shape 4"/>
          <p:cNvSpPr/>
          <p:nvPr/>
        </p:nvSpPr>
        <p:spPr>
          <a:xfrm>
            <a:off x="640080" y="281635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2493" y="2918765"/>
            <a:ext cx="435254" cy="4352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54480" y="28163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 ist nicht deine Schuld.</a:t>
            </a:r>
            <a:endParaRPr lang="en-US" sz="2200" dirty="0"/>
          </a:p>
        </p:txBody>
      </p:sp>
      <p:sp>
        <p:nvSpPr>
          <p:cNvPr id="11" name="Shape 6"/>
          <p:cNvSpPr/>
          <p:nvPr/>
        </p:nvSpPr>
        <p:spPr>
          <a:xfrm>
            <a:off x="640080" y="371246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2493" y="3814877"/>
            <a:ext cx="435254" cy="43525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554480" y="3712464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Sichere Beweise. Mach einen Screenshot.</a:t>
            </a:r>
            <a:endParaRPr lang="en-US" sz="2200" dirty="0"/>
          </a:p>
        </p:txBody>
      </p:sp>
      <p:sp>
        <p:nvSpPr>
          <p:cNvPr id="14" name="Shape 8"/>
          <p:cNvSpPr/>
          <p:nvPr/>
        </p:nvSpPr>
        <p:spPr>
          <a:xfrm>
            <a:off x="640080" y="4608576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7A3C7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2493" y="4710989"/>
            <a:ext cx="435254" cy="43525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54480" y="4608576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Blockieren und melden.</a:t>
            </a:r>
            <a:endParaRPr lang="en-US" sz="2200" dirty="0"/>
          </a:p>
        </p:txBody>
      </p:sp>
      <p:sp>
        <p:nvSpPr>
          <p:cNvPr id="17" name="Shape 10"/>
          <p:cNvSpPr/>
          <p:nvPr/>
        </p:nvSpPr>
        <p:spPr>
          <a:xfrm>
            <a:off x="640080" y="550468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E96BE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2493" y="5607101"/>
            <a:ext cx="435254" cy="43525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554480" y="550468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Hilfe. Das ist stark.</a:t>
            </a:r>
            <a:endParaRPr lang="en-US" sz="2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28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FFFFFF"/>
          </a:solidFill>
          <a:ln w="48260">
            <a:solidFill>
              <a:srgbClr val="B5152B"/>
            </a:solidFill>
            <a:prstDash val="solid"/>
          </a:ln>
          <a:effectLst>
            <a:outerShdw sx="100000" sy="100000" kx="0" ky="0" algn="bl" rotWithShape="0" blurRad="88900" dist="25400" dir="5400000">
              <a:srgbClr val="000000">
                <a:alpha val="16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58968" y="1389888"/>
            <a:ext cx="1243584" cy="12435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61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bist nicht allein.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0" y="4389120"/>
            <a:ext cx="1216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 dir Hilfe. Das ist stark.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0" y="5212080"/>
            <a:ext cx="1216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Hast du noch Fragen?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0" y="59436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AD1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Alexianer Stift Tilbeck GmbH   ·   Gefördert durch die Sozialstiftung NRW</a:t>
            </a:r>
            <a:endParaRPr lang="en-US" sz="1300" dirty="0"/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8813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AD1E3"/>
                </a:solidFill>
              </a:rPr>
              <a:t>Bildzeichen: ARASAAC – Autor Sergio Palao (Gobierno de Aragón), Lizenz CC BY-NC-SA · www.arasaac.org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Cybermobbing – Was ist das? Was kann ich tun?</dc:title>
  <dc:subject>PptxGenJS Presentation</dc:subject>
  <dc:creator>Alexianer Stift Tilbeck – Digitale Teilhabe</dc:creator>
  <cp:lastModifiedBy>Alexianer Stift Tilbeck – Digitale Teilhabe</cp:lastModifiedBy>
  <cp:revision>1</cp:revision>
  <dcterms:created xsi:type="dcterms:W3CDTF">2026-06-24T06:39:29Z</dcterms:created>
  <dcterms:modified xsi:type="dcterms:W3CDTF">2026-06-24T06:39:29Z</dcterms:modified>
</cp:coreProperties>
</file>